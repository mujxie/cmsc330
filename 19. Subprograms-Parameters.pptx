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nativeTemplate/slideLayouts/slideLayout4.xml" ContentType="application/vnd.openxmlformats-officedocument.presentationml.slideLayout+xml"/>
  <Override PartName="/ppt/nativeTemplate/slideLayouts/slideLayout11.xml" ContentType="application/vnd.openxmlformats-officedocument.presentationml.slideLayout+xml"/>
  <Override PartName="/ppt/nativeTemplate/slideLayouts/slideLayout2.xml" ContentType="application/vnd.openxmlformats-officedocument.presentationml.slideLayout+xml"/>
  <Default Extension="jpeg" ContentType="image/jpeg"/>
  <Override PartName="/ppt/nativeTemplate/slideLayouts/slideLayout7.xml" ContentType="application/vnd.openxmlformats-officedocument.presentationml.slideLayout+xml"/>
  <Override PartName="/ppt/nativeTemplate/slideLayouts/slideLayout8.xml" ContentType="application/vnd.openxmlformats-officedocument.presentationml.slideLayout+xml"/>
  <Override PartName="/ppt/nativeTemplate/slideLayouts/slideLayout5.xml" ContentType="application/vnd.openxmlformats-officedocument.presentationml.slideLayout+xml"/>
  <Override PartName="/ppt/nativeTemplate/slideLayouts/slideLayout1.xml" ContentType="application/vnd.openxmlformats-officedocument.presentationml.slideLayout+xml"/>
  <Override PartName="/ppt/nativeTemplate/theme/theme1.xml" ContentType="application/vnd.openxmlformats-officedocument.theme+xml"/>
  <Override PartName="/ppt/nativeTemplate/slideLayouts/slideLayout10.xml" ContentType="application/vnd.openxmlformats-officedocument.presentationml.slideLayout+xml"/>
  <Override PartName="/ppt/nativeTemplate/slideMasters/slideMaster1.xml" ContentType="application/vnd.openxmlformats-officedocument.presentationml.slideMaster+xml"/>
  <Override PartName="/ppt/nativeTemplate/slideLayouts/slideLayout6.xml" ContentType="application/vnd.openxmlformats-officedocument.presentationml.slideLayout+xml"/>
  <Override PartName="/ppt/nativeTemplate/slideLayouts/slideLayout9.xml" ContentType="application/vnd.openxmlformats-officedocument.presentationml.slideLayout+xml"/>
  <Override PartName="/ppt/nativeTemplate/slideLayouts/slideLayout3.xml" ContentType="application/vnd.openxmlformats-officedocument.presentationml.slideLayout+xml"/>
</Types>
</file>

<file path=_rels/.rels>&#65279;<?xml version="1.0" encoding="utf-8"?><Relationships xmlns="http://schemas.openxmlformats.org/package/2006/relationships"><Relationship Type="http://schemas.openxmlformats.org/package/2006/relationships/metadata/core-properties" Target="/docProps/core.xml" Id="R3b396097c23743ce" /><Relationship Type="http://schemas.openxmlformats.org/officeDocument/2006/relationships/extended-properties" Target="/docProps/app.xml" Id="R7cf85af41724410c" /><Relationship Type="http://schemas.openxmlformats.org/officeDocument/2006/relationships/officeDocument" Target="/ppt/presentation.xml" Id="Rceb3b634afc34c53" /></Relationships>
</file>

<file path=ppt/presentation.xml><?xml version="1.0" encoding="utf-8"?>
<p:presentation xmlns:p="http://schemas.openxmlformats.org/presentationml/2006/main">
  <p:sldMasterIdLst>
    <p:sldMasterId xmlns:ns0="http://schemas.openxmlformats.org/officeDocument/2006/relationships" id="2147483648" ns0:id="rIdNativeTemplateMaster"/>
  </p:sldMasterIdLst>
  <p:notesMasterIdLst>
    <p:notesMasterId xmlns:r="http://schemas.openxmlformats.org/officeDocument/2006/relationships" r:id="R39ee201f1bca44e1"/>
  </p:notesMasterIdLst>
  <p:sldIdLst>
    <p:sldId xmlns:r="http://schemas.openxmlformats.org/officeDocument/2006/relationships" id="256" r:id="R71b2cf145d474e02"/>
    <p:sldId xmlns:r="http://schemas.openxmlformats.org/officeDocument/2006/relationships" id="257" r:id="Rba602ee2af654549"/>
    <p:sldId xmlns:r="http://schemas.openxmlformats.org/officeDocument/2006/relationships" id="258" r:id="Rfb294f28402141e2"/>
    <p:sldId xmlns:r="http://schemas.openxmlformats.org/officeDocument/2006/relationships" id="259" r:id="R952b104155b240dc"/>
    <p:sldId xmlns:r="http://schemas.openxmlformats.org/officeDocument/2006/relationships" id="260" r:id="Rc21fa7b9b4f44886"/>
    <p:sldId xmlns:r="http://schemas.openxmlformats.org/officeDocument/2006/relationships" id="261" r:id="R438d960ac9fb46fb"/>
    <p:sldId xmlns:r="http://schemas.openxmlformats.org/officeDocument/2006/relationships" id="262" r:id="R8009646d81f74759"/>
    <p:sldId xmlns:r="http://schemas.openxmlformats.org/officeDocument/2006/relationships" id="263" r:id="R827537eb53304e8a"/>
    <p:sldId xmlns:r="http://schemas.openxmlformats.org/officeDocument/2006/relationships" id="264" r:id="Rab4ee33802cc49fd"/>
    <p:sldId xmlns:r="http://schemas.openxmlformats.org/officeDocument/2006/relationships" id="265" r:id="R0ec103b2245f4e43"/>
    <p:sldId xmlns:r="http://schemas.openxmlformats.org/officeDocument/2006/relationships" id="266" r:id="R869779debf724f27"/>
    <p:sldId xmlns:r="http://schemas.openxmlformats.org/officeDocument/2006/relationships" id="267" r:id="R8cfacdf7d3e6448a"/>
    <p:sldId xmlns:r="http://schemas.openxmlformats.org/officeDocument/2006/relationships" id="268" r:id="R51f8f81dfaf14c88"/>
    <p:sldId xmlns:r="http://schemas.openxmlformats.org/officeDocument/2006/relationships" id="269" r:id="Rda0ded8a1e3b4e22"/>
    <p:sldId xmlns:r="http://schemas.openxmlformats.org/officeDocument/2006/relationships" id="270" r:id="Ra81057255cd5409e"/>
    <p:sldId xmlns:r="http://schemas.openxmlformats.org/officeDocument/2006/relationships" id="271" r:id="Rd546479d62714b9f"/>
    <p:sldId xmlns:r="http://schemas.openxmlformats.org/officeDocument/2006/relationships" id="272" r:id="R1e7040585fc347f2"/>
    <p:sldId xmlns:r="http://schemas.openxmlformats.org/officeDocument/2006/relationships" id="273" r:id="Rdbeafc3c5ce04a44"/>
    <p:sldId xmlns:r="http://schemas.openxmlformats.org/officeDocument/2006/relationships" id="274" r:id="Rfca3941e63394ddc"/>
    <p:sldId xmlns:r="http://schemas.openxmlformats.org/officeDocument/2006/relationships" id="275" r:id="R19058fde4fe64929"/>
    <p:sldId xmlns:r="http://schemas.openxmlformats.org/officeDocument/2006/relationships" id="276" r:id="Rf02a5567ec6a420e"/>
    <p:sldId xmlns:r="http://schemas.openxmlformats.org/officeDocument/2006/relationships" id="277" r:id="Rc9024874a105471e"/>
    <p:sldId xmlns:r="http://schemas.openxmlformats.org/officeDocument/2006/relationships" id="278" r:id="R7bb41c2a3da345dd"/>
    <p:sldId xmlns:r="http://schemas.openxmlformats.org/officeDocument/2006/relationships" id="279" r:id="R560d09bee5a148df"/>
    <p:sldId xmlns:r="http://schemas.openxmlformats.org/officeDocument/2006/relationships" id="280" r:id="Rdf482913fe334034"/>
    <p:sldId xmlns:r="http://schemas.openxmlformats.org/officeDocument/2006/relationships" id="281" r:id="R987b3ad769be4a1b"/>
    <p:sldId xmlns:r="http://schemas.openxmlformats.org/officeDocument/2006/relationships" id="282" r:id="R06eee2f0d780475a"/>
    <p:sldId xmlns:r="http://schemas.openxmlformats.org/officeDocument/2006/relationships" id="283" r:id="R5fc6a4d976e04d92"/>
    <p:sldId xmlns:r="http://schemas.openxmlformats.org/officeDocument/2006/relationships" id="284" r:id="Rfad733385c7047b9"/>
    <p:sldId xmlns:r="http://schemas.openxmlformats.org/officeDocument/2006/relationships" id="285" r:id="Rfa73ecce19004e88"/>
    <p:sldId xmlns:r="http://schemas.openxmlformats.org/officeDocument/2006/relationships" id="286" r:id="R7a120b93d16b4c2e"/>
    <p:sldId xmlns:r="http://schemas.openxmlformats.org/officeDocument/2006/relationships" id="287" r:id="Rd0d0a0110ca84c5a"/>
    <p:sldId xmlns:r="http://schemas.openxmlformats.org/officeDocument/2006/relationships" id="288" r:id="R470023c543e94b4d"/>
    <p:sldId xmlns:r="http://schemas.openxmlformats.org/officeDocument/2006/relationships" id="289" r:id="R2787cf0cb3354e10"/>
    <p:sldId xmlns:r="http://schemas.openxmlformats.org/officeDocument/2006/relationships" id="290" r:id="R5e86afea3eb148dc"/>
    <p:sldId xmlns:r="http://schemas.openxmlformats.org/officeDocument/2006/relationships" id="291" r:id="R15462384736d46a5"/>
    <p:sldId xmlns:r="http://schemas.openxmlformats.org/officeDocument/2006/relationships" id="292" r:id="Rb6ec01ad7410484e"/>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Type="http://schemas.openxmlformats.org/officeDocument/2006/relationships/notesMaster" Target="/ppt/notesMasters/notesMaster1.xml" Id="R39ee201f1bca44e1"/><Relationship Type="http://schemas.openxmlformats.org/officeDocument/2006/relationships/presProps" Target="/ppt/presProps.xml" Id="R51ceee13517042ba"/><Relationship Type="http://schemas.openxmlformats.org/officeDocument/2006/relationships/viewProps" Target="/ppt/viewProps.xml" Id="R98f7c23233974355"/><Relationship Type="http://schemas.openxmlformats.org/officeDocument/2006/relationships/tableStyles" Target="/ppt/tableStyles.xml" Id="R3501a86fd6e546db"/><Relationship Type="http://schemas.openxmlformats.org/officeDocument/2006/relationships/slide" Target="/ppt/slides/slide1.xml" Id="R71b2cf145d474e02"/><Relationship Type="http://schemas.openxmlformats.org/officeDocument/2006/relationships/slide" Target="/ppt/slides/slide2.xml" Id="Rba602ee2af654549"/><Relationship Type="http://schemas.openxmlformats.org/officeDocument/2006/relationships/slide" Target="/ppt/slides/slide3.xml" Id="Rfb294f28402141e2"/><Relationship Type="http://schemas.openxmlformats.org/officeDocument/2006/relationships/slide" Target="/ppt/slides/slide4.xml" Id="R952b104155b240dc"/><Relationship Type="http://schemas.openxmlformats.org/officeDocument/2006/relationships/slide" Target="/ppt/slides/slide5.xml" Id="Rc21fa7b9b4f44886"/><Relationship Type="http://schemas.openxmlformats.org/officeDocument/2006/relationships/slide" Target="/ppt/slides/slide6.xml" Id="R438d960ac9fb46fb"/><Relationship Type="http://schemas.openxmlformats.org/officeDocument/2006/relationships/slide" Target="/ppt/slides/slide7.xml" Id="R8009646d81f74759"/><Relationship Type="http://schemas.openxmlformats.org/officeDocument/2006/relationships/slide" Target="/ppt/slides/slide8.xml" Id="R827537eb53304e8a"/><Relationship Type="http://schemas.openxmlformats.org/officeDocument/2006/relationships/slide" Target="/ppt/slides/slide9.xml" Id="Rab4ee33802cc49fd"/><Relationship Type="http://schemas.openxmlformats.org/officeDocument/2006/relationships/slide" Target="/ppt/slides/slide10.xml" Id="R0ec103b2245f4e43"/><Relationship Type="http://schemas.openxmlformats.org/officeDocument/2006/relationships/slide" Target="/ppt/slides/slide11.xml" Id="R869779debf724f27"/><Relationship Type="http://schemas.openxmlformats.org/officeDocument/2006/relationships/slide" Target="/ppt/slides/slide12.xml" Id="R8cfacdf7d3e6448a"/><Relationship Type="http://schemas.openxmlformats.org/officeDocument/2006/relationships/slide" Target="/ppt/slides/slide13.xml" Id="R51f8f81dfaf14c88"/><Relationship Type="http://schemas.openxmlformats.org/officeDocument/2006/relationships/slide" Target="/ppt/slides/slide14.xml" Id="Rda0ded8a1e3b4e22"/><Relationship Type="http://schemas.openxmlformats.org/officeDocument/2006/relationships/slide" Target="/ppt/slides/slide15.xml" Id="Ra81057255cd5409e"/><Relationship Type="http://schemas.openxmlformats.org/officeDocument/2006/relationships/slide" Target="/ppt/slides/slide16.xml" Id="Rd546479d62714b9f"/><Relationship Type="http://schemas.openxmlformats.org/officeDocument/2006/relationships/slide" Target="/ppt/slides/slide17.xml" Id="R1e7040585fc347f2"/><Relationship Type="http://schemas.openxmlformats.org/officeDocument/2006/relationships/slide" Target="/ppt/slides/slide18.xml" Id="Rdbeafc3c5ce04a44"/><Relationship Type="http://schemas.openxmlformats.org/officeDocument/2006/relationships/slide" Target="/ppt/slides/slide19.xml" Id="Rfca3941e63394ddc"/><Relationship Type="http://schemas.openxmlformats.org/officeDocument/2006/relationships/slide" Target="/ppt/slides/slide20.xml" Id="R19058fde4fe64929"/><Relationship Type="http://schemas.openxmlformats.org/officeDocument/2006/relationships/slide" Target="/ppt/slides/slide21.xml" Id="Rf02a5567ec6a420e"/><Relationship Type="http://schemas.openxmlformats.org/officeDocument/2006/relationships/slide" Target="/ppt/slides/slide22.xml" Id="Rc9024874a105471e"/><Relationship Type="http://schemas.openxmlformats.org/officeDocument/2006/relationships/slide" Target="/ppt/slides/slide23.xml" Id="R7bb41c2a3da345dd"/><Relationship Type="http://schemas.openxmlformats.org/officeDocument/2006/relationships/slide" Target="/ppt/slides/slide24.xml" Id="R560d09bee5a148df"/><Relationship Type="http://schemas.openxmlformats.org/officeDocument/2006/relationships/slide" Target="/ppt/slides/slide25.xml" Id="Rdf482913fe334034"/><Relationship Type="http://schemas.openxmlformats.org/officeDocument/2006/relationships/slide" Target="/ppt/slides/slide26.xml" Id="R987b3ad769be4a1b"/><Relationship Type="http://schemas.openxmlformats.org/officeDocument/2006/relationships/slide" Target="/ppt/slides/slide27.xml" Id="R06eee2f0d780475a"/><Relationship Type="http://schemas.openxmlformats.org/officeDocument/2006/relationships/slide" Target="/ppt/slides/slide28.xml" Id="R5fc6a4d976e04d92"/><Relationship Type="http://schemas.openxmlformats.org/officeDocument/2006/relationships/slide" Target="/ppt/slides/slide29.xml" Id="Rfad733385c7047b9"/><Relationship Type="http://schemas.openxmlformats.org/officeDocument/2006/relationships/slide" Target="/ppt/slides/slide30.xml" Id="Rfa73ecce19004e88"/><Relationship Type="http://schemas.openxmlformats.org/officeDocument/2006/relationships/slide" Target="/ppt/slides/slide31.xml" Id="R7a120b93d16b4c2e"/><Relationship Type="http://schemas.openxmlformats.org/officeDocument/2006/relationships/slide" Target="/ppt/slides/slide32.xml" Id="Rd0d0a0110ca84c5a"/><Relationship Type="http://schemas.openxmlformats.org/officeDocument/2006/relationships/slide" Target="/ppt/slides/slide33.xml" Id="R470023c543e94b4d"/><Relationship Type="http://schemas.openxmlformats.org/officeDocument/2006/relationships/slide" Target="/ppt/slides/slide34.xml" Id="R2787cf0cb3354e10"/><Relationship Type="http://schemas.openxmlformats.org/officeDocument/2006/relationships/slide" Target="/ppt/slides/slide35.xml" Id="R5e86afea3eb148dc"/><Relationship Type="http://schemas.openxmlformats.org/officeDocument/2006/relationships/slide" Target="/ppt/slides/slide36.xml" Id="R15462384736d46a5"/><Relationship Type="http://schemas.openxmlformats.org/officeDocument/2006/relationships/slide" Target="/ppt/slides/slide37.xml" Id="Rb6ec01ad7410484e"/><Relationship Id="rIdNativeTemplateMaster" Type="http://schemas.openxmlformats.org/officeDocument/2006/relationships/slideMaster" Target="nativeTemplate/slideMasters/slideMaster1.xml"/><Relationship Id="rIdNativeTemplateTheme" Type="http://schemas.openxmlformats.org/officeDocument/2006/relationships/theme" Target="nativeTemplate/theme/theme1.xml"/></Relationships>
</file>

<file path=ppt/nativeTemplate/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Arial"/>
              </a:rPr>
              <a:t>◤</a:t>
            </a:r>
            <a:endParaRPr lang="en-US" sz="24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chor="ct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7D162C4-EDD9-4389-A98B-B87ECEA2A816}"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3/3/26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3/3/26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3/3/26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nativeTemplate/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3/3/26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nativeTemplate/theme/_rels/theme1.xml.rels><?xml version='1.0' encoding='UTF-8' standalone='yes'?>
<Relationships xmlns="http://schemas.openxmlformats.org/package/2006/relationships"><Relationship Id="rId1" Type="http://schemas.openxmlformats.org/officeDocument/2006/relationships/image" Target="../media/image1.jpeg"/></Relationships>
</file>

<file path=ppt/nativeTemplate/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b6e757fd885246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lumMod val="110000"/>
                <a:satMod val="105000"/>
                <a:alpha val="88000"/>
              </a:schemeClr>
            </a:gs>
            <a:gs pos="100000">
              <a:schemeClr val="phClr">
                <a:tint val="78000"/>
                <a:lumMod val="100000"/>
                <a:satMod val="109000"/>
                <a:alpha val="92000"/>
              </a:schemeClr>
            </a:gs>
          </a:gsLst>
          <a:lin ang="5400000" scaled="0"/>
        </a:gradFill>
        <a:gradFill rotWithShape="1">
          <a:gsLst>
            <a:gs pos="0">
              <a:schemeClr val="phClr">
                <a:tint val="98000"/>
                <a:lumMod val="104000"/>
                <a:satMod val="110000"/>
              </a:schemeClr>
            </a:gs>
            <a:gs pos="69000">
              <a:schemeClr val="phClr">
                <a:shade val="84000"/>
                <a:lumMod val="92000"/>
                <a:satMod val="130000"/>
              </a:schemeClr>
            </a:gs>
            <a:gs pos="100000">
              <a:schemeClr val="phClr">
                <a:shade val="76000"/>
                <a:lumMod val="88000"/>
                <a:satMod val="130000"/>
              </a:schemeClr>
            </a:gs>
          </a:gsLst>
          <a:lin ang="5400000" scaled="0"/>
        </a:gradFill>
      </a:fillStyleLst>
      <a:lnStyleLst>
        <a:ln w="9525">
          <a:solidFill>
            <a:schemeClr val="ph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lt2"/>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9a502f8fc84845" /><Relationship Type="http://schemas.openxmlformats.org/officeDocument/2006/relationships/notesMaster" Target="/ppt/notesMasters/notesMaster1.xml" Id="R3dfa8600d5e447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6e2d7ac085495d" /><Relationship Type="http://schemas.openxmlformats.org/officeDocument/2006/relationships/notesMaster" Target="/ppt/notesMasters/notesMaster1.xml" Id="R759ccbf50b614c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2d346da3064cfc" /><Relationship Type="http://schemas.openxmlformats.org/officeDocument/2006/relationships/notesMaster" Target="/ppt/notesMasters/notesMaster1.xml" Id="R0bfe348ad8b740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3cb3f96a494eb1" /><Relationship Type="http://schemas.openxmlformats.org/officeDocument/2006/relationships/notesMaster" Target="/ppt/notesMasters/notesMaster1.xml" Id="R07d22e8fe38942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e84c7e90164a3b" /><Relationship Type="http://schemas.openxmlformats.org/officeDocument/2006/relationships/notesMaster" Target="/ppt/notesMasters/notesMaster1.xml" Id="R3d49cc64a79047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050e1d466545a3" /><Relationship Type="http://schemas.openxmlformats.org/officeDocument/2006/relationships/notesMaster" Target="/ppt/notesMasters/notesMaster1.xml" Id="R6bb1e4035d4d4d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50903eb9714330" /><Relationship Type="http://schemas.openxmlformats.org/officeDocument/2006/relationships/notesMaster" Target="/ppt/notesMasters/notesMaster1.xml" Id="R414d9c7215f64b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5cdec3a32145a3" /><Relationship Type="http://schemas.openxmlformats.org/officeDocument/2006/relationships/notesMaster" Target="/ppt/notesMasters/notesMaster1.xml" Id="Rfd56d09794194d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d42aaf2abb49d1" /><Relationship Type="http://schemas.openxmlformats.org/officeDocument/2006/relationships/notesMaster" Target="/ppt/notesMasters/notesMaster1.xml" Id="Rb06e2c88e9f647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f1c525510e460d" /><Relationship Type="http://schemas.openxmlformats.org/officeDocument/2006/relationships/notesMaster" Target="/ppt/notesMasters/notesMaster1.xml" Id="Rae13b30fdbce43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a54384ec8348d1" /><Relationship Type="http://schemas.openxmlformats.org/officeDocument/2006/relationships/notesMaster" Target="/ppt/notesMasters/notesMaster1.xml" Id="R70b5d3f40e464c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61e530a01f4a29" /><Relationship Type="http://schemas.openxmlformats.org/officeDocument/2006/relationships/notesMaster" Target="/ppt/notesMasters/notesMaster1.xml" Id="Rb2a601d109534d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c578a1f1d249a5" /><Relationship Type="http://schemas.openxmlformats.org/officeDocument/2006/relationships/notesMaster" Target="/ppt/notesMasters/notesMaster1.xml" Id="Rbbb77b06c44d43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c412a52e8b4251" /><Relationship Type="http://schemas.openxmlformats.org/officeDocument/2006/relationships/notesMaster" Target="/ppt/notesMasters/notesMaster1.xml" Id="R9725f9626e0549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d249c0bb804050" /><Relationship Type="http://schemas.openxmlformats.org/officeDocument/2006/relationships/notesMaster" Target="/ppt/notesMasters/notesMaster1.xml" Id="R2d9a460fe54b4d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9602a856fe4c99" /><Relationship Type="http://schemas.openxmlformats.org/officeDocument/2006/relationships/notesMaster" Target="/ppt/notesMasters/notesMaster1.xml" Id="Rd5a14cd3545b4f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2711cfb08040d0" /><Relationship Type="http://schemas.openxmlformats.org/officeDocument/2006/relationships/notesMaster" Target="/ppt/notesMasters/notesMaster1.xml" Id="Rd0856f45611840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cb7af393cd740f9" /><Relationship Type="http://schemas.openxmlformats.org/officeDocument/2006/relationships/notesMaster" Target="/ppt/notesMasters/notesMaster1.xml" Id="Rb91d0fe794914c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4eb2e842bd4dcd" /><Relationship Type="http://schemas.openxmlformats.org/officeDocument/2006/relationships/notesMaster" Target="/ppt/notesMasters/notesMaster1.xml" Id="Rbc692e06370d4bc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0628c5e6e8f4be3" /><Relationship Type="http://schemas.openxmlformats.org/officeDocument/2006/relationships/notesMaster" Target="/ppt/notesMasters/notesMaster1.xml" Id="R9a7d571ebc354bf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2256d708cd420c" /><Relationship Type="http://schemas.openxmlformats.org/officeDocument/2006/relationships/notesMaster" Target="/ppt/notesMasters/notesMaster1.xml" Id="R5e06f3f1c7d746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812017ccad7453c" /><Relationship Type="http://schemas.openxmlformats.org/officeDocument/2006/relationships/notesMaster" Target="/ppt/notesMasters/notesMaster1.xml" Id="Rb184547c8f9f4f0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77dae1134904c4b" /><Relationship Type="http://schemas.openxmlformats.org/officeDocument/2006/relationships/notesMaster" Target="/ppt/notesMasters/notesMaster1.xml" Id="Rb59fc0c297144b7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39df36cf2d244ba" /><Relationship Type="http://schemas.openxmlformats.org/officeDocument/2006/relationships/notesMaster" Target="/ppt/notesMasters/notesMaster1.xml" Id="R403b67bb4060448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d1dac016414be5" /><Relationship Type="http://schemas.openxmlformats.org/officeDocument/2006/relationships/notesMaster" Target="/ppt/notesMasters/notesMaster1.xml" Id="Rd98085b70590488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65fadef29334b87" /><Relationship Type="http://schemas.openxmlformats.org/officeDocument/2006/relationships/notesMaster" Target="/ppt/notesMasters/notesMaster1.xml" Id="R147803858af64ec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23920753add4fa4" /><Relationship Type="http://schemas.openxmlformats.org/officeDocument/2006/relationships/notesMaster" Target="/ppt/notesMasters/notesMaster1.xml" Id="R67c7b79e23eb418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dd8eb833b404f97" /><Relationship Type="http://schemas.openxmlformats.org/officeDocument/2006/relationships/notesMaster" Target="/ppt/notesMasters/notesMaster1.xml" Id="R3c7a19be77ec4f5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7d3eeec4a4c4871" /><Relationship Type="http://schemas.openxmlformats.org/officeDocument/2006/relationships/notesMaster" Target="/ppt/notesMasters/notesMaster1.xml" Id="R05eab682d5ca4f3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9a9cbb2fb964813" /><Relationship Type="http://schemas.openxmlformats.org/officeDocument/2006/relationships/notesMaster" Target="/ppt/notesMasters/notesMaster1.xml" Id="R092f5b1882fa4ab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6bc015e5e064b97" /><Relationship Type="http://schemas.openxmlformats.org/officeDocument/2006/relationships/notesMaster" Target="/ppt/notesMasters/notesMaster1.xml" Id="R37e8278c1c2c4d4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d055d0d1c8f40d0" /><Relationship Type="http://schemas.openxmlformats.org/officeDocument/2006/relationships/notesMaster" Target="/ppt/notesMasters/notesMaster1.xml" Id="R191fb02f7e9a428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85ea58cf7a4421b" /><Relationship Type="http://schemas.openxmlformats.org/officeDocument/2006/relationships/notesMaster" Target="/ppt/notesMasters/notesMaster1.xml" Id="R499a480d100244e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f1a6a1e2f5d4205" /><Relationship Type="http://schemas.openxmlformats.org/officeDocument/2006/relationships/notesMaster" Target="/ppt/notesMasters/notesMaster1.xml" Id="R292eea187510455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1a0d2cc795341ac" /><Relationship Type="http://schemas.openxmlformats.org/officeDocument/2006/relationships/notesMaster" Target="/ppt/notesMasters/notesMaster1.xml" Id="R005946b0a9d34bb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9be43ca43e84c57" /><Relationship Type="http://schemas.openxmlformats.org/officeDocument/2006/relationships/notesMaster" Target="/ppt/notesMasters/notesMaster1.xml" Id="R5d5ce25422394f6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0f40d5ce2c14d78" /><Relationship Type="http://schemas.openxmlformats.org/officeDocument/2006/relationships/notesMaster" Target="/ppt/notesMasters/notesMaster1.xml" Id="R6cbc70fbd63f41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lecture connects a subprogram interface to the way a call transfers information. Begin with formal and actual parameters, then distinguish semantic modes from implementation mechanisms. The last part examines arrays and the environment carried by a function passed as an argument.</a:t>
            </a:r>
          </a:p>
          <a:p xmlns:a="http://schemas.openxmlformats.org/drawingml/2006/main">
            <a:r>
              <a:t/>
            </a:r>
          </a:p>
          <a:p xmlns:a="http://schemas.openxmlformats.org/drawingml/2006/main">
            <a:r>
              <a:t>Original teaching slides: William Killian, with revisions by Stephanie Schwartz, Gary Zoppetti and Jingnan Xie. Original source material includes Robert Sebesta’s Concepts of Programming Languages.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progression is interface, information flow, implementation, and two important special cases. The original outline omitted the final section on subprograms as parameters; it is included here so the outline matches the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prototype allows a caller or compiler to check an interface without seeing the body. Distinguish a language-specific method signature from a full function type. In Java, the return type is not part of the method signature used in this sense. In OCaml, int -&gt; int explicitly includes both an input type and a result type. The declaration example on the next slide computes the discriminant b*b - 4*a*c.</a:t>
            </a:r>
          </a:p>
          <a:p xmlns:a="http://schemas.openxmlformats.org/drawingml/2006/main">
            <a:r>
              <a:t/>
            </a:r>
          </a:p>
          <a:p xmlns:a="http://schemas.openxmlformats.org/drawingml/2006/main">
            <a:r>
              <a:t>References</a:t>
            </a:r>
          </a:p>
          <a:p xmlns:a="http://schemas.openxmlformats.org/drawingml/2006/main">
            <a:r>
              <a:t>https://docs.oracle.com/javase/specs/jls/se25/html/jls-8.html#jls-8.4.2</a:t>
            </a:r>
          </a:p>
          <a:p xmlns:a="http://schemas.openxmlformats.org/drawingml/2006/main">
            <a:r>
              <a:t>https://ocaml.org/manual/5.0/coreexamples.html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definition declares three integer parameters named a, b and c. The call supplies three expressions. Assume a is already defined in the caller. Names in the caller do not have to match the names in the definition. If the caller’s a is 2, the arguments evaluate to 2, 3 and 8. The call therefore computes 3*3 - 4*2*8 = -55. The result is assigned to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 parameters belong to the definition. Actual parameters, also called arguments, occur at a call. The first a in the call refers to the caller’s variable, not directly to the formal parameter of the same spelling. With ordinary value passing, evaluate the three expressions and use their values to initialize the corresponding formals. In other parameter mechanisms, an argument can identify storage or a delayed expression.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answers before showing the two approaches. Students may propose matching by position or by parameter name. Use a long function interface to motivate how a perfectly type-correct call can still put two values in the wrong positions.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positional correspondence, show how swapping two integer arguments can be legal but logically wrong. For keyword correspondence, explain that the names are the callee’s formal parameter names. The example is Python syntax. Reordering keyword arguments does not mean every mixture of positional and keyword arguments is legal; rules about positional-only, keyword-only, duplicate, and missing arguments still apply.</a:t>
            </a:r>
          </a:p>
          <a:p xmlns:a="http://schemas.openxmlformats.org/drawingml/2006/main">
            <a:r>
              <a:t/>
            </a:r>
          </a:p>
          <a:p xmlns:a="http://schemas.openxmlformats.org/drawingml/2006/main">
            <a:r>
              <a:t>References</a:t>
            </a:r>
          </a:p>
          <a:p xmlns:a="http://schemas.openxmlformats.org/drawingml/2006/main">
            <a:r>
              <a:t>https://docs.python.org/3/tutorial/controlflow.html#keyword-arguments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two separate questions: what information is allowed to flow, and how the language or implementation transfers it. Semantic modes are in, out and in-out. They do not by themselves identify a particular storage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input such as radius flows into a computation. An output such as computed area flows back to the caller. An in-out parameter begins with meaningful input and can deliver a changed value. A mode describes the interface’s information flow. Copying and reference passing are mechanisms; more than one mechanism can support a semantic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three rows from top to bottom. In mode transfers information toward the callee. Out mode transfers information back to the caller. In-out mode allows both directions. The arrows describe information flow and do not prove that an implementation uses copies rather than aliases. The original diagram is retained in full.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mechanism, ask four questions: what is established at entry, what storage the formal parameter uses, when changes can reach the caller, and what happens if two parameters refer to the same caller variable. The small examples deliberately reuse the variable name y in different scopes to make that distinction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an integer argument, the formal holds its own integer value. With a reference-valued argument, the value copied can be a reference to an existing object. Therefore mutation through that reference may be visible even though rebinding the formal is local. Do not equate pass-by-value with a deep copy of an object. Optimizations can avoid physical copies while preserving the specified behavior.</a:t>
            </a:r>
          </a:p>
          <a:p xmlns:a="http://schemas.openxmlformats.org/drawingml/2006/main">
            <a:r>
              <a:t/>
            </a:r>
          </a:p>
          <a:p xmlns:a="http://schemas.openxmlformats.org/drawingml/2006/main">
            <a:r>
              <a:t>References</a:t>
            </a:r>
          </a:p>
          <a:p xmlns:a="http://schemas.openxmlformats.org/drawingml/2006/main">
            <a:r>
              <a:t>https://docs.oracle.com/javase/tutorial/java/javaOO/arguments.html</a:t>
            </a:r>
          </a:p>
          <a:p xmlns:a="http://schemas.openxmlformats.org/drawingml/2006/main">
            <a:r>
              <a:t>https://learn.microsoft.com/en-us/dotnet/csharp/language-reference/keywords/method-parameters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distinguish the caller's y from the function's local y. At the call by_value(y), the caller's y has value 3. Copy 3 into the formal parameter x. Inside by_value, declare a separate local y with value 4. The statement x += 4 changes the local x from 3 to 7. It does not change the caller's variable. Return y + x = 4 + 7 = 11, and assign the returned value to z. After the call, the caller's y is still 3 and z is 11. The two variables named y occupy different scopes. A useful follow-up question is whether returning x would change the caller's y. It would not; the return value and modification of an actual parameter are separate mechanisms.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list concerns ordinary parameters and does not claim that every parameter form in each language is identical. Java copies primitive values or object references. Python describes argument passing as assignment: a parameter is bound to an object. JavaScript likewise permits shared object mutation. In all of these ordinary cases, assigning a new value to the local parameter does not rebind the caller’s variable. C++ reference parameters and C# ref or out parameters use other rules.</a:t>
            </a:r>
          </a:p>
          <a:p xmlns:a="http://schemas.openxmlformats.org/drawingml/2006/main">
            <a:r>
              <a:t/>
            </a:r>
          </a:p>
          <a:p xmlns:a="http://schemas.openxmlformats.org/drawingml/2006/main">
            <a:r>
              <a:t>References</a:t>
            </a:r>
          </a:p>
          <a:p xmlns:a="http://schemas.openxmlformats.org/drawingml/2006/main">
            <a:r>
              <a:t>https://docs.oracle.com/javase/tutorial/java/javaOO/arguments.html</a:t>
            </a:r>
          </a:p>
          <a:p xmlns:a="http://schemas.openxmlformats.org/drawingml/2006/main">
            <a:r>
              <a:t>https://docs.python.org/3/faq/programming.html#how-do-i-write-a-function-with-output-parameters-call-by-reference</a:t>
            </a:r>
          </a:p>
          <a:p xmlns:a="http://schemas.openxmlformats.org/drawingml/2006/main">
            <a:r>
              <a:t>https://learn.microsoft.com/en-us/dotnet/csharp/language-reference/keywords/method-parameters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caller’s destination must be identified according to the language’s rules, and the formal must receive a value before copying it out. For fun(x, list[x]), distinguish selecting the element’s address at entry from reevaluating the index at return. For fun(a, a), two output values may compete for one destination, so a language must define, restrict, or leave consequences unspecified. These questions motivate why parameter semantics need precise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C-like pseudocode for the pass-by-result model; ordinary C or C++ int x would instead be a by-value parameter. At the call, remember the destination variable y in the caller, but do not copy its value 3 into the formal x. The formal x begins without an initial value. Reading x in int y = x + 2 would therefore be invalid in this model. The actual body first sets its separate local y to 2 and then sets x to 2 + 4 = 6. When the subprogram finishes normally, copy the final value of x back to the caller's destination y. The caller's y is now 6. Emphasize that this final copy is part of the assumed parameter mechanism, not a consequence of the function's spelling or the name by_result.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Place both methods inside one class and include using System; at the top of the source file. The code retains both original printed messages and the pause at Console.ReadLine().</a:t>
            </a:r>
          </a:p>
          <a:p xmlns:a="http://schemas.openxmlformats.org/drawingml/2006/main">
            <a:r>
              <a:t/>
            </a:r>
          </a:p>
          <a:p xmlns:a="http://schemas.openxmlformats.org/drawingml/2006/main">
            <a:r>
              <a:t>The radius parameter is a double passed by value. The caller supplies 3.92781, and the method uses this value to calculate two outputs. The circumference expression is 2 * Math.PI * radius, which gives approximately 24.67915808139305. The area expression is Math.PI * radius * radius, which gives approximately 48.46752195183822. These values are written through the out parameters to the caller's circumferenceResult and areaResult variables. In out var areaResult, the type is inferred as double from the parameter declaration. The method returns void because its two results are supplied through output parameters. C# out is an output parameter passed by reference. It is not a copy-out implementation of pass-by-result. The caller need not give the output variables initial values, and the method must assign them before returning normally. The method cannot read an out parameter before assigning it. If presenting this as a complete program, assume using System; and put Main and CalculateCircumferenceAndArea inside the same class.</a:t>
            </a:r>
          </a:p>
          <a:p xmlns:a="http://schemas.openxmlformats.org/drawingml/2006/main">
            <a:r>
              <a:t/>
            </a:r>
          </a:p>
          <a:p xmlns:a="http://schemas.openxmlformats.org/drawingml/2006/main">
            <a:r>
              <a:t>References</a:t>
            </a:r>
          </a:p>
          <a:p xmlns:a="http://schemas.openxmlformats.org/drawingml/2006/main">
            <a:r>
              <a:t>https://learn.microsoft.com/en-us/dotnet/csharp/language-reference/keywords/method-parameters</a:t>
            </a:r>
          </a:p>
          <a:p xmlns:a="http://schemas.openxmlformats.org/drawingml/2006/main">
            <a:r>
              <a:t>https://learn.microsoft.com/dotnet/csharp/language-reference/keywords/out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defining feature is a separate formal parameter whose value is copied at two boundaries. It is not a deep-copy rule for every object reachable from a value. Compared with reference passing, caller-visible changes are delayed until return. Aliasing and copy-out order can therefore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C-like pseudocode for pass-by-value-result, also called copy-in/copy-out. Start with y = 3 in the caller. At entry, copy 3 from the actual parameter into the formal parameter's own storage, so x = 3. Inside the function, the local y gets x's current value, so local y = 3. Then x = y + 4 makes x = 7. The caller's y remains 3 while the body executes. At normal return, copy the final x value back to the actual parameter's destination, making the caller's y = 7. Compare with pass-by-reference: this example gives the same final number, but changes reach the caller at different times. With aliases, that timing can change observable behavior. If the same caller variable is passed for two value-result parameters, the specification must define or restrict the copy-out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classifying all Fortran arguments as value-result. GNU Fortran normally passes most arguments by reference, and can introduce a temporary with copy-in/copy-out when required by the argument and semantics. Ada provides a clearer language-level example for non-aliased in out parameters of by-copy types. Keep implementation conventions distinct from a language’s observable requirements.</a:t>
            </a:r>
          </a:p>
          <a:p xmlns:a="http://schemas.openxmlformats.org/drawingml/2006/main">
            <a:r>
              <a:t/>
            </a:r>
          </a:p>
          <a:p xmlns:a="http://schemas.openxmlformats.org/drawingml/2006/main">
            <a:r>
              <a:t>References</a:t>
            </a:r>
          </a:p>
          <a:p xmlns:a="http://schemas.openxmlformats.org/drawingml/2006/main">
            <a:r>
              <a:t>https://gcc.gnu.org/onlinedocs/gfortran/Argument-passing-conventions.html</a:t>
            </a:r>
          </a:p>
          <a:p xmlns:a="http://schemas.openxmlformats.org/drawingml/2006/main">
            <a:r>
              <a:t>https://docs.adacore.com/live/wave/arm22/html/arm22/arm22-6-2.html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true reference parameter denotes the caller’s variable or object as specified by the language. Assigning through the formal can update that caller storage directly. Pass-by-sharing is a different term: two local bindings can point to the same object while remaining separate variables. Avoid claiming that reference access is always slower; generated code and optimization determine the actual cost.</a:t>
            </a:r>
          </a:p>
          <a:p xmlns:a="http://schemas.openxmlformats.org/drawingml/2006/main">
            <a:r>
              <a:t/>
            </a:r>
          </a:p>
          <a:p xmlns:a="http://schemas.openxmlformats.org/drawingml/2006/main">
            <a:r>
              <a:t>References</a:t>
            </a:r>
          </a:p>
          <a:p xmlns:a="http://schemas.openxmlformats.org/drawingml/2006/main">
            <a:r>
              <a:t>https://docs.adacore.com/live/wave/arm22/html/arm22/arm22-6-2.html</a:t>
            </a:r>
          </a:p>
          <a:p xmlns:a="http://schemas.openxmlformats.org/drawingml/2006/main">
            <a:r>
              <a:t>https://learn.microsoft.com/en-us/dotnet/csharp/language-reference/keywords/method-parameters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C++ reference parameter int&amp; x to make the example executable. Start with the caller's y = 3. At the call by_reference(y), x becomes another name for the caller's y. There is no separate integer copy of y for x. The body declares its own local y and initializes it from x, so that local y is also 3. The assignment x = y + 4 writes 7 through the reference into the caller's y. That change occurs when the assignment executes. After the function returns, the caller's y is 7. Contrast this with the previous copy-in/copy-out example, where the caller's y changed only at return. The local y inside the function and the caller's y are different variables despite having the same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two short contrasting operations when teaching: modifying an element of a shared list versus assigning a new list to the parameter. The first can be visible through the caller’s reference; the second changes only the callee’s parameter binding. Mutable objects do not make Python a true call-by-reference language. Java similarly passes the reference value, not the caller’s reference variable.</a:t>
            </a:r>
          </a:p>
          <a:p xmlns:a="http://schemas.openxmlformats.org/drawingml/2006/main">
            <a:r>
              <a:t/>
            </a:r>
          </a:p>
          <a:p xmlns:a="http://schemas.openxmlformats.org/drawingml/2006/main">
            <a:r>
              <a:t>References</a:t>
            </a:r>
          </a:p>
          <a:p xmlns:a="http://schemas.openxmlformats.org/drawingml/2006/main">
            <a:r>
              <a:t>https://docs.oracle.com/javase/tutorial/java/javaOO/arguments.html</a:t>
            </a:r>
          </a:p>
          <a:p xmlns:a="http://schemas.openxmlformats.org/drawingml/2006/main">
            <a:r>
              <a:t>https://docs.python.org/3/faq/programming.html#how-do-i-write-a-function-with-output-parameters-call-by-reference</a:t>
            </a:r>
          </a:p>
          <a:p xmlns:a="http://schemas.openxmlformats.org/drawingml/2006/main">
            <a:r>
              <a:t>https://learn.microsoft.com/en-us/dotnet/csharp/language-reference/keywords/method-parameters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traditional substitution explanation is conceptual and includes renaming to prevent accidental identifier capture. A common implementation passes a delayed computation, often called a thunk, together with access to the argument’s environment. Repeated use reevaluates the expression. If assignment through the formal is permitted, the actual must identify assignable storage. Do not describe every call-by-name parameter as necessarily in-out: its uses and argument determine what is possible.</a:t>
            </a:r>
          </a:p>
          <a:p xmlns:a="http://schemas.openxmlformats.org/drawingml/2006/main">
            <a:r>
              <a:t/>
            </a:r>
          </a:p>
          <a:p xmlns:a="http://schemas.openxmlformats.org/drawingml/2006/main">
            <a:r>
              <a:t>References</a:t>
            </a:r>
          </a:p>
          <a:p xmlns:a="http://schemas.openxmlformats.org/drawingml/2006/main">
            <a:r>
              <a:t>https://www.masswerk.at/algol60/report.htm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macro has five inputs: Type selects the accumulator type, Var names the loop variable, Low and High set the inclusive bounds, and Term is the expression added on each iteration. After expansion, low and high are initialized once, and sum starts at zero. The for loop visits each integer Var from low through high. The expression Term appears inside the loop, so it is evaluated using that iteration's current variable values. This repeated evaluation is the connection to Jensen's device. The surrounding ({ ... }) construct is a GNU statement expression, not portable ISO C or C++. Its final expression sum; supplies the value of the entire construct. The backslashes continue the macro definition onto the next physical line. This macro illustrates substitution and repeated evaluation; it is not a complete implementation of ALGOL call-by-name. Real call-by-name preserves the argument's referencing environment, typically using delayed computations. Macro-local names such as low, high and sum can accidentally capture identifiers in arguments. Present the shown inputs as demonstrations, not this macro as a robust general library function.</a:t>
            </a:r>
          </a:p>
          <a:p xmlns:a="http://schemas.openxmlformats.org/drawingml/2006/main">
            <a:r>
              <a:t/>
            </a:r>
          </a:p>
          <a:p xmlns:a="http://schemas.openxmlformats.org/drawingml/2006/main">
            <a:r>
              <a:t>References</a:t>
            </a:r>
          </a:p>
          <a:p xmlns:a="http://schemas.openxmlformats.org/drawingml/2006/main">
            <a:r>
              <a:t>https://gcc.gnu.org/onlinedocs/gcc/Statement-Exprs.html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SUM(double, i, 1, 100, 1.0 / i) by matching its five arguments to the macro. The accumulator is double, the loop variable is i, the first index is 1, the last is 100, and the expression is 1.0 / i. On iteration 1, add 1.0 / 1 = 1, so the partial sum is 1. On iteration 2, add 1.0 / 2 = 0.5, giving 1.5. On iteration 3, add approximately 0.333333, giving approximately 1.833333. Continue through i = 100. The final value is the 100th harmonic number, approximately 5.187377517639621. The literal 1.0 forces floating-point division. If the expression were 1 / i with integer i, C integer division would give zero for i greater than 1, producing 1 instead. The i in Term is evaluated each time the loop reaches sum += (Term); it is not evaluated once before the macro body runs. The expanded block's final sum; is what provides the value assigned to the outer variable sum. These are separate variables with the same name in nested scopes.</a:t>
            </a:r>
          </a:p>
          <a:p xmlns:a="http://schemas.openxmlformats.org/drawingml/2006/main">
            <a:r>
              <a:t/>
            </a:r>
          </a:p>
          <a:p xmlns:a="http://schemas.openxmlformats.org/drawingml/2006/main">
            <a:r>
              <a:t>References</a:t>
            </a:r>
          </a:p>
          <a:p xmlns:a="http://schemas.openxmlformats.org/drawingml/2006/main">
            <a:r>
              <a:t>https://gcc.gnu.org/onlinedocs/gcc/Statement-Exprs.html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expanded code keeps all operations while combining the low and high declarations on one line. Read the right-hand trace before returning to the bounds of 100.</a:t>
            </a:r>
          </a:p>
          <a:p xmlns:a="http://schemas.openxmlformats.org/drawingml/2006/main">
            <a:r>
              <a:t/>
            </a:r>
          </a:p>
          <a:p xmlns:a="http://schemas.openxmlformats.org/drawingml/2006/main">
            <a:r>
              <a:t>Rename the outer result variable from prod to total because the expression computes a sum of products, not a product of terms. The outer loop chooses i from 1 to 100. For each fixed i, the inner loop chooses j from i to 100 and adds i*j. The outer loop then adds that inner total. Every pair with 1 &lt;= i &lt;= j &lt;= 100 contributes exactly once. To trace it by hand, temporarily replace 100 with 3. For i = 1, j = 1, 2, 3 contributes 1 + 2 + 3 = 6. For i = 2, j = 2, 3 contributes 4 + 6 = 10. For i = 3, j = 3 contributes 9. The total is 6 + 10 + 9 = 25. Each invocation of the inner statement expression has its own low, high and sum variables. Its lower bound is initialized to the current outer i before the inner loop starts. When that block ends, its final sum value is added to the outer sum. For a full arithmetic check, let S = 1 + ... + 100 = 5050 and Q = 1^2 + ... + 100^2 = 338350. S^2 counts all ordered pairs, with off-diagonal pairs appearing in both orders. The required upper-triangular sum is (S^2 + Q) / 2 = (25,502,500 + 338,350) / 2 = 12,920,425. The diagonal is added before division so it is counted once. The macro expansion and the original nested call give the same result for these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Arrays combine questions about parameter passing, element storage, dimensions and mutation. Begin with the broad language comparison, then focus on the particular rules for built-in C and C++ arrays.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all twelve languages from the original comparison. The grid is not a claim that they have identical semantics. For example, Java array references are passed by value, Python commonly shares list objects, and Fortran has several array argument forms. Ask what a callee can learn about length or shape and what kind of mutation is visible to the caller, rather than calling every case simply expected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concerns built-in arrays. C++ also has containers such as std::array and std::vector whose parameter behavior is determined by the chosen value or reference parameter type. Do not generalize raw-array decay to every C++ collection.</a:t>
            </a:r>
          </a:p>
          <a:p xmlns:a="http://schemas.openxmlformats.org/drawingml/2006/main">
            <a:r>
              <a:t/>
            </a:r>
          </a:p>
          <a:p xmlns:a="http://schemas.openxmlformats.org/drawingml/2006/main">
            <a:r>
              <a:t>References</a:t>
            </a:r>
          </a:p>
          <a:p xmlns:a="http://schemas.openxmlformats.org/drawingml/2006/main">
            <a:r>
              <a:t>https://eel.is/c++draft/conv.array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 arr remains an array; its declaration does not change. The conversion occurs in the expression used for the call. The resulting pointer points to arr[0]. A function receiving only int* cannot recover the element count from that pointer. Storage duration is a separate issue: an array declared inside a function without static normally has automatic storage duration, while static arrays can also exist.</a:t>
            </a:r>
          </a:p>
          <a:p xmlns:a="http://schemas.openxmlformats.org/drawingml/2006/main">
            <a:r>
              <a:t/>
            </a:r>
          </a:p>
          <a:p xmlns:a="http://schemas.openxmlformats.org/drawingml/2006/main">
            <a:r>
              <a:t>References</a:t>
            </a:r>
          </a:p>
          <a:p xmlns:a="http://schemas.openxmlformats.org/drawingml/2006/main">
            <a:r>
              <a:t>https://eel.is/c++draft/conv.array</a:t>
            </a:r>
          </a:p>
          <a:p xmlns:a="http://schemas.openxmlformats.org/drawingml/2006/main">
            <a:r>
              <a:t>https://eel.is/c++draft/dcl.fct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allocated array object from the pointer variable. The new-expression returns a pointer to the first element. A pointer parameter can access the elements through the copied pointer, but does not automatically know the array length. If this allocation is used in a complete program, release it once with delete[] arr; when it is no longer needed. Passing the pointer does not by itself transfer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common pointer interface is a consequence of the language rules, not a requirement imposed by heap versus automatic allocation. An int* plus a length can access either sort of array. The C++ reference-to-array parameter preserves the five-element array type and cannot bind to an arbitrary int* obtained from new. Parentheses matter: int (&amp;a)[5] is a reference to an array, not an array of references.</a:t>
            </a:r>
          </a:p>
          <a:p xmlns:a="http://schemas.openxmlformats.org/drawingml/2006/main">
            <a:r>
              <a:t/>
            </a:r>
          </a:p>
          <a:p xmlns:a="http://schemas.openxmlformats.org/drawingml/2006/main">
            <a:r>
              <a:t>References</a:t>
            </a:r>
          </a:p>
          <a:p xmlns:a="http://schemas.openxmlformats.org/drawingml/2006/main">
            <a:r>
              <a:t>https://eel.is/c++draft/conv.array</a:t>
            </a:r>
          </a:p>
          <a:p xmlns:a="http://schemas.openxmlformats.org/drawingml/2006/main">
            <a:r>
              <a:t>https://eel.is/c++draft/dcl.fct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these as alternative interfaces, not one overload set. The reference and pointer overloads can make a call ambiguous when declared together. The final two declarations are valid declarations in isolation, but their parameter type is incompatible with this array argument.</a:t>
            </a:r>
          </a:p>
          <a:p xmlns:a="http://schemas.openxmlformats.org/drawingml/2006/main">
            <a:r>
              <a:t/>
            </a:r>
          </a:p>
          <a:p xmlns:a="http://schemas.openxmlformats.org/drawingml/2006/main">
            <a:r>
              <a:t>Start by reading the declaration as an array of three rows; each row is an array of four doubles. The first element of m is therefore a whole row, not a pointer and not an individual double. Array-to-pointer conversion removes only the outer array layer, giving a pointer to an array of four doubles: double (*)[4]. A parameter written double (*m)[4] accepts that pointer. The parameter spelling double m[][4] adjusts to the same type. The compiler needs the row width 4 to calculate m + 1 and m[i][j]. Alternatively, a C++ reference parameter double (&amp;m)[3][4] binds directly to the complete array, preserving both dimensions and requiring exactly this shape. The original spelling double* m[4] declares an array of pointers in parameter syntax and adjusts to double**. It does not describe a pointer to a row, so it cannot accept double[3][4]. double** expects pointers to rows, which is a different memory organization. A 3-by-4 contiguous array contains doubles directly and has no table of row pointers. Rename mat_inverse to process_matrix because an ordinary matrix inverse is not defined for a non-square 3-by-4 matrix. These signatures demonstrate parameter types, not a matrix inversion algorithm.</a:t>
            </a:r>
          </a:p>
          <a:p xmlns:a="http://schemas.openxmlformats.org/drawingml/2006/main">
            <a:r>
              <a:t/>
            </a:r>
          </a:p>
          <a:p xmlns:a="http://schemas.openxmlformats.org/drawingml/2006/main">
            <a:r>
              <a:t>References</a:t>
            </a:r>
          </a:p>
          <a:p xmlns:a="http://schemas.openxmlformats.org/drawingml/2006/main">
            <a:r>
              <a:t>https://eel.is/c++draft/conv.array</a:t>
            </a:r>
          </a:p>
          <a:p xmlns:a="http://schemas.openxmlformats.org/drawingml/2006/main">
            <a:r>
              <a:t>https://eel.is/c++draft/dcl.fct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value can be passed to another function just as an integer can. The new question is how to find variables used by that passed function but declared outside its own body. This connects parameter passing to scope and closures.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non-local variable is used inside a function but is declared outside that function. Passing a function value tells us which code will run; we also need a rule for finding that code's non-local variables. Use the terminology stated on this slide: shallow binding uses the environment of the eventual call to the passed function, deep binding uses the environment where that function was defined, and ad hoc binding uses the environment where it was passed as an argument. The next example deliberately places an x in each of those environments. These are alternative semantic policies for comparison. They are not three selectable behaviors of ordinary JavaScript. JavaScript uses lexical scope and closures, so the function carries access to its enclosing definition environment. Some programming-language texts use binding terminology differently, so tie the labels to the explicit environment descriptions when teaching or assessing this example.</a:t>
            </a:r>
          </a:p>
          <a:p xmlns:a="http://schemas.openxmlformats.org/drawingml/2006/main">
            <a:r>
              <a:t/>
            </a:r>
          </a:p>
          <a:p xmlns:a="http://schemas.openxmlformats.org/drawingml/2006/main">
            <a:r>
              <a:t>References</a:t>
            </a:r>
          </a:p>
          <a:p xmlns:a="http://schemas.openxmlformats.org/drawingml/2006/main">
            <a:r>
              <a:t>https://tc39.es/ecma262/multipage/ordinary-and-exotic-objects-behaviours.html#sec-ordinaryfunctioncreate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variable x the body of sub2 reads. It has no local x. First, invoke sub1 by adding sub1(); below its definition. In the sub1 activation, x is assigned 1 before sub3 runs. sub3 declares a separate x = 3 and executes sub4(sub2), passing the function value sub2. sub4 declares another x = 4 and finally calls that received function with subx(). Under the slide's shallow-binding rule, select the environment where subx() is called, which is sub4, so x = 4. Under the deep-binding rule used here, select the environment where sub2 was defined, which is sub1, so x = 1. Under the ad hoc rule, select the environment where sub2 was passed as an argument, which is sub3, so x = 3. For actual JavaScript, lexical scope fixes sub2's enclosing environment to the sub1 activation. Calling it through a parameter does not change that environment, so alert(x) displays 1. A closure retains access to the variable binding, not a frozen copy of its value at the textual definition. The assignment x = 1 occurs before the call and is therefore seen by sub2. The variables in sub3 and sub4 do not become enclosing lexical variables of sub2. If using Node rather than a browser, replace alert(x) with console.log(x) for the same value. The original slide only defines sub1 and needs the added call to execute.</a:t>
            </a:r>
          </a:p>
          <a:p xmlns:a="http://schemas.openxmlformats.org/drawingml/2006/main">
            <a:r>
              <a:t/>
            </a:r>
          </a:p>
          <a:p xmlns:a="http://schemas.openxmlformats.org/drawingml/2006/main">
            <a:r>
              <a:t>References</a:t>
            </a:r>
          </a:p>
          <a:p xmlns:a="http://schemas.openxmlformats.org/drawingml/2006/main">
            <a:r>
              <a:t>https://tc39.es/ecma262/multipage/ordinary-and-exotic-objects-behaviours.html#sec-ordinaryfunctioncreate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s/_rels/slide1.xml.rels><?xml version='1.0' encoding='UTF-8' standalone='yes'?>
<Relationships xmlns="http://schemas.openxmlformats.org/package/2006/relationships"><Relationship Type="http://schemas.openxmlformats.org/officeDocument/2006/relationships/slideLayout" Target="../nativeTemplate/slideLayouts/slideLayout1.xml" Id="Rbb74bae866904409"/><Relationship Type="http://schemas.openxmlformats.org/officeDocument/2006/relationships/notesSlide" Target="/ppt/notesSlides/notesSlide1.xml" Id="R699ea1a3af6f4775"/></Relationships>
</file>

<file path=ppt/slides/_rels/slide2.xml.rels><?xml version='1.0' encoding='UTF-8' standalone='yes'?>
<Relationships xmlns="http://schemas.openxmlformats.org/package/2006/relationships"><Relationship Type="http://schemas.openxmlformats.org/officeDocument/2006/relationships/slideLayout" Target="../nativeTemplate/slideLayouts/slideLayout2.xml" Id="Rc8de0ce438d84658"/><Relationship Type="http://schemas.openxmlformats.org/officeDocument/2006/relationships/notesSlide" Target="/ppt/notesSlides/notesSlide2.xml" Id="Rc24bfc8959624334"/></Relationships>
</file>

<file path=ppt/slides/_rels/slide3.xml.rels><?xml version='1.0' encoding='UTF-8' standalone='yes'?>
<Relationships xmlns="http://schemas.openxmlformats.org/package/2006/relationships"><Relationship Type="http://schemas.openxmlformats.org/officeDocument/2006/relationships/slideLayout" Target="../nativeTemplate/slideLayouts/slideLayout2.xml" Id="Rf56749c00f5d43a2"/><Relationship Type="http://schemas.openxmlformats.org/officeDocument/2006/relationships/notesSlide" Target="/ppt/notesSlides/notesSlide3.xml" Id="R9ed9acf8a1b94074"/></Relationships>
</file>

<file path=ppt/slides/_rels/slide4.xml.rels><?xml version='1.0' encoding='UTF-8' standalone='yes'?>
<Relationships xmlns="http://schemas.openxmlformats.org/package/2006/relationships"><Relationship Type="http://schemas.openxmlformats.org/officeDocument/2006/relationships/slideLayout" Target="../nativeTemplate/slideLayouts/slideLayout2.xml" Id="R6f00fcf1fa054c5e"/><Relationship Type="http://schemas.openxmlformats.org/officeDocument/2006/relationships/notesSlide" Target="/ppt/notesSlides/notesSlide4.xml" Id="Rb1a66643c66e4163"/></Relationships>
</file>

<file path=ppt/slides/_rels/slide5.xml.rels><?xml version='1.0' encoding='UTF-8' standalone='yes'?>
<Relationships xmlns="http://schemas.openxmlformats.org/package/2006/relationships"><Relationship Type="http://schemas.openxmlformats.org/officeDocument/2006/relationships/slideLayout" Target="../nativeTemplate/slideLayouts/slideLayout2.xml" Id="R891a9b737c3f499d"/><Relationship Type="http://schemas.openxmlformats.org/officeDocument/2006/relationships/notesSlide" Target="/ppt/notesSlides/notesSlide5.xml" Id="Rd4005a8ab3704ca4"/></Relationships>
</file>

<file path=ppt/slides/_rels/slide6.xml.rels><?xml version='1.0' encoding='UTF-8' standalone='yes'?>
<Relationships xmlns="http://schemas.openxmlformats.org/package/2006/relationships"><Relationship Type="http://schemas.openxmlformats.org/officeDocument/2006/relationships/slideLayout" Target="../nativeTemplate/slideLayouts/slideLayout2.xml" Id="Rddf248342b4546b5"/><Relationship Type="http://schemas.openxmlformats.org/officeDocument/2006/relationships/notesSlide" Target="/ppt/notesSlides/notesSlide6.xml" Id="R2464bcc475cc4032"/></Relationships>
</file>

<file path=ppt/slides/_rels/slide7.xml.rels><?xml version='1.0' encoding='UTF-8' standalone='yes'?>
<Relationships xmlns="http://schemas.openxmlformats.org/package/2006/relationships"><Relationship Type="http://schemas.openxmlformats.org/officeDocument/2006/relationships/slideLayout" Target="../nativeTemplate/slideLayouts/slideLayout2.xml" Id="R373a4324066842ee"/><Relationship Type="http://schemas.openxmlformats.org/officeDocument/2006/relationships/notesSlide" Target="/ppt/notesSlides/notesSlide7.xml" Id="Rdbd2c284850f45e6"/></Relationships>
</file>

<file path=ppt/slides/_rels/slide8.xml.rels><?xml version='1.0' encoding='UTF-8' standalone='yes'?>
<Relationships xmlns="http://schemas.openxmlformats.org/package/2006/relationships"><Relationship Type="http://schemas.openxmlformats.org/officeDocument/2006/relationships/slideLayout" Target="../nativeTemplate/slideLayouts/slideLayout3.xml" Id="R96c14982c6c94f28"/><Relationship Type="http://schemas.openxmlformats.org/officeDocument/2006/relationships/notesSlide" Target="/ppt/notesSlides/notesSlide8.xml" Id="R50cc9adc46d44445"/></Relationships>
</file>

<file path=ppt/slides/_rels/slide9.xml.rels><?xml version='1.0' encoding='UTF-8' standalone='yes'?>
<Relationships xmlns="http://schemas.openxmlformats.org/package/2006/relationships"><Relationship Type="http://schemas.openxmlformats.org/officeDocument/2006/relationships/slideLayout" Target="../nativeTemplate/slideLayouts/slideLayout2.xml" Id="Rb5bea028d6174741"/><Relationship Type="http://schemas.openxmlformats.org/officeDocument/2006/relationships/notesSlide" Target="/ppt/notesSlides/notesSlide9.xml" Id="Rb5c9851745664606"/></Relationships>
</file>

<file path=ppt/slides/_rels/slide10.xml.rels><?xml version='1.0' encoding='UTF-8' standalone='yes'?>
<Relationships xmlns="http://schemas.openxmlformats.org/package/2006/relationships"><Relationship Type="http://schemas.openxmlformats.org/officeDocument/2006/relationships/slideLayout" Target="../nativeTemplate/slideLayouts/slideLayout2.xml" Id="Rb209416afadc46f2"/><Relationship Type="http://schemas.openxmlformats.org/officeDocument/2006/relationships/image" Target="/ppt/media/image3.png" Id="Ra754e4c4830c4646"/><Relationship Type="http://schemas.openxmlformats.org/officeDocument/2006/relationships/notesSlide" Target="/ppt/notesSlides/notesSlide10.xml" Id="R7604d5ac9b34426c"/></Relationships>
</file>

<file path=ppt/slides/_rels/slide11.xml.rels><?xml version='1.0' encoding='UTF-8' standalone='yes'?>
<Relationships xmlns="http://schemas.openxmlformats.org/package/2006/relationships"><Relationship Type="http://schemas.openxmlformats.org/officeDocument/2006/relationships/slideLayout" Target="../nativeTemplate/slideLayouts/slideLayout2.xml" Id="Rc3e73347d03b41d2"/><Relationship Type="http://schemas.openxmlformats.org/officeDocument/2006/relationships/notesSlide" Target="/ppt/notesSlides/notesSlide11.xml" Id="R88bd188420cc4e8a"/></Relationships>
</file>

<file path=ppt/slides/_rels/slide12.xml.rels><?xml version='1.0' encoding='UTF-8' standalone='yes'?>
<Relationships xmlns="http://schemas.openxmlformats.org/package/2006/relationships"><Relationship Type="http://schemas.openxmlformats.org/officeDocument/2006/relationships/slideLayout" Target="../nativeTemplate/slideLayouts/slideLayout2.xml" Id="R9692a98cdd8043b6"/><Relationship Type="http://schemas.openxmlformats.org/officeDocument/2006/relationships/notesSlide" Target="/ppt/notesSlides/notesSlide12.xml" Id="Ra8d6e773bcfb4ee3"/></Relationships>
</file>

<file path=ppt/slides/_rels/slide13.xml.rels><?xml version='1.0' encoding='UTF-8' standalone='yes'?>
<Relationships xmlns="http://schemas.openxmlformats.org/package/2006/relationships"><Relationship Type="http://schemas.openxmlformats.org/officeDocument/2006/relationships/slideLayout" Target="../nativeTemplate/slideLayouts/slideLayout2.xml" Id="R24605ab4f0664c7e"/><Relationship Type="http://schemas.openxmlformats.org/officeDocument/2006/relationships/notesSlide" Target="/ppt/notesSlides/notesSlide13.xml" Id="R352ab0e9186e4310"/></Relationships>
</file>

<file path=ppt/slides/_rels/slide14.xml.rels><?xml version='1.0' encoding='UTF-8' standalone='yes'?>
<Relationships xmlns="http://schemas.openxmlformats.org/package/2006/relationships"><Relationship Type="http://schemas.openxmlformats.org/officeDocument/2006/relationships/slideLayout" Target="../nativeTemplate/slideLayouts/slideLayout2.xml" Id="R56fde53e67404232"/><Relationship Type="http://schemas.openxmlformats.org/officeDocument/2006/relationships/notesSlide" Target="/ppt/notesSlides/notesSlide14.xml" Id="R2c5ab53a87d04777"/></Relationships>
</file>

<file path=ppt/slides/_rels/slide15.xml.rels><?xml version='1.0' encoding='UTF-8' standalone='yes'?>
<Relationships xmlns="http://schemas.openxmlformats.org/package/2006/relationships"><Relationship Type="http://schemas.openxmlformats.org/officeDocument/2006/relationships/slideLayout" Target="../nativeTemplate/slideLayouts/slideLayout2.xml" Id="Rfc1f4c2c9c654cf1"/><Relationship Type="http://schemas.openxmlformats.org/officeDocument/2006/relationships/notesSlide" Target="/ppt/notesSlides/notesSlide15.xml" Id="R82e73be5e3764a15"/></Relationships>
</file>

<file path=ppt/slides/_rels/slide16.xml.rels><?xml version='1.0' encoding='UTF-8' standalone='yes'?>
<Relationships xmlns="http://schemas.openxmlformats.org/package/2006/relationships"><Relationship Type="http://schemas.openxmlformats.org/officeDocument/2006/relationships/slideLayout" Target="../nativeTemplate/slideLayouts/slideLayout2.xml" Id="R5d3b196e687e40b3"/><Relationship Type="http://schemas.openxmlformats.org/officeDocument/2006/relationships/notesSlide" Target="/ppt/notesSlides/notesSlide16.xml" Id="R40bf7c8e90794c9d"/></Relationships>
</file>

<file path=ppt/slides/_rels/slide17.xml.rels><?xml version='1.0' encoding='UTF-8' standalone='yes'?>
<Relationships xmlns="http://schemas.openxmlformats.org/package/2006/relationships"><Relationship Type="http://schemas.openxmlformats.org/officeDocument/2006/relationships/slideLayout" Target="../nativeTemplate/slideLayouts/slideLayout2.xml" Id="R2785339ebd3a4677"/><Relationship Type="http://schemas.openxmlformats.org/officeDocument/2006/relationships/notesSlide" Target="/ppt/notesSlides/notesSlide17.xml" Id="R8e8680f1216247bf"/></Relationships>
</file>

<file path=ppt/slides/_rels/slide18.xml.rels><?xml version='1.0' encoding='UTF-8' standalone='yes'?>
<Relationships xmlns="http://schemas.openxmlformats.org/package/2006/relationships"><Relationship Type="http://schemas.openxmlformats.org/officeDocument/2006/relationships/slideLayout" Target="../nativeTemplate/slideLayouts/slideLayout2.xml" Id="Raf35284737004c02"/><Relationship Type="http://schemas.openxmlformats.org/officeDocument/2006/relationships/notesSlide" Target="/ppt/notesSlides/notesSlide18.xml" Id="R8479a883739a41d5"/></Relationships>
</file>

<file path=ppt/slides/_rels/slide19.xml.rels><?xml version='1.0' encoding='UTF-8' standalone='yes'?>
<Relationships xmlns="http://schemas.openxmlformats.org/package/2006/relationships"><Relationship Type="http://schemas.openxmlformats.org/officeDocument/2006/relationships/slideLayout" Target="../nativeTemplate/slideLayouts/slideLayout2.xml" Id="R9c8e9097854e4abd"/><Relationship Type="http://schemas.openxmlformats.org/officeDocument/2006/relationships/notesSlide" Target="/ppt/notesSlides/notesSlide19.xml" Id="R547f57d6c27d4f93"/></Relationships>
</file>

<file path=ppt/slides/_rels/slide20.xml.rels><?xml version='1.0' encoding='UTF-8' standalone='yes'?>
<Relationships xmlns="http://schemas.openxmlformats.org/package/2006/relationships"><Relationship Type="http://schemas.openxmlformats.org/officeDocument/2006/relationships/slideLayout" Target="../nativeTemplate/slideLayouts/slideLayout2.xml" Id="R38ef0d8aa8c44351"/><Relationship Type="http://schemas.openxmlformats.org/officeDocument/2006/relationships/notesSlide" Target="/ppt/notesSlides/notesSlide20.xml" Id="R0017a70d7a324e53"/></Relationships>
</file>

<file path=ppt/slides/_rels/slide21.xml.rels><?xml version='1.0' encoding='UTF-8' standalone='yes'?>
<Relationships xmlns="http://schemas.openxmlformats.org/package/2006/relationships"><Relationship Type="http://schemas.openxmlformats.org/officeDocument/2006/relationships/slideLayout" Target="../nativeTemplate/slideLayouts/slideLayout2.xml" Id="R4c26051e484f4b80"/><Relationship Type="http://schemas.openxmlformats.org/officeDocument/2006/relationships/notesSlide" Target="/ppt/notesSlides/notesSlide21.xml" Id="Re041a35183164f02"/></Relationships>
</file>

<file path=ppt/slides/_rels/slide22.xml.rels><?xml version='1.0' encoding='UTF-8' standalone='yes'?>
<Relationships xmlns="http://schemas.openxmlformats.org/package/2006/relationships"><Relationship Type="http://schemas.openxmlformats.org/officeDocument/2006/relationships/slideLayout" Target="../nativeTemplate/slideLayouts/slideLayout2.xml" Id="Rf2a69397164e4f5b"/><Relationship Type="http://schemas.openxmlformats.org/officeDocument/2006/relationships/notesSlide" Target="/ppt/notesSlides/notesSlide22.xml" Id="R361678e49a4d4e39"/></Relationships>
</file>

<file path=ppt/slides/_rels/slide23.xml.rels><?xml version='1.0' encoding='UTF-8' standalone='yes'?>
<Relationships xmlns="http://schemas.openxmlformats.org/package/2006/relationships"><Relationship Type="http://schemas.openxmlformats.org/officeDocument/2006/relationships/slideLayout" Target="../nativeTemplate/slideLayouts/slideLayout2.xml" Id="R93f72bc6f27c4794"/><Relationship Type="http://schemas.openxmlformats.org/officeDocument/2006/relationships/notesSlide" Target="/ppt/notesSlides/notesSlide23.xml" Id="R7557d7d2aee3404b"/></Relationships>
</file>

<file path=ppt/slides/_rels/slide24.xml.rels><?xml version='1.0' encoding='UTF-8' standalone='yes'?>
<Relationships xmlns="http://schemas.openxmlformats.org/package/2006/relationships"><Relationship Type="http://schemas.openxmlformats.org/officeDocument/2006/relationships/slideLayout" Target="../nativeTemplate/slideLayouts/slideLayout2.xml" Id="R6cfbbcec074349c7"/><Relationship Type="http://schemas.openxmlformats.org/officeDocument/2006/relationships/notesSlide" Target="/ppt/notesSlides/notesSlide24.xml" Id="R3a6cb493e6da4604"/></Relationships>
</file>

<file path=ppt/slides/_rels/slide25.xml.rels><?xml version='1.0' encoding='UTF-8' standalone='yes'?>
<Relationships xmlns="http://schemas.openxmlformats.org/package/2006/relationships"><Relationship Type="http://schemas.openxmlformats.org/officeDocument/2006/relationships/slideLayout" Target="../nativeTemplate/slideLayouts/slideLayout2.xml" Id="R982d651c8a41439b"/><Relationship Type="http://schemas.openxmlformats.org/officeDocument/2006/relationships/notesSlide" Target="/ppt/notesSlides/notesSlide25.xml" Id="R773ee99dbd284b7a"/></Relationships>
</file>

<file path=ppt/slides/_rels/slide26.xml.rels><?xml version='1.0' encoding='UTF-8' standalone='yes'?>
<Relationships xmlns="http://schemas.openxmlformats.org/package/2006/relationships"><Relationship Type="http://schemas.openxmlformats.org/officeDocument/2006/relationships/slideLayout" Target="../nativeTemplate/slideLayouts/slideLayout2.xml" Id="R2d76f1931d8b4537"/><Relationship Type="http://schemas.openxmlformats.org/officeDocument/2006/relationships/notesSlide" Target="/ppt/notesSlides/notesSlide26.xml" Id="R0f140c2affb4498f"/></Relationships>
</file>

<file path=ppt/slides/_rels/slide27.xml.rels><?xml version='1.0' encoding='UTF-8' standalone='yes'?>
<Relationships xmlns="http://schemas.openxmlformats.org/package/2006/relationships"><Relationship Type="http://schemas.openxmlformats.org/officeDocument/2006/relationships/slideLayout" Target="../nativeTemplate/slideLayouts/slideLayout2.xml" Id="Rf6515ffb932f46ab"/><Relationship Type="http://schemas.openxmlformats.org/officeDocument/2006/relationships/notesSlide" Target="/ppt/notesSlides/notesSlide27.xml" Id="R6263ddef76a54aa1"/></Relationships>
</file>

<file path=ppt/slides/_rels/slide28.xml.rels><?xml version='1.0' encoding='UTF-8' standalone='yes'?>
<Relationships xmlns="http://schemas.openxmlformats.org/package/2006/relationships"><Relationship Type="http://schemas.openxmlformats.org/officeDocument/2006/relationships/slideLayout" Target="../nativeTemplate/slideLayouts/slideLayout3.xml" Id="R949bec192dd04b0a"/><Relationship Type="http://schemas.openxmlformats.org/officeDocument/2006/relationships/notesSlide" Target="/ppt/notesSlides/notesSlide28.xml" Id="R6474a357a4384c95"/></Relationships>
</file>

<file path=ppt/slides/_rels/slide29.xml.rels><?xml version='1.0' encoding='UTF-8' standalone='yes'?>
<Relationships xmlns="http://schemas.openxmlformats.org/package/2006/relationships"><Relationship Type="http://schemas.openxmlformats.org/officeDocument/2006/relationships/slideLayout" Target="../nativeTemplate/slideLayouts/slideLayout2.xml" Id="R49c65723a26a4274"/><Relationship Type="http://schemas.openxmlformats.org/officeDocument/2006/relationships/notesSlide" Target="/ppt/notesSlides/notesSlide29.xml" Id="R35615b3b26d040fb"/></Relationships>
</file>

<file path=ppt/slides/_rels/slide30.xml.rels><?xml version='1.0' encoding='UTF-8' standalone='yes'?>
<Relationships xmlns="http://schemas.openxmlformats.org/package/2006/relationships"><Relationship Type="http://schemas.openxmlformats.org/officeDocument/2006/relationships/slideLayout" Target="../nativeTemplate/slideLayouts/slideLayout2.xml" Id="R429de440616d4d9c"/><Relationship Type="http://schemas.openxmlformats.org/officeDocument/2006/relationships/notesSlide" Target="/ppt/notesSlides/notesSlide30.xml" Id="R820b1ca09f814055"/></Relationships>
</file>

<file path=ppt/slides/_rels/slide31.xml.rels><?xml version='1.0' encoding='UTF-8' standalone='yes'?>
<Relationships xmlns="http://schemas.openxmlformats.org/package/2006/relationships"><Relationship Type="http://schemas.openxmlformats.org/officeDocument/2006/relationships/slideLayout" Target="../nativeTemplate/slideLayouts/slideLayout2.xml" Id="Ra3920f44a59b4de9"/><Relationship Type="http://schemas.openxmlformats.org/officeDocument/2006/relationships/notesSlide" Target="/ppt/notesSlides/notesSlide31.xml" Id="R9f8eba7e88954cd3"/></Relationships>
</file>

<file path=ppt/slides/_rels/slide32.xml.rels><?xml version='1.0' encoding='UTF-8' standalone='yes'?>
<Relationships xmlns="http://schemas.openxmlformats.org/package/2006/relationships"><Relationship Type="http://schemas.openxmlformats.org/officeDocument/2006/relationships/slideLayout" Target="../nativeTemplate/slideLayouts/slideLayout2.xml" Id="R124b09470f8c4b60"/><Relationship Type="http://schemas.openxmlformats.org/officeDocument/2006/relationships/notesSlide" Target="/ppt/notesSlides/notesSlide32.xml" Id="Rac9269900e854d20"/></Relationships>
</file>

<file path=ppt/slides/_rels/slide33.xml.rels><?xml version='1.0' encoding='UTF-8' standalone='yes'?>
<Relationships xmlns="http://schemas.openxmlformats.org/package/2006/relationships"><Relationship Type="http://schemas.openxmlformats.org/officeDocument/2006/relationships/slideLayout" Target="../nativeTemplate/slideLayouts/slideLayout2.xml" Id="Rce242182e95542de"/><Relationship Type="http://schemas.openxmlformats.org/officeDocument/2006/relationships/notesSlide" Target="/ppt/notesSlides/notesSlide33.xml" Id="R45925f064d7a43d9"/></Relationships>
</file>

<file path=ppt/slides/_rels/slide34.xml.rels><?xml version='1.0' encoding='UTF-8' standalone='yes'?>
<Relationships xmlns="http://schemas.openxmlformats.org/package/2006/relationships"><Relationship Type="http://schemas.openxmlformats.org/officeDocument/2006/relationships/slideLayout" Target="../nativeTemplate/slideLayouts/slideLayout2.xml" Id="R42b6976d14c64dc5"/><Relationship Type="http://schemas.openxmlformats.org/officeDocument/2006/relationships/notesSlide" Target="/ppt/notesSlides/notesSlide34.xml" Id="Rb113175578454989"/></Relationships>
</file>

<file path=ppt/slides/_rels/slide35.xml.rels><?xml version='1.0' encoding='UTF-8' standalone='yes'?>
<Relationships xmlns="http://schemas.openxmlformats.org/package/2006/relationships"><Relationship Type="http://schemas.openxmlformats.org/officeDocument/2006/relationships/slideLayout" Target="../nativeTemplate/slideLayouts/slideLayout3.xml" Id="R579e40e4f21942f9"/><Relationship Type="http://schemas.openxmlformats.org/officeDocument/2006/relationships/notesSlide" Target="/ppt/notesSlides/notesSlide35.xml" Id="Rc0cbb51aad1a4234"/></Relationships>
</file>

<file path=ppt/slides/_rels/slide36.xml.rels><?xml version='1.0' encoding='UTF-8' standalone='yes'?>
<Relationships xmlns="http://schemas.openxmlformats.org/package/2006/relationships"><Relationship Type="http://schemas.openxmlformats.org/officeDocument/2006/relationships/slideLayout" Target="../nativeTemplate/slideLayouts/slideLayout2.xml" Id="Rdbdcad19ad0c462b"/><Relationship Type="http://schemas.openxmlformats.org/officeDocument/2006/relationships/notesSlide" Target="/ppt/notesSlides/notesSlide36.xml" Id="R4ec21f8e7f3f4298"/></Relationships>
</file>

<file path=ppt/slides/_rels/slide37.xml.rels><?xml version='1.0' encoding='UTF-8' standalone='yes'?>
<Relationships xmlns="http://schemas.openxmlformats.org/package/2006/relationships"><Relationship Type="http://schemas.openxmlformats.org/officeDocument/2006/relationships/slideLayout" Target="../nativeTemplate/slideLayouts/slideLayout2.xml" Id="R5e67b86c95c24170"/><Relationship Type="http://schemas.openxmlformats.org/officeDocument/2006/relationships/notesSlide" Target="/ppt/notesSlides/notesSlide37.xml" Id="R42aa7afdd2e64478"/></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cover-title">
            <a:extLst xmlns:a="http://schemas.openxmlformats.org/drawingml/2006/main">
              <a:ext uri="{FF2B5EF4-FFF2-40B4-BE49-F238E27FC236}">
                <a16:creationId xmlns:a16="http://schemas.microsoft.com/office/drawing/2014/main" id="{1D5480D4-70A4-4629-8CC0-6AE13B0FF273}"/>
              </a:ext>
            </a:extLst>
          </p:cNvPr>
          <p:cNvSpPr>
            <a:spLocks xmlns:a="http://schemas.openxmlformats.org/drawingml/2006/main" noGrp="1"/>
          </p:cNvSpPr>
          <p:nvPr/>
        </p:nvSpPr>
        <p:spPr>
          <a:xfrm xmlns:a="http://schemas.openxmlformats.org/drawingml/2006/main">
            <a:off x="2611755" y="3429000"/>
            <a:ext cx="5517833" cy="2268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6000" b="0" i="0">
                <a:solidFill>
                  <a:srgbClr val="FFFFFF"/>
                </a:solidFill>
                <a:latin typeface="Arial"/>
                <a:ea typeface="Arial"/>
                <a:cs typeface="Arial"/>
              </a:defRPr>
            </a:defPPr>
            <a:lvl1pPr algn="r">
              <a:defRPr sz="6000" b="0" i="0">
                <a:solidFill>
                  <a:srgbClr val="FFFFFF"/>
                </a:solidFill>
                <a:latin typeface="Arial"/>
                <a:ea typeface="Arial"/>
                <a:cs typeface="Arial"/>
              </a:defRPr>
            </a:lvl1pPr>
            <a:lvl2pPr algn="r">
              <a:defRPr sz="6000" b="0" i="0">
                <a:solidFill>
                  <a:srgbClr val="FFFFFF"/>
                </a:solidFill>
                <a:latin typeface="Arial"/>
                <a:ea typeface="Arial"/>
                <a:cs typeface="Arial"/>
              </a:defRPr>
            </a:lvl2pPr>
            <a:lvl3pPr algn="r">
              <a:defRPr sz="6000" b="0" i="0">
                <a:solidFill>
                  <a:srgbClr val="FFFFFF"/>
                </a:solidFill>
                <a:latin typeface="Arial"/>
                <a:ea typeface="Arial"/>
                <a:cs typeface="Arial"/>
              </a:defRPr>
            </a:lvl3pPr>
            <a:lvl4pPr algn="r">
              <a:defRPr sz="6000" b="0" i="0">
                <a:solidFill>
                  <a:srgbClr val="FFFFFF"/>
                </a:solidFill>
                <a:latin typeface="Arial"/>
                <a:ea typeface="Arial"/>
                <a:cs typeface="Arial"/>
              </a:defRPr>
            </a:lvl4pPr>
            <a:lvl5pPr algn="r">
              <a:defRPr sz="6000" b="0" i="0">
                <a:solidFill>
                  <a:srgbClr val="FFFFFF"/>
                </a:solidFill>
                <a:latin typeface="Arial"/>
                <a:ea typeface="Arial"/>
                <a:cs typeface="Arial"/>
              </a:defRPr>
            </a:lvl5pPr>
            <a:lvl6pPr algn="r">
              <a:defRPr sz="6000" b="0" i="0">
                <a:solidFill>
                  <a:srgbClr val="FFFFFF"/>
                </a:solidFill>
                <a:latin typeface="Arial"/>
                <a:ea typeface="Arial"/>
                <a:cs typeface="Arial"/>
              </a:defRPr>
            </a:lvl6pPr>
            <a:lvl7pPr algn="r">
              <a:defRPr sz="6000" b="0" i="0">
                <a:solidFill>
                  <a:srgbClr val="FFFFFF"/>
                </a:solidFill>
                <a:latin typeface="Arial"/>
                <a:ea typeface="Arial"/>
                <a:cs typeface="Arial"/>
              </a:defRPr>
            </a:lvl7pPr>
            <a:lvl8pPr algn="r">
              <a:defRPr sz="6000" b="0" i="0">
                <a:solidFill>
                  <a:srgbClr val="FFFFFF"/>
                </a:solidFill>
                <a:latin typeface="Arial"/>
                <a:ea typeface="Arial"/>
                <a:cs typeface="Arial"/>
              </a:defRPr>
            </a:lvl8pPr>
            <a:lvl9pPr algn="r">
              <a:defRPr sz="6000" b="0" i="0">
                <a:solidFill>
                  <a:srgbClr val="FFFFFF"/>
                </a:solidFill>
                <a:latin typeface="Arial"/>
                <a:ea typeface="Arial"/>
                <a:cs typeface="Arial"/>
              </a:defRPr>
            </a:lvl9pPr>
          </a:lstStyle>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Subprograms</a:t>
            </a:r>
          </a:p>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Parameters</a:t>
            </a:r>
          </a:p>
        </p:txBody>
      </p:sp>
      <p:sp>
        <p:nvSpPr>
          <p:cNvPr id="2" name="cover-subtitle">
            <a:extLst xmlns:a="http://schemas.openxmlformats.org/drawingml/2006/main">
              <a:ext uri="{FF2B5EF4-FFF2-40B4-BE49-F238E27FC236}">
                <a16:creationId xmlns:a16="http://schemas.microsoft.com/office/drawing/2014/main" id="{804363E7-7637-443A-9D6F-77C6BC672DAC}"/>
              </a:ext>
            </a:extLst>
          </p:cNvPr>
          <p:cNvSpPr>
            <a:spLocks xmlns:a="http://schemas.openxmlformats.org/drawingml/2006/main" noGrp="1"/>
          </p:cNvSpPr>
          <p:nvPr/>
        </p:nvSpPr>
        <p:spPr>
          <a:xfrm xmlns:a="http://schemas.openxmlformats.org/drawingml/2006/main">
            <a:off x="2772728" y="2428875"/>
            <a:ext cx="53578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800" b="0" i="0">
                <a:solidFill>
                  <a:srgbClr val="FFFFFF"/>
                </a:solidFill>
                <a:latin typeface="Arial"/>
                <a:ea typeface="Arial"/>
                <a:cs typeface="Arial"/>
              </a:defRPr>
            </a:defPPr>
            <a:lvl1pPr algn="r">
              <a:defRPr sz="1800" b="0" i="0">
                <a:solidFill>
                  <a:srgbClr val="FFFFFF"/>
                </a:solidFill>
                <a:latin typeface="Arial"/>
                <a:ea typeface="Arial"/>
                <a:cs typeface="Arial"/>
              </a:defRPr>
            </a:lvl1pPr>
            <a:lvl2pPr algn="r">
              <a:defRPr sz="1800" b="0" i="0">
                <a:solidFill>
                  <a:srgbClr val="FFFFFF"/>
                </a:solidFill>
                <a:latin typeface="Arial"/>
                <a:ea typeface="Arial"/>
                <a:cs typeface="Arial"/>
              </a:defRPr>
            </a:lvl2pPr>
            <a:lvl3pPr algn="r">
              <a:defRPr sz="1800" b="0" i="0">
                <a:solidFill>
                  <a:srgbClr val="FFFFFF"/>
                </a:solidFill>
                <a:latin typeface="Arial"/>
                <a:ea typeface="Arial"/>
                <a:cs typeface="Arial"/>
              </a:defRPr>
            </a:lvl3pPr>
            <a:lvl4pPr algn="r">
              <a:defRPr sz="1800" b="0" i="0">
                <a:solidFill>
                  <a:srgbClr val="FFFFFF"/>
                </a:solidFill>
                <a:latin typeface="Arial"/>
                <a:ea typeface="Arial"/>
                <a:cs typeface="Arial"/>
              </a:defRPr>
            </a:lvl4pPr>
            <a:lvl5pPr algn="r">
              <a:defRPr sz="1800" b="0" i="0">
                <a:solidFill>
                  <a:srgbClr val="FFFFFF"/>
                </a:solidFill>
                <a:latin typeface="Arial"/>
                <a:ea typeface="Arial"/>
                <a:cs typeface="Arial"/>
              </a:defRPr>
            </a:lvl5pPr>
            <a:lvl6pPr algn="r">
              <a:defRPr sz="1800" b="0" i="0">
                <a:solidFill>
                  <a:srgbClr val="FFFFFF"/>
                </a:solidFill>
                <a:latin typeface="Arial"/>
                <a:ea typeface="Arial"/>
                <a:cs typeface="Arial"/>
              </a:defRPr>
            </a:lvl6pPr>
            <a:lvl7pPr algn="r">
              <a:defRPr sz="1800" b="0" i="0">
                <a:solidFill>
                  <a:srgbClr val="FFFFFF"/>
                </a:solidFill>
                <a:latin typeface="Arial"/>
                <a:ea typeface="Arial"/>
                <a:cs typeface="Arial"/>
              </a:defRPr>
            </a:lvl7pPr>
            <a:lvl8pPr algn="r">
              <a:defRPr sz="1800" b="0" i="0">
                <a:solidFill>
                  <a:srgbClr val="FFFFFF"/>
                </a:solidFill>
                <a:latin typeface="Arial"/>
                <a:ea typeface="Arial"/>
                <a:cs typeface="Arial"/>
              </a:defRPr>
            </a:lvl8pPr>
            <a:lvl9pPr algn="r">
              <a:defRPr sz="1800" b="0" i="0">
                <a:solidFill>
                  <a:srgbClr val="FFFFFF"/>
                </a:solidFill>
                <a:latin typeface="Arial"/>
                <a:ea typeface="Arial"/>
                <a:cs typeface="Arial"/>
              </a:defRPr>
            </a:lvl9pPr>
          </a:lstStyle>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CMSC 330: Programming Languages</a:t>
            </a:r>
          </a:p>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Millersville University</a:t>
            </a:r>
          </a:p>
        </p:txBody>
      </p:sp>
    </p:spTree>
    <p:extLst>
      <p:ext uri="{BB962C8B-B14F-4D97-AF65-F5344CB8AC3E}">
        <p14:creationId xmlns:p14="http://schemas.microsoft.com/office/powerpoint/2010/main" val="4205198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B373EA6-E900-4352-93E2-0D92CA914EAC}"/>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Outline</a:t>
            </a:r>
          </a:p>
        </p:txBody>
      </p:sp>
      <p:sp>
        <p:nvSpPr>
          <p:cNvPr id="2" name="slide-number">
            <a:extLst xmlns:a="http://schemas.openxmlformats.org/drawingml/2006/main">
              <a:ext uri="{FF2B5EF4-FFF2-40B4-BE49-F238E27FC236}">
                <a16:creationId xmlns:a16="http://schemas.microsoft.com/office/drawing/2014/main" id="{0A3C6D38-0DFB-4B50-BDDF-BC17E27EFBF0}"/>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a:t>
            </a:r>
          </a:p>
        </p:txBody>
      </p:sp>
      <p:sp>
        <p:nvSpPr>
          <p:cNvPr id="3" name="text-3">
            <a:extLst xmlns:a="http://schemas.openxmlformats.org/drawingml/2006/main">
              <a:ext uri="{FF2B5EF4-FFF2-40B4-BE49-F238E27FC236}">
                <a16:creationId xmlns:a16="http://schemas.microsoft.com/office/drawing/2014/main" id="{A0DF63A3-F43A-4877-A2DD-BD9079C5AA62}"/>
              </a:ext>
            </a:extLst>
          </p:cNvPr>
          <p:cNvSpPr>
            <a:spLocks xmlns:a="http://schemas.openxmlformats.org/drawingml/2006/main" noGrp="1"/>
          </p:cNvSpPr>
          <p:nvPr/>
        </p:nvSpPr>
        <p:spPr>
          <a:xfrm xmlns:a="http://schemas.openxmlformats.org/drawingml/2006/main">
            <a:off x="2771775" y="2076450"/>
            <a:ext cx="78009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Terminology</a:t>
            </a:r>
          </a:p>
        </p:txBody>
      </p:sp>
      <p:sp>
        <p:nvSpPr>
          <p:cNvPr id="4" name="text-4">
            <a:extLst xmlns:a="http://schemas.openxmlformats.org/drawingml/2006/main">
              <a:ext uri="{FF2B5EF4-FFF2-40B4-BE49-F238E27FC236}">
                <a16:creationId xmlns:a16="http://schemas.microsoft.com/office/drawing/2014/main" id="{C5A5CD8D-2107-476D-B97A-E7ACC6A7C156}"/>
              </a:ext>
            </a:extLst>
          </p:cNvPr>
          <p:cNvSpPr>
            <a:spLocks xmlns:a="http://schemas.openxmlformats.org/drawingml/2006/main" noGrp="1"/>
          </p:cNvSpPr>
          <p:nvPr/>
        </p:nvSpPr>
        <p:spPr>
          <a:xfrm xmlns:a="http://schemas.openxmlformats.org/drawingml/2006/main">
            <a:off x="2771775" y="2505075"/>
            <a:ext cx="78009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Signatures, formal and actual parameters,</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and parameter correspondence</a:t>
            </a:r>
          </a:p>
        </p:txBody>
      </p:sp>
      <p:sp>
        <p:nvSpPr>
          <p:cNvPr id="5" name="text-5">
            <a:extLst xmlns:a="http://schemas.openxmlformats.org/drawingml/2006/main">
              <a:ext uri="{FF2B5EF4-FFF2-40B4-BE49-F238E27FC236}">
                <a16:creationId xmlns:a16="http://schemas.microsoft.com/office/drawing/2014/main" id="{3AC7F266-D607-4998-82B3-6F0DA391137A}"/>
              </a:ext>
            </a:extLst>
          </p:cNvPr>
          <p:cNvSpPr>
            <a:spLocks xmlns:a="http://schemas.openxmlformats.org/drawingml/2006/main" noGrp="1"/>
          </p:cNvSpPr>
          <p:nvPr/>
        </p:nvSpPr>
        <p:spPr>
          <a:xfrm xmlns:a="http://schemas.openxmlformats.org/drawingml/2006/main">
            <a:off x="2771775" y="3352800"/>
            <a:ext cx="78009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Passing Modes</a:t>
            </a:r>
          </a:p>
        </p:txBody>
      </p:sp>
      <p:sp>
        <p:nvSpPr>
          <p:cNvPr id="6" name="text-6">
            <a:extLst xmlns:a="http://schemas.openxmlformats.org/drawingml/2006/main">
              <a:ext uri="{FF2B5EF4-FFF2-40B4-BE49-F238E27FC236}">
                <a16:creationId xmlns:a16="http://schemas.microsoft.com/office/drawing/2014/main" id="{7C698648-D02D-4FC9-B725-D5F35C3F15BD}"/>
              </a:ext>
            </a:extLst>
          </p:cNvPr>
          <p:cNvSpPr>
            <a:spLocks xmlns:a="http://schemas.openxmlformats.org/drawingml/2006/main" noGrp="1"/>
          </p:cNvSpPr>
          <p:nvPr/>
        </p:nvSpPr>
        <p:spPr>
          <a:xfrm xmlns:a="http://schemas.openxmlformats.org/drawingml/2006/main">
            <a:off x="2771775" y="3790950"/>
            <a:ext cx="78009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Semantic modes and implementation models</a:t>
            </a:r>
          </a:p>
        </p:txBody>
      </p:sp>
      <p:sp>
        <p:nvSpPr>
          <p:cNvPr id="7" name="text-7">
            <a:extLst xmlns:a="http://schemas.openxmlformats.org/drawingml/2006/main">
              <a:ext uri="{FF2B5EF4-FFF2-40B4-BE49-F238E27FC236}">
                <a16:creationId xmlns:a16="http://schemas.microsoft.com/office/drawing/2014/main" id="{8E2D15D1-8002-4944-A26C-4D65446C010B}"/>
              </a:ext>
            </a:extLst>
          </p:cNvPr>
          <p:cNvSpPr>
            <a:spLocks xmlns:a="http://schemas.openxmlformats.org/drawingml/2006/main" noGrp="1"/>
          </p:cNvSpPr>
          <p:nvPr/>
        </p:nvSpPr>
        <p:spPr>
          <a:xfrm xmlns:a="http://schemas.openxmlformats.org/drawingml/2006/main">
            <a:off x="2771775" y="4524375"/>
            <a:ext cx="78009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Passing Arrays</a:t>
            </a:r>
          </a:p>
        </p:txBody>
      </p:sp>
      <p:sp>
        <p:nvSpPr>
          <p:cNvPr id="8" name="text-8">
            <a:extLst xmlns:a="http://schemas.openxmlformats.org/drawingml/2006/main">
              <a:ext uri="{FF2B5EF4-FFF2-40B4-BE49-F238E27FC236}">
                <a16:creationId xmlns:a16="http://schemas.microsoft.com/office/drawing/2014/main" id="{D6EB6017-2C85-4AD7-8E02-13CCABCE3498}"/>
              </a:ext>
            </a:extLst>
          </p:cNvPr>
          <p:cNvSpPr>
            <a:spLocks xmlns:a="http://schemas.openxmlformats.org/drawingml/2006/main" noGrp="1"/>
          </p:cNvSpPr>
          <p:nvPr/>
        </p:nvSpPr>
        <p:spPr>
          <a:xfrm xmlns:a="http://schemas.openxmlformats.org/drawingml/2006/main">
            <a:off x="2771775" y="5295900"/>
            <a:ext cx="78009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Subprograms as Parameters</a:t>
            </a:r>
          </a:p>
        </p:txBody>
      </p:sp>
    </p:spTree>
    <p:extLst>
      <p:ext uri="{BB962C8B-B14F-4D97-AF65-F5344CB8AC3E}">
        <p14:creationId xmlns:p14="http://schemas.microsoft.com/office/powerpoint/2010/main" val="14767836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232C094-276A-4602-90D9-D58A58425081}"/>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Terminology</a:t>
            </a:r>
          </a:p>
        </p:txBody>
      </p:sp>
      <p:sp>
        <p:nvSpPr>
          <p:cNvPr id="2" name="slide-number">
            <a:extLst xmlns:a="http://schemas.openxmlformats.org/drawingml/2006/main">
              <a:ext uri="{FF2B5EF4-FFF2-40B4-BE49-F238E27FC236}">
                <a16:creationId xmlns:a16="http://schemas.microsoft.com/office/drawing/2014/main" id="{6738A5D9-835E-40EF-B8F2-1F5773D15C4B}"/>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a:t>
            </a:r>
          </a:p>
        </p:txBody>
      </p:sp>
      <p:sp>
        <p:nvSpPr>
          <p:cNvPr id="3" name="text-3">
            <a:extLst xmlns:a="http://schemas.openxmlformats.org/drawingml/2006/main">
              <a:ext uri="{FF2B5EF4-FFF2-40B4-BE49-F238E27FC236}">
                <a16:creationId xmlns:a16="http://schemas.microsoft.com/office/drawing/2014/main" id="{324EF6B8-E79B-407E-B197-E94181290502}"/>
              </a:ext>
            </a:extLst>
          </p:cNvPr>
          <p:cNvSpPr>
            <a:spLocks xmlns:a="http://schemas.openxmlformats.org/drawingml/2006/main" noGrp="1"/>
          </p:cNvSpPr>
          <p:nvPr/>
        </p:nvSpPr>
        <p:spPr>
          <a:xfrm xmlns:a="http://schemas.openxmlformats.org/drawingml/2006/main">
            <a:off x="2771775" y="197167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Prototype / Declaration</a:t>
            </a:r>
          </a:p>
        </p:txBody>
      </p:sp>
      <p:sp>
        <p:nvSpPr>
          <p:cNvPr id="4" name="text-4">
            <a:extLst xmlns:a="http://schemas.openxmlformats.org/drawingml/2006/main">
              <a:ext uri="{FF2B5EF4-FFF2-40B4-BE49-F238E27FC236}">
                <a16:creationId xmlns:a16="http://schemas.microsoft.com/office/drawing/2014/main" id="{299B9A50-CBC2-4135-9663-A2FBF41FE734}"/>
              </a:ext>
            </a:extLst>
          </p:cNvPr>
          <p:cNvSpPr>
            <a:spLocks xmlns:a="http://schemas.openxmlformats.org/drawingml/2006/main" noGrp="1"/>
          </p:cNvSpPr>
          <p:nvPr/>
        </p:nvSpPr>
        <p:spPr>
          <a:xfrm xmlns:a="http://schemas.openxmlformats.org/drawingml/2006/main">
            <a:off x="2771775" y="2400300"/>
            <a:ext cx="78009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Describes the subprogram’s interface,</a:t>
            </a:r>
          </a:p>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without giving its implementation.</a:t>
            </a:r>
          </a:p>
        </p:txBody>
      </p:sp>
      <p:sp>
        <p:nvSpPr>
          <p:cNvPr id="5" name="text-5">
            <a:extLst xmlns:a="http://schemas.openxmlformats.org/drawingml/2006/main">
              <a:ext uri="{FF2B5EF4-FFF2-40B4-BE49-F238E27FC236}">
                <a16:creationId xmlns:a16="http://schemas.microsoft.com/office/drawing/2014/main" id="{22CD7536-439D-48D1-804F-6172582F19B3}"/>
              </a:ext>
            </a:extLst>
          </p:cNvPr>
          <p:cNvSpPr>
            <a:spLocks xmlns:a="http://schemas.openxmlformats.org/drawingml/2006/main" noGrp="1"/>
          </p:cNvSpPr>
          <p:nvPr/>
        </p:nvSpPr>
        <p:spPr>
          <a:xfrm xmlns:a="http://schemas.openxmlformats.org/drawingml/2006/main">
            <a:off x="2771775" y="3352800"/>
            <a:ext cx="7800975"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1. Return type, if any</a:t>
            </a:r>
          </a:p>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2. Subprogram name</a:t>
            </a:r>
          </a:p>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3. Number, order, and types of parameters</a:t>
            </a:r>
          </a:p>
        </p:txBody>
      </p:sp>
      <p:sp>
        <p:nvSpPr>
          <p:cNvPr id="6" name="text-6">
            <a:extLst xmlns:a="http://schemas.openxmlformats.org/drawingml/2006/main">
              <a:ext uri="{FF2B5EF4-FFF2-40B4-BE49-F238E27FC236}">
                <a16:creationId xmlns:a16="http://schemas.microsoft.com/office/drawing/2014/main" id="{9F47B58F-4C60-4321-B5AA-098F603AFC70}"/>
              </a:ext>
            </a:extLst>
          </p:cNvPr>
          <p:cNvSpPr>
            <a:spLocks xmlns:a="http://schemas.openxmlformats.org/drawingml/2006/main" noGrp="1"/>
          </p:cNvSpPr>
          <p:nvPr/>
        </p:nvSpPr>
        <p:spPr>
          <a:xfrm xmlns:a="http://schemas.openxmlformats.org/drawingml/2006/main">
            <a:off x="2771775" y="4953000"/>
            <a:ext cx="78009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“Signature” depends on the language. A Java method</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signature excludes the return type; a full function type</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includes the input and result types.</a:t>
            </a:r>
          </a:p>
        </p:txBody>
      </p:sp>
    </p:spTree>
    <p:extLst>
      <p:ext uri="{BB962C8B-B14F-4D97-AF65-F5344CB8AC3E}">
        <p14:creationId xmlns:p14="http://schemas.microsoft.com/office/powerpoint/2010/main" val="1551443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D87C429-F342-4D78-91B3-4B3F35D5AC72}"/>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Parameters</a:t>
            </a:r>
          </a:p>
        </p:txBody>
      </p:sp>
      <p:sp>
        <p:nvSpPr>
          <p:cNvPr id="2" name="slide-number">
            <a:extLst xmlns:a="http://schemas.openxmlformats.org/drawingml/2006/main">
              <a:ext uri="{FF2B5EF4-FFF2-40B4-BE49-F238E27FC236}">
                <a16:creationId xmlns:a16="http://schemas.microsoft.com/office/drawing/2014/main" id="{BC655F3A-4DA6-4D66-B6D8-40A9787925EC}"/>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4</a:t>
            </a:r>
          </a:p>
        </p:txBody>
      </p:sp>
      <p:sp>
        <p:nvSpPr>
          <p:cNvPr id="3" name="text-3">
            <a:extLst xmlns:a="http://schemas.openxmlformats.org/drawingml/2006/main">
              <a:ext uri="{FF2B5EF4-FFF2-40B4-BE49-F238E27FC236}">
                <a16:creationId xmlns:a16="http://schemas.microsoft.com/office/drawing/2014/main" id="{8AD02AC8-96DD-4579-AD4E-C08E9A8ACBC2}"/>
              </a:ext>
            </a:extLst>
          </p:cNvPr>
          <p:cNvSpPr>
            <a:spLocks xmlns:a="http://schemas.openxmlformats.org/drawingml/2006/main" noGrp="1"/>
          </p:cNvSpPr>
          <p:nvPr/>
        </p:nvSpPr>
        <p:spPr>
          <a:xfrm xmlns:a="http://schemas.openxmlformats.org/drawingml/2006/main">
            <a:off x="2771775" y="200025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Within a definition</a:t>
            </a:r>
          </a:p>
        </p:txBody>
      </p:sp>
      <p:sp>
        <p:nvSpPr>
          <p:cNvPr id="4" name="text-4">
            <a:extLst xmlns:a="http://schemas.openxmlformats.org/drawingml/2006/main">
              <a:ext uri="{FF2B5EF4-FFF2-40B4-BE49-F238E27FC236}">
                <a16:creationId xmlns:a16="http://schemas.microsoft.com/office/drawing/2014/main" id="{140FD723-BC4F-4E91-8C48-FF81FC2AA4D1}"/>
              </a:ext>
            </a:extLst>
          </p:cNvPr>
          <p:cNvSpPr>
            <a:spLocks xmlns:a="http://schemas.openxmlformats.org/drawingml/2006/main" noGrp="1"/>
          </p:cNvSpPr>
          <p:nvPr/>
        </p:nvSpPr>
        <p:spPr>
          <a:xfrm xmlns:a="http://schemas.openxmlformats.org/drawingml/2006/main">
            <a:off x="2771775" y="2505075"/>
            <a:ext cx="7800975" cy="13144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int magic(int a, int b, int c) {</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    return b * b - 4 * a * c;</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a:t>
            </a:r>
          </a:p>
        </p:txBody>
      </p:sp>
      <p:sp>
        <p:nvSpPr>
          <p:cNvPr id="5" name="text-5">
            <a:extLst xmlns:a="http://schemas.openxmlformats.org/drawingml/2006/main">
              <a:ext uri="{FF2B5EF4-FFF2-40B4-BE49-F238E27FC236}">
                <a16:creationId xmlns:a16="http://schemas.microsoft.com/office/drawing/2014/main" id="{10A85BAC-95D0-4F41-B321-2B660B7B18B6}"/>
              </a:ext>
            </a:extLst>
          </p:cNvPr>
          <p:cNvSpPr>
            <a:spLocks xmlns:a="http://schemas.openxmlformats.org/drawingml/2006/main" noGrp="1"/>
          </p:cNvSpPr>
          <p:nvPr/>
        </p:nvSpPr>
        <p:spPr>
          <a:xfrm xmlns:a="http://schemas.openxmlformats.org/drawingml/2006/main">
            <a:off x="2771775" y="432435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Within a call</a:t>
            </a:r>
          </a:p>
        </p:txBody>
      </p:sp>
      <p:sp>
        <p:nvSpPr>
          <p:cNvPr id="6" name="text-6">
            <a:extLst xmlns:a="http://schemas.openxmlformats.org/drawingml/2006/main">
              <a:ext uri="{FF2B5EF4-FFF2-40B4-BE49-F238E27FC236}">
                <a16:creationId xmlns:a16="http://schemas.microsoft.com/office/drawing/2014/main" id="{9AD64E0B-F97E-4330-A105-FF555C8B3C3B}"/>
              </a:ext>
            </a:extLst>
          </p:cNvPr>
          <p:cNvSpPr>
            <a:spLocks xmlns:a="http://schemas.openxmlformats.org/drawingml/2006/main" noGrp="1"/>
          </p:cNvSpPr>
          <p:nvPr/>
        </p:nvSpPr>
        <p:spPr>
          <a:xfrm xmlns:a="http://schemas.openxmlformats.org/drawingml/2006/main">
            <a:off x="2771775" y="4848225"/>
            <a:ext cx="7800975" cy="6477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int d = magic(a, a + 1, a * 4);</a:t>
            </a:r>
          </a:p>
        </p:txBody>
      </p:sp>
    </p:spTree>
    <p:extLst>
      <p:ext uri="{BB962C8B-B14F-4D97-AF65-F5344CB8AC3E}">
        <p14:creationId xmlns:p14="http://schemas.microsoft.com/office/powerpoint/2010/main" val="9409624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34FBB0A-DE4F-4FAD-878E-46990C5E29C2}"/>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Parameters</a:t>
            </a:r>
          </a:p>
        </p:txBody>
      </p:sp>
      <p:sp>
        <p:nvSpPr>
          <p:cNvPr id="2" name="slide-number">
            <a:extLst xmlns:a="http://schemas.openxmlformats.org/drawingml/2006/main">
              <a:ext uri="{FF2B5EF4-FFF2-40B4-BE49-F238E27FC236}">
                <a16:creationId xmlns:a16="http://schemas.microsoft.com/office/drawing/2014/main" id="{52108313-4A67-4B28-A63D-BA53A4CD902D}"/>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5</a:t>
            </a:r>
          </a:p>
        </p:txBody>
      </p:sp>
      <p:sp>
        <p:nvSpPr>
          <p:cNvPr id="3" name="text-3">
            <a:extLst xmlns:a="http://schemas.openxmlformats.org/drawingml/2006/main">
              <a:ext uri="{FF2B5EF4-FFF2-40B4-BE49-F238E27FC236}">
                <a16:creationId xmlns:a16="http://schemas.microsoft.com/office/drawing/2014/main" id="{421EE2E2-AEDA-40E1-8CD6-F54A6678BEEF}"/>
              </a:ext>
            </a:extLst>
          </p:cNvPr>
          <p:cNvSpPr>
            <a:spLocks xmlns:a="http://schemas.openxmlformats.org/drawingml/2006/main" noGrp="1"/>
          </p:cNvSpPr>
          <p:nvPr/>
        </p:nvSpPr>
        <p:spPr>
          <a:xfrm xmlns:a="http://schemas.openxmlformats.org/drawingml/2006/main">
            <a:off x="2771775" y="195262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Formal parameters in the definition</a:t>
            </a:r>
          </a:p>
        </p:txBody>
      </p:sp>
      <p:sp>
        <p:nvSpPr>
          <p:cNvPr id="4" name="text-4">
            <a:extLst xmlns:a="http://schemas.openxmlformats.org/drawingml/2006/main">
              <a:ext uri="{FF2B5EF4-FFF2-40B4-BE49-F238E27FC236}">
                <a16:creationId xmlns:a16="http://schemas.microsoft.com/office/drawing/2014/main" id="{B8E6CD48-AF6C-42EE-9422-73A8BF9A980A}"/>
              </a:ext>
            </a:extLst>
          </p:cNvPr>
          <p:cNvSpPr>
            <a:spLocks xmlns:a="http://schemas.openxmlformats.org/drawingml/2006/main" noGrp="1"/>
          </p:cNvSpPr>
          <p:nvPr/>
        </p:nvSpPr>
        <p:spPr>
          <a:xfrm xmlns:a="http://schemas.openxmlformats.org/drawingml/2006/main">
            <a:off x="2771775" y="2409825"/>
            <a:ext cx="7800975" cy="12573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int magic(int a, int b, int c) {</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    return b * b - 4 * a * c;</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a:t>
            </a:r>
          </a:p>
        </p:txBody>
      </p:sp>
      <p:sp>
        <p:nvSpPr>
          <p:cNvPr id="5" name="text-5">
            <a:extLst xmlns:a="http://schemas.openxmlformats.org/drawingml/2006/main">
              <a:ext uri="{FF2B5EF4-FFF2-40B4-BE49-F238E27FC236}">
                <a16:creationId xmlns:a16="http://schemas.microsoft.com/office/drawing/2014/main" id="{D89B3CBF-6F60-4F75-BEA9-6CB46A6A9264}"/>
              </a:ext>
            </a:extLst>
          </p:cNvPr>
          <p:cNvSpPr>
            <a:spLocks xmlns:a="http://schemas.openxmlformats.org/drawingml/2006/main" noGrp="1"/>
          </p:cNvSpPr>
          <p:nvPr/>
        </p:nvSpPr>
        <p:spPr>
          <a:xfrm xmlns:a="http://schemas.openxmlformats.org/drawingml/2006/main">
            <a:off x="2771775" y="3790950"/>
            <a:ext cx="78009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Named parameters a, b and c are used in the body.</a:t>
            </a:r>
          </a:p>
        </p:txBody>
      </p:sp>
      <p:sp>
        <p:nvSpPr>
          <p:cNvPr id="6" name="text-6">
            <a:extLst xmlns:a="http://schemas.openxmlformats.org/drawingml/2006/main">
              <a:ext uri="{FF2B5EF4-FFF2-40B4-BE49-F238E27FC236}">
                <a16:creationId xmlns:a16="http://schemas.microsoft.com/office/drawing/2014/main" id="{A7766AAE-C849-4A89-8F3B-2476AD93A547}"/>
              </a:ext>
            </a:extLst>
          </p:cNvPr>
          <p:cNvSpPr>
            <a:spLocks xmlns:a="http://schemas.openxmlformats.org/drawingml/2006/main" noGrp="1"/>
          </p:cNvSpPr>
          <p:nvPr/>
        </p:nvSpPr>
        <p:spPr>
          <a:xfrm xmlns:a="http://schemas.openxmlformats.org/drawingml/2006/main">
            <a:off x="2771775" y="443865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Actual parameters at the call</a:t>
            </a:r>
          </a:p>
        </p:txBody>
      </p:sp>
      <p:sp>
        <p:nvSpPr>
          <p:cNvPr id="7" name="text-7">
            <a:extLst xmlns:a="http://schemas.openxmlformats.org/drawingml/2006/main">
              <a:ext uri="{FF2B5EF4-FFF2-40B4-BE49-F238E27FC236}">
                <a16:creationId xmlns:a16="http://schemas.microsoft.com/office/drawing/2014/main" id="{6059CA7E-6C86-4D3C-B444-C9D53A3E5004}"/>
              </a:ext>
            </a:extLst>
          </p:cNvPr>
          <p:cNvSpPr>
            <a:spLocks xmlns:a="http://schemas.openxmlformats.org/drawingml/2006/main" noGrp="1"/>
          </p:cNvSpPr>
          <p:nvPr/>
        </p:nvSpPr>
        <p:spPr>
          <a:xfrm xmlns:a="http://schemas.openxmlformats.org/drawingml/2006/main">
            <a:off x="2771775" y="4895850"/>
            <a:ext cx="7800975" cy="6191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int d = magic(a, a + 1, a * 4);</a:t>
            </a:r>
          </a:p>
        </p:txBody>
      </p:sp>
      <p:sp>
        <p:nvSpPr>
          <p:cNvPr id="8" name="text-8">
            <a:extLst xmlns:a="http://schemas.openxmlformats.org/drawingml/2006/main">
              <a:ext uri="{FF2B5EF4-FFF2-40B4-BE49-F238E27FC236}">
                <a16:creationId xmlns:a16="http://schemas.microsoft.com/office/drawing/2014/main" id="{130133EC-18D5-4465-951B-0A7BD30ABF58}"/>
              </a:ext>
            </a:extLst>
          </p:cNvPr>
          <p:cNvSpPr>
            <a:spLocks xmlns:a="http://schemas.openxmlformats.org/drawingml/2006/main" noGrp="1"/>
          </p:cNvSpPr>
          <p:nvPr/>
        </p:nvSpPr>
        <p:spPr>
          <a:xfrm xmlns:a="http://schemas.openxmlformats.org/drawingml/2006/main">
            <a:off x="2771775" y="5638800"/>
            <a:ext cx="78009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Arguments are expressions supplied by the caller.</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Their values or locations depend on the passing mechanism.</a:t>
            </a:r>
          </a:p>
        </p:txBody>
      </p:sp>
    </p:spTree>
    <p:extLst>
      <p:ext uri="{BB962C8B-B14F-4D97-AF65-F5344CB8AC3E}">
        <p14:creationId xmlns:p14="http://schemas.microsoft.com/office/powerpoint/2010/main" val="3799718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7866611-78FC-4CF4-954C-3646CD2EC127}"/>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Parameter Correspondence</a:t>
            </a:r>
          </a:p>
        </p:txBody>
      </p:sp>
      <p:sp>
        <p:nvSpPr>
          <p:cNvPr id="2" name="slide-number">
            <a:extLst xmlns:a="http://schemas.openxmlformats.org/drawingml/2006/main">
              <a:ext uri="{FF2B5EF4-FFF2-40B4-BE49-F238E27FC236}">
                <a16:creationId xmlns:a16="http://schemas.microsoft.com/office/drawing/2014/main" id="{F4F07A13-1D81-4686-B700-46C821CCF9D8}"/>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6</a:t>
            </a:r>
          </a:p>
        </p:txBody>
      </p:sp>
      <p:sp>
        <p:nvSpPr>
          <p:cNvPr id="3" name="text-3">
            <a:extLst xmlns:a="http://schemas.openxmlformats.org/drawingml/2006/main">
              <a:ext uri="{FF2B5EF4-FFF2-40B4-BE49-F238E27FC236}">
                <a16:creationId xmlns:a16="http://schemas.microsoft.com/office/drawing/2014/main" id="{CDFD80F7-FFF2-47C7-A66C-DEE49CC3DD59}"/>
              </a:ext>
            </a:extLst>
          </p:cNvPr>
          <p:cNvSpPr>
            <a:spLocks xmlns:a="http://schemas.openxmlformats.org/drawingml/2006/main" noGrp="1"/>
          </p:cNvSpPr>
          <p:nvPr/>
        </p:nvSpPr>
        <p:spPr>
          <a:xfrm xmlns:a="http://schemas.openxmlformats.org/drawingml/2006/main">
            <a:off x="2771775" y="2609850"/>
            <a:ext cx="78009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Actual parameters must correspond</a:t>
            </a:r>
          </a:p>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to formal parameters.</a:t>
            </a:r>
          </a:p>
        </p:txBody>
      </p:sp>
      <p:sp>
        <p:nvSpPr>
          <p:cNvPr id="4" name="text-4">
            <a:extLst xmlns:a="http://schemas.openxmlformats.org/drawingml/2006/main">
              <a:ext uri="{FF2B5EF4-FFF2-40B4-BE49-F238E27FC236}">
                <a16:creationId xmlns:a16="http://schemas.microsoft.com/office/drawing/2014/main" id="{25F4476D-CA9E-4369-9C56-28BBFDEB9DFB}"/>
              </a:ext>
            </a:extLst>
          </p:cNvPr>
          <p:cNvSpPr>
            <a:spLocks xmlns:a="http://schemas.openxmlformats.org/drawingml/2006/main" noGrp="1"/>
          </p:cNvSpPr>
          <p:nvPr/>
        </p:nvSpPr>
        <p:spPr>
          <a:xfrm xmlns:a="http://schemas.openxmlformats.org/drawingml/2006/main">
            <a:off x="2771775" y="4419600"/>
            <a:ext cx="78009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1">
                <a:solidFill>
                  <a:srgbClr val="8EC0C1"/>
                </a:solidFill>
                <a:latin typeface="Times New Roman"/>
                <a:ea typeface="Times New Roman"/>
                <a:cs typeface="Times New Roman"/>
              </a:defRPr>
            </a:defPPr>
            <a:lvl1pPr algn="l">
              <a:defRPr sz="2400" b="0" i="1">
                <a:solidFill>
                  <a:srgbClr val="8EC0C1"/>
                </a:solidFill>
                <a:latin typeface="Times New Roman"/>
                <a:ea typeface="Times New Roman"/>
                <a:cs typeface="Times New Roman"/>
              </a:defRPr>
            </a:lvl1pPr>
            <a:lvl2pPr algn="l">
              <a:defRPr sz="2400" b="0" i="1">
                <a:solidFill>
                  <a:srgbClr val="8EC0C1"/>
                </a:solidFill>
                <a:latin typeface="Times New Roman"/>
                <a:ea typeface="Times New Roman"/>
                <a:cs typeface="Times New Roman"/>
              </a:defRPr>
            </a:lvl2pPr>
            <a:lvl3pPr algn="l">
              <a:defRPr sz="2400" b="0" i="1">
                <a:solidFill>
                  <a:srgbClr val="8EC0C1"/>
                </a:solidFill>
                <a:latin typeface="Times New Roman"/>
                <a:ea typeface="Times New Roman"/>
                <a:cs typeface="Times New Roman"/>
              </a:defRPr>
            </a:lvl3pPr>
            <a:lvl4pPr algn="l">
              <a:defRPr sz="2400" b="0" i="1">
                <a:solidFill>
                  <a:srgbClr val="8EC0C1"/>
                </a:solidFill>
                <a:latin typeface="Times New Roman"/>
                <a:ea typeface="Times New Roman"/>
                <a:cs typeface="Times New Roman"/>
              </a:defRPr>
            </a:lvl4pPr>
            <a:lvl5pPr algn="l">
              <a:defRPr sz="2400" b="0" i="1">
                <a:solidFill>
                  <a:srgbClr val="8EC0C1"/>
                </a:solidFill>
                <a:latin typeface="Times New Roman"/>
                <a:ea typeface="Times New Roman"/>
                <a:cs typeface="Times New Roman"/>
              </a:defRPr>
            </a:lvl5pPr>
            <a:lvl6pPr algn="l">
              <a:defRPr sz="2400" b="0" i="1">
                <a:solidFill>
                  <a:srgbClr val="8EC0C1"/>
                </a:solidFill>
                <a:latin typeface="Times New Roman"/>
                <a:ea typeface="Times New Roman"/>
                <a:cs typeface="Times New Roman"/>
              </a:defRPr>
            </a:lvl6pPr>
            <a:lvl7pPr algn="l">
              <a:defRPr sz="2400" b="0" i="1">
                <a:solidFill>
                  <a:srgbClr val="8EC0C1"/>
                </a:solidFill>
                <a:latin typeface="Times New Roman"/>
                <a:ea typeface="Times New Roman"/>
                <a:cs typeface="Times New Roman"/>
              </a:defRPr>
            </a:lvl7pPr>
            <a:lvl8pPr algn="l">
              <a:defRPr sz="2400" b="0" i="1">
                <a:solidFill>
                  <a:srgbClr val="8EC0C1"/>
                </a:solidFill>
                <a:latin typeface="Times New Roman"/>
                <a:ea typeface="Times New Roman"/>
                <a:cs typeface="Times New Roman"/>
              </a:defRPr>
            </a:lvl8pPr>
            <a:lvl9pPr algn="l">
              <a:defRPr sz="2400" b="0" i="1">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1">
                <a:solidFill>
                  <a:srgbClr val="8EC0C1"/>
                </a:solidFill>
                <a:latin typeface="Times New Roman"/>
                <a:ea typeface="Times New Roman"/>
                <a:cs typeface="Times New Roman"/>
              </a:defRPr>
            </a:pPr>
            <a:r>
              <a:rPr sz="2400" b="0" i="1">
                <a:solidFill>
                  <a:srgbClr val="8EC0C1"/>
                </a:solidFill>
                <a:latin typeface="Times New Roman"/>
                <a:ea typeface="Times New Roman"/>
                <a:cs typeface="Times New Roman"/>
              </a:rPr>
              <a:t>How should a call identify which</a:t>
            </a:r>
          </a:p>
          <a:p xmlns:a="http://schemas.openxmlformats.org/drawingml/2006/main">
            <a:pPr algn="l">
              <a:lnSpc>
                <a:spcPct val="106000"/>
              </a:lnSpc>
              <a:buNone/>
              <a:defRPr sz="2400" b="0" i="1">
                <a:solidFill>
                  <a:srgbClr val="8EC0C1"/>
                </a:solidFill>
                <a:latin typeface="Times New Roman"/>
                <a:ea typeface="Times New Roman"/>
                <a:cs typeface="Times New Roman"/>
              </a:defRPr>
            </a:pPr>
            <a:r>
              <a:rPr sz="2400" b="0" i="1">
                <a:solidFill>
                  <a:srgbClr val="8EC0C1"/>
                </a:solidFill>
                <a:latin typeface="Times New Roman"/>
                <a:ea typeface="Times New Roman"/>
                <a:cs typeface="Times New Roman"/>
              </a:rPr>
              <a:t>formal parameter receives each argument?</a:t>
            </a:r>
          </a:p>
        </p:txBody>
      </p:sp>
    </p:spTree>
    <p:extLst>
      <p:ext uri="{BB962C8B-B14F-4D97-AF65-F5344CB8AC3E}">
        <p14:creationId xmlns:p14="http://schemas.microsoft.com/office/powerpoint/2010/main" val="712457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FCE1FD8C-9446-4A03-BC11-562420C43BAC}"/>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Parameter Correspondence</a:t>
            </a:r>
          </a:p>
        </p:txBody>
      </p:sp>
      <p:sp>
        <p:nvSpPr>
          <p:cNvPr id="2" name="slide-number">
            <a:extLst xmlns:a="http://schemas.openxmlformats.org/drawingml/2006/main">
              <a:ext uri="{FF2B5EF4-FFF2-40B4-BE49-F238E27FC236}">
                <a16:creationId xmlns:a16="http://schemas.microsoft.com/office/drawing/2014/main" id="{B7851477-9585-435B-811D-4C4AD484D12F}"/>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7</a:t>
            </a:r>
          </a:p>
        </p:txBody>
      </p:sp>
      <p:sp>
        <p:nvSpPr>
          <p:cNvPr id="3" name="text-3">
            <a:extLst xmlns:a="http://schemas.openxmlformats.org/drawingml/2006/main">
              <a:ext uri="{FF2B5EF4-FFF2-40B4-BE49-F238E27FC236}">
                <a16:creationId xmlns:a16="http://schemas.microsoft.com/office/drawing/2014/main" id="{EC07D786-4B19-40CA-97F9-81815A842D07}"/>
              </a:ext>
            </a:extLst>
          </p:cNvPr>
          <p:cNvSpPr>
            <a:spLocks xmlns:a="http://schemas.openxmlformats.org/drawingml/2006/main" noGrp="1"/>
          </p:cNvSpPr>
          <p:nvPr/>
        </p:nvSpPr>
        <p:spPr>
          <a:xfrm xmlns:a="http://schemas.openxmlformats.org/drawingml/2006/main">
            <a:off x="2771775" y="189547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Positional</a:t>
            </a:r>
          </a:p>
        </p:txBody>
      </p:sp>
      <p:sp>
        <p:nvSpPr>
          <p:cNvPr id="4" name="text-4">
            <a:extLst xmlns:a="http://schemas.openxmlformats.org/drawingml/2006/main">
              <a:ext uri="{FF2B5EF4-FFF2-40B4-BE49-F238E27FC236}">
                <a16:creationId xmlns:a16="http://schemas.microsoft.com/office/drawing/2014/main" id="{C6B56DB5-2995-43BD-8A24-1E24A9AEA12B}"/>
              </a:ext>
            </a:extLst>
          </p:cNvPr>
          <p:cNvSpPr>
            <a:spLocks xmlns:a="http://schemas.openxmlformats.org/drawingml/2006/main" noGrp="1"/>
          </p:cNvSpPr>
          <p:nvPr/>
        </p:nvSpPr>
        <p:spPr>
          <a:xfrm xmlns:a="http://schemas.openxmlformats.org/drawingml/2006/main">
            <a:off x="2771775" y="2324100"/>
            <a:ext cx="78009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marL="254000" indent="-165100" algn="l">
              <a:spcAft>
                <a:spcPts val="0"/>
              </a:spcAft>
              <a:buClr>
                <a:srgbClr val="8EC0C1"/>
              </a:buClr>
              <a:buFont typeface="Arial"/>
              <a:buChar char="▪"/>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The first argument matches the first formal,</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the second matches the second, and so on.</a:t>
            </a:r>
          </a:p>
        </p:txBody>
      </p:sp>
      <p:sp>
        <p:nvSpPr>
          <p:cNvPr id="5" name="text-5">
            <a:extLst xmlns:a="http://schemas.openxmlformats.org/drawingml/2006/main">
              <a:ext uri="{FF2B5EF4-FFF2-40B4-BE49-F238E27FC236}">
                <a16:creationId xmlns:a16="http://schemas.microsoft.com/office/drawing/2014/main" id="{E7555E89-B0CD-4F67-8EF7-B5C609094883}"/>
              </a:ext>
            </a:extLst>
          </p:cNvPr>
          <p:cNvSpPr>
            <a:spLocks xmlns:a="http://schemas.openxmlformats.org/drawingml/2006/main" noGrp="1"/>
          </p:cNvSpPr>
          <p:nvPr/>
        </p:nvSpPr>
        <p:spPr>
          <a:xfrm xmlns:a="http://schemas.openxmlformats.org/drawingml/2006/main">
            <a:off x="2771775" y="3105150"/>
            <a:ext cx="78009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marL="254000" indent="-165100" algn="l">
              <a:spcAft>
                <a:spcPts val="0"/>
              </a:spcAft>
              <a:buClr>
                <a:srgbClr val="8EC0C1"/>
              </a:buClr>
              <a:buFont typeface="Arial"/>
              <a:buChar char="▪"/>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Long lists can lead to correspondence mistakes.</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Matching positions is straightforward to check.</a:t>
            </a:r>
          </a:p>
        </p:txBody>
      </p:sp>
      <p:sp>
        <p:nvSpPr>
          <p:cNvPr id="6" name="text-6">
            <a:extLst xmlns:a="http://schemas.openxmlformats.org/drawingml/2006/main">
              <a:ext uri="{FF2B5EF4-FFF2-40B4-BE49-F238E27FC236}">
                <a16:creationId xmlns:a16="http://schemas.microsoft.com/office/drawing/2014/main" id="{C7A6E315-791D-4551-B647-FC6FAEE8BA8D}"/>
              </a:ext>
            </a:extLst>
          </p:cNvPr>
          <p:cNvSpPr>
            <a:spLocks xmlns:a="http://schemas.openxmlformats.org/drawingml/2006/main" noGrp="1"/>
          </p:cNvSpPr>
          <p:nvPr/>
        </p:nvSpPr>
        <p:spPr>
          <a:xfrm xmlns:a="http://schemas.openxmlformats.org/drawingml/2006/main">
            <a:off x="2771775" y="395287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Keyword</a:t>
            </a:r>
          </a:p>
        </p:txBody>
      </p:sp>
      <p:sp>
        <p:nvSpPr>
          <p:cNvPr id="7" name="text-7">
            <a:extLst xmlns:a="http://schemas.openxmlformats.org/drawingml/2006/main">
              <a:ext uri="{FF2B5EF4-FFF2-40B4-BE49-F238E27FC236}">
                <a16:creationId xmlns:a16="http://schemas.microsoft.com/office/drawing/2014/main" id="{3C8E07C5-49F9-4E74-96C8-5FFC17E16143}"/>
              </a:ext>
            </a:extLst>
          </p:cNvPr>
          <p:cNvSpPr>
            <a:spLocks xmlns:a="http://schemas.openxmlformats.org/drawingml/2006/main" noGrp="1"/>
          </p:cNvSpPr>
          <p:nvPr/>
        </p:nvSpPr>
        <p:spPr>
          <a:xfrm xmlns:a="http://schemas.openxmlformats.org/drawingml/2006/main">
            <a:off x="2771775" y="4371975"/>
            <a:ext cx="78009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marL="254000" indent="-165100" algn="l">
              <a:spcAft>
                <a:spcPts val="0"/>
              </a:spcAft>
              <a:buClr>
                <a:srgbClr val="8EC0C1"/>
              </a:buClr>
              <a:buFont typeface="Arial"/>
              <a:buChar char="▪"/>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Use the formal parameter’s name at the call.</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Named arguments can often appear in a different order.</a:t>
            </a:r>
          </a:p>
        </p:txBody>
      </p:sp>
      <p:sp>
        <p:nvSpPr>
          <p:cNvPr id="8" name="text-8">
            <a:extLst xmlns:a="http://schemas.openxmlformats.org/drawingml/2006/main">
              <a:ext uri="{FF2B5EF4-FFF2-40B4-BE49-F238E27FC236}">
                <a16:creationId xmlns:a16="http://schemas.microsoft.com/office/drawing/2014/main" id="{91FA0B10-0119-42A4-93E0-5A4FD78990A9}"/>
              </a:ext>
            </a:extLst>
          </p:cNvPr>
          <p:cNvSpPr>
            <a:spLocks xmlns:a="http://schemas.openxmlformats.org/drawingml/2006/main" noGrp="1"/>
          </p:cNvSpPr>
          <p:nvPr/>
        </p:nvSpPr>
        <p:spPr>
          <a:xfrm xmlns:a="http://schemas.openxmlformats.org/drawingml/2006/main">
            <a:off x="3000375" y="5143500"/>
            <a:ext cx="7572375" cy="5429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800" b="0" i="0">
                <a:solidFill>
                  <a:srgbClr val="FFFFFF"/>
                </a:solidFill>
                <a:latin typeface="Courier New"/>
                <a:ea typeface="Courier New"/>
                <a:cs typeface="Courier New"/>
              </a:defRPr>
            </a:defPPr>
            <a:lvl1pPr algn="l">
              <a:defRPr sz="1800" b="0" i="0">
                <a:solidFill>
                  <a:srgbClr val="FFFFFF"/>
                </a:solidFill>
                <a:latin typeface="Courier New"/>
                <a:ea typeface="Courier New"/>
                <a:cs typeface="Courier New"/>
              </a:defRPr>
            </a:lvl1pPr>
            <a:lvl2pPr algn="l">
              <a:defRPr sz="1800" b="0" i="0">
                <a:solidFill>
                  <a:srgbClr val="FFFFFF"/>
                </a:solidFill>
                <a:latin typeface="Courier New"/>
                <a:ea typeface="Courier New"/>
                <a:cs typeface="Courier New"/>
              </a:defRPr>
            </a:lvl2pPr>
            <a:lvl3pPr algn="l">
              <a:defRPr sz="1800" b="0" i="0">
                <a:solidFill>
                  <a:srgbClr val="FFFFFF"/>
                </a:solidFill>
                <a:latin typeface="Courier New"/>
                <a:ea typeface="Courier New"/>
                <a:cs typeface="Courier New"/>
              </a:defRPr>
            </a:lvl3pPr>
            <a:lvl4pPr algn="l">
              <a:defRPr sz="1800" b="0" i="0">
                <a:solidFill>
                  <a:srgbClr val="FFFFFF"/>
                </a:solidFill>
                <a:latin typeface="Courier New"/>
                <a:ea typeface="Courier New"/>
                <a:cs typeface="Courier New"/>
              </a:defRPr>
            </a:lvl4pPr>
            <a:lvl5pPr algn="l">
              <a:defRPr sz="1800" b="0" i="0">
                <a:solidFill>
                  <a:srgbClr val="FFFFFF"/>
                </a:solidFill>
                <a:latin typeface="Courier New"/>
                <a:ea typeface="Courier New"/>
                <a:cs typeface="Courier New"/>
              </a:defRPr>
            </a:lvl5pPr>
            <a:lvl6pPr algn="l">
              <a:defRPr sz="1800" b="0" i="0">
                <a:solidFill>
                  <a:srgbClr val="FFFFFF"/>
                </a:solidFill>
                <a:latin typeface="Courier New"/>
                <a:ea typeface="Courier New"/>
                <a:cs typeface="Courier New"/>
              </a:defRPr>
            </a:lvl6pPr>
            <a:lvl7pPr algn="l">
              <a:defRPr sz="1800" b="0" i="0">
                <a:solidFill>
                  <a:srgbClr val="FFFFFF"/>
                </a:solidFill>
                <a:latin typeface="Courier New"/>
                <a:ea typeface="Courier New"/>
                <a:cs typeface="Courier New"/>
              </a:defRPr>
            </a:lvl7pPr>
            <a:lvl8pPr algn="l">
              <a:defRPr sz="1800" b="0" i="0">
                <a:solidFill>
                  <a:srgbClr val="FFFFFF"/>
                </a:solidFill>
                <a:latin typeface="Courier New"/>
                <a:ea typeface="Courier New"/>
                <a:cs typeface="Courier New"/>
              </a:defRPr>
            </a:lvl8pPr>
            <a:lvl9pPr algn="l">
              <a:defRPr sz="1800" b="0" i="0">
                <a:solidFill>
                  <a:srgbClr val="FFFFFF"/>
                </a:solidFill>
                <a:latin typeface="Courier New"/>
                <a:ea typeface="Courier New"/>
                <a:cs typeface="Courier New"/>
              </a:defRPr>
            </a:lvl9pPr>
          </a:lstStyle>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f(a3="hi", a2=10, a1=True)</a:t>
            </a:r>
          </a:p>
        </p:txBody>
      </p:sp>
      <p:sp>
        <p:nvSpPr>
          <p:cNvPr id="9" name="text-9">
            <a:extLst xmlns:a="http://schemas.openxmlformats.org/drawingml/2006/main">
              <a:ext uri="{FF2B5EF4-FFF2-40B4-BE49-F238E27FC236}">
                <a16:creationId xmlns:a16="http://schemas.microsoft.com/office/drawing/2014/main" id="{1885212B-C95D-43A7-8986-9290A7CB2A48}"/>
              </a:ext>
            </a:extLst>
          </p:cNvPr>
          <p:cNvSpPr>
            <a:spLocks xmlns:a="http://schemas.openxmlformats.org/drawingml/2006/main" noGrp="1"/>
          </p:cNvSpPr>
          <p:nvPr/>
        </p:nvSpPr>
        <p:spPr>
          <a:xfrm xmlns:a="http://schemas.openxmlformats.org/drawingml/2006/main">
            <a:off x="2771775" y="5819775"/>
            <a:ext cx="78009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Names can make intent clearer. The language’s</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rules still govern positional and keyword arguments.</a:t>
            </a:r>
          </a:p>
        </p:txBody>
      </p:sp>
    </p:spTree>
    <p:extLst>
      <p:ext uri="{BB962C8B-B14F-4D97-AF65-F5344CB8AC3E}">
        <p14:creationId xmlns:p14="http://schemas.microsoft.com/office/powerpoint/2010/main" val="2573271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ection-title">
            <a:extLst xmlns:a="http://schemas.openxmlformats.org/drawingml/2006/main">
              <a:ext uri="{FF2B5EF4-FFF2-40B4-BE49-F238E27FC236}">
                <a16:creationId xmlns:a16="http://schemas.microsoft.com/office/drawing/2014/main" id="{C0E62280-388C-4083-82B5-CAA9D56B021A}"/>
              </a:ext>
            </a:extLst>
          </p:cNvPr>
          <p:cNvSpPr>
            <a:spLocks xmlns:a="http://schemas.openxmlformats.org/drawingml/2006/main" noGrp="1"/>
          </p:cNvSpPr>
          <p:nvPr/>
        </p:nvSpPr>
        <p:spPr>
          <a:xfrm xmlns:a="http://schemas.openxmlformats.org/drawingml/2006/main">
            <a:off x="2609850" y="3147060"/>
            <a:ext cx="7956233" cy="1424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200" b="0" i="0">
                <a:solidFill>
                  <a:srgbClr val="FFFFFF"/>
                </a:solidFill>
                <a:latin typeface="Arial"/>
                <a:ea typeface="Arial"/>
                <a:cs typeface="Arial"/>
              </a:defRPr>
            </a:defPPr>
            <a:lvl1pPr algn="r">
              <a:defRPr sz="3200" b="0" i="0">
                <a:solidFill>
                  <a:srgbClr val="FFFFFF"/>
                </a:solidFill>
                <a:latin typeface="Arial"/>
                <a:ea typeface="Arial"/>
                <a:cs typeface="Arial"/>
              </a:defRPr>
            </a:lvl1pPr>
            <a:lvl2pPr algn="r">
              <a:defRPr sz="3200" b="0" i="0">
                <a:solidFill>
                  <a:srgbClr val="FFFFFF"/>
                </a:solidFill>
                <a:latin typeface="Arial"/>
                <a:ea typeface="Arial"/>
                <a:cs typeface="Arial"/>
              </a:defRPr>
            </a:lvl2pPr>
            <a:lvl3pPr algn="r">
              <a:defRPr sz="3200" b="0" i="0">
                <a:solidFill>
                  <a:srgbClr val="FFFFFF"/>
                </a:solidFill>
                <a:latin typeface="Arial"/>
                <a:ea typeface="Arial"/>
                <a:cs typeface="Arial"/>
              </a:defRPr>
            </a:lvl3pPr>
            <a:lvl4pPr algn="r">
              <a:defRPr sz="3200" b="0" i="0">
                <a:solidFill>
                  <a:srgbClr val="FFFFFF"/>
                </a:solidFill>
                <a:latin typeface="Arial"/>
                <a:ea typeface="Arial"/>
                <a:cs typeface="Arial"/>
              </a:defRPr>
            </a:lvl4pPr>
            <a:lvl5pPr algn="r">
              <a:defRPr sz="3200" b="0" i="0">
                <a:solidFill>
                  <a:srgbClr val="FFFFFF"/>
                </a:solidFill>
                <a:latin typeface="Arial"/>
                <a:ea typeface="Arial"/>
                <a:cs typeface="Arial"/>
              </a:defRPr>
            </a:lvl5pPr>
            <a:lvl6pPr algn="r">
              <a:defRPr sz="3200" b="0" i="0">
                <a:solidFill>
                  <a:srgbClr val="FFFFFF"/>
                </a:solidFill>
                <a:latin typeface="Arial"/>
                <a:ea typeface="Arial"/>
                <a:cs typeface="Arial"/>
              </a:defRPr>
            </a:lvl6pPr>
            <a:lvl7pPr algn="r">
              <a:defRPr sz="3200" b="0" i="0">
                <a:solidFill>
                  <a:srgbClr val="FFFFFF"/>
                </a:solidFill>
                <a:latin typeface="Arial"/>
                <a:ea typeface="Arial"/>
                <a:cs typeface="Arial"/>
              </a:defRPr>
            </a:lvl7pPr>
            <a:lvl8pPr algn="r">
              <a:defRPr sz="3200" b="0" i="0">
                <a:solidFill>
                  <a:srgbClr val="FFFFFF"/>
                </a:solidFill>
                <a:latin typeface="Arial"/>
                <a:ea typeface="Arial"/>
                <a:cs typeface="Arial"/>
              </a:defRPr>
            </a:lvl8pPr>
            <a:lvl9pPr algn="r">
              <a:defRPr sz="3200" b="0" i="0">
                <a:solidFill>
                  <a:srgbClr val="FFFFFF"/>
                </a:solidFill>
                <a:latin typeface="Arial"/>
                <a:ea typeface="Arial"/>
                <a:cs typeface="Arial"/>
              </a:defRPr>
            </a:lvl9pPr>
          </a:lstStyle>
          <a:p xmlns:a="http://schemas.openxmlformats.org/drawingml/2006/main">
            <a:pPr algn="r">
              <a:lnSpc>
                <a:spcPct val="108000"/>
              </a:lnSpc>
              <a:buNone/>
              <a:defRPr sz="3200" b="0" i="0">
                <a:solidFill>
                  <a:srgbClr val="FFFFFF"/>
                </a:solidFill>
                <a:latin typeface="Arial"/>
                <a:ea typeface="Arial"/>
                <a:cs typeface="Arial"/>
              </a:defRPr>
            </a:pPr>
            <a:r>
              <a:rPr sz="3200" b="0" i="0">
                <a:solidFill>
                  <a:srgbClr val="FFFFFF"/>
                </a:solidFill>
                <a:latin typeface="Arial"/>
                <a:ea typeface="Arial"/>
                <a:cs typeface="Arial"/>
              </a:rPr>
              <a:t>Passing Modes</a:t>
            </a:r>
          </a:p>
        </p:txBody>
      </p:sp>
    </p:spTree>
    <p:extLst>
      <p:ext uri="{BB962C8B-B14F-4D97-AF65-F5344CB8AC3E}">
        <p14:creationId xmlns:p14="http://schemas.microsoft.com/office/powerpoint/2010/main" val="11432969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8982D44-E3A5-4FF8-986C-97775C1A116D}"/>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Semantic Models</a:t>
            </a:r>
          </a:p>
        </p:txBody>
      </p:sp>
      <p:sp>
        <p:nvSpPr>
          <p:cNvPr id="2" name="slide-number">
            <a:extLst xmlns:a="http://schemas.openxmlformats.org/drawingml/2006/main">
              <a:ext uri="{FF2B5EF4-FFF2-40B4-BE49-F238E27FC236}">
                <a16:creationId xmlns:a16="http://schemas.microsoft.com/office/drawing/2014/main" id="{3D2CF873-056A-4290-8A79-7C45CF0CB970}"/>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9</a:t>
            </a:r>
          </a:p>
        </p:txBody>
      </p:sp>
      <p:sp>
        <p:nvSpPr>
          <p:cNvPr id="3" name="text-3">
            <a:extLst xmlns:a="http://schemas.openxmlformats.org/drawingml/2006/main">
              <a:ext uri="{FF2B5EF4-FFF2-40B4-BE49-F238E27FC236}">
                <a16:creationId xmlns:a16="http://schemas.microsoft.com/office/drawing/2014/main" id="{0981C488-0927-4327-ACC8-3921009229C8}"/>
              </a:ext>
            </a:extLst>
          </p:cNvPr>
          <p:cNvSpPr>
            <a:spLocks xmlns:a="http://schemas.openxmlformats.org/drawingml/2006/main" noGrp="1"/>
          </p:cNvSpPr>
          <p:nvPr/>
        </p:nvSpPr>
        <p:spPr>
          <a:xfrm xmlns:a="http://schemas.openxmlformats.org/drawingml/2006/main">
            <a:off x="2771775" y="215265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In mode</a:t>
            </a:r>
          </a:p>
        </p:txBody>
      </p:sp>
      <p:sp>
        <p:nvSpPr>
          <p:cNvPr id="4" name="text-4">
            <a:extLst xmlns:a="http://schemas.openxmlformats.org/drawingml/2006/main">
              <a:ext uri="{FF2B5EF4-FFF2-40B4-BE49-F238E27FC236}">
                <a16:creationId xmlns:a16="http://schemas.microsoft.com/office/drawing/2014/main" id="{13CECA3D-D35E-48BF-8BB7-57496DA062FB}"/>
              </a:ext>
            </a:extLst>
          </p:cNvPr>
          <p:cNvSpPr>
            <a:spLocks xmlns:a="http://schemas.openxmlformats.org/drawingml/2006/main" noGrp="1"/>
          </p:cNvSpPr>
          <p:nvPr/>
        </p:nvSpPr>
        <p:spPr>
          <a:xfrm xmlns:a="http://schemas.openxmlformats.org/drawingml/2006/main">
            <a:off x="2771775" y="2609850"/>
            <a:ext cx="78009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The caller supplies information to the subprogram.</a:t>
            </a:r>
          </a:p>
        </p:txBody>
      </p:sp>
      <p:sp>
        <p:nvSpPr>
          <p:cNvPr id="5" name="text-5">
            <a:extLst xmlns:a="http://schemas.openxmlformats.org/drawingml/2006/main">
              <a:ext uri="{FF2B5EF4-FFF2-40B4-BE49-F238E27FC236}">
                <a16:creationId xmlns:a16="http://schemas.microsoft.com/office/drawing/2014/main" id="{8F6897E7-7929-45BD-9691-32FE125B2E9B}"/>
              </a:ext>
            </a:extLst>
          </p:cNvPr>
          <p:cNvSpPr>
            <a:spLocks xmlns:a="http://schemas.openxmlformats.org/drawingml/2006/main" noGrp="1"/>
          </p:cNvSpPr>
          <p:nvPr/>
        </p:nvSpPr>
        <p:spPr>
          <a:xfrm xmlns:a="http://schemas.openxmlformats.org/drawingml/2006/main">
            <a:off x="2771775" y="356235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Out mode</a:t>
            </a:r>
          </a:p>
        </p:txBody>
      </p:sp>
      <p:sp>
        <p:nvSpPr>
          <p:cNvPr id="6" name="text-6">
            <a:extLst xmlns:a="http://schemas.openxmlformats.org/drawingml/2006/main">
              <a:ext uri="{FF2B5EF4-FFF2-40B4-BE49-F238E27FC236}">
                <a16:creationId xmlns:a16="http://schemas.microsoft.com/office/drawing/2014/main" id="{1228089A-B1E1-41DA-9CA1-A78F24372512}"/>
              </a:ext>
            </a:extLst>
          </p:cNvPr>
          <p:cNvSpPr>
            <a:spLocks xmlns:a="http://schemas.openxmlformats.org/drawingml/2006/main" noGrp="1"/>
          </p:cNvSpPr>
          <p:nvPr/>
        </p:nvSpPr>
        <p:spPr>
          <a:xfrm xmlns:a="http://schemas.openxmlformats.org/drawingml/2006/main">
            <a:off x="2771775" y="4019550"/>
            <a:ext cx="78009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The subprogram produces information for the caller.</a:t>
            </a:r>
          </a:p>
        </p:txBody>
      </p:sp>
      <p:sp>
        <p:nvSpPr>
          <p:cNvPr id="7" name="text-7">
            <a:extLst xmlns:a="http://schemas.openxmlformats.org/drawingml/2006/main">
              <a:ext uri="{FF2B5EF4-FFF2-40B4-BE49-F238E27FC236}">
                <a16:creationId xmlns:a16="http://schemas.microsoft.com/office/drawing/2014/main" id="{90714517-0C6B-4702-9787-7DCB5D043F3E}"/>
              </a:ext>
            </a:extLst>
          </p:cNvPr>
          <p:cNvSpPr>
            <a:spLocks xmlns:a="http://schemas.openxmlformats.org/drawingml/2006/main" noGrp="1"/>
          </p:cNvSpPr>
          <p:nvPr/>
        </p:nvSpPr>
        <p:spPr>
          <a:xfrm xmlns:a="http://schemas.openxmlformats.org/drawingml/2006/main">
            <a:off x="2771775" y="497205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In-out mode</a:t>
            </a:r>
          </a:p>
        </p:txBody>
      </p:sp>
      <p:sp>
        <p:nvSpPr>
          <p:cNvPr id="8" name="text-8">
            <a:extLst xmlns:a="http://schemas.openxmlformats.org/drawingml/2006/main">
              <a:ext uri="{FF2B5EF4-FFF2-40B4-BE49-F238E27FC236}">
                <a16:creationId xmlns:a16="http://schemas.microsoft.com/office/drawing/2014/main" id="{5D6408B8-3142-4DEE-B983-0B8F328684AA}"/>
              </a:ext>
            </a:extLst>
          </p:cNvPr>
          <p:cNvSpPr>
            <a:spLocks xmlns:a="http://schemas.openxmlformats.org/drawingml/2006/main" noGrp="1"/>
          </p:cNvSpPr>
          <p:nvPr/>
        </p:nvSpPr>
        <p:spPr>
          <a:xfrm xmlns:a="http://schemas.openxmlformats.org/drawingml/2006/main">
            <a:off x="2771775" y="5429250"/>
            <a:ext cx="78009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Information flows in both directions.</a:t>
            </a:r>
          </a:p>
        </p:txBody>
      </p:sp>
    </p:spTree>
    <p:extLst>
      <p:ext uri="{BB962C8B-B14F-4D97-AF65-F5344CB8AC3E}">
        <p14:creationId xmlns:p14="http://schemas.microsoft.com/office/powerpoint/2010/main" val="2415678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54D33C59-9064-4A1E-99E8-9C06260E8D25}"/>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Semantic Models</a:t>
            </a:r>
          </a:p>
        </p:txBody>
      </p:sp>
      <p:sp>
        <p:nvSpPr>
          <p:cNvPr id="2" name="slide-number">
            <a:extLst xmlns:a="http://schemas.openxmlformats.org/drawingml/2006/main">
              <a:ext uri="{FF2B5EF4-FFF2-40B4-BE49-F238E27FC236}">
                <a16:creationId xmlns:a16="http://schemas.microsoft.com/office/drawing/2014/main" id="{C3F46713-2E27-476B-B25D-4DB11145CB50}"/>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10</a:t>
            </a:r>
          </a:p>
        </p:txBody>
      </p:sp>
      <p:pic>
        <p:nvPicPr>
          <p:cNvPr id="3" name="">
            <a:extLst xmlns:a="http://schemas.openxmlformats.org/drawingml/2006/main">
              <a:ext uri="{FF2B5EF4-FFF2-40B4-BE49-F238E27FC236}">
                <a16:creationId xmlns:a16="http://schemas.microsoft.com/office/drawing/2014/main" id="{9D72D5E5-E0B2-4903-A2F3-B25810131A24}"/>
              </a:ext>
            </a:extLst>
          </p:cNvPr>
          <p:cNvPicPr>
            <a:picLocks xmlns:a="http://schemas.openxmlformats.org/drawingml/2006/main" noChangeAspect="1"/>
          </p:cNvPicPr>
          <p:nvPr/>
        </p:nvPicPr>
        <p:blipFill>
          <a:blip xmlns:r="http://schemas.openxmlformats.org/officeDocument/2006/relationships" xmlns:a="http://schemas.openxmlformats.org/drawingml/2006/main" r:embed="Ra754e4c4830c4646"/>
          <a:stretch xmlns:a="http://schemas.openxmlformats.org/drawingml/2006/main"/>
        </p:blipFill>
        <p:spPr>
          <a:xfrm xmlns:a="http://schemas.openxmlformats.org/drawingml/2006/main">
            <a:off x="3029266" y="1924050"/>
            <a:ext cx="7181219" cy="4481513"/>
          </a:xfrm>
          <a:prstGeom xmlns:a="http://schemas.openxmlformats.org/drawingml/2006/main" prst="rect">
            <a:avLst/>
          </a:prstGeom>
        </p:spPr>
      </p:pic>
    </p:spTree>
    <p:extLst>
      <p:ext uri="{BB962C8B-B14F-4D97-AF65-F5344CB8AC3E}">
        <p14:creationId xmlns:p14="http://schemas.microsoft.com/office/powerpoint/2010/main" val="180107987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F6DE53A-FB9F-4385-9B5D-D1A3D9F1AB62}"/>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Implementation Models</a:t>
            </a:r>
          </a:p>
        </p:txBody>
      </p:sp>
      <p:sp>
        <p:nvSpPr>
          <p:cNvPr id="2" name="slide-number">
            <a:extLst xmlns:a="http://schemas.openxmlformats.org/drawingml/2006/main">
              <a:ext uri="{FF2B5EF4-FFF2-40B4-BE49-F238E27FC236}">
                <a16:creationId xmlns:a16="http://schemas.microsoft.com/office/drawing/2014/main" id="{C37ED247-9E20-4B57-8DB3-53D032B2A07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11</a:t>
            </a:r>
          </a:p>
        </p:txBody>
      </p:sp>
      <p:sp>
        <p:nvSpPr>
          <p:cNvPr id="3" name="text-3">
            <a:extLst xmlns:a="http://schemas.openxmlformats.org/drawingml/2006/main">
              <a:ext uri="{FF2B5EF4-FFF2-40B4-BE49-F238E27FC236}">
                <a16:creationId xmlns:a16="http://schemas.microsoft.com/office/drawing/2014/main" id="{3B7B52B8-B87C-49EA-8EBA-BB8C57F89754}"/>
              </a:ext>
            </a:extLst>
          </p:cNvPr>
          <p:cNvSpPr>
            <a:spLocks xmlns:a="http://schemas.openxmlformats.org/drawingml/2006/main" noGrp="1"/>
          </p:cNvSpPr>
          <p:nvPr/>
        </p:nvSpPr>
        <p:spPr>
          <a:xfrm xmlns:a="http://schemas.openxmlformats.org/drawingml/2006/main">
            <a:off x="2771775" y="2171700"/>
            <a:ext cx="7800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Pass-by-Value</a:t>
            </a:r>
          </a:p>
        </p:txBody>
      </p:sp>
      <p:sp>
        <p:nvSpPr>
          <p:cNvPr id="4" name="text-4">
            <a:extLst xmlns:a="http://schemas.openxmlformats.org/drawingml/2006/main">
              <a:ext uri="{FF2B5EF4-FFF2-40B4-BE49-F238E27FC236}">
                <a16:creationId xmlns:a16="http://schemas.microsoft.com/office/drawing/2014/main" id="{FD2D6B0B-8707-4063-AD6F-148DC0A8783A}"/>
              </a:ext>
            </a:extLst>
          </p:cNvPr>
          <p:cNvSpPr>
            <a:spLocks xmlns:a="http://schemas.openxmlformats.org/drawingml/2006/main" noGrp="1"/>
          </p:cNvSpPr>
          <p:nvPr/>
        </p:nvSpPr>
        <p:spPr>
          <a:xfrm xmlns:a="http://schemas.openxmlformats.org/drawingml/2006/main">
            <a:off x="2771775" y="2952750"/>
            <a:ext cx="7800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Pass-by-Result</a:t>
            </a:r>
          </a:p>
        </p:txBody>
      </p:sp>
      <p:sp>
        <p:nvSpPr>
          <p:cNvPr id="5" name="text-5">
            <a:extLst xmlns:a="http://schemas.openxmlformats.org/drawingml/2006/main">
              <a:ext uri="{FF2B5EF4-FFF2-40B4-BE49-F238E27FC236}">
                <a16:creationId xmlns:a16="http://schemas.microsoft.com/office/drawing/2014/main" id="{3F7C4FB8-C6E0-4368-A1AA-DEDBDE6CA3F2}"/>
              </a:ext>
            </a:extLst>
          </p:cNvPr>
          <p:cNvSpPr>
            <a:spLocks xmlns:a="http://schemas.openxmlformats.org/drawingml/2006/main" noGrp="1"/>
          </p:cNvSpPr>
          <p:nvPr/>
        </p:nvSpPr>
        <p:spPr>
          <a:xfrm xmlns:a="http://schemas.openxmlformats.org/drawingml/2006/main">
            <a:off x="2771775" y="3733800"/>
            <a:ext cx="7800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Pass-by-Value-Result</a:t>
            </a:r>
          </a:p>
        </p:txBody>
      </p:sp>
      <p:sp>
        <p:nvSpPr>
          <p:cNvPr id="6" name="text-6">
            <a:extLst xmlns:a="http://schemas.openxmlformats.org/drawingml/2006/main">
              <a:ext uri="{FF2B5EF4-FFF2-40B4-BE49-F238E27FC236}">
                <a16:creationId xmlns:a16="http://schemas.microsoft.com/office/drawing/2014/main" id="{72228988-997B-4DB8-A3DA-6A54019B0598}"/>
              </a:ext>
            </a:extLst>
          </p:cNvPr>
          <p:cNvSpPr>
            <a:spLocks xmlns:a="http://schemas.openxmlformats.org/drawingml/2006/main" noGrp="1"/>
          </p:cNvSpPr>
          <p:nvPr/>
        </p:nvSpPr>
        <p:spPr>
          <a:xfrm xmlns:a="http://schemas.openxmlformats.org/drawingml/2006/main">
            <a:off x="2771775" y="4514850"/>
            <a:ext cx="7800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Pass-by-Reference</a:t>
            </a:r>
          </a:p>
        </p:txBody>
      </p:sp>
      <p:sp>
        <p:nvSpPr>
          <p:cNvPr id="7" name="text-7">
            <a:extLst xmlns:a="http://schemas.openxmlformats.org/drawingml/2006/main">
              <a:ext uri="{FF2B5EF4-FFF2-40B4-BE49-F238E27FC236}">
                <a16:creationId xmlns:a16="http://schemas.microsoft.com/office/drawing/2014/main" id="{E6ABD47C-A62F-4D2F-8309-7046DC755764}"/>
              </a:ext>
            </a:extLst>
          </p:cNvPr>
          <p:cNvSpPr>
            <a:spLocks xmlns:a="http://schemas.openxmlformats.org/drawingml/2006/main" noGrp="1"/>
          </p:cNvSpPr>
          <p:nvPr/>
        </p:nvSpPr>
        <p:spPr>
          <a:xfrm xmlns:a="http://schemas.openxmlformats.org/drawingml/2006/main">
            <a:off x="2771775" y="5295900"/>
            <a:ext cx="7800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Pass-by-Name</a:t>
            </a:r>
          </a:p>
        </p:txBody>
      </p:sp>
    </p:spTree>
    <p:extLst>
      <p:ext uri="{BB962C8B-B14F-4D97-AF65-F5344CB8AC3E}">
        <p14:creationId xmlns:p14="http://schemas.microsoft.com/office/powerpoint/2010/main" val="167852441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299CA3E-882F-4C45-950D-527A082C7BF8}"/>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Pass-by-Value (In Mode)</a:t>
            </a:r>
          </a:p>
        </p:txBody>
      </p:sp>
      <p:sp>
        <p:nvSpPr>
          <p:cNvPr id="2" name="slide-number">
            <a:extLst xmlns:a="http://schemas.openxmlformats.org/drawingml/2006/main">
              <a:ext uri="{FF2B5EF4-FFF2-40B4-BE49-F238E27FC236}">
                <a16:creationId xmlns:a16="http://schemas.microsoft.com/office/drawing/2014/main" id="{C5443096-1EC2-42B0-BC48-DE78FE089646}"/>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12</a:t>
            </a:r>
          </a:p>
        </p:txBody>
      </p:sp>
      <p:sp>
        <p:nvSpPr>
          <p:cNvPr id="3" name="text-3">
            <a:extLst xmlns:a="http://schemas.openxmlformats.org/drawingml/2006/main">
              <a:ext uri="{FF2B5EF4-FFF2-40B4-BE49-F238E27FC236}">
                <a16:creationId xmlns:a16="http://schemas.microsoft.com/office/drawing/2014/main" id="{1F49F7B5-C3D7-44EE-B6A7-019D9D82743A}"/>
              </a:ext>
            </a:extLst>
          </p:cNvPr>
          <p:cNvSpPr>
            <a:spLocks xmlns:a="http://schemas.openxmlformats.org/drawingml/2006/main" noGrp="1"/>
          </p:cNvSpPr>
          <p:nvPr/>
        </p:nvSpPr>
        <p:spPr>
          <a:xfrm xmlns:a="http://schemas.openxmlformats.org/drawingml/2006/main">
            <a:off x="2771775" y="1981200"/>
            <a:ext cx="78009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The argument’s value initializes a separate</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formal parameter.</a:t>
            </a:r>
          </a:p>
        </p:txBody>
      </p:sp>
      <p:sp>
        <p:nvSpPr>
          <p:cNvPr id="4" name="text-4">
            <a:extLst xmlns:a="http://schemas.openxmlformats.org/drawingml/2006/main">
              <a:ext uri="{FF2B5EF4-FFF2-40B4-BE49-F238E27FC236}">
                <a16:creationId xmlns:a16="http://schemas.microsoft.com/office/drawing/2014/main" id="{885445BA-1527-40D7-BB54-DD570038423E}"/>
              </a:ext>
            </a:extLst>
          </p:cNvPr>
          <p:cNvSpPr>
            <a:spLocks xmlns:a="http://schemas.openxmlformats.org/drawingml/2006/main" noGrp="1"/>
          </p:cNvSpPr>
          <p:nvPr/>
        </p:nvSpPr>
        <p:spPr>
          <a:xfrm xmlns:a="http://schemas.openxmlformats.org/drawingml/2006/main">
            <a:off x="2771775" y="2943225"/>
            <a:ext cx="78009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Assigning to the formal does not reassign</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the caller’s variable.</a:t>
            </a:r>
          </a:p>
        </p:txBody>
      </p:sp>
      <p:sp>
        <p:nvSpPr>
          <p:cNvPr id="5" name="text-5">
            <a:extLst xmlns:a="http://schemas.openxmlformats.org/drawingml/2006/main">
              <a:ext uri="{FF2B5EF4-FFF2-40B4-BE49-F238E27FC236}">
                <a16:creationId xmlns:a16="http://schemas.microsoft.com/office/drawing/2014/main" id="{985A3875-E0E6-422D-8C85-7F6622FD3AAE}"/>
              </a:ext>
            </a:extLst>
          </p:cNvPr>
          <p:cNvSpPr>
            <a:spLocks xmlns:a="http://schemas.openxmlformats.org/drawingml/2006/main" noGrp="1"/>
          </p:cNvSpPr>
          <p:nvPr/>
        </p:nvSpPr>
        <p:spPr>
          <a:xfrm xmlns:a="http://schemas.openxmlformats.org/drawingml/2006/main">
            <a:off x="2771775" y="396240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Advantages</a:t>
            </a:r>
          </a:p>
        </p:txBody>
      </p:sp>
      <p:sp>
        <p:nvSpPr>
          <p:cNvPr id="6" name="text-6">
            <a:extLst xmlns:a="http://schemas.openxmlformats.org/drawingml/2006/main">
              <a:ext uri="{FF2B5EF4-FFF2-40B4-BE49-F238E27FC236}">
                <a16:creationId xmlns:a16="http://schemas.microsoft.com/office/drawing/2014/main" id="{54D20F15-1CE1-4D01-8E9D-0B835CD6EC57}"/>
              </a:ext>
            </a:extLst>
          </p:cNvPr>
          <p:cNvSpPr>
            <a:spLocks xmlns:a="http://schemas.openxmlformats.org/drawingml/2006/main" noGrp="1"/>
          </p:cNvSpPr>
          <p:nvPr/>
        </p:nvSpPr>
        <p:spPr>
          <a:xfrm xmlns:a="http://schemas.openxmlformats.org/drawingml/2006/main">
            <a:off x="2771775" y="4371975"/>
            <a:ext cx="7800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Simple, with a separate parameter value.</a:t>
            </a:r>
          </a:p>
        </p:txBody>
      </p:sp>
      <p:sp>
        <p:nvSpPr>
          <p:cNvPr id="7" name="text-7">
            <a:extLst xmlns:a="http://schemas.openxmlformats.org/drawingml/2006/main">
              <a:ext uri="{FF2B5EF4-FFF2-40B4-BE49-F238E27FC236}">
                <a16:creationId xmlns:a16="http://schemas.microsoft.com/office/drawing/2014/main" id="{46A9FD32-703A-4AEC-843A-485DF33A523C}"/>
              </a:ext>
            </a:extLst>
          </p:cNvPr>
          <p:cNvSpPr>
            <a:spLocks xmlns:a="http://schemas.openxmlformats.org/drawingml/2006/main" noGrp="1"/>
          </p:cNvSpPr>
          <p:nvPr/>
        </p:nvSpPr>
        <p:spPr>
          <a:xfrm xmlns:a="http://schemas.openxmlformats.org/drawingml/2006/main">
            <a:off x="2771775" y="496252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Disadvantages</a:t>
            </a:r>
          </a:p>
        </p:txBody>
      </p:sp>
      <p:sp>
        <p:nvSpPr>
          <p:cNvPr id="8" name="text-8">
            <a:extLst xmlns:a="http://schemas.openxmlformats.org/drawingml/2006/main">
              <a:ext uri="{FF2B5EF4-FFF2-40B4-BE49-F238E27FC236}">
                <a16:creationId xmlns:a16="http://schemas.microsoft.com/office/drawing/2014/main" id="{690420AF-5994-4A71-BD61-9B3B15BB66F4}"/>
              </a:ext>
            </a:extLst>
          </p:cNvPr>
          <p:cNvSpPr>
            <a:spLocks xmlns:a="http://schemas.openxmlformats.org/drawingml/2006/main" noGrp="1"/>
          </p:cNvSpPr>
          <p:nvPr/>
        </p:nvSpPr>
        <p:spPr>
          <a:xfrm xmlns:a="http://schemas.openxmlformats.org/drawingml/2006/main">
            <a:off x="2771775" y="5381625"/>
            <a:ext cx="78009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Copying a large value can take extra time and storage.</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 copied reference does not copy the entire object.</a:t>
            </a:r>
          </a:p>
        </p:txBody>
      </p:sp>
    </p:spTree>
    <p:extLst>
      <p:ext uri="{BB962C8B-B14F-4D97-AF65-F5344CB8AC3E}">
        <p14:creationId xmlns:p14="http://schemas.microsoft.com/office/powerpoint/2010/main" val="62997179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102883B-32CB-4E4F-B73B-8221911153EA}"/>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Pass-by-Value</a:t>
            </a:r>
          </a:p>
        </p:txBody>
      </p:sp>
      <p:sp>
        <p:nvSpPr>
          <p:cNvPr id="2" name="slide-number">
            <a:extLst xmlns:a="http://schemas.openxmlformats.org/drawingml/2006/main">
              <a:ext uri="{FF2B5EF4-FFF2-40B4-BE49-F238E27FC236}">
                <a16:creationId xmlns:a16="http://schemas.microsoft.com/office/drawing/2014/main" id="{76EF0446-0540-4930-9C6E-1C06B255F86D}"/>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13</a:t>
            </a:r>
          </a:p>
        </p:txBody>
      </p:sp>
      <p:sp>
        <p:nvSpPr>
          <p:cNvPr id="3" name="text-3">
            <a:extLst xmlns:a="http://schemas.openxmlformats.org/drawingml/2006/main">
              <a:ext uri="{FF2B5EF4-FFF2-40B4-BE49-F238E27FC236}">
                <a16:creationId xmlns:a16="http://schemas.microsoft.com/office/drawing/2014/main" id="{1FE139C4-FAEC-4BC1-AE62-2DE43F48846E}"/>
              </a:ext>
            </a:extLst>
          </p:cNvPr>
          <p:cNvSpPr>
            <a:spLocks xmlns:a="http://schemas.openxmlformats.org/drawingml/2006/main" noGrp="1"/>
          </p:cNvSpPr>
          <p:nvPr/>
        </p:nvSpPr>
        <p:spPr>
          <a:xfrm xmlns:a="http://schemas.openxmlformats.org/drawingml/2006/main">
            <a:off x="2686050" y="2152650"/>
            <a:ext cx="4733925" cy="34861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int by_value(int x) {</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    int y = 4;</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    x += 4;</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    return y + x;</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int y = 3;</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int z = by_value(y);</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 y = 3</a:t>
            </a:r>
          </a:p>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 z = 11</a:t>
            </a:r>
          </a:p>
        </p:txBody>
      </p:sp>
      <p:sp>
        <p:nvSpPr>
          <p:cNvPr id="4" name="text-4">
            <a:extLst xmlns:a="http://schemas.openxmlformats.org/drawingml/2006/main">
              <a:ext uri="{FF2B5EF4-FFF2-40B4-BE49-F238E27FC236}">
                <a16:creationId xmlns:a16="http://schemas.microsoft.com/office/drawing/2014/main" id="{19D8CA8D-025F-41B9-9BFA-090FEBA2C0CD}"/>
              </a:ext>
            </a:extLst>
          </p:cNvPr>
          <p:cNvSpPr>
            <a:spLocks xmlns:a="http://schemas.openxmlformats.org/drawingml/2006/main" noGrp="1"/>
          </p:cNvSpPr>
          <p:nvPr/>
        </p:nvSpPr>
        <p:spPr>
          <a:xfrm xmlns:a="http://schemas.openxmlformats.org/drawingml/2006/main">
            <a:off x="7810500" y="2247900"/>
            <a:ext cx="2762250" cy="3257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C5FAEB"/>
                </a:solidFill>
                <a:latin typeface="Times New Roman"/>
                <a:ea typeface="Times New Roman"/>
                <a:cs typeface="Times New Roman"/>
              </a:defRPr>
            </a:defPPr>
            <a:lvl1pPr algn="l">
              <a:defRPr sz="2000" b="0" i="0">
                <a:solidFill>
                  <a:srgbClr val="C5FAEB"/>
                </a:solidFill>
                <a:latin typeface="Times New Roman"/>
                <a:ea typeface="Times New Roman"/>
                <a:cs typeface="Times New Roman"/>
              </a:defRPr>
            </a:lvl1pPr>
            <a:lvl2pPr algn="l">
              <a:defRPr sz="2000" b="0" i="0">
                <a:solidFill>
                  <a:srgbClr val="C5FAEB"/>
                </a:solidFill>
                <a:latin typeface="Times New Roman"/>
                <a:ea typeface="Times New Roman"/>
                <a:cs typeface="Times New Roman"/>
              </a:defRPr>
            </a:lvl2pPr>
            <a:lvl3pPr algn="l">
              <a:defRPr sz="2000" b="0" i="0">
                <a:solidFill>
                  <a:srgbClr val="C5FAEB"/>
                </a:solidFill>
                <a:latin typeface="Times New Roman"/>
                <a:ea typeface="Times New Roman"/>
                <a:cs typeface="Times New Roman"/>
              </a:defRPr>
            </a:lvl3pPr>
            <a:lvl4pPr algn="l">
              <a:defRPr sz="2000" b="0" i="0">
                <a:solidFill>
                  <a:srgbClr val="C5FAEB"/>
                </a:solidFill>
                <a:latin typeface="Times New Roman"/>
                <a:ea typeface="Times New Roman"/>
                <a:cs typeface="Times New Roman"/>
              </a:defRPr>
            </a:lvl4pPr>
            <a:lvl5pPr algn="l">
              <a:defRPr sz="2000" b="0" i="0">
                <a:solidFill>
                  <a:srgbClr val="C5FAEB"/>
                </a:solidFill>
                <a:latin typeface="Times New Roman"/>
                <a:ea typeface="Times New Roman"/>
                <a:cs typeface="Times New Roman"/>
              </a:defRPr>
            </a:lvl5pPr>
            <a:lvl6pPr algn="l">
              <a:defRPr sz="2000" b="0" i="0">
                <a:solidFill>
                  <a:srgbClr val="C5FAEB"/>
                </a:solidFill>
                <a:latin typeface="Times New Roman"/>
                <a:ea typeface="Times New Roman"/>
                <a:cs typeface="Times New Roman"/>
              </a:defRPr>
            </a:lvl6pPr>
            <a:lvl7pPr algn="l">
              <a:defRPr sz="2000" b="0" i="0">
                <a:solidFill>
                  <a:srgbClr val="C5FAEB"/>
                </a:solidFill>
                <a:latin typeface="Times New Roman"/>
                <a:ea typeface="Times New Roman"/>
                <a:cs typeface="Times New Roman"/>
              </a:defRPr>
            </a:lvl7pPr>
            <a:lvl8pPr algn="l">
              <a:defRPr sz="2000" b="0" i="0">
                <a:solidFill>
                  <a:srgbClr val="C5FAEB"/>
                </a:solidFill>
                <a:latin typeface="Times New Roman"/>
                <a:ea typeface="Times New Roman"/>
                <a:cs typeface="Times New Roman"/>
              </a:defRPr>
            </a:lvl8pPr>
            <a:lvl9pPr algn="l">
              <a:defRPr sz="2000" b="0" i="0">
                <a:solidFill>
                  <a:srgbClr val="C5FAEB"/>
                </a:solidFill>
                <a:latin typeface="Times New Roman"/>
                <a:ea typeface="Times New Roman"/>
                <a:cs typeface="Times New Roman"/>
              </a:defRPr>
            </a:lvl9pPr>
          </a:lstStyle>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At entry</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x = 3</a:t>
            </a:r>
          </a:p>
          <a:p xmlns:a="http://schemas.openxmlformats.org/drawingml/2006/main">
            <a:r>
              <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Inside the call</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x = 7, local y = 4</a:t>
            </a:r>
          </a:p>
          <a:p xmlns:a="http://schemas.openxmlformats.org/drawingml/2006/main">
            <a:r>
              <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Return</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4 + 7 = 11</a:t>
            </a:r>
          </a:p>
        </p:txBody>
      </p:sp>
    </p:spTree>
    <p:extLst>
      <p:ext uri="{BB962C8B-B14F-4D97-AF65-F5344CB8AC3E}">
        <p14:creationId xmlns:p14="http://schemas.microsoft.com/office/powerpoint/2010/main" val="37644945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40646C55-6D88-48E7-A195-9DDD105253D8}"/>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Pass-by-Value</a:t>
            </a:r>
          </a:p>
        </p:txBody>
      </p:sp>
      <p:sp>
        <p:nvSpPr>
          <p:cNvPr id="2" name="slide-number">
            <a:extLst xmlns:a="http://schemas.openxmlformats.org/drawingml/2006/main">
              <a:ext uri="{FF2B5EF4-FFF2-40B4-BE49-F238E27FC236}">
                <a16:creationId xmlns:a16="http://schemas.microsoft.com/office/drawing/2014/main" id="{C7D07223-2B45-47C0-AA94-72DD337638E9}"/>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14</a:t>
            </a:r>
          </a:p>
        </p:txBody>
      </p:sp>
      <p:sp>
        <p:nvSpPr>
          <p:cNvPr id="3" name="text-3">
            <a:extLst xmlns:a="http://schemas.openxmlformats.org/drawingml/2006/main">
              <a:ext uri="{FF2B5EF4-FFF2-40B4-BE49-F238E27FC236}">
                <a16:creationId xmlns:a16="http://schemas.microsoft.com/office/drawing/2014/main" id="{9F79B767-BECF-4C26-AB5C-E8761B603886}"/>
              </a:ext>
            </a:extLst>
          </p:cNvPr>
          <p:cNvSpPr>
            <a:spLocks xmlns:a="http://schemas.openxmlformats.org/drawingml/2006/main" noGrp="1"/>
          </p:cNvSpPr>
          <p:nvPr/>
        </p:nvSpPr>
        <p:spPr>
          <a:xfrm xmlns:a="http://schemas.openxmlformats.org/drawingml/2006/main">
            <a:off x="2771775" y="2019300"/>
            <a:ext cx="7800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Ordinary parameters use value passing in:</a:t>
            </a:r>
          </a:p>
        </p:txBody>
      </p:sp>
      <p:sp>
        <p:nvSpPr>
          <p:cNvPr id="4" name="text-4">
            <a:extLst xmlns:a="http://schemas.openxmlformats.org/drawingml/2006/main">
              <a:ext uri="{FF2B5EF4-FFF2-40B4-BE49-F238E27FC236}">
                <a16:creationId xmlns:a16="http://schemas.microsoft.com/office/drawing/2014/main" id="{A5468680-A6CC-4B60-92A3-E484D99A5433}"/>
              </a:ext>
            </a:extLst>
          </p:cNvPr>
          <p:cNvSpPr>
            <a:spLocks xmlns:a="http://schemas.openxmlformats.org/drawingml/2006/main" noGrp="1"/>
          </p:cNvSpPr>
          <p:nvPr/>
        </p:nvSpPr>
        <p:spPr>
          <a:xfrm xmlns:a="http://schemas.openxmlformats.org/drawingml/2006/main">
            <a:off x="2771775" y="28765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 / C++</a:t>
            </a:r>
          </a:p>
        </p:txBody>
      </p:sp>
      <p:sp>
        <p:nvSpPr>
          <p:cNvPr id="5" name="text-5">
            <a:extLst xmlns:a="http://schemas.openxmlformats.org/drawingml/2006/main">
              <a:ext uri="{FF2B5EF4-FFF2-40B4-BE49-F238E27FC236}">
                <a16:creationId xmlns:a16="http://schemas.microsoft.com/office/drawing/2014/main" id="{5B008B4B-D614-4823-BCA4-881A9D8A5EB9}"/>
              </a:ext>
            </a:extLst>
          </p:cNvPr>
          <p:cNvSpPr>
            <a:spLocks xmlns:a="http://schemas.openxmlformats.org/drawingml/2006/main" noGrp="1"/>
          </p:cNvSpPr>
          <p:nvPr/>
        </p:nvSpPr>
        <p:spPr>
          <a:xfrm xmlns:a="http://schemas.openxmlformats.org/drawingml/2006/main">
            <a:off x="2771775" y="346710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Java</a:t>
            </a:r>
          </a:p>
        </p:txBody>
      </p:sp>
      <p:sp>
        <p:nvSpPr>
          <p:cNvPr id="6" name="text-6">
            <a:extLst xmlns:a="http://schemas.openxmlformats.org/drawingml/2006/main">
              <a:ext uri="{FF2B5EF4-FFF2-40B4-BE49-F238E27FC236}">
                <a16:creationId xmlns:a16="http://schemas.microsoft.com/office/drawing/2014/main" id="{D5173C90-33E5-4C8A-8495-D94D2DE78D5D}"/>
              </a:ext>
            </a:extLst>
          </p:cNvPr>
          <p:cNvSpPr>
            <a:spLocks xmlns:a="http://schemas.openxmlformats.org/drawingml/2006/main" noGrp="1"/>
          </p:cNvSpPr>
          <p:nvPr/>
        </p:nvSpPr>
        <p:spPr>
          <a:xfrm xmlns:a="http://schemas.openxmlformats.org/drawingml/2006/main">
            <a:off x="2771775" y="40576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a:t>
            </a:r>
          </a:p>
        </p:txBody>
      </p:sp>
      <p:sp>
        <p:nvSpPr>
          <p:cNvPr id="7" name="text-7">
            <a:extLst xmlns:a="http://schemas.openxmlformats.org/drawingml/2006/main">
              <a:ext uri="{FF2B5EF4-FFF2-40B4-BE49-F238E27FC236}">
                <a16:creationId xmlns:a16="http://schemas.microsoft.com/office/drawing/2014/main" id="{E7022787-3842-455C-AAE2-4BF1128ED5B1}"/>
              </a:ext>
            </a:extLst>
          </p:cNvPr>
          <p:cNvSpPr>
            <a:spLocks xmlns:a="http://schemas.openxmlformats.org/drawingml/2006/main" noGrp="1"/>
          </p:cNvSpPr>
          <p:nvPr/>
        </p:nvSpPr>
        <p:spPr>
          <a:xfrm xmlns:a="http://schemas.openxmlformats.org/drawingml/2006/main">
            <a:off x="2771775" y="464820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JavaScript</a:t>
            </a:r>
          </a:p>
        </p:txBody>
      </p:sp>
      <p:sp>
        <p:nvSpPr>
          <p:cNvPr id="8" name="text-8">
            <a:extLst xmlns:a="http://schemas.openxmlformats.org/drawingml/2006/main">
              <a:ext uri="{FF2B5EF4-FFF2-40B4-BE49-F238E27FC236}">
                <a16:creationId xmlns:a16="http://schemas.microsoft.com/office/drawing/2014/main" id="{76BBE201-A8C6-48C1-9F08-361700B81A9D}"/>
              </a:ext>
            </a:extLst>
          </p:cNvPr>
          <p:cNvSpPr>
            <a:spLocks xmlns:a="http://schemas.openxmlformats.org/drawingml/2006/main" noGrp="1"/>
          </p:cNvSpPr>
          <p:nvPr/>
        </p:nvSpPr>
        <p:spPr>
          <a:xfrm xmlns:a="http://schemas.openxmlformats.org/drawingml/2006/main">
            <a:off x="2771775" y="52387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Python</a:t>
            </a:r>
          </a:p>
        </p:txBody>
      </p:sp>
      <p:sp>
        <p:nvSpPr>
          <p:cNvPr id="9" name="text-9">
            <a:extLst xmlns:a="http://schemas.openxmlformats.org/drawingml/2006/main">
              <a:ext uri="{FF2B5EF4-FFF2-40B4-BE49-F238E27FC236}">
                <a16:creationId xmlns:a16="http://schemas.microsoft.com/office/drawing/2014/main" id="{F3F334FF-D5EC-4496-A534-5353C2ABA7E4}"/>
              </a:ext>
            </a:extLst>
          </p:cNvPr>
          <p:cNvSpPr>
            <a:spLocks xmlns:a="http://schemas.openxmlformats.org/drawingml/2006/main" noGrp="1"/>
          </p:cNvSpPr>
          <p:nvPr/>
        </p:nvSpPr>
        <p:spPr>
          <a:xfrm xmlns:a="http://schemas.openxmlformats.org/drawingml/2006/main">
            <a:off x="6515100" y="2857500"/>
            <a:ext cx="4057650" cy="3371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The value may be</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an object reference.</a:t>
            </a:r>
          </a:p>
          <a:p xmlns:a="http://schemas.openxmlformats.org/drawingml/2006/main">
            <a:r>
              <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Java and Python can</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share an object with</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the caller.</a:t>
            </a:r>
          </a:p>
          <a:p xmlns:a="http://schemas.openxmlformats.org/drawingml/2006/main">
            <a:r>
              <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C++ references and</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C# ref / out are</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different parameter forms.</a:t>
            </a:r>
          </a:p>
        </p:txBody>
      </p:sp>
    </p:spTree>
    <p:extLst>
      <p:ext uri="{BB962C8B-B14F-4D97-AF65-F5344CB8AC3E}">
        <p14:creationId xmlns:p14="http://schemas.microsoft.com/office/powerpoint/2010/main" val="13594902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CEA7369-AA96-4BE8-9E92-7FA9404EFA90}"/>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Pass-by-Result (Out Mode)</a:t>
            </a:r>
          </a:p>
        </p:txBody>
      </p:sp>
      <p:sp>
        <p:nvSpPr>
          <p:cNvPr id="2" name="slide-number">
            <a:extLst xmlns:a="http://schemas.openxmlformats.org/drawingml/2006/main">
              <a:ext uri="{FF2B5EF4-FFF2-40B4-BE49-F238E27FC236}">
                <a16:creationId xmlns:a16="http://schemas.microsoft.com/office/drawing/2014/main" id="{99AC1EEC-BF4C-4AB4-99CB-C13A0ADCBE98}"/>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15</a:t>
            </a:r>
          </a:p>
        </p:txBody>
      </p:sp>
      <p:sp>
        <p:nvSpPr>
          <p:cNvPr id="3" name="text-3">
            <a:extLst xmlns:a="http://schemas.openxmlformats.org/drawingml/2006/main">
              <a:ext uri="{FF2B5EF4-FFF2-40B4-BE49-F238E27FC236}">
                <a16:creationId xmlns:a16="http://schemas.microsoft.com/office/drawing/2014/main" id="{DF7C5E29-C4A6-4C2F-B5BA-29D74AC688ED}"/>
              </a:ext>
            </a:extLst>
          </p:cNvPr>
          <p:cNvSpPr>
            <a:spLocks xmlns:a="http://schemas.openxmlformats.org/drawingml/2006/main" noGrp="1"/>
          </p:cNvSpPr>
          <p:nvPr/>
        </p:nvSpPr>
        <p:spPr>
          <a:xfrm xmlns:a="http://schemas.openxmlformats.org/drawingml/2006/main">
            <a:off x="2771775" y="1895475"/>
            <a:ext cx="78009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No initial value is copied into the formal.</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The formal has local storage for a result.</a:t>
            </a:r>
          </a:p>
        </p:txBody>
      </p:sp>
      <p:sp>
        <p:nvSpPr>
          <p:cNvPr id="4" name="text-4">
            <a:extLst xmlns:a="http://schemas.openxmlformats.org/drawingml/2006/main">
              <a:ext uri="{FF2B5EF4-FFF2-40B4-BE49-F238E27FC236}">
                <a16:creationId xmlns:a16="http://schemas.microsoft.com/office/drawing/2014/main" id="{9C59E109-C680-4FC4-AC20-16C77B00AD21}"/>
              </a:ext>
            </a:extLst>
          </p:cNvPr>
          <p:cNvSpPr>
            <a:spLocks xmlns:a="http://schemas.openxmlformats.org/drawingml/2006/main" noGrp="1"/>
          </p:cNvSpPr>
          <p:nvPr/>
        </p:nvSpPr>
        <p:spPr>
          <a:xfrm xmlns:a="http://schemas.openxmlformats.org/drawingml/2006/main">
            <a:off x="2771775" y="2838450"/>
            <a:ext cx="78009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On normal return, copy its final value</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back to the caller’s destination.</a:t>
            </a:r>
          </a:p>
        </p:txBody>
      </p:sp>
      <p:sp>
        <p:nvSpPr>
          <p:cNvPr id="5" name="text-5">
            <a:extLst xmlns:a="http://schemas.openxmlformats.org/drawingml/2006/main">
              <a:ext uri="{FF2B5EF4-FFF2-40B4-BE49-F238E27FC236}">
                <a16:creationId xmlns:a16="http://schemas.microsoft.com/office/drawing/2014/main" id="{DC1BB0F0-C892-41A0-8570-C537720AA7EF}"/>
              </a:ext>
            </a:extLst>
          </p:cNvPr>
          <p:cNvSpPr>
            <a:spLocks xmlns:a="http://schemas.openxmlformats.org/drawingml/2006/main" noGrp="1"/>
          </p:cNvSpPr>
          <p:nvPr/>
        </p:nvSpPr>
        <p:spPr>
          <a:xfrm xmlns:a="http://schemas.openxmlformats.org/drawingml/2006/main">
            <a:off x="2771775" y="381000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Advantage</a:t>
            </a:r>
          </a:p>
        </p:txBody>
      </p:sp>
      <p:sp>
        <p:nvSpPr>
          <p:cNvPr id="6" name="text-6">
            <a:extLst xmlns:a="http://schemas.openxmlformats.org/drawingml/2006/main">
              <a:ext uri="{FF2B5EF4-FFF2-40B4-BE49-F238E27FC236}">
                <a16:creationId xmlns:a16="http://schemas.microsoft.com/office/drawing/2014/main" id="{3CD76759-4E59-4F32-AA22-7751DB3E19BD}"/>
              </a:ext>
            </a:extLst>
          </p:cNvPr>
          <p:cNvSpPr>
            <a:spLocks xmlns:a="http://schemas.openxmlformats.org/drawingml/2006/main" noGrp="1"/>
          </p:cNvSpPr>
          <p:nvPr/>
        </p:nvSpPr>
        <p:spPr>
          <a:xfrm xmlns:a="http://schemas.openxmlformats.org/drawingml/2006/main">
            <a:off x="2771775" y="4238625"/>
            <a:ext cx="78009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Useful when a subprogram produces several outputs.</a:t>
            </a:r>
          </a:p>
        </p:txBody>
      </p:sp>
      <p:sp>
        <p:nvSpPr>
          <p:cNvPr id="7" name="text-7">
            <a:extLst xmlns:a="http://schemas.openxmlformats.org/drawingml/2006/main">
              <a:ext uri="{FF2B5EF4-FFF2-40B4-BE49-F238E27FC236}">
                <a16:creationId xmlns:a16="http://schemas.microsoft.com/office/drawing/2014/main" id="{DAF66B4B-6A5F-4E14-84BB-00ABF0A7AB38}"/>
              </a:ext>
            </a:extLst>
          </p:cNvPr>
          <p:cNvSpPr>
            <a:spLocks xmlns:a="http://schemas.openxmlformats.org/drawingml/2006/main" noGrp="1"/>
          </p:cNvSpPr>
          <p:nvPr/>
        </p:nvSpPr>
        <p:spPr>
          <a:xfrm xmlns:a="http://schemas.openxmlformats.org/drawingml/2006/main">
            <a:off x="2771775" y="481965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Questions the language must resolve</a:t>
            </a:r>
          </a:p>
        </p:txBody>
      </p:sp>
      <p:sp>
        <p:nvSpPr>
          <p:cNvPr id="8" name="text-8">
            <a:extLst xmlns:a="http://schemas.openxmlformats.org/drawingml/2006/main">
              <a:ext uri="{FF2B5EF4-FFF2-40B4-BE49-F238E27FC236}">
                <a16:creationId xmlns:a16="http://schemas.microsoft.com/office/drawing/2014/main" id="{0FD64811-55D2-44B9-B3FE-75E5316DA356}"/>
              </a:ext>
            </a:extLst>
          </p:cNvPr>
          <p:cNvSpPr>
            <a:spLocks xmlns:a="http://schemas.openxmlformats.org/drawingml/2006/main" noGrp="1"/>
          </p:cNvSpPr>
          <p:nvPr/>
        </p:nvSpPr>
        <p:spPr>
          <a:xfrm xmlns:a="http://schemas.openxmlformats.org/drawingml/2006/main">
            <a:off x="2771775" y="5267325"/>
            <a:ext cx="78009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For fun(x, list[x]), when is list[x]’s destination chosen?</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For fun(a, a), what happens when outputs share storage?</a:t>
            </a:r>
          </a:p>
        </p:txBody>
      </p:sp>
    </p:spTree>
    <p:extLst>
      <p:ext uri="{BB962C8B-B14F-4D97-AF65-F5344CB8AC3E}">
        <p14:creationId xmlns:p14="http://schemas.microsoft.com/office/powerpoint/2010/main" val="153704197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7D72DE6-25E6-4163-8B42-110FB6404541}"/>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Pass-by-Result</a:t>
            </a:r>
          </a:p>
        </p:txBody>
      </p:sp>
      <p:sp>
        <p:nvSpPr>
          <p:cNvPr id="2" name="slide-number">
            <a:extLst xmlns:a="http://schemas.openxmlformats.org/drawingml/2006/main">
              <a:ext uri="{FF2B5EF4-FFF2-40B4-BE49-F238E27FC236}">
                <a16:creationId xmlns:a16="http://schemas.microsoft.com/office/drawing/2014/main" id="{58EB33D1-C29F-4821-978E-143B97A5E315}"/>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16</a:t>
            </a:r>
          </a:p>
        </p:txBody>
      </p:sp>
      <p:sp>
        <p:nvSpPr>
          <p:cNvPr id="3" name="text-3">
            <a:extLst xmlns:a="http://schemas.openxmlformats.org/drawingml/2006/main">
              <a:ext uri="{FF2B5EF4-FFF2-40B4-BE49-F238E27FC236}">
                <a16:creationId xmlns:a16="http://schemas.microsoft.com/office/drawing/2014/main" id="{4195E3D2-8761-4C56-81B3-37555CE4576A}"/>
              </a:ext>
            </a:extLst>
          </p:cNvPr>
          <p:cNvSpPr>
            <a:spLocks xmlns:a="http://schemas.openxmlformats.org/drawingml/2006/main" noGrp="1"/>
          </p:cNvSpPr>
          <p:nvPr/>
        </p:nvSpPr>
        <p:spPr>
          <a:xfrm xmlns:a="http://schemas.openxmlformats.org/drawingml/2006/main">
            <a:off x="2771775" y="1914525"/>
            <a:ext cx="78009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Pseudocode: assume x is a result parameter.</a:t>
            </a:r>
          </a:p>
        </p:txBody>
      </p:sp>
      <p:sp>
        <p:nvSpPr>
          <p:cNvPr id="4" name="text-4">
            <a:extLst xmlns:a="http://schemas.openxmlformats.org/drawingml/2006/main">
              <a:ext uri="{FF2B5EF4-FFF2-40B4-BE49-F238E27FC236}">
                <a16:creationId xmlns:a16="http://schemas.microsoft.com/office/drawing/2014/main" id="{564610E2-207C-4D8B-A555-3F8EEDA5428E}"/>
              </a:ext>
            </a:extLst>
          </p:cNvPr>
          <p:cNvSpPr>
            <a:spLocks xmlns:a="http://schemas.openxmlformats.org/drawingml/2006/main" noGrp="1"/>
          </p:cNvSpPr>
          <p:nvPr/>
        </p:nvSpPr>
        <p:spPr>
          <a:xfrm xmlns:a="http://schemas.openxmlformats.org/drawingml/2006/main">
            <a:off x="2686050" y="2514600"/>
            <a:ext cx="5276850" cy="33718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800" b="0" i="0">
                <a:solidFill>
                  <a:srgbClr val="FFFFFF"/>
                </a:solidFill>
                <a:latin typeface="Courier New"/>
                <a:ea typeface="Courier New"/>
                <a:cs typeface="Courier New"/>
              </a:defRPr>
            </a:defPPr>
            <a:lvl1pPr algn="l">
              <a:defRPr sz="1800" b="0" i="0">
                <a:solidFill>
                  <a:srgbClr val="FFFFFF"/>
                </a:solidFill>
                <a:latin typeface="Courier New"/>
                <a:ea typeface="Courier New"/>
                <a:cs typeface="Courier New"/>
              </a:defRPr>
            </a:lvl1pPr>
            <a:lvl2pPr algn="l">
              <a:defRPr sz="1800" b="0" i="0">
                <a:solidFill>
                  <a:srgbClr val="FFFFFF"/>
                </a:solidFill>
                <a:latin typeface="Courier New"/>
                <a:ea typeface="Courier New"/>
                <a:cs typeface="Courier New"/>
              </a:defRPr>
            </a:lvl2pPr>
            <a:lvl3pPr algn="l">
              <a:defRPr sz="1800" b="0" i="0">
                <a:solidFill>
                  <a:srgbClr val="FFFFFF"/>
                </a:solidFill>
                <a:latin typeface="Courier New"/>
                <a:ea typeface="Courier New"/>
                <a:cs typeface="Courier New"/>
              </a:defRPr>
            </a:lvl3pPr>
            <a:lvl4pPr algn="l">
              <a:defRPr sz="1800" b="0" i="0">
                <a:solidFill>
                  <a:srgbClr val="FFFFFF"/>
                </a:solidFill>
                <a:latin typeface="Courier New"/>
                <a:ea typeface="Courier New"/>
                <a:cs typeface="Courier New"/>
              </a:defRPr>
            </a:lvl4pPr>
            <a:lvl5pPr algn="l">
              <a:defRPr sz="1800" b="0" i="0">
                <a:solidFill>
                  <a:srgbClr val="FFFFFF"/>
                </a:solidFill>
                <a:latin typeface="Courier New"/>
                <a:ea typeface="Courier New"/>
                <a:cs typeface="Courier New"/>
              </a:defRPr>
            </a:lvl5pPr>
            <a:lvl6pPr algn="l">
              <a:defRPr sz="1800" b="0" i="0">
                <a:solidFill>
                  <a:srgbClr val="FFFFFF"/>
                </a:solidFill>
                <a:latin typeface="Courier New"/>
                <a:ea typeface="Courier New"/>
                <a:cs typeface="Courier New"/>
              </a:defRPr>
            </a:lvl6pPr>
            <a:lvl7pPr algn="l">
              <a:defRPr sz="1800" b="0" i="0">
                <a:solidFill>
                  <a:srgbClr val="FFFFFF"/>
                </a:solidFill>
                <a:latin typeface="Courier New"/>
                <a:ea typeface="Courier New"/>
                <a:cs typeface="Courier New"/>
              </a:defRPr>
            </a:lvl7pPr>
            <a:lvl8pPr algn="l">
              <a:defRPr sz="1800" b="0" i="0">
                <a:solidFill>
                  <a:srgbClr val="FFFFFF"/>
                </a:solidFill>
                <a:latin typeface="Courier New"/>
                <a:ea typeface="Courier New"/>
                <a:cs typeface="Courier New"/>
              </a:defRPr>
            </a:lvl8pPr>
            <a:lvl9pPr algn="l">
              <a:defRPr sz="1800" b="0" i="0">
                <a:solidFill>
                  <a:srgbClr val="FFFFFF"/>
                </a:solidFill>
                <a:latin typeface="Courier New"/>
                <a:ea typeface="Courier New"/>
                <a:cs typeface="Courier New"/>
              </a:defRPr>
            </a:lvl9pPr>
          </a:lstStyle>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void by_result(int x)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 int y = x + 2; // invalid</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int y = 2;</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x = y + 4;</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int y = 3;</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by_result(y);</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y = 6 after return</a:t>
            </a:r>
          </a:p>
        </p:txBody>
      </p:sp>
      <p:sp>
        <p:nvSpPr>
          <p:cNvPr id="5" name="text-5">
            <a:extLst xmlns:a="http://schemas.openxmlformats.org/drawingml/2006/main">
              <a:ext uri="{FF2B5EF4-FFF2-40B4-BE49-F238E27FC236}">
                <a16:creationId xmlns:a16="http://schemas.microsoft.com/office/drawing/2014/main" id="{8F9B8FF4-EE5F-423C-A6C6-E77C9D8FF2AB}"/>
              </a:ext>
            </a:extLst>
          </p:cNvPr>
          <p:cNvSpPr>
            <a:spLocks xmlns:a="http://schemas.openxmlformats.org/drawingml/2006/main" noGrp="1"/>
          </p:cNvSpPr>
          <p:nvPr/>
        </p:nvSpPr>
        <p:spPr>
          <a:xfrm xmlns:a="http://schemas.openxmlformats.org/drawingml/2006/main">
            <a:off x="8239125" y="2619375"/>
            <a:ext cx="2333625"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C5FAEB"/>
                </a:solidFill>
                <a:latin typeface="Times New Roman"/>
                <a:ea typeface="Times New Roman"/>
                <a:cs typeface="Times New Roman"/>
              </a:defRPr>
            </a:defPPr>
            <a:lvl1pPr algn="l">
              <a:defRPr sz="2000" b="0" i="0">
                <a:solidFill>
                  <a:srgbClr val="C5FAEB"/>
                </a:solidFill>
                <a:latin typeface="Times New Roman"/>
                <a:ea typeface="Times New Roman"/>
                <a:cs typeface="Times New Roman"/>
              </a:defRPr>
            </a:lvl1pPr>
            <a:lvl2pPr algn="l">
              <a:defRPr sz="2000" b="0" i="0">
                <a:solidFill>
                  <a:srgbClr val="C5FAEB"/>
                </a:solidFill>
                <a:latin typeface="Times New Roman"/>
                <a:ea typeface="Times New Roman"/>
                <a:cs typeface="Times New Roman"/>
              </a:defRPr>
            </a:lvl2pPr>
            <a:lvl3pPr algn="l">
              <a:defRPr sz="2000" b="0" i="0">
                <a:solidFill>
                  <a:srgbClr val="C5FAEB"/>
                </a:solidFill>
                <a:latin typeface="Times New Roman"/>
                <a:ea typeface="Times New Roman"/>
                <a:cs typeface="Times New Roman"/>
              </a:defRPr>
            </a:lvl3pPr>
            <a:lvl4pPr algn="l">
              <a:defRPr sz="2000" b="0" i="0">
                <a:solidFill>
                  <a:srgbClr val="C5FAEB"/>
                </a:solidFill>
                <a:latin typeface="Times New Roman"/>
                <a:ea typeface="Times New Roman"/>
                <a:cs typeface="Times New Roman"/>
              </a:defRPr>
            </a:lvl4pPr>
            <a:lvl5pPr algn="l">
              <a:defRPr sz="2000" b="0" i="0">
                <a:solidFill>
                  <a:srgbClr val="C5FAEB"/>
                </a:solidFill>
                <a:latin typeface="Times New Roman"/>
                <a:ea typeface="Times New Roman"/>
                <a:cs typeface="Times New Roman"/>
              </a:defRPr>
            </a:lvl5pPr>
            <a:lvl6pPr algn="l">
              <a:defRPr sz="2000" b="0" i="0">
                <a:solidFill>
                  <a:srgbClr val="C5FAEB"/>
                </a:solidFill>
                <a:latin typeface="Times New Roman"/>
                <a:ea typeface="Times New Roman"/>
                <a:cs typeface="Times New Roman"/>
              </a:defRPr>
            </a:lvl6pPr>
            <a:lvl7pPr algn="l">
              <a:defRPr sz="2000" b="0" i="0">
                <a:solidFill>
                  <a:srgbClr val="C5FAEB"/>
                </a:solidFill>
                <a:latin typeface="Times New Roman"/>
                <a:ea typeface="Times New Roman"/>
                <a:cs typeface="Times New Roman"/>
              </a:defRPr>
            </a:lvl7pPr>
            <a:lvl8pPr algn="l">
              <a:defRPr sz="2000" b="0" i="0">
                <a:solidFill>
                  <a:srgbClr val="C5FAEB"/>
                </a:solidFill>
                <a:latin typeface="Times New Roman"/>
                <a:ea typeface="Times New Roman"/>
                <a:cs typeface="Times New Roman"/>
              </a:defRPr>
            </a:lvl8pPr>
            <a:lvl9pPr algn="l">
              <a:defRPr sz="2000" b="0" i="0">
                <a:solidFill>
                  <a:srgbClr val="C5FAEB"/>
                </a:solidFill>
                <a:latin typeface="Times New Roman"/>
                <a:ea typeface="Times New Roman"/>
                <a:cs typeface="Times New Roman"/>
              </a:defRPr>
            </a:lvl9pPr>
          </a:lstStyle>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No input copy</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x is not initialized</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from caller y.</a:t>
            </a:r>
          </a:p>
          <a:p xmlns:a="http://schemas.openxmlformats.org/drawingml/2006/main">
            <a:r>
              <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Compute</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x = 2 + 4 = 6</a:t>
            </a:r>
          </a:p>
          <a:p xmlns:a="http://schemas.openxmlformats.org/drawingml/2006/main">
            <a:r>
              <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Copy out</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caller y becomes 6</a:t>
            </a:r>
          </a:p>
        </p:txBody>
      </p:sp>
    </p:spTree>
    <p:extLst>
      <p:ext uri="{BB962C8B-B14F-4D97-AF65-F5344CB8AC3E}">
        <p14:creationId xmlns:p14="http://schemas.microsoft.com/office/powerpoint/2010/main" val="47631970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2C9E4BA-3066-470A-A1BB-272901E94634}"/>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Output Parameters in C#</a:t>
            </a:r>
          </a:p>
        </p:txBody>
      </p:sp>
      <p:sp>
        <p:nvSpPr>
          <p:cNvPr id="2" name="slide-number">
            <a:extLst xmlns:a="http://schemas.openxmlformats.org/drawingml/2006/main">
              <a:ext uri="{FF2B5EF4-FFF2-40B4-BE49-F238E27FC236}">
                <a16:creationId xmlns:a16="http://schemas.microsoft.com/office/drawing/2014/main" id="{5409B814-6465-42DB-BAAC-15274E6D1F70}"/>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17</a:t>
            </a:r>
          </a:p>
        </p:txBody>
      </p:sp>
      <p:sp>
        <p:nvSpPr>
          <p:cNvPr id="3" name="text-3">
            <a:extLst xmlns:a="http://schemas.openxmlformats.org/drawingml/2006/main">
              <a:ext uri="{FF2B5EF4-FFF2-40B4-BE49-F238E27FC236}">
                <a16:creationId xmlns:a16="http://schemas.microsoft.com/office/drawing/2014/main" id="{B2DE39A8-920D-4372-91CE-401DC0F0E783}"/>
              </a:ext>
            </a:extLst>
          </p:cNvPr>
          <p:cNvSpPr>
            <a:spLocks xmlns:a="http://schemas.openxmlformats.org/drawingml/2006/main" noGrp="1"/>
          </p:cNvSpPr>
          <p:nvPr/>
        </p:nvSpPr>
        <p:spPr>
          <a:xfrm xmlns:a="http://schemas.openxmlformats.org/drawingml/2006/main">
            <a:off x="2771775" y="1790700"/>
            <a:ext cx="78009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out uses reference passing to provide output values.</a:t>
            </a:r>
          </a:p>
        </p:txBody>
      </p:sp>
      <p:sp>
        <p:nvSpPr>
          <p:cNvPr id="4" name="text-4">
            <a:extLst xmlns:a="http://schemas.openxmlformats.org/drawingml/2006/main">
              <a:ext uri="{FF2B5EF4-FFF2-40B4-BE49-F238E27FC236}">
                <a16:creationId xmlns:a16="http://schemas.microsoft.com/office/drawing/2014/main" id="{835E4F01-1A20-4587-A601-8897B80985C6}"/>
              </a:ext>
            </a:extLst>
          </p:cNvPr>
          <p:cNvSpPr>
            <a:spLocks xmlns:a="http://schemas.openxmlformats.org/drawingml/2006/main" noGrp="1"/>
          </p:cNvSpPr>
          <p:nvPr/>
        </p:nvSpPr>
        <p:spPr>
          <a:xfrm xmlns:a="http://schemas.openxmlformats.org/drawingml/2006/main">
            <a:off x="2686050" y="2219325"/>
            <a:ext cx="8058150" cy="38766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600" b="0" i="0">
                <a:solidFill>
                  <a:srgbClr val="FFFFFF"/>
                </a:solidFill>
                <a:latin typeface="Courier New"/>
                <a:ea typeface="Courier New"/>
                <a:cs typeface="Courier New"/>
              </a:defRPr>
            </a:defPPr>
            <a:lvl1pPr algn="l">
              <a:defRPr sz="1600" b="0" i="0">
                <a:solidFill>
                  <a:srgbClr val="FFFFFF"/>
                </a:solidFill>
                <a:latin typeface="Courier New"/>
                <a:ea typeface="Courier New"/>
                <a:cs typeface="Courier New"/>
              </a:defRPr>
            </a:lvl1pPr>
            <a:lvl2pPr algn="l">
              <a:defRPr sz="1600" b="0" i="0">
                <a:solidFill>
                  <a:srgbClr val="FFFFFF"/>
                </a:solidFill>
                <a:latin typeface="Courier New"/>
                <a:ea typeface="Courier New"/>
                <a:cs typeface="Courier New"/>
              </a:defRPr>
            </a:lvl2pPr>
            <a:lvl3pPr algn="l">
              <a:defRPr sz="1600" b="0" i="0">
                <a:solidFill>
                  <a:srgbClr val="FFFFFF"/>
                </a:solidFill>
                <a:latin typeface="Courier New"/>
                <a:ea typeface="Courier New"/>
                <a:cs typeface="Courier New"/>
              </a:defRPr>
            </a:lvl3pPr>
            <a:lvl4pPr algn="l">
              <a:defRPr sz="1600" b="0" i="0">
                <a:solidFill>
                  <a:srgbClr val="FFFFFF"/>
                </a:solidFill>
                <a:latin typeface="Courier New"/>
                <a:ea typeface="Courier New"/>
                <a:cs typeface="Courier New"/>
              </a:defRPr>
            </a:lvl4pPr>
            <a:lvl5pPr algn="l">
              <a:defRPr sz="1600" b="0" i="0">
                <a:solidFill>
                  <a:srgbClr val="FFFFFF"/>
                </a:solidFill>
                <a:latin typeface="Courier New"/>
                <a:ea typeface="Courier New"/>
                <a:cs typeface="Courier New"/>
              </a:defRPr>
            </a:lvl5pPr>
            <a:lvl6pPr algn="l">
              <a:defRPr sz="1600" b="0" i="0">
                <a:solidFill>
                  <a:srgbClr val="FFFFFF"/>
                </a:solidFill>
                <a:latin typeface="Courier New"/>
                <a:ea typeface="Courier New"/>
                <a:cs typeface="Courier New"/>
              </a:defRPr>
            </a:lvl6pPr>
            <a:lvl7pPr algn="l">
              <a:defRPr sz="1600" b="0" i="0">
                <a:solidFill>
                  <a:srgbClr val="FFFFFF"/>
                </a:solidFill>
                <a:latin typeface="Courier New"/>
                <a:ea typeface="Courier New"/>
                <a:cs typeface="Courier New"/>
              </a:defRPr>
            </a:lvl7pPr>
            <a:lvl8pPr algn="l">
              <a:defRPr sz="1600" b="0" i="0">
                <a:solidFill>
                  <a:srgbClr val="FFFFFF"/>
                </a:solidFill>
                <a:latin typeface="Courier New"/>
                <a:ea typeface="Courier New"/>
                <a:cs typeface="Courier New"/>
              </a:defRPr>
            </a:lvl8pPr>
            <a:lvl9pPr algn="l">
              <a:defRPr sz="1600" b="0" i="0">
                <a:solidFill>
                  <a:srgbClr val="FFFFFF"/>
                </a:solidFill>
                <a:latin typeface="Courier New"/>
                <a:ea typeface="Courier New"/>
                <a:cs typeface="Courier New"/>
              </a:defRPr>
            </a:lvl9pPr>
          </a:lstStyle>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static void Main()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double radiusValue = 3.92781;</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CalculateCircumferenceAndArea(radiusValue,</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out double circumferenceResult, out var areaResult);</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Console.WriteLine($"Circumference of a circle with a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 $"radius of {radiusValue} is {circumferenceResult}.");</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Console.WriteLine($"Area of a circle with a radius of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 $"{radiusValue} is {areaResult}.");</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Console.ReadLine();</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public static void CalculateCircumferenceAndArea(double radius,</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out double circumference, out double area)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circumference = 2 * Math.PI * radius;</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area = Math.PI * (radius * radius);</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a:t>
            </a:r>
          </a:p>
        </p:txBody>
      </p:sp>
      <p:sp>
        <p:nvSpPr>
          <p:cNvPr id="5" name="text-5">
            <a:extLst xmlns:a="http://schemas.openxmlformats.org/drawingml/2006/main">
              <a:ext uri="{FF2B5EF4-FFF2-40B4-BE49-F238E27FC236}">
                <a16:creationId xmlns:a16="http://schemas.microsoft.com/office/drawing/2014/main" id="{1F6229B4-FB30-4F48-B93A-2F65649D1B97}"/>
              </a:ext>
            </a:extLst>
          </p:cNvPr>
          <p:cNvSpPr>
            <a:spLocks xmlns:a="http://schemas.openxmlformats.org/drawingml/2006/main" noGrp="1"/>
          </p:cNvSpPr>
          <p:nvPr/>
        </p:nvSpPr>
        <p:spPr>
          <a:xfrm xmlns:a="http://schemas.openxmlformats.org/drawingml/2006/main">
            <a:off x="2771775" y="6210300"/>
            <a:ext cx="78009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Circumference ≈ 24.67916     Area ≈ 48.46752</a:t>
            </a:r>
          </a:p>
        </p:txBody>
      </p:sp>
    </p:spTree>
    <p:extLst>
      <p:ext uri="{BB962C8B-B14F-4D97-AF65-F5344CB8AC3E}">
        <p14:creationId xmlns:p14="http://schemas.microsoft.com/office/powerpoint/2010/main" val="30291647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41DDBD8-414A-4B8E-83E3-05CFDA2ACC61}"/>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Pass-by-Value-Result</a:t>
            </a:r>
          </a:p>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(In-Out Mode)</a:t>
            </a:r>
          </a:p>
        </p:txBody>
      </p:sp>
      <p:sp>
        <p:nvSpPr>
          <p:cNvPr id="2" name="slide-number">
            <a:extLst xmlns:a="http://schemas.openxmlformats.org/drawingml/2006/main">
              <a:ext uri="{FF2B5EF4-FFF2-40B4-BE49-F238E27FC236}">
                <a16:creationId xmlns:a16="http://schemas.microsoft.com/office/drawing/2014/main" id="{D0D367BD-FF5D-4C48-9AAB-A5B708BD6D66}"/>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18</a:t>
            </a:r>
          </a:p>
        </p:txBody>
      </p:sp>
      <p:sp>
        <p:nvSpPr>
          <p:cNvPr id="3" name="text-3">
            <a:extLst xmlns:a="http://schemas.openxmlformats.org/drawingml/2006/main">
              <a:ext uri="{FF2B5EF4-FFF2-40B4-BE49-F238E27FC236}">
                <a16:creationId xmlns:a16="http://schemas.microsoft.com/office/drawing/2014/main" id="{1E3F29E4-72F7-4B5C-8FED-AD3A04DB77CD}"/>
              </a:ext>
            </a:extLst>
          </p:cNvPr>
          <p:cNvSpPr>
            <a:spLocks xmlns:a="http://schemas.openxmlformats.org/drawingml/2006/main" noGrp="1"/>
          </p:cNvSpPr>
          <p:nvPr/>
        </p:nvSpPr>
        <p:spPr>
          <a:xfrm xmlns:a="http://schemas.openxmlformats.org/drawingml/2006/main">
            <a:off x="2771775" y="2228850"/>
            <a:ext cx="78009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Combines value passing and result passing.</a:t>
            </a:r>
          </a:p>
        </p:txBody>
      </p:sp>
      <p:sp>
        <p:nvSpPr>
          <p:cNvPr id="4" name="text-4">
            <a:extLst xmlns:a="http://schemas.openxmlformats.org/drawingml/2006/main">
              <a:ext uri="{FF2B5EF4-FFF2-40B4-BE49-F238E27FC236}">
                <a16:creationId xmlns:a16="http://schemas.microsoft.com/office/drawing/2014/main" id="{D5895338-C62B-4FA5-80D8-477AA40E0460}"/>
              </a:ext>
            </a:extLst>
          </p:cNvPr>
          <p:cNvSpPr>
            <a:spLocks xmlns:a="http://schemas.openxmlformats.org/drawingml/2006/main" noGrp="1"/>
          </p:cNvSpPr>
          <p:nvPr/>
        </p:nvSpPr>
        <p:spPr>
          <a:xfrm xmlns:a="http://schemas.openxmlformats.org/drawingml/2006/main">
            <a:off x="2771775" y="3105150"/>
            <a:ext cx="78009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Also called copy-in / copy-out.</a:t>
            </a:r>
          </a:p>
        </p:txBody>
      </p:sp>
      <p:sp>
        <p:nvSpPr>
          <p:cNvPr id="5" name="text-5">
            <a:extLst xmlns:a="http://schemas.openxmlformats.org/drawingml/2006/main">
              <a:ext uri="{FF2B5EF4-FFF2-40B4-BE49-F238E27FC236}">
                <a16:creationId xmlns:a16="http://schemas.microsoft.com/office/drawing/2014/main" id="{FD257F06-FB83-4347-AD03-822F2ED326F3}"/>
              </a:ext>
            </a:extLst>
          </p:cNvPr>
          <p:cNvSpPr>
            <a:spLocks xmlns:a="http://schemas.openxmlformats.org/drawingml/2006/main" noGrp="1"/>
          </p:cNvSpPr>
          <p:nvPr/>
        </p:nvSpPr>
        <p:spPr>
          <a:xfrm xmlns:a="http://schemas.openxmlformats.org/drawingml/2006/main">
            <a:off x="2771775" y="3971925"/>
            <a:ext cx="78009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Each formal parameter has local storage.</a:t>
            </a:r>
          </a:p>
        </p:txBody>
      </p:sp>
      <p:sp>
        <p:nvSpPr>
          <p:cNvPr id="6" name="text-6">
            <a:extLst xmlns:a="http://schemas.openxmlformats.org/drawingml/2006/main">
              <a:ext uri="{FF2B5EF4-FFF2-40B4-BE49-F238E27FC236}">
                <a16:creationId xmlns:a16="http://schemas.microsoft.com/office/drawing/2014/main" id="{123C1665-2265-4CF6-B6BA-246BF54B6060}"/>
              </a:ext>
            </a:extLst>
          </p:cNvPr>
          <p:cNvSpPr>
            <a:spLocks xmlns:a="http://schemas.openxmlformats.org/drawingml/2006/main" noGrp="1"/>
          </p:cNvSpPr>
          <p:nvPr/>
        </p:nvSpPr>
        <p:spPr>
          <a:xfrm xmlns:a="http://schemas.openxmlformats.org/drawingml/2006/main">
            <a:off x="2771775" y="4953000"/>
            <a:ext cx="78009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At entry, copy the argument’s value into the formal.</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At normal return, copy the final value back.</a:t>
            </a:r>
          </a:p>
        </p:txBody>
      </p:sp>
    </p:spTree>
    <p:extLst>
      <p:ext uri="{BB962C8B-B14F-4D97-AF65-F5344CB8AC3E}">
        <p14:creationId xmlns:p14="http://schemas.microsoft.com/office/powerpoint/2010/main" val="20497906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E631799-82D7-4672-89BE-DE51637237E1}"/>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Pass-by-Value-Result</a:t>
            </a:r>
          </a:p>
        </p:txBody>
      </p:sp>
      <p:sp>
        <p:nvSpPr>
          <p:cNvPr id="2" name="slide-number">
            <a:extLst xmlns:a="http://schemas.openxmlformats.org/drawingml/2006/main">
              <a:ext uri="{FF2B5EF4-FFF2-40B4-BE49-F238E27FC236}">
                <a16:creationId xmlns:a16="http://schemas.microsoft.com/office/drawing/2014/main" id="{37914436-2F45-4A8F-B4D8-93B1C9020BB5}"/>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19</a:t>
            </a:r>
          </a:p>
        </p:txBody>
      </p:sp>
      <p:sp>
        <p:nvSpPr>
          <p:cNvPr id="3" name="text-3">
            <a:extLst xmlns:a="http://schemas.openxmlformats.org/drawingml/2006/main">
              <a:ext uri="{FF2B5EF4-FFF2-40B4-BE49-F238E27FC236}">
                <a16:creationId xmlns:a16="http://schemas.microsoft.com/office/drawing/2014/main" id="{DA871710-05E3-4052-9319-82E210169354}"/>
              </a:ext>
            </a:extLst>
          </p:cNvPr>
          <p:cNvSpPr>
            <a:spLocks xmlns:a="http://schemas.openxmlformats.org/drawingml/2006/main" noGrp="1"/>
          </p:cNvSpPr>
          <p:nvPr/>
        </p:nvSpPr>
        <p:spPr>
          <a:xfrm xmlns:a="http://schemas.openxmlformats.org/drawingml/2006/main">
            <a:off x="2771775" y="1924050"/>
            <a:ext cx="78009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Pseudocode: assume x is a value-result parameter.</a:t>
            </a:r>
          </a:p>
        </p:txBody>
      </p:sp>
      <p:sp>
        <p:nvSpPr>
          <p:cNvPr id="4" name="text-4">
            <a:extLst xmlns:a="http://schemas.openxmlformats.org/drawingml/2006/main">
              <a:ext uri="{FF2B5EF4-FFF2-40B4-BE49-F238E27FC236}">
                <a16:creationId xmlns:a16="http://schemas.microsoft.com/office/drawing/2014/main" id="{18F7372C-A564-48AF-9EAE-2B7BBBF0760B}"/>
              </a:ext>
            </a:extLst>
          </p:cNvPr>
          <p:cNvSpPr>
            <a:spLocks xmlns:a="http://schemas.openxmlformats.org/drawingml/2006/main" noGrp="1"/>
          </p:cNvSpPr>
          <p:nvPr/>
        </p:nvSpPr>
        <p:spPr>
          <a:xfrm xmlns:a="http://schemas.openxmlformats.org/drawingml/2006/main">
            <a:off x="2686050" y="2552700"/>
            <a:ext cx="5486400" cy="31432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800" b="0" i="0">
                <a:solidFill>
                  <a:srgbClr val="FFFFFF"/>
                </a:solidFill>
                <a:latin typeface="Courier New"/>
                <a:ea typeface="Courier New"/>
                <a:cs typeface="Courier New"/>
              </a:defRPr>
            </a:defPPr>
            <a:lvl1pPr algn="l">
              <a:defRPr sz="1800" b="0" i="0">
                <a:solidFill>
                  <a:srgbClr val="FFFFFF"/>
                </a:solidFill>
                <a:latin typeface="Courier New"/>
                <a:ea typeface="Courier New"/>
                <a:cs typeface="Courier New"/>
              </a:defRPr>
            </a:lvl1pPr>
            <a:lvl2pPr algn="l">
              <a:defRPr sz="1800" b="0" i="0">
                <a:solidFill>
                  <a:srgbClr val="FFFFFF"/>
                </a:solidFill>
                <a:latin typeface="Courier New"/>
                <a:ea typeface="Courier New"/>
                <a:cs typeface="Courier New"/>
              </a:defRPr>
            </a:lvl2pPr>
            <a:lvl3pPr algn="l">
              <a:defRPr sz="1800" b="0" i="0">
                <a:solidFill>
                  <a:srgbClr val="FFFFFF"/>
                </a:solidFill>
                <a:latin typeface="Courier New"/>
                <a:ea typeface="Courier New"/>
                <a:cs typeface="Courier New"/>
              </a:defRPr>
            </a:lvl3pPr>
            <a:lvl4pPr algn="l">
              <a:defRPr sz="1800" b="0" i="0">
                <a:solidFill>
                  <a:srgbClr val="FFFFFF"/>
                </a:solidFill>
                <a:latin typeface="Courier New"/>
                <a:ea typeface="Courier New"/>
                <a:cs typeface="Courier New"/>
              </a:defRPr>
            </a:lvl4pPr>
            <a:lvl5pPr algn="l">
              <a:defRPr sz="1800" b="0" i="0">
                <a:solidFill>
                  <a:srgbClr val="FFFFFF"/>
                </a:solidFill>
                <a:latin typeface="Courier New"/>
                <a:ea typeface="Courier New"/>
                <a:cs typeface="Courier New"/>
              </a:defRPr>
            </a:lvl5pPr>
            <a:lvl6pPr algn="l">
              <a:defRPr sz="1800" b="0" i="0">
                <a:solidFill>
                  <a:srgbClr val="FFFFFF"/>
                </a:solidFill>
                <a:latin typeface="Courier New"/>
                <a:ea typeface="Courier New"/>
                <a:cs typeface="Courier New"/>
              </a:defRPr>
            </a:lvl6pPr>
            <a:lvl7pPr algn="l">
              <a:defRPr sz="1800" b="0" i="0">
                <a:solidFill>
                  <a:srgbClr val="FFFFFF"/>
                </a:solidFill>
                <a:latin typeface="Courier New"/>
                <a:ea typeface="Courier New"/>
                <a:cs typeface="Courier New"/>
              </a:defRPr>
            </a:lvl7pPr>
            <a:lvl8pPr algn="l">
              <a:defRPr sz="1800" b="0" i="0">
                <a:solidFill>
                  <a:srgbClr val="FFFFFF"/>
                </a:solidFill>
                <a:latin typeface="Courier New"/>
                <a:ea typeface="Courier New"/>
                <a:cs typeface="Courier New"/>
              </a:defRPr>
            </a:lvl8pPr>
            <a:lvl9pPr algn="l">
              <a:defRPr sz="1800" b="0" i="0">
                <a:solidFill>
                  <a:srgbClr val="FFFFFF"/>
                </a:solidFill>
                <a:latin typeface="Courier New"/>
                <a:ea typeface="Courier New"/>
                <a:cs typeface="Courier New"/>
              </a:defRPr>
            </a:lvl9pPr>
          </a:lstStyle>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void by_value_result(int x)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int y = x;</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x = y + 4;</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int y = 3;</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by_value_result(y);</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y = 7 after return</a:t>
            </a:r>
          </a:p>
        </p:txBody>
      </p:sp>
      <p:sp>
        <p:nvSpPr>
          <p:cNvPr id="5" name="text-5">
            <a:extLst xmlns:a="http://schemas.openxmlformats.org/drawingml/2006/main">
              <a:ext uri="{FF2B5EF4-FFF2-40B4-BE49-F238E27FC236}">
                <a16:creationId xmlns:a16="http://schemas.microsoft.com/office/drawing/2014/main" id="{88481D9C-B2C6-4C9D-B6BC-D2910DFBD21E}"/>
              </a:ext>
            </a:extLst>
          </p:cNvPr>
          <p:cNvSpPr>
            <a:spLocks xmlns:a="http://schemas.openxmlformats.org/drawingml/2006/main" noGrp="1"/>
          </p:cNvSpPr>
          <p:nvPr/>
        </p:nvSpPr>
        <p:spPr>
          <a:xfrm xmlns:a="http://schemas.openxmlformats.org/drawingml/2006/main">
            <a:off x="8439150" y="2657475"/>
            <a:ext cx="213360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C5FAEB"/>
                </a:solidFill>
                <a:latin typeface="Times New Roman"/>
                <a:ea typeface="Times New Roman"/>
                <a:cs typeface="Times New Roman"/>
              </a:defRPr>
            </a:defPPr>
            <a:lvl1pPr algn="l">
              <a:defRPr sz="2000" b="0" i="0">
                <a:solidFill>
                  <a:srgbClr val="C5FAEB"/>
                </a:solidFill>
                <a:latin typeface="Times New Roman"/>
                <a:ea typeface="Times New Roman"/>
                <a:cs typeface="Times New Roman"/>
              </a:defRPr>
            </a:lvl1pPr>
            <a:lvl2pPr algn="l">
              <a:defRPr sz="2000" b="0" i="0">
                <a:solidFill>
                  <a:srgbClr val="C5FAEB"/>
                </a:solidFill>
                <a:latin typeface="Times New Roman"/>
                <a:ea typeface="Times New Roman"/>
                <a:cs typeface="Times New Roman"/>
              </a:defRPr>
            </a:lvl2pPr>
            <a:lvl3pPr algn="l">
              <a:defRPr sz="2000" b="0" i="0">
                <a:solidFill>
                  <a:srgbClr val="C5FAEB"/>
                </a:solidFill>
                <a:latin typeface="Times New Roman"/>
                <a:ea typeface="Times New Roman"/>
                <a:cs typeface="Times New Roman"/>
              </a:defRPr>
            </a:lvl3pPr>
            <a:lvl4pPr algn="l">
              <a:defRPr sz="2000" b="0" i="0">
                <a:solidFill>
                  <a:srgbClr val="C5FAEB"/>
                </a:solidFill>
                <a:latin typeface="Times New Roman"/>
                <a:ea typeface="Times New Roman"/>
                <a:cs typeface="Times New Roman"/>
              </a:defRPr>
            </a:lvl4pPr>
            <a:lvl5pPr algn="l">
              <a:defRPr sz="2000" b="0" i="0">
                <a:solidFill>
                  <a:srgbClr val="C5FAEB"/>
                </a:solidFill>
                <a:latin typeface="Times New Roman"/>
                <a:ea typeface="Times New Roman"/>
                <a:cs typeface="Times New Roman"/>
              </a:defRPr>
            </a:lvl5pPr>
            <a:lvl6pPr algn="l">
              <a:defRPr sz="2000" b="0" i="0">
                <a:solidFill>
                  <a:srgbClr val="C5FAEB"/>
                </a:solidFill>
                <a:latin typeface="Times New Roman"/>
                <a:ea typeface="Times New Roman"/>
                <a:cs typeface="Times New Roman"/>
              </a:defRPr>
            </a:lvl6pPr>
            <a:lvl7pPr algn="l">
              <a:defRPr sz="2000" b="0" i="0">
                <a:solidFill>
                  <a:srgbClr val="C5FAEB"/>
                </a:solidFill>
                <a:latin typeface="Times New Roman"/>
                <a:ea typeface="Times New Roman"/>
                <a:cs typeface="Times New Roman"/>
              </a:defRPr>
            </a:lvl7pPr>
            <a:lvl8pPr algn="l">
              <a:defRPr sz="2000" b="0" i="0">
                <a:solidFill>
                  <a:srgbClr val="C5FAEB"/>
                </a:solidFill>
                <a:latin typeface="Times New Roman"/>
                <a:ea typeface="Times New Roman"/>
                <a:cs typeface="Times New Roman"/>
              </a:defRPr>
            </a:lvl8pPr>
            <a:lvl9pPr algn="l">
              <a:defRPr sz="2000" b="0" i="0">
                <a:solidFill>
                  <a:srgbClr val="C5FAEB"/>
                </a:solidFill>
                <a:latin typeface="Times New Roman"/>
                <a:ea typeface="Times New Roman"/>
                <a:cs typeface="Times New Roman"/>
              </a:defRPr>
            </a:lvl9pPr>
          </a:lstStyle>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Copy in</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x = 3</a:t>
            </a:r>
          </a:p>
          <a:p xmlns:a="http://schemas.openxmlformats.org/drawingml/2006/main">
            <a:r>
              <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Compute</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x = 7</a:t>
            </a:r>
          </a:p>
          <a:p xmlns:a="http://schemas.openxmlformats.org/drawingml/2006/main">
            <a:r>
              <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Copy out</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caller y becomes 7</a:t>
            </a:r>
          </a:p>
        </p:txBody>
      </p:sp>
    </p:spTree>
    <p:extLst>
      <p:ext uri="{BB962C8B-B14F-4D97-AF65-F5344CB8AC3E}">
        <p14:creationId xmlns:p14="http://schemas.microsoft.com/office/powerpoint/2010/main" val="53021950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649F71D-D2A8-42E6-805B-90EDE50D4552}"/>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Pass-by-Value-Result</a:t>
            </a:r>
          </a:p>
        </p:txBody>
      </p:sp>
      <p:sp>
        <p:nvSpPr>
          <p:cNvPr id="2" name="slide-number">
            <a:extLst xmlns:a="http://schemas.openxmlformats.org/drawingml/2006/main">
              <a:ext uri="{FF2B5EF4-FFF2-40B4-BE49-F238E27FC236}">
                <a16:creationId xmlns:a16="http://schemas.microsoft.com/office/drawing/2014/main" id="{EF643531-D5B3-4DA7-AB79-067CB8C0BCFE}"/>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20</a:t>
            </a:r>
          </a:p>
        </p:txBody>
      </p:sp>
      <p:sp>
        <p:nvSpPr>
          <p:cNvPr id="3" name="text-3">
            <a:extLst xmlns:a="http://schemas.openxmlformats.org/drawingml/2006/main">
              <a:ext uri="{FF2B5EF4-FFF2-40B4-BE49-F238E27FC236}">
                <a16:creationId xmlns:a16="http://schemas.microsoft.com/office/drawing/2014/main" id="{4D3BCF15-D6C8-46E0-AAAC-4CB3D0F256EF}"/>
              </a:ext>
            </a:extLst>
          </p:cNvPr>
          <p:cNvSpPr>
            <a:spLocks xmlns:a="http://schemas.openxmlformats.org/drawingml/2006/main" noGrp="1"/>
          </p:cNvSpPr>
          <p:nvPr/>
        </p:nvSpPr>
        <p:spPr>
          <a:xfrm xmlns:a="http://schemas.openxmlformats.org/drawingml/2006/main">
            <a:off x="2771775" y="233362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Fortran</a:t>
            </a:r>
          </a:p>
        </p:txBody>
      </p:sp>
      <p:sp>
        <p:nvSpPr>
          <p:cNvPr id="4" name="text-4">
            <a:extLst xmlns:a="http://schemas.openxmlformats.org/drawingml/2006/main">
              <a:ext uri="{FF2B5EF4-FFF2-40B4-BE49-F238E27FC236}">
                <a16:creationId xmlns:a16="http://schemas.microsoft.com/office/drawing/2014/main" id="{83466B9B-2388-4A42-AB70-C1A7F9394C0E}"/>
              </a:ext>
            </a:extLst>
          </p:cNvPr>
          <p:cNvSpPr>
            <a:spLocks xmlns:a="http://schemas.openxmlformats.org/drawingml/2006/main" noGrp="1"/>
          </p:cNvSpPr>
          <p:nvPr/>
        </p:nvSpPr>
        <p:spPr>
          <a:xfrm xmlns:a="http://schemas.openxmlformats.org/drawingml/2006/main">
            <a:off x="2771775" y="2800350"/>
            <a:ext cx="7800975"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An implementation may use copy-in / copy-out</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when an argument requires a temporary.</a:t>
            </a:r>
          </a:p>
        </p:txBody>
      </p:sp>
      <p:sp>
        <p:nvSpPr>
          <p:cNvPr id="5" name="text-5">
            <a:extLst xmlns:a="http://schemas.openxmlformats.org/drawingml/2006/main">
              <a:ext uri="{FF2B5EF4-FFF2-40B4-BE49-F238E27FC236}">
                <a16:creationId xmlns:a16="http://schemas.microsoft.com/office/drawing/2014/main" id="{88F97BA5-5248-4518-8E99-0C06D8427E70}"/>
              </a:ext>
            </a:extLst>
          </p:cNvPr>
          <p:cNvSpPr>
            <a:spLocks xmlns:a="http://schemas.openxmlformats.org/drawingml/2006/main" noGrp="1"/>
          </p:cNvSpPr>
          <p:nvPr/>
        </p:nvSpPr>
        <p:spPr>
          <a:xfrm xmlns:a="http://schemas.openxmlformats.org/drawingml/2006/main">
            <a:off x="2771775" y="3943350"/>
            <a:ext cx="78009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This is not the rule for every Fortran argument.</a:t>
            </a:r>
          </a:p>
        </p:txBody>
      </p:sp>
      <p:sp>
        <p:nvSpPr>
          <p:cNvPr id="6" name="text-6">
            <a:extLst xmlns:a="http://schemas.openxmlformats.org/drawingml/2006/main">
              <a:ext uri="{FF2B5EF4-FFF2-40B4-BE49-F238E27FC236}">
                <a16:creationId xmlns:a16="http://schemas.microsoft.com/office/drawing/2014/main" id="{118359E8-D986-4E50-9B2B-03B75E57B88A}"/>
              </a:ext>
            </a:extLst>
          </p:cNvPr>
          <p:cNvSpPr>
            <a:spLocks xmlns:a="http://schemas.openxmlformats.org/drawingml/2006/main" noGrp="1"/>
          </p:cNvSpPr>
          <p:nvPr/>
        </p:nvSpPr>
        <p:spPr>
          <a:xfrm xmlns:a="http://schemas.openxmlformats.org/drawingml/2006/main">
            <a:off x="2771775" y="5286375"/>
            <a:ext cx="78009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 direct language example: Ada in out parameters</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of by-copy types use separate parameter storage.</a:t>
            </a:r>
          </a:p>
        </p:txBody>
      </p:sp>
    </p:spTree>
    <p:extLst>
      <p:ext uri="{BB962C8B-B14F-4D97-AF65-F5344CB8AC3E}">
        <p14:creationId xmlns:p14="http://schemas.microsoft.com/office/powerpoint/2010/main" val="184156827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AA64E9F-3261-4E96-9588-A801A4822E7B}"/>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Pass-by-Reference</a:t>
            </a:r>
          </a:p>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(In-Out Mode)</a:t>
            </a:r>
          </a:p>
        </p:txBody>
      </p:sp>
      <p:sp>
        <p:nvSpPr>
          <p:cNvPr id="2" name="slide-number">
            <a:extLst xmlns:a="http://schemas.openxmlformats.org/drawingml/2006/main">
              <a:ext uri="{FF2B5EF4-FFF2-40B4-BE49-F238E27FC236}">
                <a16:creationId xmlns:a16="http://schemas.microsoft.com/office/drawing/2014/main" id="{498AAA27-D372-4623-982B-8321B0AD9840}"/>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21</a:t>
            </a:r>
          </a:p>
        </p:txBody>
      </p:sp>
      <p:sp>
        <p:nvSpPr>
          <p:cNvPr id="3" name="text-3">
            <a:extLst xmlns:a="http://schemas.openxmlformats.org/drawingml/2006/main">
              <a:ext uri="{FF2B5EF4-FFF2-40B4-BE49-F238E27FC236}">
                <a16:creationId xmlns:a16="http://schemas.microsoft.com/office/drawing/2014/main" id="{36D5FFAA-4CB7-40A2-9737-C5017871A320}"/>
              </a:ext>
            </a:extLst>
          </p:cNvPr>
          <p:cNvSpPr>
            <a:spLocks xmlns:a="http://schemas.openxmlformats.org/drawingml/2006/main" noGrp="1"/>
          </p:cNvSpPr>
          <p:nvPr/>
        </p:nvSpPr>
        <p:spPr>
          <a:xfrm xmlns:a="http://schemas.openxmlformats.org/drawingml/2006/main">
            <a:off x="2771775" y="2028825"/>
            <a:ext cx="78009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The formal parameter aliases the caller’s variable,</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commonly through an address or other access path.</a:t>
            </a:r>
          </a:p>
        </p:txBody>
      </p:sp>
      <p:sp>
        <p:nvSpPr>
          <p:cNvPr id="4" name="text-4">
            <a:extLst xmlns:a="http://schemas.openxmlformats.org/drawingml/2006/main">
              <a:ext uri="{FF2B5EF4-FFF2-40B4-BE49-F238E27FC236}">
                <a16:creationId xmlns:a16="http://schemas.microsoft.com/office/drawing/2014/main" id="{8AF44518-84D8-429A-9721-89572DF3AA68}"/>
              </a:ext>
            </a:extLst>
          </p:cNvPr>
          <p:cNvSpPr>
            <a:spLocks xmlns:a="http://schemas.openxmlformats.org/drawingml/2006/main" noGrp="1"/>
          </p:cNvSpPr>
          <p:nvPr/>
        </p:nvSpPr>
        <p:spPr>
          <a:xfrm xmlns:a="http://schemas.openxmlformats.org/drawingml/2006/main">
            <a:off x="2771775" y="320992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Advantages</a:t>
            </a:r>
          </a:p>
        </p:txBody>
      </p:sp>
      <p:sp>
        <p:nvSpPr>
          <p:cNvPr id="5" name="text-5">
            <a:extLst xmlns:a="http://schemas.openxmlformats.org/drawingml/2006/main">
              <a:ext uri="{FF2B5EF4-FFF2-40B4-BE49-F238E27FC236}">
                <a16:creationId xmlns:a16="http://schemas.microsoft.com/office/drawing/2014/main" id="{9AF827B0-5B43-483B-A37B-262EC60D5640}"/>
              </a:ext>
            </a:extLst>
          </p:cNvPr>
          <p:cNvSpPr>
            <a:spLocks xmlns:a="http://schemas.openxmlformats.org/drawingml/2006/main" noGrp="1"/>
          </p:cNvSpPr>
          <p:nvPr/>
        </p:nvSpPr>
        <p:spPr>
          <a:xfrm xmlns:a="http://schemas.openxmlformats.org/drawingml/2006/main">
            <a:off x="2771775" y="3648075"/>
            <a:ext cx="78009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Can avoid copying a large argument.</a:t>
            </a:r>
          </a:p>
        </p:txBody>
      </p:sp>
      <p:sp>
        <p:nvSpPr>
          <p:cNvPr id="6" name="text-6">
            <a:extLst xmlns:a="http://schemas.openxmlformats.org/drawingml/2006/main">
              <a:ext uri="{FF2B5EF4-FFF2-40B4-BE49-F238E27FC236}">
                <a16:creationId xmlns:a16="http://schemas.microsoft.com/office/drawing/2014/main" id="{A7C64D7F-63D6-4AE9-93AE-FB55C867A431}"/>
              </a:ext>
            </a:extLst>
          </p:cNvPr>
          <p:cNvSpPr>
            <a:spLocks xmlns:a="http://schemas.openxmlformats.org/drawingml/2006/main" noGrp="1"/>
          </p:cNvSpPr>
          <p:nvPr/>
        </p:nvSpPr>
        <p:spPr>
          <a:xfrm xmlns:a="http://schemas.openxmlformats.org/drawingml/2006/main">
            <a:off x="2771775" y="434340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Disadvantages</a:t>
            </a:r>
          </a:p>
        </p:txBody>
      </p:sp>
      <p:sp>
        <p:nvSpPr>
          <p:cNvPr id="7" name="text-7">
            <a:extLst xmlns:a="http://schemas.openxmlformats.org/drawingml/2006/main">
              <a:ext uri="{FF2B5EF4-FFF2-40B4-BE49-F238E27FC236}">
                <a16:creationId xmlns:a16="http://schemas.microsoft.com/office/drawing/2014/main" id="{8357C515-2A59-4620-BB1E-1C54419DC81C}"/>
              </a:ext>
            </a:extLst>
          </p:cNvPr>
          <p:cNvSpPr>
            <a:spLocks xmlns:a="http://schemas.openxmlformats.org/drawingml/2006/main" noGrp="1"/>
          </p:cNvSpPr>
          <p:nvPr/>
        </p:nvSpPr>
        <p:spPr>
          <a:xfrm xmlns:a="http://schemas.openxmlformats.org/drawingml/2006/main">
            <a:off x="2771775" y="4810125"/>
            <a:ext cx="78009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Updates through the formal can affect the caller.</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Aliasing can make effects harder to follow.</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Indirection and aliases can affect optimization.</a:t>
            </a:r>
          </a:p>
        </p:txBody>
      </p:sp>
    </p:spTree>
    <p:extLst>
      <p:ext uri="{BB962C8B-B14F-4D97-AF65-F5344CB8AC3E}">
        <p14:creationId xmlns:p14="http://schemas.microsoft.com/office/powerpoint/2010/main" val="45243924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7E75205-AEB4-4AA5-A15A-1486AA2B153B}"/>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Pass-by-Reference</a:t>
            </a:r>
          </a:p>
        </p:txBody>
      </p:sp>
      <p:sp>
        <p:nvSpPr>
          <p:cNvPr id="2" name="slide-number">
            <a:extLst xmlns:a="http://schemas.openxmlformats.org/drawingml/2006/main">
              <a:ext uri="{FF2B5EF4-FFF2-40B4-BE49-F238E27FC236}">
                <a16:creationId xmlns:a16="http://schemas.microsoft.com/office/drawing/2014/main" id="{8A9CF42D-ABAE-45E8-BA60-B15CDFA3CC8A}"/>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22</a:t>
            </a:r>
          </a:p>
        </p:txBody>
      </p:sp>
      <p:sp>
        <p:nvSpPr>
          <p:cNvPr id="3" name="text-3">
            <a:extLst xmlns:a="http://schemas.openxmlformats.org/drawingml/2006/main">
              <a:ext uri="{FF2B5EF4-FFF2-40B4-BE49-F238E27FC236}">
                <a16:creationId xmlns:a16="http://schemas.microsoft.com/office/drawing/2014/main" id="{8F2CD50A-6498-4D45-9A4F-D69777A04A5F}"/>
              </a:ext>
            </a:extLst>
          </p:cNvPr>
          <p:cNvSpPr>
            <a:spLocks xmlns:a="http://schemas.openxmlformats.org/drawingml/2006/main" noGrp="1"/>
          </p:cNvSpPr>
          <p:nvPr/>
        </p:nvSpPr>
        <p:spPr>
          <a:xfrm xmlns:a="http://schemas.openxmlformats.org/drawingml/2006/main">
            <a:off x="2771775" y="1933575"/>
            <a:ext cx="78009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C++: &amp; declares a reference parameter.</a:t>
            </a:r>
          </a:p>
        </p:txBody>
      </p:sp>
      <p:sp>
        <p:nvSpPr>
          <p:cNvPr id="4" name="text-4">
            <a:extLst xmlns:a="http://schemas.openxmlformats.org/drawingml/2006/main">
              <a:ext uri="{FF2B5EF4-FFF2-40B4-BE49-F238E27FC236}">
                <a16:creationId xmlns:a16="http://schemas.microsoft.com/office/drawing/2014/main" id="{3E371C8C-860F-4D18-A468-05C900BE9B52}"/>
              </a:ext>
            </a:extLst>
          </p:cNvPr>
          <p:cNvSpPr>
            <a:spLocks xmlns:a="http://schemas.openxmlformats.org/drawingml/2006/main" noGrp="1"/>
          </p:cNvSpPr>
          <p:nvPr/>
        </p:nvSpPr>
        <p:spPr>
          <a:xfrm xmlns:a="http://schemas.openxmlformats.org/drawingml/2006/main">
            <a:off x="2686050" y="2543175"/>
            <a:ext cx="5381625" cy="31432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800" b="0" i="0">
                <a:solidFill>
                  <a:srgbClr val="FFFFFF"/>
                </a:solidFill>
                <a:latin typeface="Courier New"/>
                <a:ea typeface="Courier New"/>
                <a:cs typeface="Courier New"/>
              </a:defRPr>
            </a:defPPr>
            <a:lvl1pPr algn="l">
              <a:defRPr sz="1800" b="0" i="0">
                <a:solidFill>
                  <a:srgbClr val="FFFFFF"/>
                </a:solidFill>
                <a:latin typeface="Courier New"/>
                <a:ea typeface="Courier New"/>
                <a:cs typeface="Courier New"/>
              </a:defRPr>
            </a:lvl1pPr>
            <a:lvl2pPr algn="l">
              <a:defRPr sz="1800" b="0" i="0">
                <a:solidFill>
                  <a:srgbClr val="FFFFFF"/>
                </a:solidFill>
                <a:latin typeface="Courier New"/>
                <a:ea typeface="Courier New"/>
                <a:cs typeface="Courier New"/>
              </a:defRPr>
            </a:lvl2pPr>
            <a:lvl3pPr algn="l">
              <a:defRPr sz="1800" b="0" i="0">
                <a:solidFill>
                  <a:srgbClr val="FFFFFF"/>
                </a:solidFill>
                <a:latin typeface="Courier New"/>
                <a:ea typeface="Courier New"/>
                <a:cs typeface="Courier New"/>
              </a:defRPr>
            </a:lvl3pPr>
            <a:lvl4pPr algn="l">
              <a:defRPr sz="1800" b="0" i="0">
                <a:solidFill>
                  <a:srgbClr val="FFFFFF"/>
                </a:solidFill>
                <a:latin typeface="Courier New"/>
                <a:ea typeface="Courier New"/>
                <a:cs typeface="Courier New"/>
              </a:defRPr>
            </a:lvl4pPr>
            <a:lvl5pPr algn="l">
              <a:defRPr sz="1800" b="0" i="0">
                <a:solidFill>
                  <a:srgbClr val="FFFFFF"/>
                </a:solidFill>
                <a:latin typeface="Courier New"/>
                <a:ea typeface="Courier New"/>
                <a:cs typeface="Courier New"/>
              </a:defRPr>
            </a:lvl5pPr>
            <a:lvl6pPr algn="l">
              <a:defRPr sz="1800" b="0" i="0">
                <a:solidFill>
                  <a:srgbClr val="FFFFFF"/>
                </a:solidFill>
                <a:latin typeface="Courier New"/>
                <a:ea typeface="Courier New"/>
                <a:cs typeface="Courier New"/>
              </a:defRPr>
            </a:lvl6pPr>
            <a:lvl7pPr algn="l">
              <a:defRPr sz="1800" b="0" i="0">
                <a:solidFill>
                  <a:srgbClr val="FFFFFF"/>
                </a:solidFill>
                <a:latin typeface="Courier New"/>
                <a:ea typeface="Courier New"/>
                <a:cs typeface="Courier New"/>
              </a:defRPr>
            </a:lvl7pPr>
            <a:lvl8pPr algn="l">
              <a:defRPr sz="1800" b="0" i="0">
                <a:solidFill>
                  <a:srgbClr val="FFFFFF"/>
                </a:solidFill>
                <a:latin typeface="Courier New"/>
                <a:ea typeface="Courier New"/>
                <a:cs typeface="Courier New"/>
              </a:defRPr>
            </a:lvl8pPr>
            <a:lvl9pPr algn="l">
              <a:defRPr sz="1800" b="0" i="0">
                <a:solidFill>
                  <a:srgbClr val="FFFFFF"/>
                </a:solidFill>
                <a:latin typeface="Courier New"/>
                <a:ea typeface="Courier New"/>
                <a:cs typeface="Courier New"/>
              </a:defRPr>
            </a:lvl9pPr>
          </a:lstStyle>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void by_reference(int&amp; x)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int y = x;</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x = y + 4;</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int y = 3;</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by_reference(y);</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y = 7</a:t>
            </a:r>
          </a:p>
        </p:txBody>
      </p:sp>
      <p:sp>
        <p:nvSpPr>
          <p:cNvPr id="5" name="text-5">
            <a:extLst xmlns:a="http://schemas.openxmlformats.org/drawingml/2006/main">
              <a:ext uri="{FF2B5EF4-FFF2-40B4-BE49-F238E27FC236}">
                <a16:creationId xmlns:a16="http://schemas.microsoft.com/office/drawing/2014/main" id="{4E93CE1C-E881-4685-84A2-E99A23A89710}"/>
              </a:ext>
            </a:extLst>
          </p:cNvPr>
          <p:cNvSpPr>
            <a:spLocks xmlns:a="http://schemas.openxmlformats.org/drawingml/2006/main" noGrp="1"/>
          </p:cNvSpPr>
          <p:nvPr/>
        </p:nvSpPr>
        <p:spPr>
          <a:xfrm xmlns:a="http://schemas.openxmlformats.org/drawingml/2006/main">
            <a:off x="8334375" y="2695575"/>
            <a:ext cx="2238375" cy="2886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C5FAEB"/>
                </a:solidFill>
                <a:latin typeface="Times New Roman"/>
                <a:ea typeface="Times New Roman"/>
                <a:cs typeface="Times New Roman"/>
              </a:defRPr>
            </a:defPPr>
            <a:lvl1pPr algn="l">
              <a:defRPr sz="2000" b="0" i="0">
                <a:solidFill>
                  <a:srgbClr val="C5FAEB"/>
                </a:solidFill>
                <a:latin typeface="Times New Roman"/>
                <a:ea typeface="Times New Roman"/>
                <a:cs typeface="Times New Roman"/>
              </a:defRPr>
            </a:lvl1pPr>
            <a:lvl2pPr algn="l">
              <a:defRPr sz="2000" b="0" i="0">
                <a:solidFill>
                  <a:srgbClr val="C5FAEB"/>
                </a:solidFill>
                <a:latin typeface="Times New Roman"/>
                <a:ea typeface="Times New Roman"/>
                <a:cs typeface="Times New Roman"/>
              </a:defRPr>
            </a:lvl2pPr>
            <a:lvl3pPr algn="l">
              <a:defRPr sz="2000" b="0" i="0">
                <a:solidFill>
                  <a:srgbClr val="C5FAEB"/>
                </a:solidFill>
                <a:latin typeface="Times New Roman"/>
                <a:ea typeface="Times New Roman"/>
                <a:cs typeface="Times New Roman"/>
              </a:defRPr>
            </a:lvl3pPr>
            <a:lvl4pPr algn="l">
              <a:defRPr sz="2000" b="0" i="0">
                <a:solidFill>
                  <a:srgbClr val="C5FAEB"/>
                </a:solidFill>
                <a:latin typeface="Times New Roman"/>
                <a:ea typeface="Times New Roman"/>
                <a:cs typeface="Times New Roman"/>
              </a:defRPr>
            </a:lvl4pPr>
            <a:lvl5pPr algn="l">
              <a:defRPr sz="2000" b="0" i="0">
                <a:solidFill>
                  <a:srgbClr val="C5FAEB"/>
                </a:solidFill>
                <a:latin typeface="Times New Roman"/>
                <a:ea typeface="Times New Roman"/>
                <a:cs typeface="Times New Roman"/>
              </a:defRPr>
            </a:lvl5pPr>
            <a:lvl6pPr algn="l">
              <a:defRPr sz="2000" b="0" i="0">
                <a:solidFill>
                  <a:srgbClr val="C5FAEB"/>
                </a:solidFill>
                <a:latin typeface="Times New Roman"/>
                <a:ea typeface="Times New Roman"/>
                <a:cs typeface="Times New Roman"/>
              </a:defRPr>
            </a:lvl6pPr>
            <a:lvl7pPr algn="l">
              <a:defRPr sz="2000" b="0" i="0">
                <a:solidFill>
                  <a:srgbClr val="C5FAEB"/>
                </a:solidFill>
                <a:latin typeface="Times New Roman"/>
                <a:ea typeface="Times New Roman"/>
                <a:cs typeface="Times New Roman"/>
              </a:defRPr>
            </a:lvl7pPr>
            <a:lvl8pPr algn="l">
              <a:defRPr sz="2000" b="0" i="0">
                <a:solidFill>
                  <a:srgbClr val="C5FAEB"/>
                </a:solidFill>
                <a:latin typeface="Times New Roman"/>
                <a:ea typeface="Times New Roman"/>
                <a:cs typeface="Times New Roman"/>
              </a:defRPr>
            </a:lvl8pPr>
            <a:lvl9pPr algn="l">
              <a:defRPr sz="2000" b="0" i="0">
                <a:solidFill>
                  <a:srgbClr val="C5FAEB"/>
                </a:solidFill>
                <a:latin typeface="Times New Roman"/>
                <a:ea typeface="Times New Roman"/>
                <a:cs typeface="Times New Roman"/>
              </a:defRPr>
            </a:lvl9pPr>
          </a:lstStyle>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x aliases caller y.</a:t>
            </a:r>
          </a:p>
          <a:p xmlns:a="http://schemas.openxmlformats.org/drawingml/2006/main">
            <a:r>
              <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The assignment</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x = y + 4</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changes caller y</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immediately.</a:t>
            </a:r>
          </a:p>
          <a:p xmlns:a="http://schemas.openxmlformats.org/drawingml/2006/main">
            <a:r>
              <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Local y is separate.</a:t>
            </a:r>
          </a:p>
        </p:txBody>
      </p:sp>
    </p:spTree>
    <p:extLst>
      <p:ext uri="{BB962C8B-B14F-4D97-AF65-F5344CB8AC3E}">
        <p14:creationId xmlns:p14="http://schemas.microsoft.com/office/powerpoint/2010/main" val="61036816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FE23AAA-C47E-49DA-8EAA-30A7867AC227}"/>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Reference Passing and Sharing</a:t>
            </a:r>
          </a:p>
        </p:txBody>
      </p:sp>
      <p:sp>
        <p:nvSpPr>
          <p:cNvPr id="2" name="slide-number">
            <a:extLst xmlns:a="http://schemas.openxmlformats.org/drawingml/2006/main">
              <a:ext uri="{FF2B5EF4-FFF2-40B4-BE49-F238E27FC236}">
                <a16:creationId xmlns:a16="http://schemas.microsoft.com/office/drawing/2014/main" id="{F354157A-1249-4583-A8F7-C0CA9F73E5B3}"/>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23</a:t>
            </a:r>
          </a:p>
        </p:txBody>
      </p:sp>
      <p:sp>
        <p:nvSpPr>
          <p:cNvPr id="3" name="text-3">
            <a:extLst xmlns:a="http://schemas.openxmlformats.org/drawingml/2006/main">
              <a:ext uri="{FF2B5EF4-FFF2-40B4-BE49-F238E27FC236}">
                <a16:creationId xmlns:a16="http://schemas.microsoft.com/office/drawing/2014/main" id="{18B1A312-C6A5-4157-807B-015327B23966}"/>
              </a:ext>
            </a:extLst>
          </p:cNvPr>
          <p:cNvSpPr>
            <a:spLocks xmlns:a="http://schemas.openxmlformats.org/drawingml/2006/main" noGrp="1"/>
          </p:cNvSpPr>
          <p:nvPr/>
        </p:nvSpPr>
        <p:spPr>
          <a:xfrm xmlns:a="http://schemas.openxmlformats.org/drawingml/2006/main">
            <a:off x="2771775" y="202882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True variable references</a:t>
            </a:r>
          </a:p>
        </p:txBody>
      </p:sp>
      <p:sp>
        <p:nvSpPr>
          <p:cNvPr id="4" name="text-4">
            <a:extLst xmlns:a="http://schemas.openxmlformats.org/drawingml/2006/main">
              <a:ext uri="{FF2B5EF4-FFF2-40B4-BE49-F238E27FC236}">
                <a16:creationId xmlns:a16="http://schemas.microsoft.com/office/drawing/2014/main" id="{B5D94231-AC8A-4F4B-A297-F9EE2A04FC8A}"/>
              </a:ext>
            </a:extLst>
          </p:cNvPr>
          <p:cNvSpPr>
            <a:spLocks xmlns:a="http://schemas.openxmlformats.org/drawingml/2006/main" noGrp="1"/>
          </p:cNvSpPr>
          <p:nvPr/>
        </p:nvSpPr>
        <p:spPr>
          <a:xfrm xmlns:a="http://schemas.openxmlformats.org/drawingml/2006/main">
            <a:off x="2771775" y="2533650"/>
            <a:ext cx="78009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 reference parameters use &amp;.</a:t>
            </a:r>
          </a:p>
        </p:txBody>
      </p:sp>
      <p:sp>
        <p:nvSpPr>
          <p:cNvPr id="5" name="text-5">
            <a:extLst xmlns:a="http://schemas.openxmlformats.org/drawingml/2006/main">
              <a:ext uri="{FF2B5EF4-FFF2-40B4-BE49-F238E27FC236}">
                <a16:creationId xmlns:a16="http://schemas.microsoft.com/office/drawing/2014/main" id="{DA2C0144-2C14-4FC6-8C5E-26C535BE7809}"/>
              </a:ext>
            </a:extLst>
          </p:cNvPr>
          <p:cNvSpPr>
            <a:spLocks xmlns:a="http://schemas.openxmlformats.org/drawingml/2006/main" noGrp="1"/>
          </p:cNvSpPr>
          <p:nvPr/>
        </p:nvSpPr>
        <p:spPr>
          <a:xfrm xmlns:a="http://schemas.openxmlformats.org/drawingml/2006/main">
            <a:off x="2771775" y="3200400"/>
            <a:ext cx="78009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 ref and out pass variables by reference.</a:t>
            </a:r>
          </a:p>
        </p:txBody>
      </p:sp>
      <p:sp>
        <p:nvSpPr>
          <p:cNvPr id="6" name="text-6">
            <a:extLst xmlns:a="http://schemas.openxmlformats.org/drawingml/2006/main">
              <a:ext uri="{FF2B5EF4-FFF2-40B4-BE49-F238E27FC236}">
                <a16:creationId xmlns:a16="http://schemas.microsoft.com/office/drawing/2014/main" id="{9E69111B-FA1C-484F-860D-66062C630DE4}"/>
              </a:ext>
            </a:extLst>
          </p:cNvPr>
          <p:cNvSpPr>
            <a:spLocks xmlns:a="http://schemas.openxmlformats.org/drawingml/2006/main" noGrp="1"/>
          </p:cNvSpPr>
          <p:nvPr/>
        </p:nvSpPr>
        <p:spPr>
          <a:xfrm xmlns:a="http://schemas.openxmlformats.org/drawingml/2006/main">
            <a:off x="2771775" y="414337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Shared objects</a:t>
            </a:r>
          </a:p>
        </p:txBody>
      </p:sp>
      <p:sp>
        <p:nvSpPr>
          <p:cNvPr id="7" name="text-7">
            <a:extLst xmlns:a="http://schemas.openxmlformats.org/drawingml/2006/main">
              <a:ext uri="{FF2B5EF4-FFF2-40B4-BE49-F238E27FC236}">
                <a16:creationId xmlns:a16="http://schemas.microsoft.com/office/drawing/2014/main" id="{FCF320CD-A332-44B5-8431-57D9FCD7A282}"/>
              </a:ext>
            </a:extLst>
          </p:cNvPr>
          <p:cNvSpPr>
            <a:spLocks xmlns:a="http://schemas.openxmlformats.org/drawingml/2006/main" noGrp="1"/>
          </p:cNvSpPr>
          <p:nvPr/>
        </p:nvSpPr>
        <p:spPr>
          <a:xfrm xmlns:a="http://schemas.openxmlformats.org/drawingml/2006/main">
            <a:off x="2771775" y="4600575"/>
            <a:ext cx="78009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Java passes object references by value.</a:t>
            </a:r>
          </a:p>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Python binds parameters to the same objects.</a:t>
            </a:r>
          </a:p>
        </p:txBody>
      </p:sp>
      <p:sp>
        <p:nvSpPr>
          <p:cNvPr id="8" name="text-8">
            <a:extLst xmlns:a="http://schemas.openxmlformats.org/drawingml/2006/main">
              <a:ext uri="{FF2B5EF4-FFF2-40B4-BE49-F238E27FC236}">
                <a16:creationId xmlns:a16="http://schemas.microsoft.com/office/drawing/2014/main" id="{CE2E2B78-1A02-4326-ACB0-E738C9FF67E6}"/>
              </a:ext>
            </a:extLst>
          </p:cNvPr>
          <p:cNvSpPr>
            <a:spLocks xmlns:a="http://schemas.openxmlformats.org/drawingml/2006/main" noGrp="1"/>
          </p:cNvSpPr>
          <p:nvPr/>
        </p:nvSpPr>
        <p:spPr>
          <a:xfrm xmlns:a="http://schemas.openxmlformats.org/drawingml/2006/main">
            <a:off x="2771775" y="5715000"/>
            <a:ext cx="78009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Mutation may be visible to the caller; rebinding</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 parameter does not rebind the caller’s variable.</a:t>
            </a:r>
          </a:p>
        </p:txBody>
      </p:sp>
    </p:spTree>
    <p:extLst>
      <p:ext uri="{BB962C8B-B14F-4D97-AF65-F5344CB8AC3E}">
        <p14:creationId xmlns:p14="http://schemas.microsoft.com/office/powerpoint/2010/main" val="131028246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3683DAF-10E5-4484-84DB-104384C0F889}"/>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Pass-by-Name</a:t>
            </a:r>
          </a:p>
        </p:txBody>
      </p:sp>
      <p:sp>
        <p:nvSpPr>
          <p:cNvPr id="2" name="slide-number">
            <a:extLst xmlns:a="http://schemas.openxmlformats.org/drawingml/2006/main">
              <a:ext uri="{FF2B5EF4-FFF2-40B4-BE49-F238E27FC236}">
                <a16:creationId xmlns:a16="http://schemas.microsoft.com/office/drawing/2014/main" id="{DD202734-3631-44A4-BB8B-D60B3EB433FC}"/>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24</a:t>
            </a:r>
          </a:p>
        </p:txBody>
      </p:sp>
      <p:sp>
        <p:nvSpPr>
          <p:cNvPr id="3" name="text-3">
            <a:extLst xmlns:a="http://schemas.openxmlformats.org/drawingml/2006/main">
              <a:ext uri="{FF2B5EF4-FFF2-40B4-BE49-F238E27FC236}">
                <a16:creationId xmlns:a16="http://schemas.microsoft.com/office/drawing/2014/main" id="{CA324745-525B-4CB6-BAB8-E3B64EFE2DA1}"/>
              </a:ext>
            </a:extLst>
          </p:cNvPr>
          <p:cNvSpPr>
            <a:spLocks xmlns:a="http://schemas.openxmlformats.org/drawingml/2006/main" noGrp="1"/>
          </p:cNvSpPr>
          <p:nvPr/>
        </p:nvSpPr>
        <p:spPr>
          <a:xfrm xmlns:a="http://schemas.openxmlformats.org/drawingml/2006/main">
            <a:off x="2771775" y="1933575"/>
            <a:ext cx="7800975"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At the call, bind the formal to the actual expression</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and its referencing environment.</a:t>
            </a:r>
          </a:p>
        </p:txBody>
      </p:sp>
      <p:sp>
        <p:nvSpPr>
          <p:cNvPr id="4" name="text-4">
            <a:extLst xmlns:a="http://schemas.openxmlformats.org/drawingml/2006/main">
              <a:ext uri="{FF2B5EF4-FFF2-40B4-BE49-F238E27FC236}">
                <a16:creationId xmlns:a16="http://schemas.microsoft.com/office/drawing/2014/main" id="{2C66775F-4635-4862-8170-C10574A1021D}"/>
              </a:ext>
            </a:extLst>
          </p:cNvPr>
          <p:cNvSpPr>
            <a:spLocks xmlns:a="http://schemas.openxmlformats.org/drawingml/2006/main" noGrp="1"/>
          </p:cNvSpPr>
          <p:nvPr/>
        </p:nvSpPr>
        <p:spPr>
          <a:xfrm xmlns:a="http://schemas.openxmlformats.org/drawingml/2006/main">
            <a:off x="2771775" y="2981325"/>
            <a:ext cx="78009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04800" indent="-198120" algn="l">
              <a:spcAft>
                <a:spcPts val="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Evaluate that expression whenever the formal is used.</a:t>
            </a:r>
          </a:p>
        </p:txBody>
      </p:sp>
      <p:sp>
        <p:nvSpPr>
          <p:cNvPr id="5" name="text-5">
            <a:extLst xmlns:a="http://schemas.openxmlformats.org/drawingml/2006/main">
              <a:ext uri="{FF2B5EF4-FFF2-40B4-BE49-F238E27FC236}">
                <a16:creationId xmlns:a16="http://schemas.microsoft.com/office/drawing/2014/main" id="{331095FC-849F-4D08-9A7A-9BCA0AF22ABC}"/>
              </a:ext>
            </a:extLst>
          </p:cNvPr>
          <p:cNvSpPr>
            <a:spLocks xmlns:a="http://schemas.openxmlformats.org/drawingml/2006/main" noGrp="1"/>
          </p:cNvSpPr>
          <p:nvPr/>
        </p:nvSpPr>
        <p:spPr>
          <a:xfrm xmlns:a="http://schemas.openxmlformats.org/drawingml/2006/main">
            <a:off x="2771775" y="389572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Advantages</a:t>
            </a:r>
          </a:p>
        </p:txBody>
      </p:sp>
      <p:sp>
        <p:nvSpPr>
          <p:cNvPr id="6" name="text-6">
            <a:extLst xmlns:a="http://schemas.openxmlformats.org/drawingml/2006/main">
              <a:ext uri="{FF2B5EF4-FFF2-40B4-BE49-F238E27FC236}">
                <a16:creationId xmlns:a16="http://schemas.microsoft.com/office/drawing/2014/main" id="{F3FA2972-774F-4565-A9EB-44773D860CA6}"/>
              </a:ext>
            </a:extLst>
          </p:cNvPr>
          <p:cNvSpPr>
            <a:spLocks xmlns:a="http://schemas.openxmlformats.org/drawingml/2006/main" noGrp="1"/>
          </p:cNvSpPr>
          <p:nvPr/>
        </p:nvSpPr>
        <p:spPr>
          <a:xfrm xmlns:a="http://schemas.openxmlformats.org/drawingml/2006/main">
            <a:off x="2771775" y="4324350"/>
            <a:ext cx="78009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Delayed evaluation and flexible parameter expressions.</a:t>
            </a:r>
          </a:p>
        </p:txBody>
      </p:sp>
      <p:sp>
        <p:nvSpPr>
          <p:cNvPr id="7" name="text-7">
            <a:extLst xmlns:a="http://schemas.openxmlformats.org/drawingml/2006/main">
              <a:ext uri="{FF2B5EF4-FFF2-40B4-BE49-F238E27FC236}">
                <a16:creationId xmlns:a16="http://schemas.microsoft.com/office/drawing/2014/main" id="{7949932E-5759-48D8-9B7C-453DF2FD5FD9}"/>
              </a:ext>
            </a:extLst>
          </p:cNvPr>
          <p:cNvSpPr>
            <a:spLocks xmlns:a="http://schemas.openxmlformats.org/drawingml/2006/main" noGrp="1"/>
          </p:cNvSpPr>
          <p:nvPr/>
        </p:nvSpPr>
        <p:spPr>
          <a:xfrm xmlns:a="http://schemas.openxmlformats.org/drawingml/2006/main">
            <a:off x="2771775" y="485775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Disadvantages</a:t>
            </a:r>
          </a:p>
        </p:txBody>
      </p:sp>
      <p:sp>
        <p:nvSpPr>
          <p:cNvPr id="8" name="text-8">
            <a:extLst xmlns:a="http://schemas.openxmlformats.org/drawingml/2006/main">
              <a:ext uri="{FF2B5EF4-FFF2-40B4-BE49-F238E27FC236}">
                <a16:creationId xmlns:a16="http://schemas.microsoft.com/office/drawing/2014/main" id="{9CB06873-A94D-4787-822D-EFBC5260D166}"/>
              </a:ext>
            </a:extLst>
          </p:cNvPr>
          <p:cNvSpPr>
            <a:spLocks xmlns:a="http://schemas.openxmlformats.org/drawingml/2006/main" noGrp="1"/>
          </p:cNvSpPr>
          <p:nvPr/>
        </p:nvSpPr>
        <p:spPr>
          <a:xfrm xmlns:a="http://schemas.openxmlformats.org/drawingml/2006/main">
            <a:off x="2771775" y="5276850"/>
            <a:ext cx="78009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Repeated evaluation and side effects can be hard to trace.</a:t>
            </a:r>
          </a:p>
        </p:txBody>
      </p:sp>
      <p:sp>
        <p:nvSpPr>
          <p:cNvPr id="9" name="text-9">
            <a:extLst xmlns:a="http://schemas.openxmlformats.org/drawingml/2006/main">
              <a:ext uri="{FF2B5EF4-FFF2-40B4-BE49-F238E27FC236}">
                <a16:creationId xmlns:a16="http://schemas.microsoft.com/office/drawing/2014/main" id="{F86E2DEB-DE60-4BF8-8BDD-F4A1A1DDAA5E}"/>
              </a:ext>
            </a:extLst>
          </p:cNvPr>
          <p:cNvSpPr>
            <a:spLocks xmlns:a="http://schemas.openxmlformats.org/drawingml/2006/main" noGrp="1"/>
          </p:cNvSpPr>
          <p:nvPr/>
        </p:nvSpPr>
        <p:spPr>
          <a:xfrm xmlns:a="http://schemas.openxmlformats.org/drawingml/2006/main">
            <a:off x="2771775" y="5829300"/>
            <a:ext cx="78009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C5FAEB"/>
                </a:solidFill>
                <a:latin typeface="Times New Roman"/>
                <a:ea typeface="Times New Roman"/>
                <a:cs typeface="Times New Roman"/>
              </a:defRPr>
            </a:defPPr>
            <a:lvl1pPr algn="l">
              <a:defRPr sz="1800" b="0" i="0">
                <a:solidFill>
                  <a:srgbClr val="C5FAEB"/>
                </a:solidFill>
                <a:latin typeface="Times New Roman"/>
                <a:ea typeface="Times New Roman"/>
                <a:cs typeface="Times New Roman"/>
              </a:defRPr>
            </a:lvl1pPr>
            <a:lvl2pPr algn="l">
              <a:defRPr sz="1800" b="0" i="0">
                <a:solidFill>
                  <a:srgbClr val="C5FAEB"/>
                </a:solidFill>
                <a:latin typeface="Times New Roman"/>
                <a:ea typeface="Times New Roman"/>
                <a:cs typeface="Times New Roman"/>
              </a:defRPr>
            </a:lvl2pPr>
            <a:lvl3pPr algn="l">
              <a:defRPr sz="1800" b="0" i="0">
                <a:solidFill>
                  <a:srgbClr val="C5FAEB"/>
                </a:solidFill>
                <a:latin typeface="Times New Roman"/>
                <a:ea typeface="Times New Roman"/>
                <a:cs typeface="Times New Roman"/>
              </a:defRPr>
            </a:lvl3pPr>
            <a:lvl4pPr algn="l">
              <a:defRPr sz="1800" b="0" i="0">
                <a:solidFill>
                  <a:srgbClr val="C5FAEB"/>
                </a:solidFill>
                <a:latin typeface="Times New Roman"/>
                <a:ea typeface="Times New Roman"/>
                <a:cs typeface="Times New Roman"/>
              </a:defRPr>
            </a:lvl4pPr>
            <a:lvl5pPr algn="l">
              <a:defRPr sz="1800" b="0" i="0">
                <a:solidFill>
                  <a:srgbClr val="C5FAEB"/>
                </a:solidFill>
                <a:latin typeface="Times New Roman"/>
                <a:ea typeface="Times New Roman"/>
                <a:cs typeface="Times New Roman"/>
              </a:defRPr>
            </a:lvl5pPr>
            <a:lvl6pPr algn="l">
              <a:defRPr sz="1800" b="0" i="0">
                <a:solidFill>
                  <a:srgbClr val="C5FAEB"/>
                </a:solidFill>
                <a:latin typeface="Times New Roman"/>
                <a:ea typeface="Times New Roman"/>
                <a:cs typeface="Times New Roman"/>
              </a:defRPr>
            </a:lvl6pPr>
            <a:lvl7pPr algn="l">
              <a:defRPr sz="1800" b="0" i="0">
                <a:solidFill>
                  <a:srgbClr val="C5FAEB"/>
                </a:solidFill>
                <a:latin typeface="Times New Roman"/>
                <a:ea typeface="Times New Roman"/>
                <a:cs typeface="Times New Roman"/>
              </a:defRPr>
            </a:lvl7pPr>
            <a:lvl8pPr algn="l">
              <a:defRPr sz="1800" b="0" i="0">
                <a:solidFill>
                  <a:srgbClr val="C5FAEB"/>
                </a:solidFill>
                <a:latin typeface="Times New Roman"/>
                <a:ea typeface="Times New Roman"/>
                <a:cs typeface="Times New Roman"/>
              </a:defRPr>
            </a:lvl8pPr>
            <a:lvl9pPr algn="l">
              <a:defRPr sz="1800" b="0" i="0">
                <a:solidFill>
                  <a:srgbClr val="C5FAEB"/>
                </a:solidFill>
                <a:latin typeface="Times New Roman"/>
                <a:ea typeface="Times New Roman"/>
                <a:cs typeface="Times New Roman"/>
              </a:defRPr>
            </a:lvl9pPr>
          </a:lstStyle>
          <a:p xmlns:a="http://schemas.openxmlformats.org/drawingml/2006/main">
            <a:pPr algn="l">
              <a:lnSpc>
                <a:spcPct val="106000"/>
              </a:lnSpc>
              <a:buNone/>
              <a:defRPr sz="1800" b="0" i="0">
                <a:solidFill>
                  <a:srgbClr val="C5FAEB"/>
                </a:solidFill>
                <a:latin typeface="Times New Roman"/>
                <a:ea typeface="Times New Roman"/>
                <a:cs typeface="Times New Roman"/>
              </a:defRPr>
            </a:pPr>
            <a:r>
              <a:rPr sz="1800" b="0" i="0">
                <a:solidFill>
                  <a:srgbClr val="C5FAEB"/>
                </a:solidFill>
                <a:latin typeface="Times New Roman"/>
                <a:ea typeface="Times New Roman"/>
                <a:cs typeface="Times New Roman"/>
              </a:rPr>
              <a:t>ALGOL 60 supports call-by-name. Assignment through</a:t>
            </a:r>
          </a:p>
          <a:p xmlns:a="http://schemas.openxmlformats.org/drawingml/2006/main">
            <a:pPr algn="l">
              <a:lnSpc>
                <a:spcPct val="106000"/>
              </a:lnSpc>
              <a:buNone/>
              <a:defRPr sz="1800" b="0" i="0">
                <a:solidFill>
                  <a:srgbClr val="C5FAEB"/>
                </a:solidFill>
                <a:latin typeface="Times New Roman"/>
                <a:ea typeface="Times New Roman"/>
                <a:cs typeface="Times New Roman"/>
              </a:defRPr>
            </a:pPr>
            <a:r>
              <a:rPr sz="1800" b="0" i="0">
                <a:solidFill>
                  <a:srgbClr val="C5FAEB"/>
                </a:solidFill>
                <a:latin typeface="Times New Roman"/>
                <a:ea typeface="Times New Roman"/>
                <a:cs typeface="Times New Roman"/>
              </a:rPr>
              <a:t>a name parameter requires an assignable argument.</a:t>
            </a:r>
          </a:p>
        </p:txBody>
      </p:sp>
    </p:spTree>
    <p:extLst>
      <p:ext uri="{BB962C8B-B14F-4D97-AF65-F5344CB8AC3E}">
        <p14:creationId xmlns:p14="http://schemas.microsoft.com/office/powerpoint/2010/main" val="161534798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E2D5966-7986-43E9-A806-FAF86FE53C91}"/>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Pass-by-Name (Jensen’s Device)</a:t>
            </a:r>
          </a:p>
        </p:txBody>
      </p:sp>
      <p:sp>
        <p:nvSpPr>
          <p:cNvPr id="2" name="slide-number">
            <a:extLst xmlns:a="http://schemas.openxmlformats.org/drawingml/2006/main">
              <a:ext uri="{FF2B5EF4-FFF2-40B4-BE49-F238E27FC236}">
                <a16:creationId xmlns:a16="http://schemas.microsoft.com/office/drawing/2014/main" id="{7728976E-2FEF-4DEB-8E5E-33714AC5C409}"/>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25</a:t>
            </a:r>
          </a:p>
        </p:txBody>
      </p:sp>
      <p:sp>
        <p:nvSpPr>
          <p:cNvPr id="3" name="text-3">
            <a:extLst xmlns:a="http://schemas.openxmlformats.org/drawingml/2006/main">
              <a:ext uri="{FF2B5EF4-FFF2-40B4-BE49-F238E27FC236}">
                <a16:creationId xmlns:a16="http://schemas.microsoft.com/office/drawing/2014/main" id="{69D2CC67-A71E-4CB6-AD98-412A2FD06AB9}"/>
              </a:ext>
            </a:extLst>
          </p:cNvPr>
          <p:cNvSpPr>
            <a:spLocks xmlns:a="http://schemas.openxmlformats.org/drawingml/2006/main" noGrp="1"/>
          </p:cNvSpPr>
          <p:nvPr/>
        </p:nvSpPr>
        <p:spPr>
          <a:xfrm xmlns:a="http://schemas.openxmlformats.org/drawingml/2006/main">
            <a:off x="2771775" y="1866900"/>
            <a:ext cx="78009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GNU C macro illustration</a:t>
            </a:r>
          </a:p>
        </p:txBody>
      </p:sp>
      <p:sp>
        <p:nvSpPr>
          <p:cNvPr id="4" name="text-4">
            <a:extLst xmlns:a="http://schemas.openxmlformats.org/drawingml/2006/main">
              <a:ext uri="{FF2B5EF4-FFF2-40B4-BE49-F238E27FC236}">
                <a16:creationId xmlns:a16="http://schemas.microsoft.com/office/drawing/2014/main" id="{598E2BCF-1520-489B-B832-E60AA1CA176A}"/>
              </a:ext>
            </a:extLst>
          </p:cNvPr>
          <p:cNvSpPr>
            <a:spLocks xmlns:a="http://schemas.openxmlformats.org/drawingml/2006/main" noGrp="1"/>
          </p:cNvSpPr>
          <p:nvPr/>
        </p:nvSpPr>
        <p:spPr>
          <a:xfrm xmlns:a="http://schemas.openxmlformats.org/drawingml/2006/main">
            <a:off x="2686050" y="2352675"/>
            <a:ext cx="8058150" cy="31337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800" b="0" i="0">
                <a:solidFill>
                  <a:srgbClr val="FFFFFF"/>
                </a:solidFill>
                <a:latin typeface="Courier New"/>
                <a:ea typeface="Courier New"/>
                <a:cs typeface="Courier New"/>
              </a:defRPr>
            </a:defPPr>
            <a:lvl1pPr algn="l">
              <a:defRPr sz="1800" b="0" i="0">
                <a:solidFill>
                  <a:srgbClr val="FFFFFF"/>
                </a:solidFill>
                <a:latin typeface="Courier New"/>
                <a:ea typeface="Courier New"/>
                <a:cs typeface="Courier New"/>
              </a:defRPr>
            </a:lvl1pPr>
            <a:lvl2pPr algn="l">
              <a:defRPr sz="1800" b="0" i="0">
                <a:solidFill>
                  <a:srgbClr val="FFFFFF"/>
                </a:solidFill>
                <a:latin typeface="Courier New"/>
                <a:ea typeface="Courier New"/>
                <a:cs typeface="Courier New"/>
              </a:defRPr>
            </a:lvl2pPr>
            <a:lvl3pPr algn="l">
              <a:defRPr sz="1800" b="0" i="0">
                <a:solidFill>
                  <a:srgbClr val="FFFFFF"/>
                </a:solidFill>
                <a:latin typeface="Courier New"/>
                <a:ea typeface="Courier New"/>
                <a:cs typeface="Courier New"/>
              </a:defRPr>
            </a:lvl3pPr>
            <a:lvl4pPr algn="l">
              <a:defRPr sz="1800" b="0" i="0">
                <a:solidFill>
                  <a:srgbClr val="FFFFFF"/>
                </a:solidFill>
                <a:latin typeface="Courier New"/>
                <a:ea typeface="Courier New"/>
                <a:cs typeface="Courier New"/>
              </a:defRPr>
            </a:lvl4pPr>
            <a:lvl5pPr algn="l">
              <a:defRPr sz="1800" b="0" i="0">
                <a:solidFill>
                  <a:srgbClr val="FFFFFF"/>
                </a:solidFill>
                <a:latin typeface="Courier New"/>
                <a:ea typeface="Courier New"/>
                <a:cs typeface="Courier New"/>
              </a:defRPr>
            </a:lvl5pPr>
            <a:lvl6pPr algn="l">
              <a:defRPr sz="1800" b="0" i="0">
                <a:solidFill>
                  <a:srgbClr val="FFFFFF"/>
                </a:solidFill>
                <a:latin typeface="Courier New"/>
                <a:ea typeface="Courier New"/>
                <a:cs typeface="Courier New"/>
              </a:defRPr>
            </a:lvl6pPr>
            <a:lvl7pPr algn="l">
              <a:defRPr sz="1800" b="0" i="0">
                <a:solidFill>
                  <a:srgbClr val="FFFFFF"/>
                </a:solidFill>
                <a:latin typeface="Courier New"/>
                <a:ea typeface="Courier New"/>
                <a:cs typeface="Courier New"/>
              </a:defRPr>
            </a:lvl7pPr>
            <a:lvl8pPr algn="l">
              <a:defRPr sz="1800" b="0" i="0">
                <a:solidFill>
                  <a:srgbClr val="FFFFFF"/>
                </a:solidFill>
                <a:latin typeface="Courier New"/>
                <a:ea typeface="Courier New"/>
                <a:cs typeface="Courier New"/>
              </a:defRPr>
            </a:lvl8pPr>
            <a:lvl9pPr algn="l">
              <a:defRPr sz="1800" b="0" i="0">
                <a:solidFill>
                  <a:srgbClr val="FFFFFF"/>
                </a:solidFill>
                <a:latin typeface="Courier New"/>
                <a:ea typeface="Courier New"/>
                <a:cs typeface="Courier New"/>
              </a:defRPr>
            </a:lvl9pPr>
          </a:lstStyle>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#define SUM(Type, Var, Low, High, Term)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int low = (Low);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int high = (High);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Type sum = (Type)0;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for (int Var = low; Var &lt;= high; ++Var) {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sum += (Term);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sum;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a:t>
            </a:r>
          </a:p>
        </p:txBody>
      </p:sp>
      <p:sp>
        <p:nvSpPr>
          <p:cNvPr id="5" name="text-5">
            <a:extLst xmlns:a="http://schemas.openxmlformats.org/drawingml/2006/main">
              <a:ext uri="{FF2B5EF4-FFF2-40B4-BE49-F238E27FC236}">
                <a16:creationId xmlns:a16="http://schemas.microsoft.com/office/drawing/2014/main" id="{E27C950F-376C-4ED1-BF12-E656BB7015B7}"/>
              </a:ext>
            </a:extLst>
          </p:cNvPr>
          <p:cNvSpPr>
            <a:spLocks xmlns:a="http://schemas.openxmlformats.org/drawingml/2006/main" noGrp="1"/>
          </p:cNvSpPr>
          <p:nvPr/>
        </p:nvSpPr>
        <p:spPr>
          <a:xfrm xmlns:a="http://schemas.openxmlformats.org/drawingml/2006/main">
            <a:off x="2771775" y="5657850"/>
            <a:ext cx="78009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Term is evaluated again on each iteration.</a:t>
            </a:r>
          </a:p>
        </p:txBody>
      </p:sp>
      <p:sp>
        <p:nvSpPr>
          <p:cNvPr id="6" name="text-6">
            <a:extLst xmlns:a="http://schemas.openxmlformats.org/drawingml/2006/main">
              <a:ext uri="{FF2B5EF4-FFF2-40B4-BE49-F238E27FC236}">
                <a16:creationId xmlns:a16="http://schemas.microsoft.com/office/drawing/2014/main" id="{317B96E6-0C32-4A61-8E36-BA4709509C44}"/>
              </a:ext>
            </a:extLst>
          </p:cNvPr>
          <p:cNvSpPr>
            <a:spLocks xmlns:a="http://schemas.openxmlformats.org/drawingml/2006/main" noGrp="1"/>
          </p:cNvSpPr>
          <p:nvPr/>
        </p:nvSpPr>
        <p:spPr>
          <a:xfrm xmlns:a="http://schemas.openxmlformats.org/drawingml/2006/main">
            <a:off x="2771775" y="6191250"/>
            <a:ext cx="7800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C5FAEB"/>
                </a:solidFill>
                <a:latin typeface="Times New Roman"/>
                <a:ea typeface="Times New Roman"/>
                <a:cs typeface="Times New Roman"/>
              </a:defRPr>
            </a:defPPr>
            <a:lvl1pPr algn="l">
              <a:defRPr sz="1800" b="0" i="0">
                <a:solidFill>
                  <a:srgbClr val="C5FAEB"/>
                </a:solidFill>
                <a:latin typeface="Times New Roman"/>
                <a:ea typeface="Times New Roman"/>
                <a:cs typeface="Times New Roman"/>
              </a:defRPr>
            </a:lvl1pPr>
            <a:lvl2pPr algn="l">
              <a:defRPr sz="1800" b="0" i="0">
                <a:solidFill>
                  <a:srgbClr val="C5FAEB"/>
                </a:solidFill>
                <a:latin typeface="Times New Roman"/>
                <a:ea typeface="Times New Roman"/>
                <a:cs typeface="Times New Roman"/>
              </a:defRPr>
            </a:lvl2pPr>
            <a:lvl3pPr algn="l">
              <a:defRPr sz="1800" b="0" i="0">
                <a:solidFill>
                  <a:srgbClr val="C5FAEB"/>
                </a:solidFill>
                <a:latin typeface="Times New Roman"/>
                <a:ea typeface="Times New Roman"/>
                <a:cs typeface="Times New Roman"/>
              </a:defRPr>
            </a:lvl3pPr>
            <a:lvl4pPr algn="l">
              <a:defRPr sz="1800" b="0" i="0">
                <a:solidFill>
                  <a:srgbClr val="C5FAEB"/>
                </a:solidFill>
                <a:latin typeface="Times New Roman"/>
                <a:ea typeface="Times New Roman"/>
                <a:cs typeface="Times New Roman"/>
              </a:defRPr>
            </a:lvl4pPr>
            <a:lvl5pPr algn="l">
              <a:defRPr sz="1800" b="0" i="0">
                <a:solidFill>
                  <a:srgbClr val="C5FAEB"/>
                </a:solidFill>
                <a:latin typeface="Times New Roman"/>
                <a:ea typeface="Times New Roman"/>
                <a:cs typeface="Times New Roman"/>
              </a:defRPr>
            </a:lvl5pPr>
            <a:lvl6pPr algn="l">
              <a:defRPr sz="1800" b="0" i="0">
                <a:solidFill>
                  <a:srgbClr val="C5FAEB"/>
                </a:solidFill>
                <a:latin typeface="Times New Roman"/>
                <a:ea typeface="Times New Roman"/>
                <a:cs typeface="Times New Roman"/>
              </a:defRPr>
            </a:lvl6pPr>
            <a:lvl7pPr algn="l">
              <a:defRPr sz="1800" b="0" i="0">
                <a:solidFill>
                  <a:srgbClr val="C5FAEB"/>
                </a:solidFill>
                <a:latin typeface="Times New Roman"/>
                <a:ea typeface="Times New Roman"/>
                <a:cs typeface="Times New Roman"/>
              </a:defRPr>
            </a:lvl7pPr>
            <a:lvl8pPr algn="l">
              <a:defRPr sz="1800" b="0" i="0">
                <a:solidFill>
                  <a:srgbClr val="C5FAEB"/>
                </a:solidFill>
                <a:latin typeface="Times New Roman"/>
                <a:ea typeface="Times New Roman"/>
                <a:cs typeface="Times New Roman"/>
              </a:defRPr>
            </a:lvl8pPr>
            <a:lvl9pPr algn="l">
              <a:defRPr sz="1800" b="0" i="0">
                <a:solidFill>
                  <a:srgbClr val="C5FAEB"/>
                </a:solidFill>
                <a:latin typeface="Times New Roman"/>
                <a:ea typeface="Times New Roman"/>
                <a:cs typeface="Times New Roman"/>
              </a:defRPr>
            </a:lvl9pPr>
          </a:lstStyle>
          <a:p xmlns:a="http://schemas.openxmlformats.org/drawingml/2006/main">
            <a:pPr algn="l">
              <a:lnSpc>
                <a:spcPct val="106000"/>
              </a:lnSpc>
              <a:buNone/>
              <a:defRPr sz="1800" b="0" i="0">
                <a:solidFill>
                  <a:srgbClr val="C5FAEB"/>
                </a:solidFill>
                <a:latin typeface="Times New Roman"/>
                <a:ea typeface="Times New Roman"/>
                <a:cs typeface="Times New Roman"/>
              </a:defRPr>
            </a:pPr>
            <a:r>
              <a:rPr sz="1800" b="0" i="0">
                <a:solidFill>
                  <a:srgbClr val="C5FAEB"/>
                </a:solidFill>
                <a:latin typeface="Times New Roman"/>
                <a:ea typeface="Times New Roman"/>
                <a:cs typeface="Times New Roman"/>
              </a:rPr>
              <a:t>({ ... }) is a GNU extension. Macro names can capture identifiers.</a:t>
            </a:r>
          </a:p>
        </p:txBody>
      </p:sp>
    </p:spTree>
    <p:extLst>
      <p:ext uri="{BB962C8B-B14F-4D97-AF65-F5344CB8AC3E}">
        <p14:creationId xmlns:p14="http://schemas.microsoft.com/office/powerpoint/2010/main" val="88054840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6B1F679-210D-463D-8BB8-5A345515CD7B}"/>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Pass-by-Name (Jensen’s Device)</a:t>
            </a:r>
          </a:p>
        </p:txBody>
      </p:sp>
      <p:sp>
        <p:nvSpPr>
          <p:cNvPr id="2" name="slide-number">
            <a:extLst xmlns:a="http://schemas.openxmlformats.org/drawingml/2006/main">
              <a:ext uri="{FF2B5EF4-FFF2-40B4-BE49-F238E27FC236}">
                <a16:creationId xmlns:a16="http://schemas.microsoft.com/office/drawing/2014/main" id="{AE7FB62C-C85B-442A-99AF-DC9890FB1DD2}"/>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26</a:t>
            </a:r>
          </a:p>
        </p:txBody>
      </p:sp>
      <p:sp>
        <p:nvSpPr>
          <p:cNvPr id="3" name="text-3">
            <a:extLst xmlns:a="http://schemas.openxmlformats.org/drawingml/2006/main">
              <a:ext uri="{FF2B5EF4-FFF2-40B4-BE49-F238E27FC236}">
                <a16:creationId xmlns:a16="http://schemas.microsoft.com/office/drawing/2014/main" id="{122BB805-E372-4192-A2A0-EFF37941EBAB}"/>
              </a:ext>
            </a:extLst>
          </p:cNvPr>
          <p:cNvSpPr>
            <a:spLocks xmlns:a="http://schemas.openxmlformats.org/drawingml/2006/main" noGrp="1"/>
          </p:cNvSpPr>
          <p:nvPr/>
        </p:nvSpPr>
        <p:spPr>
          <a:xfrm xmlns:a="http://schemas.openxmlformats.org/drawingml/2006/main">
            <a:off x="2686050" y="1847850"/>
            <a:ext cx="8058150" cy="5810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800" b="0" i="0">
                <a:solidFill>
                  <a:srgbClr val="FFFFFF"/>
                </a:solidFill>
                <a:latin typeface="Courier New"/>
                <a:ea typeface="Courier New"/>
                <a:cs typeface="Courier New"/>
              </a:defRPr>
            </a:defPPr>
            <a:lvl1pPr algn="l">
              <a:defRPr sz="1800" b="0" i="0">
                <a:solidFill>
                  <a:srgbClr val="FFFFFF"/>
                </a:solidFill>
                <a:latin typeface="Courier New"/>
                <a:ea typeface="Courier New"/>
                <a:cs typeface="Courier New"/>
              </a:defRPr>
            </a:lvl1pPr>
            <a:lvl2pPr algn="l">
              <a:defRPr sz="1800" b="0" i="0">
                <a:solidFill>
                  <a:srgbClr val="FFFFFF"/>
                </a:solidFill>
                <a:latin typeface="Courier New"/>
                <a:ea typeface="Courier New"/>
                <a:cs typeface="Courier New"/>
              </a:defRPr>
            </a:lvl2pPr>
            <a:lvl3pPr algn="l">
              <a:defRPr sz="1800" b="0" i="0">
                <a:solidFill>
                  <a:srgbClr val="FFFFFF"/>
                </a:solidFill>
                <a:latin typeface="Courier New"/>
                <a:ea typeface="Courier New"/>
                <a:cs typeface="Courier New"/>
              </a:defRPr>
            </a:lvl3pPr>
            <a:lvl4pPr algn="l">
              <a:defRPr sz="1800" b="0" i="0">
                <a:solidFill>
                  <a:srgbClr val="FFFFFF"/>
                </a:solidFill>
                <a:latin typeface="Courier New"/>
                <a:ea typeface="Courier New"/>
                <a:cs typeface="Courier New"/>
              </a:defRPr>
            </a:lvl4pPr>
            <a:lvl5pPr algn="l">
              <a:defRPr sz="1800" b="0" i="0">
                <a:solidFill>
                  <a:srgbClr val="FFFFFF"/>
                </a:solidFill>
                <a:latin typeface="Courier New"/>
                <a:ea typeface="Courier New"/>
                <a:cs typeface="Courier New"/>
              </a:defRPr>
            </a:lvl5pPr>
            <a:lvl6pPr algn="l">
              <a:defRPr sz="1800" b="0" i="0">
                <a:solidFill>
                  <a:srgbClr val="FFFFFF"/>
                </a:solidFill>
                <a:latin typeface="Courier New"/>
                <a:ea typeface="Courier New"/>
                <a:cs typeface="Courier New"/>
              </a:defRPr>
            </a:lvl6pPr>
            <a:lvl7pPr algn="l">
              <a:defRPr sz="1800" b="0" i="0">
                <a:solidFill>
                  <a:srgbClr val="FFFFFF"/>
                </a:solidFill>
                <a:latin typeface="Courier New"/>
                <a:ea typeface="Courier New"/>
                <a:cs typeface="Courier New"/>
              </a:defRPr>
            </a:lvl7pPr>
            <a:lvl8pPr algn="l">
              <a:defRPr sz="1800" b="0" i="0">
                <a:solidFill>
                  <a:srgbClr val="FFFFFF"/>
                </a:solidFill>
                <a:latin typeface="Courier New"/>
                <a:ea typeface="Courier New"/>
                <a:cs typeface="Courier New"/>
              </a:defRPr>
            </a:lvl8pPr>
            <a:lvl9pPr algn="l">
              <a:defRPr sz="1800" b="0" i="0">
                <a:solidFill>
                  <a:srgbClr val="FFFFFF"/>
                </a:solidFill>
                <a:latin typeface="Courier New"/>
                <a:ea typeface="Courier New"/>
                <a:cs typeface="Courier New"/>
              </a:defRPr>
            </a:lvl9pPr>
          </a:lstStyle>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double sum = SUM(double, i, 1, 100, 1.0 / i);</a:t>
            </a:r>
          </a:p>
        </p:txBody>
      </p:sp>
      <p:sp>
        <p:nvSpPr>
          <p:cNvPr id="4" name="text-4">
            <a:extLst xmlns:a="http://schemas.openxmlformats.org/drawingml/2006/main">
              <a:ext uri="{FF2B5EF4-FFF2-40B4-BE49-F238E27FC236}">
                <a16:creationId xmlns:a16="http://schemas.microsoft.com/office/drawing/2014/main" id="{81290200-705D-4232-8B3C-28E69ED5BA65}"/>
              </a:ext>
            </a:extLst>
          </p:cNvPr>
          <p:cNvSpPr>
            <a:spLocks xmlns:a="http://schemas.openxmlformats.org/drawingml/2006/main" noGrp="1"/>
          </p:cNvSpPr>
          <p:nvPr/>
        </p:nvSpPr>
        <p:spPr>
          <a:xfrm xmlns:a="http://schemas.openxmlformats.org/drawingml/2006/main">
            <a:off x="2771775" y="255270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Expands to</a:t>
            </a:r>
          </a:p>
        </p:txBody>
      </p:sp>
      <p:sp>
        <p:nvSpPr>
          <p:cNvPr id="5" name="text-5">
            <a:extLst xmlns:a="http://schemas.openxmlformats.org/drawingml/2006/main">
              <a:ext uri="{FF2B5EF4-FFF2-40B4-BE49-F238E27FC236}">
                <a16:creationId xmlns:a16="http://schemas.microsoft.com/office/drawing/2014/main" id="{B7688589-3301-40DC-A1AC-50E2B1973AA4}"/>
              </a:ext>
            </a:extLst>
          </p:cNvPr>
          <p:cNvSpPr>
            <a:spLocks xmlns:a="http://schemas.openxmlformats.org/drawingml/2006/main" noGrp="1"/>
          </p:cNvSpPr>
          <p:nvPr/>
        </p:nvSpPr>
        <p:spPr>
          <a:xfrm xmlns:a="http://schemas.openxmlformats.org/drawingml/2006/main">
            <a:off x="2686050" y="3019425"/>
            <a:ext cx="8058150" cy="28003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800" b="0" i="0">
                <a:solidFill>
                  <a:srgbClr val="FFFFFF"/>
                </a:solidFill>
                <a:latin typeface="Courier New"/>
                <a:ea typeface="Courier New"/>
                <a:cs typeface="Courier New"/>
              </a:defRPr>
            </a:defPPr>
            <a:lvl1pPr algn="l">
              <a:defRPr sz="1800" b="0" i="0">
                <a:solidFill>
                  <a:srgbClr val="FFFFFF"/>
                </a:solidFill>
                <a:latin typeface="Courier New"/>
                <a:ea typeface="Courier New"/>
                <a:cs typeface="Courier New"/>
              </a:defRPr>
            </a:lvl1pPr>
            <a:lvl2pPr algn="l">
              <a:defRPr sz="1800" b="0" i="0">
                <a:solidFill>
                  <a:srgbClr val="FFFFFF"/>
                </a:solidFill>
                <a:latin typeface="Courier New"/>
                <a:ea typeface="Courier New"/>
                <a:cs typeface="Courier New"/>
              </a:defRPr>
            </a:lvl2pPr>
            <a:lvl3pPr algn="l">
              <a:defRPr sz="1800" b="0" i="0">
                <a:solidFill>
                  <a:srgbClr val="FFFFFF"/>
                </a:solidFill>
                <a:latin typeface="Courier New"/>
                <a:ea typeface="Courier New"/>
                <a:cs typeface="Courier New"/>
              </a:defRPr>
            </a:lvl3pPr>
            <a:lvl4pPr algn="l">
              <a:defRPr sz="1800" b="0" i="0">
                <a:solidFill>
                  <a:srgbClr val="FFFFFF"/>
                </a:solidFill>
                <a:latin typeface="Courier New"/>
                <a:ea typeface="Courier New"/>
                <a:cs typeface="Courier New"/>
              </a:defRPr>
            </a:lvl4pPr>
            <a:lvl5pPr algn="l">
              <a:defRPr sz="1800" b="0" i="0">
                <a:solidFill>
                  <a:srgbClr val="FFFFFF"/>
                </a:solidFill>
                <a:latin typeface="Courier New"/>
                <a:ea typeface="Courier New"/>
                <a:cs typeface="Courier New"/>
              </a:defRPr>
            </a:lvl5pPr>
            <a:lvl6pPr algn="l">
              <a:defRPr sz="1800" b="0" i="0">
                <a:solidFill>
                  <a:srgbClr val="FFFFFF"/>
                </a:solidFill>
                <a:latin typeface="Courier New"/>
                <a:ea typeface="Courier New"/>
                <a:cs typeface="Courier New"/>
              </a:defRPr>
            </a:lvl6pPr>
            <a:lvl7pPr algn="l">
              <a:defRPr sz="1800" b="0" i="0">
                <a:solidFill>
                  <a:srgbClr val="FFFFFF"/>
                </a:solidFill>
                <a:latin typeface="Courier New"/>
                <a:ea typeface="Courier New"/>
                <a:cs typeface="Courier New"/>
              </a:defRPr>
            </a:lvl7pPr>
            <a:lvl8pPr algn="l">
              <a:defRPr sz="1800" b="0" i="0">
                <a:solidFill>
                  <a:srgbClr val="FFFFFF"/>
                </a:solidFill>
                <a:latin typeface="Courier New"/>
                <a:ea typeface="Courier New"/>
                <a:cs typeface="Courier New"/>
              </a:defRPr>
            </a:lvl8pPr>
            <a:lvl9pPr algn="l">
              <a:defRPr sz="1800" b="0" i="0">
                <a:solidFill>
                  <a:srgbClr val="FFFFFF"/>
                </a:solidFill>
                <a:latin typeface="Courier New"/>
                <a:ea typeface="Courier New"/>
                <a:cs typeface="Courier New"/>
              </a:defRPr>
            </a:lvl9pPr>
          </a:lstStyle>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double sum =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int low = 1;</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int high = 100;</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double sum = (double)0;</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for (int i = low; i &lt;= high; ++i)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sum += (1.0 / i);</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sum;</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a:t>
            </a:r>
          </a:p>
        </p:txBody>
      </p:sp>
      <p:sp>
        <p:nvSpPr>
          <p:cNvPr id="6" name="text-6">
            <a:extLst xmlns:a="http://schemas.openxmlformats.org/drawingml/2006/main">
              <a:ext uri="{FF2B5EF4-FFF2-40B4-BE49-F238E27FC236}">
                <a16:creationId xmlns:a16="http://schemas.microsoft.com/office/drawing/2014/main" id="{A524A4A5-EC26-4D3E-B3E3-CADA65D9333D}"/>
              </a:ext>
            </a:extLst>
          </p:cNvPr>
          <p:cNvSpPr>
            <a:spLocks xmlns:a="http://schemas.openxmlformats.org/drawingml/2006/main" noGrp="1"/>
          </p:cNvSpPr>
          <p:nvPr/>
        </p:nvSpPr>
        <p:spPr>
          <a:xfrm xmlns:a="http://schemas.openxmlformats.org/drawingml/2006/main">
            <a:off x="2771775" y="6029325"/>
            <a:ext cx="78009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1 + 1/2 + … + 1/100 ≈ 5.18737751764</a:t>
            </a:r>
          </a:p>
        </p:txBody>
      </p:sp>
    </p:spTree>
    <p:extLst>
      <p:ext uri="{BB962C8B-B14F-4D97-AF65-F5344CB8AC3E}">
        <p14:creationId xmlns:p14="http://schemas.microsoft.com/office/powerpoint/2010/main" val="123627039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A666B99-CED3-47F6-9843-45557F281FBC}"/>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Pass-by-Name (Jensen’s Device)</a:t>
            </a:r>
          </a:p>
        </p:txBody>
      </p:sp>
      <p:sp>
        <p:nvSpPr>
          <p:cNvPr id="2" name="slide-number">
            <a:extLst xmlns:a="http://schemas.openxmlformats.org/drawingml/2006/main">
              <a:ext uri="{FF2B5EF4-FFF2-40B4-BE49-F238E27FC236}">
                <a16:creationId xmlns:a16="http://schemas.microsoft.com/office/drawing/2014/main" id="{3A2A44CC-007F-4A0E-A243-6A8665810920}"/>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27</a:t>
            </a:r>
          </a:p>
        </p:txBody>
      </p:sp>
      <p:sp>
        <p:nvSpPr>
          <p:cNvPr id="3" name="text-3">
            <a:extLst xmlns:a="http://schemas.openxmlformats.org/drawingml/2006/main">
              <a:ext uri="{FF2B5EF4-FFF2-40B4-BE49-F238E27FC236}">
                <a16:creationId xmlns:a16="http://schemas.microsoft.com/office/drawing/2014/main" id="{7F9FD226-35A7-4241-860A-7A8FC174D52F}"/>
              </a:ext>
            </a:extLst>
          </p:cNvPr>
          <p:cNvSpPr>
            <a:spLocks xmlns:a="http://schemas.openxmlformats.org/drawingml/2006/main" noGrp="1"/>
          </p:cNvSpPr>
          <p:nvPr/>
        </p:nvSpPr>
        <p:spPr>
          <a:xfrm xmlns:a="http://schemas.openxmlformats.org/drawingml/2006/main">
            <a:off x="2686050" y="1762125"/>
            <a:ext cx="8058150" cy="7429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800" b="0" i="0">
                <a:solidFill>
                  <a:srgbClr val="FFFFFF"/>
                </a:solidFill>
                <a:latin typeface="Courier New"/>
                <a:ea typeface="Courier New"/>
                <a:cs typeface="Courier New"/>
              </a:defRPr>
            </a:defPPr>
            <a:lvl1pPr algn="l">
              <a:defRPr sz="1800" b="0" i="0">
                <a:solidFill>
                  <a:srgbClr val="FFFFFF"/>
                </a:solidFill>
                <a:latin typeface="Courier New"/>
                <a:ea typeface="Courier New"/>
                <a:cs typeface="Courier New"/>
              </a:defRPr>
            </a:lvl1pPr>
            <a:lvl2pPr algn="l">
              <a:defRPr sz="1800" b="0" i="0">
                <a:solidFill>
                  <a:srgbClr val="FFFFFF"/>
                </a:solidFill>
                <a:latin typeface="Courier New"/>
                <a:ea typeface="Courier New"/>
                <a:cs typeface="Courier New"/>
              </a:defRPr>
            </a:lvl2pPr>
            <a:lvl3pPr algn="l">
              <a:defRPr sz="1800" b="0" i="0">
                <a:solidFill>
                  <a:srgbClr val="FFFFFF"/>
                </a:solidFill>
                <a:latin typeface="Courier New"/>
                <a:ea typeface="Courier New"/>
                <a:cs typeface="Courier New"/>
              </a:defRPr>
            </a:lvl3pPr>
            <a:lvl4pPr algn="l">
              <a:defRPr sz="1800" b="0" i="0">
                <a:solidFill>
                  <a:srgbClr val="FFFFFF"/>
                </a:solidFill>
                <a:latin typeface="Courier New"/>
                <a:ea typeface="Courier New"/>
                <a:cs typeface="Courier New"/>
              </a:defRPr>
            </a:lvl4pPr>
            <a:lvl5pPr algn="l">
              <a:defRPr sz="1800" b="0" i="0">
                <a:solidFill>
                  <a:srgbClr val="FFFFFF"/>
                </a:solidFill>
                <a:latin typeface="Courier New"/>
                <a:ea typeface="Courier New"/>
                <a:cs typeface="Courier New"/>
              </a:defRPr>
            </a:lvl5pPr>
            <a:lvl6pPr algn="l">
              <a:defRPr sz="1800" b="0" i="0">
                <a:solidFill>
                  <a:srgbClr val="FFFFFF"/>
                </a:solidFill>
                <a:latin typeface="Courier New"/>
                <a:ea typeface="Courier New"/>
                <a:cs typeface="Courier New"/>
              </a:defRPr>
            </a:lvl6pPr>
            <a:lvl7pPr algn="l">
              <a:defRPr sz="1800" b="0" i="0">
                <a:solidFill>
                  <a:srgbClr val="FFFFFF"/>
                </a:solidFill>
                <a:latin typeface="Courier New"/>
                <a:ea typeface="Courier New"/>
                <a:cs typeface="Courier New"/>
              </a:defRPr>
            </a:lvl7pPr>
            <a:lvl8pPr algn="l">
              <a:defRPr sz="1800" b="0" i="0">
                <a:solidFill>
                  <a:srgbClr val="FFFFFF"/>
                </a:solidFill>
                <a:latin typeface="Courier New"/>
                <a:ea typeface="Courier New"/>
                <a:cs typeface="Courier New"/>
              </a:defRPr>
            </a:lvl8pPr>
            <a:lvl9pPr algn="l">
              <a:defRPr sz="1800" b="0" i="0">
                <a:solidFill>
                  <a:srgbClr val="FFFFFF"/>
                </a:solidFill>
                <a:latin typeface="Courier New"/>
                <a:ea typeface="Courier New"/>
                <a:cs typeface="Courier New"/>
              </a:defRPr>
            </a:lvl9pPr>
          </a:lstStyle>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double total = SUM(double, i, 1, 100,</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SUM(double, j, i, 100, i * j));</a:t>
            </a:r>
          </a:p>
        </p:txBody>
      </p:sp>
      <p:sp>
        <p:nvSpPr>
          <p:cNvPr id="4" name="text-4">
            <a:extLst xmlns:a="http://schemas.openxmlformats.org/drawingml/2006/main">
              <a:ext uri="{FF2B5EF4-FFF2-40B4-BE49-F238E27FC236}">
                <a16:creationId xmlns:a16="http://schemas.microsoft.com/office/drawing/2014/main" id="{0A202E02-2825-449A-9CC1-1B04FB8F6F17}"/>
              </a:ext>
            </a:extLst>
          </p:cNvPr>
          <p:cNvSpPr>
            <a:spLocks xmlns:a="http://schemas.openxmlformats.org/drawingml/2006/main" noGrp="1"/>
          </p:cNvSpPr>
          <p:nvPr/>
        </p:nvSpPr>
        <p:spPr>
          <a:xfrm xmlns:a="http://schemas.openxmlformats.org/drawingml/2006/main">
            <a:off x="2686050" y="2647950"/>
            <a:ext cx="5581650" cy="38195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600" b="0" i="0">
                <a:solidFill>
                  <a:srgbClr val="FFFFFF"/>
                </a:solidFill>
                <a:latin typeface="Courier New"/>
                <a:ea typeface="Courier New"/>
                <a:cs typeface="Courier New"/>
              </a:defRPr>
            </a:defPPr>
            <a:lvl1pPr algn="l">
              <a:defRPr sz="1600" b="0" i="0">
                <a:solidFill>
                  <a:srgbClr val="FFFFFF"/>
                </a:solidFill>
                <a:latin typeface="Courier New"/>
                <a:ea typeface="Courier New"/>
                <a:cs typeface="Courier New"/>
              </a:defRPr>
            </a:lvl1pPr>
            <a:lvl2pPr algn="l">
              <a:defRPr sz="1600" b="0" i="0">
                <a:solidFill>
                  <a:srgbClr val="FFFFFF"/>
                </a:solidFill>
                <a:latin typeface="Courier New"/>
                <a:ea typeface="Courier New"/>
                <a:cs typeface="Courier New"/>
              </a:defRPr>
            </a:lvl2pPr>
            <a:lvl3pPr algn="l">
              <a:defRPr sz="1600" b="0" i="0">
                <a:solidFill>
                  <a:srgbClr val="FFFFFF"/>
                </a:solidFill>
                <a:latin typeface="Courier New"/>
                <a:ea typeface="Courier New"/>
                <a:cs typeface="Courier New"/>
              </a:defRPr>
            </a:lvl3pPr>
            <a:lvl4pPr algn="l">
              <a:defRPr sz="1600" b="0" i="0">
                <a:solidFill>
                  <a:srgbClr val="FFFFFF"/>
                </a:solidFill>
                <a:latin typeface="Courier New"/>
                <a:ea typeface="Courier New"/>
                <a:cs typeface="Courier New"/>
              </a:defRPr>
            </a:lvl4pPr>
            <a:lvl5pPr algn="l">
              <a:defRPr sz="1600" b="0" i="0">
                <a:solidFill>
                  <a:srgbClr val="FFFFFF"/>
                </a:solidFill>
                <a:latin typeface="Courier New"/>
                <a:ea typeface="Courier New"/>
                <a:cs typeface="Courier New"/>
              </a:defRPr>
            </a:lvl5pPr>
            <a:lvl6pPr algn="l">
              <a:defRPr sz="1600" b="0" i="0">
                <a:solidFill>
                  <a:srgbClr val="FFFFFF"/>
                </a:solidFill>
                <a:latin typeface="Courier New"/>
                <a:ea typeface="Courier New"/>
                <a:cs typeface="Courier New"/>
              </a:defRPr>
            </a:lvl6pPr>
            <a:lvl7pPr algn="l">
              <a:defRPr sz="1600" b="0" i="0">
                <a:solidFill>
                  <a:srgbClr val="FFFFFF"/>
                </a:solidFill>
                <a:latin typeface="Courier New"/>
                <a:ea typeface="Courier New"/>
                <a:cs typeface="Courier New"/>
              </a:defRPr>
            </a:lvl7pPr>
            <a:lvl8pPr algn="l">
              <a:defRPr sz="1600" b="0" i="0">
                <a:solidFill>
                  <a:srgbClr val="FFFFFF"/>
                </a:solidFill>
                <a:latin typeface="Courier New"/>
                <a:ea typeface="Courier New"/>
                <a:cs typeface="Courier New"/>
              </a:defRPr>
            </a:lvl8pPr>
            <a:lvl9pPr algn="l">
              <a:defRPr sz="1600" b="0" i="0">
                <a:solidFill>
                  <a:srgbClr val="FFFFFF"/>
                </a:solidFill>
                <a:latin typeface="Courier New"/>
                <a:ea typeface="Courier New"/>
                <a:cs typeface="Courier New"/>
              </a:defRPr>
            </a:lvl9pPr>
          </a:lstStyle>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double total =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int low = 1, high = 100;</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double sum = (double)0;</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for (int i = low; i &lt;= high; ++i)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sum +=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int low = i, high = 100;</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double sum = (double)0;</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for (int j = low; j &lt;= high; ++j)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sum += (i * j);</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sum;</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  sum;</a:t>
            </a:r>
          </a:p>
          <a:p xmlns:a="http://schemas.openxmlformats.org/drawingml/2006/main">
            <a:pPr algn="l">
              <a:lnSpc>
                <a:spcPct val="100000"/>
              </a:lnSpc>
              <a:buNone/>
              <a:defRPr sz="1600" b="0" i="0">
                <a:solidFill>
                  <a:srgbClr val="FFFFFF"/>
                </a:solidFill>
                <a:latin typeface="Courier New"/>
                <a:ea typeface="Courier New"/>
                <a:cs typeface="Courier New"/>
              </a:defRPr>
            </a:pPr>
            <a:r>
              <a:rPr sz="1600" b="0" i="0">
                <a:solidFill>
                  <a:srgbClr val="FFFFFF"/>
                </a:solidFill>
                <a:latin typeface="Courier New"/>
                <a:ea typeface="Courier New"/>
                <a:cs typeface="Courier New"/>
              </a:rPr>
              <a:t>});</a:t>
            </a:r>
          </a:p>
        </p:txBody>
      </p:sp>
      <p:sp>
        <p:nvSpPr>
          <p:cNvPr id="5" name="text-5">
            <a:extLst xmlns:a="http://schemas.openxmlformats.org/drawingml/2006/main">
              <a:ext uri="{FF2B5EF4-FFF2-40B4-BE49-F238E27FC236}">
                <a16:creationId xmlns:a16="http://schemas.microsoft.com/office/drawing/2014/main" id="{4FFF57CA-1826-43B4-9FD5-9CE3AC982081}"/>
              </a:ext>
            </a:extLst>
          </p:cNvPr>
          <p:cNvSpPr>
            <a:spLocks xmlns:a="http://schemas.openxmlformats.org/drawingml/2006/main" noGrp="1"/>
          </p:cNvSpPr>
          <p:nvPr/>
        </p:nvSpPr>
        <p:spPr>
          <a:xfrm xmlns:a="http://schemas.openxmlformats.org/drawingml/2006/main">
            <a:off x="8515350" y="2952750"/>
            <a:ext cx="2143125"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C5FAEB"/>
                </a:solidFill>
                <a:latin typeface="Times New Roman"/>
                <a:ea typeface="Times New Roman"/>
                <a:cs typeface="Times New Roman"/>
              </a:defRPr>
            </a:defPPr>
            <a:lvl1pPr algn="l">
              <a:defRPr sz="1800" b="0" i="0">
                <a:solidFill>
                  <a:srgbClr val="C5FAEB"/>
                </a:solidFill>
                <a:latin typeface="Times New Roman"/>
                <a:ea typeface="Times New Roman"/>
                <a:cs typeface="Times New Roman"/>
              </a:defRPr>
            </a:lvl1pPr>
            <a:lvl2pPr algn="l">
              <a:defRPr sz="1800" b="0" i="0">
                <a:solidFill>
                  <a:srgbClr val="C5FAEB"/>
                </a:solidFill>
                <a:latin typeface="Times New Roman"/>
                <a:ea typeface="Times New Roman"/>
                <a:cs typeface="Times New Roman"/>
              </a:defRPr>
            </a:lvl2pPr>
            <a:lvl3pPr algn="l">
              <a:defRPr sz="1800" b="0" i="0">
                <a:solidFill>
                  <a:srgbClr val="C5FAEB"/>
                </a:solidFill>
                <a:latin typeface="Times New Roman"/>
                <a:ea typeface="Times New Roman"/>
                <a:cs typeface="Times New Roman"/>
              </a:defRPr>
            </a:lvl3pPr>
            <a:lvl4pPr algn="l">
              <a:defRPr sz="1800" b="0" i="0">
                <a:solidFill>
                  <a:srgbClr val="C5FAEB"/>
                </a:solidFill>
                <a:latin typeface="Times New Roman"/>
                <a:ea typeface="Times New Roman"/>
                <a:cs typeface="Times New Roman"/>
              </a:defRPr>
            </a:lvl4pPr>
            <a:lvl5pPr algn="l">
              <a:defRPr sz="1800" b="0" i="0">
                <a:solidFill>
                  <a:srgbClr val="C5FAEB"/>
                </a:solidFill>
                <a:latin typeface="Times New Roman"/>
                <a:ea typeface="Times New Roman"/>
                <a:cs typeface="Times New Roman"/>
              </a:defRPr>
            </a:lvl5pPr>
            <a:lvl6pPr algn="l">
              <a:defRPr sz="1800" b="0" i="0">
                <a:solidFill>
                  <a:srgbClr val="C5FAEB"/>
                </a:solidFill>
                <a:latin typeface="Times New Roman"/>
                <a:ea typeface="Times New Roman"/>
                <a:cs typeface="Times New Roman"/>
              </a:defRPr>
            </a:lvl6pPr>
            <a:lvl7pPr algn="l">
              <a:defRPr sz="1800" b="0" i="0">
                <a:solidFill>
                  <a:srgbClr val="C5FAEB"/>
                </a:solidFill>
                <a:latin typeface="Times New Roman"/>
                <a:ea typeface="Times New Roman"/>
                <a:cs typeface="Times New Roman"/>
              </a:defRPr>
            </a:lvl7pPr>
            <a:lvl8pPr algn="l">
              <a:defRPr sz="1800" b="0" i="0">
                <a:solidFill>
                  <a:srgbClr val="C5FAEB"/>
                </a:solidFill>
                <a:latin typeface="Times New Roman"/>
                <a:ea typeface="Times New Roman"/>
                <a:cs typeface="Times New Roman"/>
              </a:defRPr>
            </a:lvl8pPr>
            <a:lvl9pPr algn="l">
              <a:defRPr sz="1800" b="0" i="0">
                <a:solidFill>
                  <a:srgbClr val="C5FAEB"/>
                </a:solidFill>
                <a:latin typeface="Times New Roman"/>
                <a:ea typeface="Times New Roman"/>
                <a:cs typeface="Times New Roman"/>
              </a:defRPr>
            </a:lvl9pPr>
          </a:lstStyle>
          <a:p xmlns:a="http://schemas.openxmlformats.org/drawingml/2006/main">
            <a:pPr algn="l">
              <a:lnSpc>
                <a:spcPct val="106000"/>
              </a:lnSpc>
              <a:buNone/>
              <a:defRPr sz="1800" b="0" i="0">
                <a:solidFill>
                  <a:srgbClr val="C5FAEB"/>
                </a:solidFill>
                <a:latin typeface="Times New Roman"/>
                <a:ea typeface="Times New Roman"/>
                <a:cs typeface="Times New Roman"/>
              </a:defRPr>
            </a:pPr>
            <a:r>
              <a:rPr sz="1800" b="0" i="0">
                <a:solidFill>
                  <a:srgbClr val="C5FAEB"/>
                </a:solidFill>
                <a:latin typeface="Times New Roman"/>
                <a:ea typeface="Times New Roman"/>
                <a:cs typeface="Times New Roman"/>
              </a:rPr>
              <a:t>Result</a:t>
            </a:r>
          </a:p>
          <a:p xmlns:a="http://schemas.openxmlformats.org/drawingml/2006/main">
            <a:pPr algn="l">
              <a:lnSpc>
                <a:spcPct val="106000"/>
              </a:lnSpc>
              <a:buNone/>
              <a:defRPr sz="1800" b="0" i="0">
                <a:solidFill>
                  <a:srgbClr val="C5FAEB"/>
                </a:solidFill>
                <a:latin typeface="Times New Roman"/>
                <a:ea typeface="Times New Roman"/>
                <a:cs typeface="Times New Roman"/>
              </a:defRPr>
            </a:pPr>
            <a:r>
              <a:rPr sz="1800" b="0" i="0">
                <a:solidFill>
                  <a:srgbClr val="C5FAEB"/>
                </a:solidFill>
                <a:latin typeface="Times New Roman"/>
                <a:ea typeface="Times New Roman"/>
                <a:cs typeface="Times New Roman"/>
              </a:rPr>
              <a:t>12,920,425</a:t>
            </a:r>
          </a:p>
          <a:p xmlns:a="http://schemas.openxmlformats.org/drawingml/2006/main">
            <a:r>
              <a:t/>
            </a:r>
          </a:p>
          <a:p xmlns:a="http://schemas.openxmlformats.org/drawingml/2006/main">
            <a:pPr algn="l">
              <a:lnSpc>
                <a:spcPct val="106000"/>
              </a:lnSpc>
              <a:buNone/>
              <a:defRPr sz="1800" b="0" i="0">
                <a:solidFill>
                  <a:srgbClr val="C5FAEB"/>
                </a:solidFill>
                <a:latin typeface="Times New Roman"/>
                <a:ea typeface="Times New Roman"/>
                <a:cs typeface="Times New Roman"/>
              </a:defRPr>
            </a:pPr>
            <a:r>
              <a:rPr sz="1800" b="0" i="0">
                <a:solidFill>
                  <a:srgbClr val="C5FAEB"/>
                </a:solidFill>
                <a:latin typeface="Times New Roman"/>
                <a:ea typeface="Times New Roman"/>
                <a:cs typeface="Times New Roman"/>
              </a:rPr>
              <a:t>Try bounds 1..3</a:t>
            </a:r>
          </a:p>
          <a:p xmlns:a="http://schemas.openxmlformats.org/drawingml/2006/main">
            <a:pPr algn="l">
              <a:lnSpc>
                <a:spcPct val="106000"/>
              </a:lnSpc>
              <a:buNone/>
              <a:defRPr sz="1800" b="0" i="0">
                <a:solidFill>
                  <a:srgbClr val="C5FAEB"/>
                </a:solidFill>
                <a:latin typeface="Times New Roman"/>
                <a:ea typeface="Times New Roman"/>
                <a:cs typeface="Times New Roman"/>
              </a:defRPr>
            </a:pPr>
            <a:r>
              <a:rPr sz="1800" b="0" i="0">
                <a:solidFill>
                  <a:srgbClr val="C5FAEB"/>
                </a:solidFill>
                <a:latin typeface="Times New Roman"/>
                <a:ea typeface="Times New Roman"/>
                <a:cs typeface="Times New Roman"/>
              </a:rPr>
              <a:t>i = 1: 1+2+3 = 6</a:t>
            </a:r>
          </a:p>
          <a:p xmlns:a="http://schemas.openxmlformats.org/drawingml/2006/main">
            <a:pPr algn="l">
              <a:lnSpc>
                <a:spcPct val="106000"/>
              </a:lnSpc>
              <a:buNone/>
              <a:defRPr sz="1800" b="0" i="0">
                <a:solidFill>
                  <a:srgbClr val="C5FAEB"/>
                </a:solidFill>
                <a:latin typeface="Times New Roman"/>
                <a:ea typeface="Times New Roman"/>
                <a:cs typeface="Times New Roman"/>
              </a:defRPr>
            </a:pPr>
            <a:r>
              <a:rPr sz="1800" b="0" i="0">
                <a:solidFill>
                  <a:srgbClr val="C5FAEB"/>
                </a:solidFill>
                <a:latin typeface="Times New Roman"/>
                <a:ea typeface="Times New Roman"/>
                <a:cs typeface="Times New Roman"/>
              </a:rPr>
              <a:t>i = 2: 4+6 = 10</a:t>
            </a:r>
          </a:p>
          <a:p xmlns:a="http://schemas.openxmlformats.org/drawingml/2006/main">
            <a:pPr algn="l">
              <a:lnSpc>
                <a:spcPct val="106000"/>
              </a:lnSpc>
              <a:buNone/>
              <a:defRPr sz="1800" b="0" i="0">
                <a:solidFill>
                  <a:srgbClr val="C5FAEB"/>
                </a:solidFill>
                <a:latin typeface="Times New Roman"/>
                <a:ea typeface="Times New Roman"/>
                <a:cs typeface="Times New Roman"/>
              </a:defRPr>
            </a:pPr>
            <a:r>
              <a:rPr sz="1800" b="0" i="0">
                <a:solidFill>
                  <a:srgbClr val="C5FAEB"/>
                </a:solidFill>
                <a:latin typeface="Times New Roman"/>
                <a:ea typeface="Times New Roman"/>
                <a:cs typeface="Times New Roman"/>
              </a:rPr>
              <a:t>i = 3: 9</a:t>
            </a:r>
          </a:p>
          <a:p xmlns:a="http://schemas.openxmlformats.org/drawingml/2006/main">
            <a:r>
              <a:t/>
            </a:r>
          </a:p>
          <a:p xmlns:a="http://schemas.openxmlformats.org/drawingml/2006/main">
            <a:pPr algn="l">
              <a:lnSpc>
                <a:spcPct val="106000"/>
              </a:lnSpc>
              <a:buNone/>
              <a:defRPr sz="1800" b="0" i="0">
                <a:solidFill>
                  <a:srgbClr val="C5FAEB"/>
                </a:solidFill>
                <a:latin typeface="Times New Roman"/>
                <a:ea typeface="Times New Roman"/>
                <a:cs typeface="Times New Roman"/>
              </a:defRPr>
            </a:pPr>
            <a:r>
              <a:rPr sz="1800" b="0" i="0">
                <a:solidFill>
                  <a:srgbClr val="C5FAEB"/>
                </a:solidFill>
                <a:latin typeface="Times New Roman"/>
                <a:ea typeface="Times New Roman"/>
                <a:cs typeface="Times New Roman"/>
              </a:rPr>
              <a:t>6 + 10 + 9 = 25</a:t>
            </a:r>
          </a:p>
        </p:txBody>
      </p:sp>
    </p:spTree>
    <p:extLst>
      <p:ext uri="{BB962C8B-B14F-4D97-AF65-F5344CB8AC3E}">
        <p14:creationId xmlns:p14="http://schemas.microsoft.com/office/powerpoint/2010/main" val="93312040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section-title">
            <a:extLst xmlns:a="http://schemas.openxmlformats.org/drawingml/2006/main">
              <a:ext uri="{FF2B5EF4-FFF2-40B4-BE49-F238E27FC236}">
                <a16:creationId xmlns:a16="http://schemas.microsoft.com/office/drawing/2014/main" id="{55AA44CA-DD21-472C-A411-CDABFA344719}"/>
              </a:ext>
            </a:extLst>
          </p:cNvPr>
          <p:cNvSpPr>
            <a:spLocks xmlns:a="http://schemas.openxmlformats.org/drawingml/2006/main" noGrp="1"/>
          </p:cNvSpPr>
          <p:nvPr/>
        </p:nvSpPr>
        <p:spPr>
          <a:xfrm xmlns:a="http://schemas.openxmlformats.org/drawingml/2006/main">
            <a:off x="2609850" y="3147060"/>
            <a:ext cx="7956233" cy="1424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200" b="0" i="0">
                <a:solidFill>
                  <a:srgbClr val="FFFFFF"/>
                </a:solidFill>
                <a:latin typeface="Arial"/>
                <a:ea typeface="Arial"/>
                <a:cs typeface="Arial"/>
              </a:defRPr>
            </a:defPPr>
            <a:lvl1pPr algn="r">
              <a:defRPr sz="3200" b="0" i="0">
                <a:solidFill>
                  <a:srgbClr val="FFFFFF"/>
                </a:solidFill>
                <a:latin typeface="Arial"/>
                <a:ea typeface="Arial"/>
                <a:cs typeface="Arial"/>
              </a:defRPr>
            </a:lvl1pPr>
            <a:lvl2pPr algn="r">
              <a:defRPr sz="3200" b="0" i="0">
                <a:solidFill>
                  <a:srgbClr val="FFFFFF"/>
                </a:solidFill>
                <a:latin typeface="Arial"/>
                <a:ea typeface="Arial"/>
                <a:cs typeface="Arial"/>
              </a:defRPr>
            </a:lvl2pPr>
            <a:lvl3pPr algn="r">
              <a:defRPr sz="3200" b="0" i="0">
                <a:solidFill>
                  <a:srgbClr val="FFFFFF"/>
                </a:solidFill>
                <a:latin typeface="Arial"/>
                <a:ea typeface="Arial"/>
                <a:cs typeface="Arial"/>
              </a:defRPr>
            </a:lvl3pPr>
            <a:lvl4pPr algn="r">
              <a:defRPr sz="3200" b="0" i="0">
                <a:solidFill>
                  <a:srgbClr val="FFFFFF"/>
                </a:solidFill>
                <a:latin typeface="Arial"/>
                <a:ea typeface="Arial"/>
                <a:cs typeface="Arial"/>
              </a:defRPr>
            </a:lvl4pPr>
            <a:lvl5pPr algn="r">
              <a:defRPr sz="3200" b="0" i="0">
                <a:solidFill>
                  <a:srgbClr val="FFFFFF"/>
                </a:solidFill>
                <a:latin typeface="Arial"/>
                <a:ea typeface="Arial"/>
                <a:cs typeface="Arial"/>
              </a:defRPr>
            </a:lvl5pPr>
            <a:lvl6pPr algn="r">
              <a:defRPr sz="3200" b="0" i="0">
                <a:solidFill>
                  <a:srgbClr val="FFFFFF"/>
                </a:solidFill>
                <a:latin typeface="Arial"/>
                <a:ea typeface="Arial"/>
                <a:cs typeface="Arial"/>
              </a:defRPr>
            </a:lvl6pPr>
            <a:lvl7pPr algn="r">
              <a:defRPr sz="3200" b="0" i="0">
                <a:solidFill>
                  <a:srgbClr val="FFFFFF"/>
                </a:solidFill>
                <a:latin typeface="Arial"/>
                <a:ea typeface="Arial"/>
                <a:cs typeface="Arial"/>
              </a:defRPr>
            </a:lvl7pPr>
            <a:lvl8pPr algn="r">
              <a:defRPr sz="3200" b="0" i="0">
                <a:solidFill>
                  <a:srgbClr val="FFFFFF"/>
                </a:solidFill>
                <a:latin typeface="Arial"/>
                <a:ea typeface="Arial"/>
                <a:cs typeface="Arial"/>
              </a:defRPr>
            </a:lvl8pPr>
            <a:lvl9pPr algn="r">
              <a:defRPr sz="3200" b="0" i="0">
                <a:solidFill>
                  <a:srgbClr val="FFFFFF"/>
                </a:solidFill>
                <a:latin typeface="Arial"/>
                <a:ea typeface="Arial"/>
                <a:cs typeface="Arial"/>
              </a:defRPr>
            </a:lvl9pPr>
          </a:lstStyle>
          <a:p xmlns:a="http://schemas.openxmlformats.org/drawingml/2006/main">
            <a:pPr algn="r">
              <a:lnSpc>
                <a:spcPct val="108000"/>
              </a:lnSpc>
              <a:buNone/>
              <a:defRPr sz="3200" b="0" i="0">
                <a:solidFill>
                  <a:srgbClr val="FFFFFF"/>
                </a:solidFill>
                <a:latin typeface="Arial"/>
                <a:ea typeface="Arial"/>
                <a:cs typeface="Arial"/>
              </a:defRPr>
            </a:pPr>
            <a:r>
              <a:rPr sz="3200" b="0" i="0">
                <a:solidFill>
                  <a:srgbClr val="FFFFFF"/>
                </a:solidFill>
                <a:latin typeface="Arial"/>
                <a:ea typeface="Arial"/>
                <a:cs typeface="Arial"/>
              </a:rPr>
              <a:t>Passing Arrays</a:t>
            </a:r>
          </a:p>
          <a:p xmlns:a="http://schemas.openxmlformats.org/drawingml/2006/main">
            <a:pPr algn="r">
              <a:lnSpc>
                <a:spcPct val="108000"/>
              </a:lnSpc>
              <a:buNone/>
              <a:defRPr sz="3200" b="0" i="0">
                <a:solidFill>
                  <a:srgbClr val="FFFFFF"/>
                </a:solidFill>
                <a:latin typeface="Arial"/>
                <a:ea typeface="Arial"/>
                <a:cs typeface="Arial"/>
              </a:defRPr>
            </a:pPr>
            <a:r>
              <a:rPr sz="3200" b="0" i="0">
                <a:solidFill>
                  <a:srgbClr val="FFFFFF"/>
                </a:solidFill>
                <a:latin typeface="Arial"/>
                <a:ea typeface="Arial"/>
                <a:cs typeface="Arial"/>
              </a:rPr>
              <a:t>as Parameters</a:t>
            </a:r>
          </a:p>
        </p:txBody>
      </p:sp>
    </p:spTree>
    <p:extLst>
      <p:ext uri="{BB962C8B-B14F-4D97-AF65-F5344CB8AC3E}">
        <p14:creationId xmlns:p14="http://schemas.microsoft.com/office/powerpoint/2010/main" val="157472775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A639B40-2D50-47B1-AE4E-4CE634B5D9C8}"/>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Arrays and Collections</a:t>
            </a:r>
          </a:p>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in Other Languages</a:t>
            </a:r>
          </a:p>
        </p:txBody>
      </p:sp>
      <p:sp>
        <p:nvSpPr>
          <p:cNvPr id="2" name="slide-number">
            <a:extLst xmlns:a="http://schemas.openxmlformats.org/drawingml/2006/main">
              <a:ext uri="{FF2B5EF4-FFF2-40B4-BE49-F238E27FC236}">
                <a16:creationId xmlns:a16="http://schemas.microsoft.com/office/drawing/2014/main" id="{AF02BC92-D038-470F-9F1E-A598F99829B9}"/>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29</a:t>
            </a:r>
          </a:p>
        </p:txBody>
      </p:sp>
      <p:graphicFrame>
        <p:nvGraphicFramePr>
          <p:cNvPr id="3" name="">
            <a:extLst xmlns:a="http://schemas.openxmlformats.org/drawingml/2006/main">
              <a:ext uri="{FF2B5EF4-FFF2-40B4-BE49-F238E27FC236}">
                <a16:creationId xmlns:a16="http://schemas.microsoft.com/office/drawing/2014/main" id="{B03ABC7B-A497-4916-BF02-6C265A506535}"/>
              </a:ext>
            </a:extLst>
          </p:cNvPr>
          <p:cNvGraphicFramePr/>
          <p:nvPr/>
        </p:nvGraphicFramePr>
        <p:xfrm>
          <a:off xmlns:a="http://schemas.openxmlformats.org/drawingml/2006/main" x="2771775" y="2390775"/>
          <a:ext xmlns:a="http://schemas.openxmlformats.org/drawingml/2006/main" cx="7800975" cy="2305050"/>
        </p:xfrm>
        <a:graphic xmlns:a="http://schemas.openxmlformats.org/drawingml/2006/main">
          <a:graphicData uri="http://schemas.openxmlformats.org/drawingml/2006/table">
            <a:tbl>
              <a:tblPr firstRow="0" firstCol="0" bandRow="0"/>
              <a:tblGrid>
                <a:gridCol w="1950244"/>
                <a:gridCol w="1950244"/>
                <a:gridCol w="1950244"/>
                <a:gridCol w="1950244"/>
              </a:tblGrid>
              <a:tr h="768350">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C#</a:t>
                      </a:r>
                    </a:p>
                  </a:txBody>
                  <a:tcPr marL="91440" marR="91440" marT="45720" marB="45720" anchor="ctr">
                    <a:lnL w="9525">
                      <a:solidFill>
                        <a:srgbClr val="8EC0C1"/>
                      </a:solidFill>
                      <a:prstDash val="solid"/>
                    </a:lnL>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D</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Java</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Python</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r>
              <a:tr h="768350">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JavaScript</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Ruby</a:t>
                      </a:r>
                    </a:p>
                  </a:txBody>
                  <a:tcPr marL="91440" marR="91440" marT="45720" marB="45720" anchor="ctr">
                    <a:lnR w="9525">
                      <a:solidFill>
                        <a:srgbClr val="8EC0C1"/>
                      </a:solidFill>
                      <a:prstDash val="solid"/>
                    </a:lnR>
                    <a:lnB w="9525">
                      <a:solidFill>
                        <a:srgbClr val="8EC0C1"/>
                      </a:solidFill>
                      <a:prstDash val="solid"/>
                    </a:lnB>
                    <a:solidFill>
                      <a:srgbClr val="29423B"/>
                    </a:solidFill>
                  </a:tcPr>
                </a:tc>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Perl</a:t>
                      </a:r>
                    </a:p>
                  </a:txBody>
                  <a:tcPr marL="91440" marR="91440" marT="45720" marB="45720" anchor="ctr">
                    <a:lnR w="9525">
                      <a:solidFill>
                        <a:srgbClr val="8EC0C1"/>
                      </a:solidFill>
                      <a:prstDash val="solid"/>
                    </a:lnR>
                    <a:lnB w="9525">
                      <a:solidFill>
                        <a:srgbClr val="8EC0C1"/>
                      </a:solidFill>
                      <a:prstDash val="solid"/>
                    </a:lnB>
                    <a:solidFill>
                      <a:srgbClr val="29423B"/>
                    </a:solidFill>
                  </a:tcPr>
                </a:tc>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PHP</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r h="768350">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Lisp</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OCaml</a:t>
                      </a:r>
                    </a:p>
                  </a:txBody>
                  <a:tcPr marL="91440" marR="91440" marT="45720" marB="45720" anchor="ctr">
                    <a:lnR w="9525">
                      <a:solidFill>
                        <a:srgbClr val="8EC0C1"/>
                      </a:solidFill>
                      <a:prstDash val="solid"/>
                    </a:lnR>
                    <a:lnB w="9525">
                      <a:solidFill>
                        <a:srgbClr val="8EC0C1"/>
                      </a:solidFill>
                      <a:prstDash val="solid"/>
                    </a:lnB>
                    <a:solidFill>
                      <a:srgbClr val="29423B"/>
                    </a:solidFill>
                  </a:tcPr>
                </a:tc>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F#</a:t>
                      </a:r>
                    </a:p>
                  </a:txBody>
                  <a:tcPr marL="91440" marR="91440" marT="45720" marB="45720" anchor="ctr">
                    <a:lnR w="9525">
                      <a:solidFill>
                        <a:srgbClr val="8EC0C1"/>
                      </a:solidFill>
                      <a:prstDash val="solid"/>
                    </a:lnR>
                    <a:lnB w="9525">
                      <a:solidFill>
                        <a:srgbClr val="8EC0C1"/>
                      </a:solidFill>
                      <a:prstDash val="solid"/>
                    </a:lnB>
                    <a:solidFill>
                      <a:srgbClr val="29423B"/>
                    </a:solidFill>
                  </a:tcPr>
                </a:tc>
                <a:tc>
                  <a:txBody>
                    <a:bodyPr lIns="85725" tIns="85725" rIns="85725" bIns="85725">
                      <a:noAutofit/>
                    </a:bodyPr>
                    <a:lstStyle/>
                    <a:p>
                      <a:pPr algn="ctr">
                        <a:lnSpc>
                          <a:spcPct val="100000"/>
                        </a:lnSpc>
                        <a:buNone/>
                      </a:pPr>
                      <a:r>
                        <a:rPr sz="2400">
                          <a:solidFill>
                            <a:srgbClr val="FFFFFF"/>
                          </a:solidFill>
                          <a:latin typeface="Times New Roman"/>
                          <a:ea typeface="Times New Roman"/>
                          <a:cs typeface="Times New Roman"/>
                        </a:rPr>
                        <a:t>Fortran</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bl>
          </a:graphicData>
        </a:graphic>
      </p:graphicFrame>
      <p:sp>
        <p:nvSpPr>
          <p:cNvPr id="4" name="text-3">
            <a:extLst xmlns:a="http://schemas.openxmlformats.org/drawingml/2006/main">
              <a:ext uri="{FF2B5EF4-FFF2-40B4-BE49-F238E27FC236}">
                <a16:creationId xmlns:a16="http://schemas.microsoft.com/office/drawing/2014/main" id="{ABC28811-51B1-4233-8531-EC5D3DC65F43}"/>
              </a:ext>
            </a:extLst>
          </p:cNvPr>
          <p:cNvSpPr>
            <a:spLocks xmlns:a="http://schemas.openxmlformats.org/drawingml/2006/main" noGrp="1"/>
          </p:cNvSpPr>
          <p:nvPr/>
        </p:nvSpPr>
        <p:spPr>
          <a:xfrm xmlns:a="http://schemas.openxmlformats.org/drawingml/2006/main">
            <a:off x="2771775" y="5153025"/>
            <a:ext cx="78009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These languages provide array or collection parameters.</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Copying, mutation, and shape rules differ by language.</a:t>
            </a:r>
          </a:p>
        </p:txBody>
      </p:sp>
    </p:spTree>
    <p:extLst>
      <p:ext uri="{BB962C8B-B14F-4D97-AF65-F5344CB8AC3E}">
        <p14:creationId xmlns:p14="http://schemas.microsoft.com/office/powerpoint/2010/main" val="194629228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CB8C298-24BA-4221-9CA7-ADF0A08C4245}"/>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Built-in Arrays in C and C++</a:t>
            </a:r>
          </a:p>
        </p:txBody>
      </p:sp>
      <p:sp>
        <p:nvSpPr>
          <p:cNvPr id="2" name="slide-number">
            <a:extLst xmlns:a="http://schemas.openxmlformats.org/drawingml/2006/main">
              <a:ext uri="{FF2B5EF4-FFF2-40B4-BE49-F238E27FC236}">
                <a16:creationId xmlns:a16="http://schemas.microsoft.com/office/drawing/2014/main" id="{1CA4F4B9-903D-4AE8-B603-BB9814E6F42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30</a:t>
            </a:r>
          </a:p>
        </p:txBody>
      </p:sp>
      <p:graphicFrame>
        <p:nvGraphicFramePr>
          <p:cNvPr id="3" name="">
            <a:extLst xmlns:a="http://schemas.openxmlformats.org/drawingml/2006/main">
              <a:ext uri="{FF2B5EF4-FFF2-40B4-BE49-F238E27FC236}">
                <a16:creationId xmlns:a16="http://schemas.microsoft.com/office/drawing/2014/main" id="{6DBFD1C6-7BED-42E1-8C5A-A1C00CB043B0}"/>
              </a:ext>
            </a:extLst>
          </p:cNvPr>
          <p:cNvGraphicFramePr/>
          <p:nvPr/>
        </p:nvGraphicFramePr>
        <p:xfrm>
          <a:off xmlns:a="http://schemas.openxmlformats.org/drawingml/2006/main" x="3019425" y="2876550"/>
          <a:ext xmlns:a="http://schemas.openxmlformats.org/drawingml/2006/main" cx="7305675" cy="1295400"/>
        </p:xfrm>
        <a:graphic xmlns:a="http://schemas.openxmlformats.org/drawingml/2006/main">
          <a:graphicData uri="http://schemas.openxmlformats.org/drawingml/2006/table">
            <a:tbl>
              <a:tblPr firstRow="0" firstCol="0" bandRow="0"/>
              <a:tblGrid>
                <a:gridCol w="3652838"/>
                <a:gridCol w="3652838"/>
              </a:tblGrid>
              <a:tr h="1295400">
                <a:tc>
                  <a:txBody>
                    <a:bodyPr lIns="85725" tIns="85725" rIns="85725" bIns="85725">
                      <a:noAutofit/>
                    </a:bodyPr>
                    <a:lstStyle/>
                    <a:p>
                      <a:pPr algn="ctr">
                        <a:lnSpc>
                          <a:spcPct val="100000"/>
                        </a:lnSpc>
                        <a:buNone/>
                      </a:pPr>
                      <a:r>
                        <a:rPr sz="3400">
                          <a:solidFill>
                            <a:srgbClr val="FFFFFF"/>
                          </a:solidFill>
                          <a:latin typeface="Times New Roman"/>
                          <a:ea typeface="Times New Roman"/>
                          <a:cs typeface="Times New Roman"/>
                        </a:rPr>
                        <a:t>C</a:t>
                      </a:r>
                    </a:p>
                  </a:txBody>
                  <a:tcPr marL="91440" marR="91440" marT="45720" marB="45720" anchor="ctr">
                    <a:lnL w="9525">
                      <a:solidFill>
                        <a:srgbClr val="8EC0C1"/>
                      </a:solidFill>
                      <a:prstDash val="solid"/>
                    </a:lnL>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c>
                  <a:txBody>
                    <a:bodyPr lIns="85725" tIns="85725" rIns="85725" bIns="85725">
                      <a:noAutofit/>
                    </a:bodyPr>
                    <a:lstStyle/>
                    <a:p>
                      <a:pPr algn="ctr">
                        <a:lnSpc>
                          <a:spcPct val="100000"/>
                        </a:lnSpc>
                        <a:buNone/>
                      </a:pPr>
                      <a:r>
                        <a:rPr sz="3400">
                          <a:solidFill>
                            <a:srgbClr val="FFFFFF"/>
                          </a:solidFill>
                          <a:latin typeface="Times New Roman"/>
                          <a:ea typeface="Times New Roman"/>
                          <a:cs typeface="Times New Roman"/>
                        </a:rPr>
                        <a:t>C++</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r>
            </a:tbl>
          </a:graphicData>
        </a:graphic>
      </p:graphicFrame>
      <p:sp>
        <p:nvSpPr>
          <p:cNvPr id="4" name="text-3">
            <a:extLst xmlns:a="http://schemas.openxmlformats.org/drawingml/2006/main">
              <a:ext uri="{FF2B5EF4-FFF2-40B4-BE49-F238E27FC236}">
                <a16:creationId xmlns:a16="http://schemas.microsoft.com/office/drawing/2014/main" id="{0BF3A082-EC10-409B-BD0E-AAF064A6444D}"/>
              </a:ext>
            </a:extLst>
          </p:cNvPr>
          <p:cNvSpPr>
            <a:spLocks xmlns:a="http://schemas.openxmlformats.org/drawingml/2006/main" noGrp="1"/>
          </p:cNvSpPr>
          <p:nvPr/>
        </p:nvSpPr>
        <p:spPr>
          <a:xfrm xmlns:a="http://schemas.openxmlformats.org/drawingml/2006/main">
            <a:off x="2771775" y="4867275"/>
            <a:ext cx="78009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Built-in arrays use array-to-pointer conversion</a:t>
            </a:r>
          </a:p>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in many ordinary function calls.</a:t>
            </a:r>
          </a:p>
        </p:txBody>
      </p:sp>
    </p:spTree>
    <p:extLst>
      <p:ext uri="{BB962C8B-B14F-4D97-AF65-F5344CB8AC3E}">
        <p14:creationId xmlns:p14="http://schemas.microsoft.com/office/powerpoint/2010/main" val="135824689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43E0BEF-DCF0-44BE-AFF9-4AFB66856EED}"/>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Array Passing in C / C++</a:t>
            </a:r>
          </a:p>
        </p:txBody>
      </p:sp>
      <p:sp>
        <p:nvSpPr>
          <p:cNvPr id="2" name="slide-number">
            <a:extLst xmlns:a="http://schemas.openxmlformats.org/drawingml/2006/main">
              <a:ext uri="{FF2B5EF4-FFF2-40B4-BE49-F238E27FC236}">
                <a16:creationId xmlns:a16="http://schemas.microsoft.com/office/drawing/2014/main" id="{641A272C-EBCD-45CA-9406-F7864A29408B}"/>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31</a:t>
            </a:r>
          </a:p>
        </p:txBody>
      </p:sp>
      <p:sp>
        <p:nvSpPr>
          <p:cNvPr id="3" name="text-3">
            <a:extLst xmlns:a="http://schemas.openxmlformats.org/drawingml/2006/main">
              <a:ext uri="{FF2B5EF4-FFF2-40B4-BE49-F238E27FC236}">
                <a16:creationId xmlns:a16="http://schemas.microsoft.com/office/drawing/2014/main" id="{1C788ACF-76C1-4D83-9F1D-2BB4287368BF}"/>
              </a:ext>
            </a:extLst>
          </p:cNvPr>
          <p:cNvSpPr>
            <a:spLocks xmlns:a="http://schemas.openxmlformats.org/drawingml/2006/main" noGrp="1"/>
          </p:cNvSpPr>
          <p:nvPr/>
        </p:nvSpPr>
        <p:spPr>
          <a:xfrm xmlns:a="http://schemas.openxmlformats.org/drawingml/2006/main">
            <a:off x="2771775" y="2019300"/>
            <a:ext cx="7800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A fixed-size built-in array:</a:t>
            </a:r>
          </a:p>
        </p:txBody>
      </p:sp>
      <p:sp>
        <p:nvSpPr>
          <p:cNvPr id="4" name="text-4">
            <a:extLst xmlns:a="http://schemas.openxmlformats.org/drawingml/2006/main">
              <a:ext uri="{FF2B5EF4-FFF2-40B4-BE49-F238E27FC236}">
                <a16:creationId xmlns:a16="http://schemas.microsoft.com/office/drawing/2014/main" id="{3D276C5B-5994-4D8E-948E-D8624E57A279}"/>
              </a:ext>
            </a:extLst>
          </p:cNvPr>
          <p:cNvSpPr>
            <a:spLocks xmlns:a="http://schemas.openxmlformats.org/drawingml/2006/main" noGrp="1"/>
          </p:cNvSpPr>
          <p:nvPr/>
        </p:nvSpPr>
        <p:spPr>
          <a:xfrm xmlns:a="http://schemas.openxmlformats.org/drawingml/2006/main">
            <a:off x="2771775" y="2619375"/>
            <a:ext cx="7800975" cy="6286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100000"/>
              </a:lnSpc>
              <a:buNone/>
              <a:defRPr sz="2400" b="0" i="0">
                <a:solidFill>
                  <a:srgbClr val="FFFFFF"/>
                </a:solidFill>
                <a:latin typeface="Courier New"/>
                <a:ea typeface="Courier New"/>
                <a:cs typeface="Courier New"/>
              </a:defRPr>
            </a:pPr>
            <a:r>
              <a:rPr sz="2400" b="0" i="0">
                <a:solidFill>
                  <a:srgbClr val="FFFFFF"/>
                </a:solidFill>
                <a:latin typeface="Courier New"/>
                <a:ea typeface="Courier New"/>
                <a:cs typeface="Courier New"/>
              </a:rPr>
              <a:t>int arr[5];</a:t>
            </a:r>
          </a:p>
        </p:txBody>
      </p:sp>
      <p:sp>
        <p:nvSpPr>
          <p:cNvPr id="5" name="text-5">
            <a:extLst xmlns:a="http://schemas.openxmlformats.org/drawingml/2006/main">
              <a:ext uri="{FF2B5EF4-FFF2-40B4-BE49-F238E27FC236}">
                <a16:creationId xmlns:a16="http://schemas.microsoft.com/office/drawing/2014/main" id="{4903417A-579A-435D-ABE7-6255B1D55517}"/>
              </a:ext>
            </a:extLst>
          </p:cNvPr>
          <p:cNvSpPr>
            <a:spLocks xmlns:a="http://schemas.openxmlformats.org/drawingml/2006/main" noGrp="1"/>
          </p:cNvSpPr>
          <p:nvPr/>
        </p:nvSpPr>
        <p:spPr>
          <a:xfrm xmlns:a="http://schemas.openxmlformats.org/drawingml/2006/main">
            <a:off x="2771775" y="3438525"/>
            <a:ext cx="7800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The declared type of arr is int[5].</a:t>
            </a:r>
          </a:p>
        </p:txBody>
      </p:sp>
      <p:sp>
        <p:nvSpPr>
          <p:cNvPr id="6" name="text-6">
            <a:extLst xmlns:a="http://schemas.openxmlformats.org/drawingml/2006/main">
              <a:ext uri="{FF2B5EF4-FFF2-40B4-BE49-F238E27FC236}">
                <a16:creationId xmlns:a16="http://schemas.microsoft.com/office/drawing/2014/main" id="{AF021B0F-B3C5-4F73-BFD0-DD56783C2F52}"/>
              </a:ext>
            </a:extLst>
          </p:cNvPr>
          <p:cNvSpPr>
            <a:spLocks xmlns:a="http://schemas.openxmlformats.org/drawingml/2006/main" noGrp="1"/>
          </p:cNvSpPr>
          <p:nvPr/>
        </p:nvSpPr>
        <p:spPr>
          <a:xfrm xmlns:a="http://schemas.openxmlformats.org/drawingml/2006/main">
            <a:off x="2771775" y="4257675"/>
            <a:ext cx="78009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When passed to an int* parameter, the array expression</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converts to a pointer to its first element.</a:t>
            </a:r>
          </a:p>
        </p:txBody>
      </p:sp>
      <p:sp>
        <p:nvSpPr>
          <p:cNvPr id="7" name="text-7">
            <a:extLst xmlns:a="http://schemas.openxmlformats.org/drawingml/2006/main">
              <a:ext uri="{FF2B5EF4-FFF2-40B4-BE49-F238E27FC236}">
                <a16:creationId xmlns:a16="http://schemas.microsoft.com/office/drawing/2014/main" id="{71B33E8B-B3B8-4F88-A256-226709C02EC2}"/>
              </a:ext>
            </a:extLst>
          </p:cNvPr>
          <p:cNvSpPr>
            <a:spLocks xmlns:a="http://schemas.openxmlformats.org/drawingml/2006/main" noGrp="1"/>
          </p:cNvSpPr>
          <p:nvPr/>
        </p:nvSpPr>
        <p:spPr>
          <a:xfrm xmlns:a="http://schemas.openxmlformats.org/drawingml/2006/main">
            <a:off x="2771775" y="5238750"/>
            <a:ext cx="7800975" cy="6096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100000"/>
              </a:lnSpc>
              <a:buNone/>
              <a:defRPr sz="2400" b="0" i="0">
                <a:solidFill>
                  <a:srgbClr val="FFFFFF"/>
                </a:solidFill>
                <a:latin typeface="Courier New"/>
                <a:ea typeface="Courier New"/>
                <a:cs typeface="Courier New"/>
              </a:defRPr>
            </a:pPr>
            <a:r>
              <a:rPr sz="2400" b="0" i="0">
                <a:solidFill>
                  <a:srgbClr val="FFFFFF"/>
                </a:solidFill>
                <a:latin typeface="Courier New"/>
                <a:ea typeface="Courier New"/>
                <a:cs typeface="Courier New"/>
              </a:rPr>
              <a:t>int*</a:t>
            </a:r>
          </a:p>
        </p:txBody>
      </p:sp>
      <p:sp>
        <p:nvSpPr>
          <p:cNvPr id="8" name="text-8">
            <a:extLst xmlns:a="http://schemas.openxmlformats.org/drawingml/2006/main">
              <a:ext uri="{FF2B5EF4-FFF2-40B4-BE49-F238E27FC236}">
                <a16:creationId xmlns:a16="http://schemas.microsoft.com/office/drawing/2014/main" id="{821A2AE3-EC94-4A3C-BB5B-B91E9ABCAA1C}"/>
              </a:ext>
            </a:extLst>
          </p:cNvPr>
          <p:cNvSpPr>
            <a:spLocks xmlns:a="http://schemas.openxmlformats.org/drawingml/2006/main" noGrp="1"/>
          </p:cNvSpPr>
          <p:nvPr/>
        </p:nvSpPr>
        <p:spPr>
          <a:xfrm xmlns:a="http://schemas.openxmlformats.org/drawingml/2006/main">
            <a:off x="2771775" y="6029325"/>
            <a:ext cx="78009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The pointer does not carry the bound 5.</a:t>
            </a:r>
          </a:p>
        </p:txBody>
      </p:sp>
    </p:spTree>
    <p:extLst>
      <p:ext uri="{BB962C8B-B14F-4D97-AF65-F5344CB8AC3E}">
        <p14:creationId xmlns:p14="http://schemas.microsoft.com/office/powerpoint/2010/main" val="87750352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BAA9992-1674-4C82-9649-B5AEE3C55EA9}"/>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Array Passing in C / C++</a:t>
            </a:r>
          </a:p>
        </p:txBody>
      </p:sp>
      <p:sp>
        <p:nvSpPr>
          <p:cNvPr id="2" name="slide-number">
            <a:extLst xmlns:a="http://schemas.openxmlformats.org/drawingml/2006/main">
              <a:ext uri="{FF2B5EF4-FFF2-40B4-BE49-F238E27FC236}">
                <a16:creationId xmlns:a16="http://schemas.microsoft.com/office/drawing/2014/main" id="{C48E33FB-2969-4B52-A421-2AD07A1E47FC}"/>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32</a:t>
            </a:r>
          </a:p>
        </p:txBody>
      </p:sp>
      <p:sp>
        <p:nvSpPr>
          <p:cNvPr id="3" name="text-3">
            <a:extLst xmlns:a="http://schemas.openxmlformats.org/drawingml/2006/main">
              <a:ext uri="{FF2B5EF4-FFF2-40B4-BE49-F238E27FC236}">
                <a16:creationId xmlns:a16="http://schemas.microsoft.com/office/drawing/2014/main" id="{ED68EF86-74C3-4EAE-A672-3827F46FE951}"/>
              </a:ext>
            </a:extLst>
          </p:cNvPr>
          <p:cNvSpPr>
            <a:spLocks xmlns:a="http://schemas.openxmlformats.org/drawingml/2006/main" noGrp="1"/>
          </p:cNvSpPr>
          <p:nvPr/>
        </p:nvSpPr>
        <p:spPr>
          <a:xfrm xmlns:a="http://schemas.openxmlformats.org/drawingml/2006/main">
            <a:off x="2771775" y="2076450"/>
            <a:ext cx="7800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A dynamically allocated array in C++:</a:t>
            </a:r>
          </a:p>
        </p:txBody>
      </p:sp>
      <p:sp>
        <p:nvSpPr>
          <p:cNvPr id="4" name="text-4">
            <a:extLst xmlns:a="http://schemas.openxmlformats.org/drawingml/2006/main">
              <a:ext uri="{FF2B5EF4-FFF2-40B4-BE49-F238E27FC236}">
                <a16:creationId xmlns:a16="http://schemas.microsoft.com/office/drawing/2014/main" id="{1AAFB706-5CF6-41BD-A56B-1A95457D4913}"/>
              </a:ext>
            </a:extLst>
          </p:cNvPr>
          <p:cNvSpPr>
            <a:spLocks xmlns:a="http://schemas.openxmlformats.org/drawingml/2006/main" noGrp="1"/>
          </p:cNvSpPr>
          <p:nvPr/>
        </p:nvSpPr>
        <p:spPr>
          <a:xfrm xmlns:a="http://schemas.openxmlformats.org/drawingml/2006/main">
            <a:off x="2771775" y="2705100"/>
            <a:ext cx="7800975" cy="6286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100000"/>
              </a:lnSpc>
              <a:buNone/>
              <a:defRPr sz="2400" b="0" i="0">
                <a:solidFill>
                  <a:srgbClr val="FFFFFF"/>
                </a:solidFill>
                <a:latin typeface="Courier New"/>
                <a:ea typeface="Courier New"/>
                <a:cs typeface="Courier New"/>
              </a:defRPr>
            </a:pPr>
            <a:r>
              <a:rPr sz="2400" b="0" i="0">
                <a:solidFill>
                  <a:srgbClr val="FFFFFF"/>
                </a:solidFill>
                <a:latin typeface="Courier New"/>
                <a:ea typeface="Courier New"/>
                <a:cs typeface="Courier New"/>
              </a:rPr>
              <a:t>int* arr = new int[5];</a:t>
            </a:r>
          </a:p>
        </p:txBody>
      </p:sp>
      <p:sp>
        <p:nvSpPr>
          <p:cNvPr id="5" name="text-5">
            <a:extLst xmlns:a="http://schemas.openxmlformats.org/drawingml/2006/main">
              <a:ext uri="{FF2B5EF4-FFF2-40B4-BE49-F238E27FC236}">
                <a16:creationId xmlns:a16="http://schemas.microsoft.com/office/drawing/2014/main" id="{B0D26408-4EFA-4E6C-AAA3-989DEB649D6C}"/>
              </a:ext>
            </a:extLst>
          </p:cNvPr>
          <p:cNvSpPr>
            <a:spLocks xmlns:a="http://schemas.openxmlformats.org/drawingml/2006/main" noGrp="1"/>
          </p:cNvSpPr>
          <p:nvPr/>
        </p:nvSpPr>
        <p:spPr>
          <a:xfrm xmlns:a="http://schemas.openxmlformats.org/drawingml/2006/main">
            <a:off x="2771775" y="3638550"/>
            <a:ext cx="780097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new int[5] allocates five integers.</a:t>
            </a:r>
          </a:p>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The variable arr already has type int*.</a:t>
            </a:r>
          </a:p>
        </p:txBody>
      </p:sp>
      <p:sp>
        <p:nvSpPr>
          <p:cNvPr id="6" name="text-6">
            <a:extLst xmlns:a="http://schemas.openxmlformats.org/drawingml/2006/main">
              <a:ext uri="{FF2B5EF4-FFF2-40B4-BE49-F238E27FC236}">
                <a16:creationId xmlns:a16="http://schemas.microsoft.com/office/drawing/2014/main" id="{58C98B3B-5CEA-4AC1-826A-F249FBBFA174}"/>
              </a:ext>
            </a:extLst>
          </p:cNvPr>
          <p:cNvSpPr>
            <a:spLocks xmlns:a="http://schemas.openxmlformats.org/drawingml/2006/main" noGrp="1"/>
          </p:cNvSpPr>
          <p:nvPr/>
        </p:nvSpPr>
        <p:spPr>
          <a:xfrm xmlns:a="http://schemas.openxmlformats.org/drawingml/2006/main">
            <a:off x="2771775" y="5086350"/>
            <a:ext cx="7800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Passing arr by value copies the pointer.</a:t>
            </a:r>
          </a:p>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Its type remains int*.</a:t>
            </a:r>
          </a:p>
        </p:txBody>
      </p:sp>
    </p:spTree>
    <p:extLst>
      <p:ext uri="{BB962C8B-B14F-4D97-AF65-F5344CB8AC3E}">
        <p14:creationId xmlns:p14="http://schemas.microsoft.com/office/powerpoint/2010/main" val="144752726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4399768-D8CA-4956-8E27-EC4450377E05}"/>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Array Passing in C / C++</a:t>
            </a:r>
          </a:p>
        </p:txBody>
      </p:sp>
      <p:sp>
        <p:nvSpPr>
          <p:cNvPr id="2" name="slide-number">
            <a:extLst xmlns:a="http://schemas.openxmlformats.org/drawingml/2006/main">
              <a:ext uri="{FF2B5EF4-FFF2-40B4-BE49-F238E27FC236}">
                <a16:creationId xmlns:a16="http://schemas.microsoft.com/office/drawing/2014/main" id="{51820083-9EFB-4355-918B-B4EB27883F6C}"/>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33</a:t>
            </a:r>
          </a:p>
        </p:txBody>
      </p:sp>
      <p:sp>
        <p:nvSpPr>
          <p:cNvPr id="3" name="text-3">
            <a:extLst xmlns:a="http://schemas.openxmlformats.org/drawingml/2006/main">
              <a:ext uri="{FF2B5EF4-FFF2-40B4-BE49-F238E27FC236}">
                <a16:creationId xmlns:a16="http://schemas.microsoft.com/office/drawing/2014/main" id="{A0D9D0E2-5DA1-4383-A085-84838D799F28}"/>
              </a:ext>
            </a:extLst>
          </p:cNvPr>
          <p:cNvSpPr>
            <a:spLocks xmlns:a="http://schemas.openxmlformats.org/drawingml/2006/main" noGrp="1"/>
          </p:cNvSpPr>
          <p:nvPr/>
        </p:nvSpPr>
        <p:spPr>
          <a:xfrm xmlns:a="http://schemas.openxmlformats.org/drawingml/2006/main">
            <a:off x="2771775" y="1990725"/>
            <a:ext cx="7800975"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A pointer parameter can access elements of an</a:t>
            </a:r>
          </a:p>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automatic array or a dynamically allocated array.</a:t>
            </a:r>
          </a:p>
        </p:txBody>
      </p:sp>
      <p:sp>
        <p:nvSpPr>
          <p:cNvPr id="4" name="text-4">
            <a:extLst xmlns:a="http://schemas.openxmlformats.org/drawingml/2006/main">
              <a:ext uri="{FF2B5EF4-FFF2-40B4-BE49-F238E27FC236}">
                <a16:creationId xmlns:a16="http://schemas.microsoft.com/office/drawing/2014/main" id="{F16BBF81-4AD6-4B05-AA0D-56AB8640A56B}"/>
              </a:ext>
            </a:extLst>
          </p:cNvPr>
          <p:cNvSpPr>
            <a:spLocks xmlns:a="http://schemas.openxmlformats.org/drawingml/2006/main" noGrp="1"/>
          </p:cNvSpPr>
          <p:nvPr/>
        </p:nvSpPr>
        <p:spPr>
          <a:xfrm xmlns:a="http://schemas.openxmlformats.org/drawingml/2006/main">
            <a:off x="2771775" y="3209925"/>
            <a:ext cx="7800975" cy="6191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void f(int* a, int length);</a:t>
            </a:r>
          </a:p>
        </p:txBody>
      </p:sp>
      <p:sp>
        <p:nvSpPr>
          <p:cNvPr id="5" name="text-5">
            <a:extLst xmlns:a="http://schemas.openxmlformats.org/drawingml/2006/main">
              <a:ext uri="{FF2B5EF4-FFF2-40B4-BE49-F238E27FC236}">
                <a16:creationId xmlns:a16="http://schemas.microsoft.com/office/drawing/2014/main" id="{DFEFBEFF-6DD4-46B8-BA27-CC175CC1E566}"/>
              </a:ext>
            </a:extLst>
          </p:cNvPr>
          <p:cNvSpPr>
            <a:spLocks xmlns:a="http://schemas.openxmlformats.org/drawingml/2006/main" noGrp="1"/>
          </p:cNvSpPr>
          <p:nvPr/>
        </p:nvSpPr>
        <p:spPr>
          <a:xfrm xmlns:a="http://schemas.openxmlformats.org/drawingml/2006/main">
            <a:off x="2771775" y="3971925"/>
            <a:ext cx="78009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Pass the length separately when the function needs it.</a:t>
            </a:r>
          </a:p>
        </p:txBody>
      </p:sp>
      <p:sp>
        <p:nvSpPr>
          <p:cNvPr id="6" name="text-6">
            <a:extLst xmlns:a="http://schemas.openxmlformats.org/drawingml/2006/main">
              <a:ext uri="{FF2B5EF4-FFF2-40B4-BE49-F238E27FC236}">
                <a16:creationId xmlns:a16="http://schemas.microsoft.com/office/drawing/2014/main" id="{4071A380-A879-41DB-AB44-F53CD37F41C3}"/>
              </a:ext>
            </a:extLst>
          </p:cNvPr>
          <p:cNvSpPr>
            <a:spLocks xmlns:a="http://schemas.openxmlformats.org/drawingml/2006/main" noGrp="1"/>
          </p:cNvSpPr>
          <p:nvPr/>
        </p:nvSpPr>
        <p:spPr>
          <a:xfrm xmlns:a="http://schemas.openxmlformats.org/drawingml/2006/main">
            <a:off x="2771775" y="478155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C++ can also require a fixed-size array</a:t>
            </a:r>
          </a:p>
        </p:txBody>
      </p:sp>
      <p:sp>
        <p:nvSpPr>
          <p:cNvPr id="7" name="text-7">
            <a:extLst xmlns:a="http://schemas.openxmlformats.org/drawingml/2006/main">
              <a:ext uri="{FF2B5EF4-FFF2-40B4-BE49-F238E27FC236}">
                <a16:creationId xmlns:a16="http://schemas.microsoft.com/office/drawing/2014/main" id="{698D233C-9D42-4606-BFD3-C88E5F4D07C9}"/>
              </a:ext>
            </a:extLst>
          </p:cNvPr>
          <p:cNvSpPr>
            <a:spLocks xmlns:a="http://schemas.openxmlformats.org/drawingml/2006/main" noGrp="1"/>
          </p:cNvSpPr>
          <p:nvPr/>
        </p:nvSpPr>
        <p:spPr>
          <a:xfrm xmlns:a="http://schemas.openxmlformats.org/drawingml/2006/main">
            <a:off x="2771775" y="5276850"/>
            <a:ext cx="7800975" cy="6191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100000"/>
              </a:lnSpc>
              <a:buNone/>
              <a:defRPr sz="2000" b="0" i="0">
                <a:solidFill>
                  <a:srgbClr val="FFFFFF"/>
                </a:solidFill>
                <a:latin typeface="Courier New"/>
                <a:ea typeface="Courier New"/>
                <a:cs typeface="Courier New"/>
              </a:defRPr>
            </a:pPr>
            <a:r>
              <a:rPr sz="2000" b="0" i="0">
                <a:solidFill>
                  <a:srgbClr val="FFFFFF"/>
                </a:solidFill>
                <a:latin typeface="Courier New"/>
                <a:ea typeface="Courier New"/>
                <a:cs typeface="Courier New"/>
              </a:rPr>
              <a:t>void fixed(int (&amp;a)[5]);</a:t>
            </a:r>
          </a:p>
        </p:txBody>
      </p:sp>
    </p:spTree>
    <p:extLst>
      <p:ext uri="{BB962C8B-B14F-4D97-AF65-F5344CB8AC3E}">
        <p14:creationId xmlns:p14="http://schemas.microsoft.com/office/powerpoint/2010/main" val="133624636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AB56F61-7219-4B6B-9F6F-1A1BC9708AA8}"/>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Multidimensional Array Passing</a:t>
            </a:r>
          </a:p>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in C++</a:t>
            </a:r>
          </a:p>
        </p:txBody>
      </p:sp>
      <p:sp>
        <p:nvSpPr>
          <p:cNvPr id="2" name="slide-number">
            <a:extLst xmlns:a="http://schemas.openxmlformats.org/drawingml/2006/main">
              <a:ext uri="{FF2B5EF4-FFF2-40B4-BE49-F238E27FC236}">
                <a16:creationId xmlns:a16="http://schemas.microsoft.com/office/drawing/2014/main" id="{0E7BA453-58D1-4D74-BE9D-E0CF5282C8B4}"/>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34</a:t>
            </a:r>
          </a:p>
        </p:txBody>
      </p:sp>
      <p:sp>
        <p:nvSpPr>
          <p:cNvPr id="3" name="text-3">
            <a:extLst xmlns:a="http://schemas.openxmlformats.org/drawingml/2006/main">
              <a:ext uri="{FF2B5EF4-FFF2-40B4-BE49-F238E27FC236}">
                <a16:creationId xmlns:a16="http://schemas.microsoft.com/office/drawing/2014/main" id="{7D6ABBA5-A273-4EE1-AE28-61C1EAFA003E}"/>
              </a:ext>
            </a:extLst>
          </p:cNvPr>
          <p:cNvSpPr>
            <a:spLocks xmlns:a="http://schemas.openxmlformats.org/drawingml/2006/main" noGrp="1"/>
          </p:cNvSpPr>
          <p:nvPr/>
        </p:nvSpPr>
        <p:spPr>
          <a:xfrm xmlns:a="http://schemas.openxmlformats.org/drawingml/2006/main">
            <a:off x="2686050" y="2000250"/>
            <a:ext cx="8058150" cy="33147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800" b="0" i="0">
                <a:solidFill>
                  <a:srgbClr val="FFFFFF"/>
                </a:solidFill>
                <a:latin typeface="Courier New"/>
                <a:ea typeface="Courier New"/>
                <a:cs typeface="Courier New"/>
              </a:defRPr>
            </a:defPPr>
            <a:lvl1pPr algn="l">
              <a:defRPr sz="1800" b="0" i="0">
                <a:solidFill>
                  <a:srgbClr val="FFFFFF"/>
                </a:solidFill>
                <a:latin typeface="Courier New"/>
                <a:ea typeface="Courier New"/>
                <a:cs typeface="Courier New"/>
              </a:defRPr>
            </a:lvl1pPr>
            <a:lvl2pPr algn="l">
              <a:defRPr sz="1800" b="0" i="0">
                <a:solidFill>
                  <a:srgbClr val="FFFFFF"/>
                </a:solidFill>
                <a:latin typeface="Courier New"/>
                <a:ea typeface="Courier New"/>
                <a:cs typeface="Courier New"/>
              </a:defRPr>
            </a:lvl2pPr>
            <a:lvl3pPr algn="l">
              <a:defRPr sz="1800" b="0" i="0">
                <a:solidFill>
                  <a:srgbClr val="FFFFFF"/>
                </a:solidFill>
                <a:latin typeface="Courier New"/>
                <a:ea typeface="Courier New"/>
                <a:cs typeface="Courier New"/>
              </a:defRPr>
            </a:lvl3pPr>
            <a:lvl4pPr algn="l">
              <a:defRPr sz="1800" b="0" i="0">
                <a:solidFill>
                  <a:srgbClr val="FFFFFF"/>
                </a:solidFill>
                <a:latin typeface="Courier New"/>
                <a:ea typeface="Courier New"/>
                <a:cs typeface="Courier New"/>
              </a:defRPr>
            </a:lvl4pPr>
            <a:lvl5pPr algn="l">
              <a:defRPr sz="1800" b="0" i="0">
                <a:solidFill>
                  <a:srgbClr val="FFFFFF"/>
                </a:solidFill>
                <a:latin typeface="Courier New"/>
                <a:ea typeface="Courier New"/>
                <a:cs typeface="Courier New"/>
              </a:defRPr>
            </a:lvl5pPr>
            <a:lvl6pPr algn="l">
              <a:defRPr sz="1800" b="0" i="0">
                <a:solidFill>
                  <a:srgbClr val="FFFFFF"/>
                </a:solidFill>
                <a:latin typeface="Courier New"/>
                <a:ea typeface="Courier New"/>
                <a:cs typeface="Courier New"/>
              </a:defRPr>
            </a:lvl6pPr>
            <a:lvl7pPr algn="l">
              <a:defRPr sz="1800" b="0" i="0">
                <a:solidFill>
                  <a:srgbClr val="FFFFFF"/>
                </a:solidFill>
                <a:latin typeface="Courier New"/>
                <a:ea typeface="Courier New"/>
                <a:cs typeface="Courier New"/>
              </a:defRPr>
            </a:lvl7pPr>
            <a:lvl8pPr algn="l">
              <a:defRPr sz="1800" b="0" i="0">
                <a:solidFill>
                  <a:srgbClr val="FFFFFF"/>
                </a:solidFill>
                <a:latin typeface="Courier New"/>
                <a:ea typeface="Courier New"/>
                <a:cs typeface="Courier New"/>
              </a:defRPr>
            </a:lvl8pPr>
            <a:lvl9pPr algn="l">
              <a:defRPr sz="1800" b="0" i="0">
                <a:solidFill>
                  <a:srgbClr val="FFFFFF"/>
                </a:solidFill>
                <a:latin typeface="Courier New"/>
                <a:ea typeface="Courier New"/>
                <a:cs typeface="Courier New"/>
              </a:defRPr>
            </a:lvl9pPr>
          </a:lstStyle>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double m[3][4];</a:t>
            </a:r>
          </a:p>
          <a:p xmlns:a="http://schemas.openxmlformats.org/drawingml/2006/main">
            <a:r>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Compatible alternatives; use one at a time:</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void process_matrix(double (&amp;m)[3][4]);</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void process_matrix(double (*m)[4]);</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void process_matrix(double m[][4]);</a:t>
            </a:r>
          </a:p>
          <a:p xmlns:a="http://schemas.openxmlformats.org/drawingml/2006/main">
            <a:r>
              <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Not compatible with this argument:</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void process_matrix(double** m);</a:t>
            </a:r>
          </a:p>
          <a:p xmlns:a="http://schemas.openxmlformats.org/drawingml/2006/main">
            <a:pPr algn="l">
              <a:lnSpc>
                <a:spcPct val="100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void process_matrix(double* m[4]);</a:t>
            </a:r>
          </a:p>
        </p:txBody>
      </p:sp>
      <p:sp>
        <p:nvSpPr>
          <p:cNvPr id="4" name="text-4">
            <a:extLst xmlns:a="http://schemas.openxmlformats.org/drawingml/2006/main">
              <a:ext uri="{FF2B5EF4-FFF2-40B4-BE49-F238E27FC236}">
                <a16:creationId xmlns:a16="http://schemas.microsoft.com/office/drawing/2014/main" id="{8632C74F-5140-47B2-B35F-78B3B386EAF5}"/>
              </a:ext>
            </a:extLst>
          </p:cNvPr>
          <p:cNvSpPr>
            <a:spLocks xmlns:a="http://schemas.openxmlformats.org/drawingml/2006/main" noGrp="1"/>
          </p:cNvSpPr>
          <p:nvPr/>
        </p:nvSpPr>
        <p:spPr>
          <a:xfrm xmlns:a="http://schemas.openxmlformats.org/drawingml/2006/main">
            <a:off x="2771775" y="5553075"/>
            <a:ext cx="78009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Only the outermost dimension converts.</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The resulting type is double (*)[4]: a pointer to a row.</a:t>
            </a:r>
          </a:p>
        </p:txBody>
      </p:sp>
    </p:spTree>
    <p:extLst>
      <p:ext uri="{BB962C8B-B14F-4D97-AF65-F5344CB8AC3E}">
        <p14:creationId xmlns:p14="http://schemas.microsoft.com/office/powerpoint/2010/main" val="26663940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section-title">
            <a:extLst xmlns:a="http://schemas.openxmlformats.org/drawingml/2006/main">
              <a:ext uri="{FF2B5EF4-FFF2-40B4-BE49-F238E27FC236}">
                <a16:creationId xmlns:a16="http://schemas.microsoft.com/office/drawing/2014/main" id="{0A2417D0-0F21-45B2-B6B1-5BD451DDD1BD}"/>
              </a:ext>
            </a:extLst>
          </p:cNvPr>
          <p:cNvSpPr>
            <a:spLocks xmlns:a="http://schemas.openxmlformats.org/drawingml/2006/main" noGrp="1"/>
          </p:cNvSpPr>
          <p:nvPr/>
        </p:nvSpPr>
        <p:spPr>
          <a:xfrm xmlns:a="http://schemas.openxmlformats.org/drawingml/2006/main">
            <a:off x="2609850" y="3147060"/>
            <a:ext cx="7956233" cy="1424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200" b="0" i="0">
                <a:solidFill>
                  <a:srgbClr val="FFFFFF"/>
                </a:solidFill>
                <a:latin typeface="Arial"/>
                <a:ea typeface="Arial"/>
                <a:cs typeface="Arial"/>
              </a:defRPr>
            </a:defPPr>
            <a:lvl1pPr algn="r">
              <a:defRPr sz="3200" b="0" i="0">
                <a:solidFill>
                  <a:srgbClr val="FFFFFF"/>
                </a:solidFill>
                <a:latin typeface="Arial"/>
                <a:ea typeface="Arial"/>
                <a:cs typeface="Arial"/>
              </a:defRPr>
            </a:lvl1pPr>
            <a:lvl2pPr algn="r">
              <a:defRPr sz="3200" b="0" i="0">
                <a:solidFill>
                  <a:srgbClr val="FFFFFF"/>
                </a:solidFill>
                <a:latin typeface="Arial"/>
                <a:ea typeface="Arial"/>
                <a:cs typeface="Arial"/>
              </a:defRPr>
            </a:lvl2pPr>
            <a:lvl3pPr algn="r">
              <a:defRPr sz="3200" b="0" i="0">
                <a:solidFill>
                  <a:srgbClr val="FFFFFF"/>
                </a:solidFill>
                <a:latin typeface="Arial"/>
                <a:ea typeface="Arial"/>
                <a:cs typeface="Arial"/>
              </a:defRPr>
            </a:lvl3pPr>
            <a:lvl4pPr algn="r">
              <a:defRPr sz="3200" b="0" i="0">
                <a:solidFill>
                  <a:srgbClr val="FFFFFF"/>
                </a:solidFill>
                <a:latin typeface="Arial"/>
                <a:ea typeface="Arial"/>
                <a:cs typeface="Arial"/>
              </a:defRPr>
            </a:lvl4pPr>
            <a:lvl5pPr algn="r">
              <a:defRPr sz="3200" b="0" i="0">
                <a:solidFill>
                  <a:srgbClr val="FFFFFF"/>
                </a:solidFill>
                <a:latin typeface="Arial"/>
                <a:ea typeface="Arial"/>
                <a:cs typeface="Arial"/>
              </a:defRPr>
            </a:lvl5pPr>
            <a:lvl6pPr algn="r">
              <a:defRPr sz="3200" b="0" i="0">
                <a:solidFill>
                  <a:srgbClr val="FFFFFF"/>
                </a:solidFill>
                <a:latin typeface="Arial"/>
                <a:ea typeface="Arial"/>
                <a:cs typeface="Arial"/>
              </a:defRPr>
            </a:lvl6pPr>
            <a:lvl7pPr algn="r">
              <a:defRPr sz="3200" b="0" i="0">
                <a:solidFill>
                  <a:srgbClr val="FFFFFF"/>
                </a:solidFill>
                <a:latin typeface="Arial"/>
                <a:ea typeface="Arial"/>
                <a:cs typeface="Arial"/>
              </a:defRPr>
            </a:lvl7pPr>
            <a:lvl8pPr algn="r">
              <a:defRPr sz="3200" b="0" i="0">
                <a:solidFill>
                  <a:srgbClr val="FFFFFF"/>
                </a:solidFill>
                <a:latin typeface="Arial"/>
                <a:ea typeface="Arial"/>
                <a:cs typeface="Arial"/>
              </a:defRPr>
            </a:lvl8pPr>
            <a:lvl9pPr algn="r">
              <a:defRPr sz="3200" b="0" i="0">
                <a:solidFill>
                  <a:srgbClr val="FFFFFF"/>
                </a:solidFill>
                <a:latin typeface="Arial"/>
                <a:ea typeface="Arial"/>
                <a:cs typeface="Arial"/>
              </a:defRPr>
            </a:lvl9pPr>
          </a:lstStyle>
          <a:p xmlns:a="http://schemas.openxmlformats.org/drawingml/2006/main">
            <a:pPr algn="r">
              <a:lnSpc>
                <a:spcPct val="108000"/>
              </a:lnSpc>
              <a:buNone/>
              <a:defRPr sz="3200" b="0" i="0">
                <a:solidFill>
                  <a:srgbClr val="FFFFFF"/>
                </a:solidFill>
                <a:latin typeface="Arial"/>
                <a:ea typeface="Arial"/>
                <a:cs typeface="Arial"/>
              </a:defRPr>
            </a:pPr>
            <a:r>
              <a:rPr sz="3200" b="0" i="0">
                <a:solidFill>
                  <a:srgbClr val="FFFFFF"/>
                </a:solidFill>
                <a:latin typeface="Arial"/>
                <a:ea typeface="Arial"/>
                <a:cs typeface="Arial"/>
              </a:rPr>
              <a:t>Subprograms</a:t>
            </a:r>
          </a:p>
          <a:p xmlns:a="http://schemas.openxmlformats.org/drawingml/2006/main">
            <a:pPr algn="r">
              <a:lnSpc>
                <a:spcPct val="108000"/>
              </a:lnSpc>
              <a:buNone/>
              <a:defRPr sz="3200" b="0" i="0">
                <a:solidFill>
                  <a:srgbClr val="FFFFFF"/>
                </a:solidFill>
                <a:latin typeface="Arial"/>
                <a:ea typeface="Arial"/>
                <a:cs typeface="Arial"/>
              </a:defRPr>
            </a:pPr>
            <a:r>
              <a:rPr sz="3200" b="0" i="0">
                <a:solidFill>
                  <a:srgbClr val="FFFFFF"/>
                </a:solidFill>
                <a:latin typeface="Arial"/>
                <a:ea typeface="Arial"/>
                <a:cs typeface="Arial"/>
              </a:rPr>
              <a:t>as Parameters</a:t>
            </a:r>
          </a:p>
        </p:txBody>
      </p:sp>
    </p:spTree>
    <p:extLst>
      <p:ext uri="{BB962C8B-B14F-4D97-AF65-F5344CB8AC3E}">
        <p14:creationId xmlns:p14="http://schemas.microsoft.com/office/powerpoint/2010/main" val="30184233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F2D7A84-9411-46A6-A59F-31532C19F83C}"/>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Referencing Environment</a:t>
            </a:r>
          </a:p>
        </p:txBody>
      </p:sp>
      <p:sp>
        <p:nvSpPr>
          <p:cNvPr id="2" name="slide-number">
            <a:extLst xmlns:a="http://schemas.openxmlformats.org/drawingml/2006/main">
              <a:ext uri="{FF2B5EF4-FFF2-40B4-BE49-F238E27FC236}">
                <a16:creationId xmlns:a16="http://schemas.microsoft.com/office/drawing/2014/main" id="{97AD5B37-7848-4FF7-8951-5D46FCC0025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36</a:t>
            </a:r>
          </a:p>
        </p:txBody>
      </p:sp>
      <p:sp>
        <p:nvSpPr>
          <p:cNvPr id="3" name="text-3">
            <a:extLst xmlns:a="http://schemas.openxmlformats.org/drawingml/2006/main">
              <a:ext uri="{FF2B5EF4-FFF2-40B4-BE49-F238E27FC236}">
                <a16:creationId xmlns:a16="http://schemas.microsoft.com/office/drawing/2014/main" id="{1483D776-5315-48F3-9EDB-496C4767F5FA}"/>
              </a:ext>
            </a:extLst>
          </p:cNvPr>
          <p:cNvSpPr>
            <a:spLocks xmlns:a="http://schemas.openxmlformats.org/drawingml/2006/main" noGrp="1"/>
          </p:cNvSpPr>
          <p:nvPr/>
        </p:nvSpPr>
        <p:spPr>
          <a:xfrm xmlns:a="http://schemas.openxmlformats.org/drawingml/2006/main">
            <a:off x="2771775" y="1943100"/>
            <a:ext cx="78009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Which environment supplies a passed subprogram’s</a:t>
            </a:r>
          </a:p>
          <a:p xmlns:a="http://schemas.openxmlformats.org/drawingml/2006/main">
            <a:pPr algn="l">
              <a:lnSpc>
                <a:spcPct val="106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non-local variables?</a:t>
            </a:r>
          </a:p>
        </p:txBody>
      </p:sp>
      <p:sp>
        <p:nvSpPr>
          <p:cNvPr id="4" name="text-4">
            <a:extLst xmlns:a="http://schemas.openxmlformats.org/drawingml/2006/main">
              <a:ext uri="{FF2B5EF4-FFF2-40B4-BE49-F238E27FC236}">
                <a16:creationId xmlns:a16="http://schemas.microsoft.com/office/drawing/2014/main" id="{CE072F01-EB12-4C4C-BBD8-0C4F567E6258}"/>
              </a:ext>
            </a:extLst>
          </p:cNvPr>
          <p:cNvSpPr>
            <a:spLocks xmlns:a="http://schemas.openxmlformats.org/drawingml/2006/main" noGrp="1"/>
          </p:cNvSpPr>
          <p:nvPr/>
        </p:nvSpPr>
        <p:spPr>
          <a:xfrm xmlns:a="http://schemas.openxmlformats.org/drawingml/2006/main">
            <a:off x="2771775" y="305752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Shallow binding</a:t>
            </a:r>
          </a:p>
        </p:txBody>
      </p:sp>
      <p:sp>
        <p:nvSpPr>
          <p:cNvPr id="5" name="text-5">
            <a:extLst xmlns:a="http://schemas.openxmlformats.org/drawingml/2006/main">
              <a:ext uri="{FF2B5EF4-FFF2-40B4-BE49-F238E27FC236}">
                <a16:creationId xmlns:a16="http://schemas.microsoft.com/office/drawing/2014/main" id="{F2393964-7673-4AA0-9E69-E96B72F5909E}"/>
              </a:ext>
            </a:extLst>
          </p:cNvPr>
          <p:cNvSpPr>
            <a:spLocks xmlns:a="http://schemas.openxmlformats.org/drawingml/2006/main" noGrp="1"/>
          </p:cNvSpPr>
          <p:nvPr/>
        </p:nvSpPr>
        <p:spPr>
          <a:xfrm xmlns:a="http://schemas.openxmlformats.org/drawingml/2006/main">
            <a:off x="2771775" y="3486150"/>
            <a:ext cx="78009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Use the environment of the eventual call.</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 natural comparison for dynamic scoping.</a:t>
            </a:r>
          </a:p>
        </p:txBody>
      </p:sp>
      <p:sp>
        <p:nvSpPr>
          <p:cNvPr id="6" name="text-6">
            <a:extLst xmlns:a="http://schemas.openxmlformats.org/drawingml/2006/main">
              <a:ext uri="{FF2B5EF4-FFF2-40B4-BE49-F238E27FC236}">
                <a16:creationId xmlns:a16="http://schemas.microsoft.com/office/drawing/2014/main" id="{40B78DAA-29C4-4BB5-BEA7-922AAAAFCAD1}"/>
              </a:ext>
            </a:extLst>
          </p:cNvPr>
          <p:cNvSpPr>
            <a:spLocks xmlns:a="http://schemas.openxmlformats.org/drawingml/2006/main" noGrp="1"/>
          </p:cNvSpPr>
          <p:nvPr/>
        </p:nvSpPr>
        <p:spPr>
          <a:xfrm xmlns:a="http://schemas.openxmlformats.org/drawingml/2006/main">
            <a:off x="2771775" y="4286250"/>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Deep binding</a:t>
            </a:r>
          </a:p>
        </p:txBody>
      </p:sp>
      <p:sp>
        <p:nvSpPr>
          <p:cNvPr id="7" name="text-7">
            <a:extLst xmlns:a="http://schemas.openxmlformats.org/drawingml/2006/main">
              <a:ext uri="{FF2B5EF4-FFF2-40B4-BE49-F238E27FC236}">
                <a16:creationId xmlns:a16="http://schemas.microsoft.com/office/drawing/2014/main" id="{2D58FC29-7FD4-4DE0-BA40-00CF382467C1}"/>
              </a:ext>
            </a:extLst>
          </p:cNvPr>
          <p:cNvSpPr>
            <a:spLocks xmlns:a="http://schemas.openxmlformats.org/drawingml/2006/main" noGrp="1"/>
          </p:cNvSpPr>
          <p:nvPr/>
        </p:nvSpPr>
        <p:spPr>
          <a:xfrm xmlns:a="http://schemas.openxmlformats.org/drawingml/2006/main">
            <a:off x="2771775" y="4724400"/>
            <a:ext cx="78009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Use the environment where the function was defined.</a:t>
            </a:r>
          </a:p>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This matches the lexical-scope example here.</a:t>
            </a:r>
          </a:p>
        </p:txBody>
      </p:sp>
      <p:sp>
        <p:nvSpPr>
          <p:cNvPr id="8" name="text-8">
            <a:extLst xmlns:a="http://schemas.openxmlformats.org/drawingml/2006/main">
              <a:ext uri="{FF2B5EF4-FFF2-40B4-BE49-F238E27FC236}">
                <a16:creationId xmlns:a16="http://schemas.microsoft.com/office/drawing/2014/main" id="{0300E2F9-4564-4F4C-BE2B-39E59F9C8C48}"/>
              </a:ext>
            </a:extLst>
          </p:cNvPr>
          <p:cNvSpPr>
            <a:spLocks xmlns:a="http://schemas.openxmlformats.org/drawingml/2006/main" noGrp="1"/>
          </p:cNvSpPr>
          <p:nvPr/>
        </p:nvSpPr>
        <p:spPr>
          <a:xfrm xmlns:a="http://schemas.openxmlformats.org/drawingml/2006/main">
            <a:off x="2771775" y="5591175"/>
            <a:ext cx="7800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06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Ad hoc binding</a:t>
            </a:r>
          </a:p>
        </p:txBody>
      </p:sp>
      <p:sp>
        <p:nvSpPr>
          <p:cNvPr id="9" name="text-9">
            <a:extLst xmlns:a="http://schemas.openxmlformats.org/drawingml/2006/main">
              <a:ext uri="{FF2B5EF4-FFF2-40B4-BE49-F238E27FC236}">
                <a16:creationId xmlns:a16="http://schemas.microsoft.com/office/drawing/2014/main" id="{3B89C894-C45E-422E-8650-E2FF825EF506}"/>
              </a:ext>
            </a:extLst>
          </p:cNvPr>
          <p:cNvSpPr>
            <a:spLocks xmlns:a="http://schemas.openxmlformats.org/drawingml/2006/main" noGrp="1"/>
          </p:cNvSpPr>
          <p:nvPr/>
        </p:nvSpPr>
        <p:spPr>
          <a:xfrm xmlns:a="http://schemas.openxmlformats.org/drawingml/2006/main">
            <a:off x="2771775" y="6029325"/>
            <a:ext cx="78009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06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Use the environment where the function was passed.</a:t>
            </a:r>
          </a:p>
        </p:txBody>
      </p:sp>
    </p:spTree>
    <p:extLst>
      <p:ext uri="{BB962C8B-B14F-4D97-AF65-F5344CB8AC3E}">
        <p14:creationId xmlns:p14="http://schemas.microsoft.com/office/powerpoint/2010/main" val="1468452498"/>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2A5F15E-1EBA-4110-8EC0-CE0E3EB21064}"/>
              </a:ext>
            </a:extLst>
          </p:cNvPr>
          <p:cNvSpPr>
            <a:spLocks xmlns:a="http://schemas.openxmlformats.org/drawingml/2006/main" noGrp="1"/>
          </p:cNvSpPr>
          <p:nvPr/>
        </p:nvSpPr>
        <p:spPr>
          <a:xfrm xmlns:a="http://schemas.openxmlformats.org/drawingml/2006/main">
            <a:off x="2611755" y="807720"/>
            <a:ext cx="7958138" cy="10772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Referencing Environment Example</a:t>
            </a:r>
          </a:p>
        </p:txBody>
      </p:sp>
      <p:sp>
        <p:nvSpPr>
          <p:cNvPr id="2" name="slide-number">
            <a:extLst xmlns:a="http://schemas.openxmlformats.org/drawingml/2006/main">
              <a:ext uri="{FF2B5EF4-FFF2-40B4-BE49-F238E27FC236}">
                <a16:creationId xmlns:a16="http://schemas.microsoft.com/office/drawing/2014/main" id="{8C7BF28C-6757-4E63-8857-0B2AAE894119}"/>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6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37</a:t>
            </a:r>
          </a:p>
        </p:txBody>
      </p:sp>
      <p:sp>
        <p:nvSpPr>
          <p:cNvPr id="3" name="text-3">
            <a:extLst xmlns:a="http://schemas.openxmlformats.org/drawingml/2006/main">
              <a:ext uri="{FF2B5EF4-FFF2-40B4-BE49-F238E27FC236}">
                <a16:creationId xmlns:a16="http://schemas.microsoft.com/office/drawing/2014/main" id="{B9A329DB-EC61-48F3-94CD-DF9C21417A86}"/>
              </a:ext>
            </a:extLst>
          </p:cNvPr>
          <p:cNvSpPr>
            <a:spLocks xmlns:a="http://schemas.openxmlformats.org/drawingml/2006/main" noGrp="1"/>
          </p:cNvSpPr>
          <p:nvPr/>
        </p:nvSpPr>
        <p:spPr>
          <a:xfrm xmlns:a="http://schemas.openxmlformats.org/drawingml/2006/main">
            <a:off x="2686050" y="1876425"/>
            <a:ext cx="4248150" cy="45910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14300" tIns="114300" rIns="114300" bIns="114300" anchor="t">
            <a:noAutofit/>
          </a:bodyPr>
          <a:lstStyle xmlns:a="http://schemas.openxmlformats.org/drawingml/2006/main">
            <a:defPPr algn="l">
              <a:defRPr sz="1800" b="0" i="0">
                <a:solidFill>
                  <a:srgbClr val="FFFFFF"/>
                </a:solidFill>
                <a:latin typeface="Courier New"/>
                <a:ea typeface="Courier New"/>
                <a:cs typeface="Courier New"/>
              </a:defRPr>
            </a:defPPr>
            <a:lvl1pPr algn="l">
              <a:defRPr sz="1800" b="0" i="0">
                <a:solidFill>
                  <a:srgbClr val="FFFFFF"/>
                </a:solidFill>
                <a:latin typeface="Courier New"/>
                <a:ea typeface="Courier New"/>
                <a:cs typeface="Courier New"/>
              </a:defRPr>
            </a:lvl1pPr>
            <a:lvl2pPr algn="l">
              <a:defRPr sz="1800" b="0" i="0">
                <a:solidFill>
                  <a:srgbClr val="FFFFFF"/>
                </a:solidFill>
                <a:latin typeface="Courier New"/>
                <a:ea typeface="Courier New"/>
                <a:cs typeface="Courier New"/>
              </a:defRPr>
            </a:lvl2pPr>
            <a:lvl3pPr algn="l">
              <a:defRPr sz="1800" b="0" i="0">
                <a:solidFill>
                  <a:srgbClr val="FFFFFF"/>
                </a:solidFill>
                <a:latin typeface="Courier New"/>
                <a:ea typeface="Courier New"/>
                <a:cs typeface="Courier New"/>
              </a:defRPr>
            </a:lvl3pPr>
            <a:lvl4pPr algn="l">
              <a:defRPr sz="1800" b="0" i="0">
                <a:solidFill>
                  <a:srgbClr val="FFFFFF"/>
                </a:solidFill>
                <a:latin typeface="Courier New"/>
                <a:ea typeface="Courier New"/>
                <a:cs typeface="Courier New"/>
              </a:defRPr>
            </a:lvl4pPr>
            <a:lvl5pPr algn="l">
              <a:defRPr sz="1800" b="0" i="0">
                <a:solidFill>
                  <a:srgbClr val="FFFFFF"/>
                </a:solidFill>
                <a:latin typeface="Courier New"/>
                <a:ea typeface="Courier New"/>
                <a:cs typeface="Courier New"/>
              </a:defRPr>
            </a:lvl5pPr>
            <a:lvl6pPr algn="l">
              <a:defRPr sz="1800" b="0" i="0">
                <a:solidFill>
                  <a:srgbClr val="FFFFFF"/>
                </a:solidFill>
                <a:latin typeface="Courier New"/>
                <a:ea typeface="Courier New"/>
                <a:cs typeface="Courier New"/>
              </a:defRPr>
            </a:lvl6pPr>
            <a:lvl7pPr algn="l">
              <a:defRPr sz="1800" b="0" i="0">
                <a:solidFill>
                  <a:srgbClr val="FFFFFF"/>
                </a:solidFill>
                <a:latin typeface="Courier New"/>
                <a:ea typeface="Courier New"/>
                <a:cs typeface="Courier New"/>
              </a:defRPr>
            </a:lvl7pPr>
            <a:lvl8pPr algn="l">
              <a:defRPr sz="1800" b="0" i="0">
                <a:solidFill>
                  <a:srgbClr val="FFFFFF"/>
                </a:solidFill>
                <a:latin typeface="Courier New"/>
                <a:ea typeface="Courier New"/>
                <a:cs typeface="Courier New"/>
              </a:defRPr>
            </a:lvl8pPr>
            <a:lvl9pPr algn="l">
              <a:defRPr sz="1800" b="0" i="0">
                <a:solidFill>
                  <a:srgbClr val="FFFFFF"/>
                </a:solidFill>
                <a:latin typeface="Courier New"/>
                <a:ea typeface="Courier New"/>
                <a:cs typeface="Courier New"/>
              </a:defRPr>
            </a:lvl9pPr>
          </a:lstStyle>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function sub1() {</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var x;</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function sub2() {</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alert(x);</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function sub3() {</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var x = 3;</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sub4(sub2);</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function sub4(subx) {</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var x = 4;</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subx();</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x = 1;</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  sub3();</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a:t>
            </a:r>
          </a:p>
          <a:p xmlns:a="http://schemas.openxmlformats.org/drawingml/2006/main">
            <a:pPr algn="l">
              <a:lnSpc>
                <a:spcPct val="92000"/>
              </a:lnSpc>
              <a:buNone/>
              <a:defRPr sz="1800" b="0" i="0">
                <a:solidFill>
                  <a:srgbClr val="FFFFFF"/>
                </a:solidFill>
                <a:latin typeface="Courier New"/>
                <a:ea typeface="Courier New"/>
                <a:cs typeface="Courier New"/>
              </a:defRPr>
            </a:pPr>
            <a:r>
              <a:rPr sz="1800" b="0" i="0">
                <a:solidFill>
                  <a:srgbClr val="FFFFFF"/>
                </a:solidFill>
                <a:latin typeface="Courier New"/>
                <a:ea typeface="Courier New"/>
                <a:cs typeface="Courier New"/>
              </a:rPr>
              <a:t>sub1();</a:t>
            </a:r>
          </a:p>
        </p:txBody>
      </p:sp>
      <p:graphicFrame>
        <p:nvGraphicFramePr>
          <p:cNvPr id="4" name="">
            <a:extLst xmlns:a="http://schemas.openxmlformats.org/drawingml/2006/main">
              <a:ext uri="{FF2B5EF4-FFF2-40B4-BE49-F238E27FC236}">
                <a16:creationId xmlns:a16="http://schemas.microsoft.com/office/drawing/2014/main" id="{6E85E6FB-2A98-4F32-91F6-23791F774A0F}"/>
              </a:ext>
            </a:extLst>
          </p:cNvPr>
          <p:cNvGraphicFramePr/>
          <p:nvPr/>
        </p:nvGraphicFramePr>
        <p:xfrm>
          <a:off xmlns:a="http://schemas.openxmlformats.org/drawingml/2006/main" x="7258050" y="2371725"/>
          <a:ext xmlns:a="http://schemas.openxmlformats.org/drawingml/2006/main" cx="3333750" cy="2657475"/>
        </p:xfrm>
        <a:graphic xmlns:a="http://schemas.openxmlformats.org/drawingml/2006/main">
          <a:graphicData uri="http://schemas.openxmlformats.org/drawingml/2006/table">
            <a:tbl>
              <a:tblPr firstRow="0" firstCol="0" bandRow="0"/>
              <a:tblGrid>
                <a:gridCol w="2819400"/>
                <a:gridCol w="514350"/>
              </a:tblGrid>
              <a:tr h="664369">
                <a:tc>
                  <a:txBody>
                    <a:bodyPr lIns="85725" tIns="85725" rIns="85725" bIns="85725">
                      <a:noAutofit/>
                    </a:bodyPr>
                    <a:lstStyle/>
                    <a:p>
                      <a:pPr algn="ctr">
                        <a:lnSpc>
                          <a:spcPct val="100000"/>
                        </a:lnSpc>
                        <a:buNone/>
                      </a:pPr>
                      <a:r>
                        <a:rPr sz="1800">
                          <a:solidFill>
                            <a:srgbClr val="FFFFFF"/>
                          </a:solidFill>
                          <a:latin typeface="Times New Roman"/>
                          <a:ea typeface="Times New Roman"/>
                          <a:cs typeface="Times New Roman"/>
                        </a:rPr>
                        <a:t>Binding rule</a:t>
                      </a:r>
                    </a:p>
                  </a:txBody>
                  <a:tcPr marL="91440" marR="91440" marT="45720" marB="45720" anchor="ctr">
                    <a:lnL w="9525">
                      <a:solidFill>
                        <a:srgbClr val="8EC0C1"/>
                      </a:solidFill>
                      <a:prstDash val="solid"/>
                    </a:lnL>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c>
                  <a:txBody>
                    <a:bodyPr lIns="85725" tIns="85725" rIns="85725" bIns="85725">
                      <a:noAutofit/>
                    </a:bodyPr>
                    <a:lstStyle/>
                    <a:p>
                      <a:pPr algn="ctr">
                        <a:lnSpc>
                          <a:spcPct val="100000"/>
                        </a:lnSpc>
                        <a:buNone/>
                      </a:pPr>
                      <a:r>
                        <a:rPr sz="1800">
                          <a:solidFill>
                            <a:srgbClr val="FFFFFF"/>
                          </a:solidFill>
                          <a:latin typeface="Times New Roman"/>
                          <a:ea typeface="Times New Roman"/>
                          <a:cs typeface="Times New Roman"/>
                        </a:rPr>
                        <a:t>x</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r>
              <a:tr h="664369">
                <a:tc>
                  <a:txBody>
                    <a:bodyPr lIns="85725" tIns="85725" rIns="85725" bIns="85725">
                      <a:noAutofit/>
                    </a:bodyPr>
                    <a:lstStyle/>
                    <a:p>
                      <a:pPr algn="ctr">
                        <a:lnSpc>
                          <a:spcPct val="100000"/>
                        </a:lnSpc>
                        <a:buNone/>
                      </a:pPr>
                      <a:r>
                        <a:rPr sz="1800">
                          <a:solidFill>
                            <a:srgbClr val="FFFFFF"/>
                          </a:solidFill>
                          <a:latin typeface="Times New Roman"/>
                          <a:ea typeface="Times New Roman"/>
                          <a:cs typeface="Times New Roman"/>
                        </a:rPr>
                        <a:t>Shallow: call in sub4</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85725" tIns="85725" rIns="85725" bIns="85725">
                      <a:noAutofit/>
                    </a:bodyPr>
                    <a:lstStyle/>
                    <a:p>
                      <a:pPr algn="ctr">
                        <a:lnSpc>
                          <a:spcPct val="100000"/>
                        </a:lnSpc>
                        <a:buNone/>
                      </a:pPr>
                      <a:r>
                        <a:rPr sz="1800">
                          <a:solidFill>
                            <a:srgbClr val="FFFFFF"/>
                          </a:solidFill>
                          <a:latin typeface="Times New Roman"/>
                          <a:ea typeface="Times New Roman"/>
                          <a:cs typeface="Times New Roman"/>
                        </a:rPr>
                        <a:t>4</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r h="664369">
                <a:tc>
                  <a:txBody>
                    <a:bodyPr lIns="85725" tIns="85725" rIns="85725" bIns="85725">
                      <a:noAutofit/>
                    </a:bodyPr>
                    <a:lstStyle/>
                    <a:p>
                      <a:pPr algn="ctr">
                        <a:lnSpc>
                          <a:spcPct val="100000"/>
                        </a:lnSpc>
                        <a:buNone/>
                      </a:pPr>
                      <a:r>
                        <a:rPr sz="1800">
                          <a:solidFill>
                            <a:srgbClr val="FFFFFF"/>
                          </a:solidFill>
                          <a:latin typeface="Times New Roman"/>
                          <a:ea typeface="Times New Roman"/>
                          <a:cs typeface="Times New Roman"/>
                        </a:rPr>
                        <a:t>Deep: definition in sub1</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85725" tIns="85725" rIns="85725" bIns="85725">
                      <a:noAutofit/>
                    </a:bodyPr>
                    <a:lstStyle/>
                    <a:p>
                      <a:pPr algn="ctr">
                        <a:lnSpc>
                          <a:spcPct val="100000"/>
                        </a:lnSpc>
                        <a:buNone/>
                      </a:pPr>
                      <a:r>
                        <a:rPr sz="1800">
                          <a:solidFill>
                            <a:srgbClr val="FFFFFF"/>
                          </a:solidFill>
                          <a:latin typeface="Times New Roman"/>
                          <a:ea typeface="Times New Roman"/>
                          <a:cs typeface="Times New Roman"/>
                        </a:rPr>
                        <a:t>1</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r h="664369">
                <a:tc>
                  <a:txBody>
                    <a:bodyPr lIns="85725" tIns="85725" rIns="85725" bIns="85725">
                      <a:noAutofit/>
                    </a:bodyPr>
                    <a:lstStyle/>
                    <a:p>
                      <a:pPr algn="ctr">
                        <a:lnSpc>
                          <a:spcPct val="100000"/>
                        </a:lnSpc>
                        <a:buNone/>
                      </a:pPr>
                      <a:r>
                        <a:rPr sz="1800">
                          <a:solidFill>
                            <a:srgbClr val="FFFFFF"/>
                          </a:solidFill>
                          <a:latin typeface="Times New Roman"/>
                          <a:ea typeface="Times New Roman"/>
                          <a:cs typeface="Times New Roman"/>
                        </a:rPr>
                        <a:t>Ad hoc: passing in sub3</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85725" tIns="85725" rIns="85725" bIns="85725">
                      <a:noAutofit/>
                    </a:bodyPr>
                    <a:lstStyle/>
                    <a:p>
                      <a:pPr algn="ctr">
                        <a:lnSpc>
                          <a:spcPct val="100000"/>
                        </a:lnSpc>
                        <a:buNone/>
                      </a:pPr>
                      <a:r>
                        <a:rPr sz="1800">
                          <a:solidFill>
                            <a:srgbClr val="FFFFFF"/>
                          </a:solidFill>
                          <a:latin typeface="Times New Roman"/>
                          <a:ea typeface="Times New Roman"/>
                          <a:cs typeface="Times New Roman"/>
                        </a:rPr>
                        <a:t>3</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bl>
          </a:graphicData>
        </a:graphic>
      </p:graphicFrame>
      <p:sp>
        <p:nvSpPr>
          <p:cNvPr id="5" name="text-4">
            <a:extLst xmlns:a="http://schemas.openxmlformats.org/drawingml/2006/main">
              <a:ext uri="{FF2B5EF4-FFF2-40B4-BE49-F238E27FC236}">
                <a16:creationId xmlns:a16="http://schemas.microsoft.com/office/drawing/2014/main" id="{AF017652-A5ED-4559-8EB9-1342D7AB50A5}"/>
              </a:ext>
            </a:extLst>
          </p:cNvPr>
          <p:cNvSpPr>
            <a:spLocks xmlns:a="http://schemas.openxmlformats.org/drawingml/2006/main" noGrp="1"/>
          </p:cNvSpPr>
          <p:nvPr/>
        </p:nvSpPr>
        <p:spPr>
          <a:xfrm xmlns:a="http://schemas.openxmlformats.org/drawingml/2006/main">
            <a:off x="7372350" y="5248275"/>
            <a:ext cx="320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C5FAEB"/>
                </a:solidFill>
                <a:latin typeface="Times New Roman"/>
                <a:ea typeface="Times New Roman"/>
                <a:cs typeface="Times New Roman"/>
              </a:defRPr>
            </a:defPPr>
            <a:lvl1pPr algn="l">
              <a:defRPr sz="2000" b="0" i="0">
                <a:solidFill>
                  <a:srgbClr val="C5FAEB"/>
                </a:solidFill>
                <a:latin typeface="Times New Roman"/>
                <a:ea typeface="Times New Roman"/>
                <a:cs typeface="Times New Roman"/>
              </a:defRPr>
            </a:lvl1pPr>
            <a:lvl2pPr algn="l">
              <a:defRPr sz="2000" b="0" i="0">
                <a:solidFill>
                  <a:srgbClr val="C5FAEB"/>
                </a:solidFill>
                <a:latin typeface="Times New Roman"/>
                <a:ea typeface="Times New Roman"/>
                <a:cs typeface="Times New Roman"/>
              </a:defRPr>
            </a:lvl2pPr>
            <a:lvl3pPr algn="l">
              <a:defRPr sz="2000" b="0" i="0">
                <a:solidFill>
                  <a:srgbClr val="C5FAEB"/>
                </a:solidFill>
                <a:latin typeface="Times New Roman"/>
                <a:ea typeface="Times New Roman"/>
                <a:cs typeface="Times New Roman"/>
              </a:defRPr>
            </a:lvl3pPr>
            <a:lvl4pPr algn="l">
              <a:defRPr sz="2000" b="0" i="0">
                <a:solidFill>
                  <a:srgbClr val="C5FAEB"/>
                </a:solidFill>
                <a:latin typeface="Times New Roman"/>
                <a:ea typeface="Times New Roman"/>
                <a:cs typeface="Times New Roman"/>
              </a:defRPr>
            </a:lvl4pPr>
            <a:lvl5pPr algn="l">
              <a:defRPr sz="2000" b="0" i="0">
                <a:solidFill>
                  <a:srgbClr val="C5FAEB"/>
                </a:solidFill>
                <a:latin typeface="Times New Roman"/>
                <a:ea typeface="Times New Roman"/>
                <a:cs typeface="Times New Roman"/>
              </a:defRPr>
            </a:lvl5pPr>
            <a:lvl6pPr algn="l">
              <a:defRPr sz="2000" b="0" i="0">
                <a:solidFill>
                  <a:srgbClr val="C5FAEB"/>
                </a:solidFill>
                <a:latin typeface="Times New Roman"/>
                <a:ea typeface="Times New Roman"/>
                <a:cs typeface="Times New Roman"/>
              </a:defRPr>
            </a:lvl6pPr>
            <a:lvl7pPr algn="l">
              <a:defRPr sz="2000" b="0" i="0">
                <a:solidFill>
                  <a:srgbClr val="C5FAEB"/>
                </a:solidFill>
                <a:latin typeface="Times New Roman"/>
                <a:ea typeface="Times New Roman"/>
                <a:cs typeface="Times New Roman"/>
              </a:defRPr>
            </a:lvl7pPr>
            <a:lvl8pPr algn="l">
              <a:defRPr sz="2000" b="0" i="0">
                <a:solidFill>
                  <a:srgbClr val="C5FAEB"/>
                </a:solidFill>
                <a:latin typeface="Times New Roman"/>
                <a:ea typeface="Times New Roman"/>
                <a:cs typeface="Times New Roman"/>
              </a:defRPr>
            </a:lvl8pPr>
            <a:lvl9pPr algn="l">
              <a:defRPr sz="2000" b="0" i="0">
                <a:solidFill>
                  <a:srgbClr val="C5FAEB"/>
                </a:solidFill>
                <a:latin typeface="Times New Roman"/>
                <a:ea typeface="Times New Roman"/>
                <a:cs typeface="Times New Roman"/>
              </a:defRPr>
            </a:lvl9pPr>
          </a:lstStyle>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These are alternative</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binding policies.</a:t>
            </a:r>
          </a:p>
        </p:txBody>
      </p:sp>
      <p:sp>
        <p:nvSpPr>
          <p:cNvPr id="6" name="text-5">
            <a:extLst xmlns:a="http://schemas.openxmlformats.org/drawingml/2006/main">
              <a:ext uri="{FF2B5EF4-FFF2-40B4-BE49-F238E27FC236}">
                <a16:creationId xmlns:a16="http://schemas.microsoft.com/office/drawing/2014/main" id="{9CCA0B0C-6D63-404E-A5F9-F69D9110535F}"/>
              </a:ext>
            </a:extLst>
          </p:cNvPr>
          <p:cNvSpPr>
            <a:spLocks xmlns:a="http://schemas.openxmlformats.org/drawingml/2006/main" noGrp="1"/>
          </p:cNvSpPr>
          <p:nvPr/>
        </p:nvSpPr>
        <p:spPr>
          <a:xfrm xmlns:a="http://schemas.openxmlformats.org/drawingml/2006/main">
            <a:off x="7372350" y="5953125"/>
            <a:ext cx="320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C5FAEB"/>
                </a:solidFill>
                <a:latin typeface="Times New Roman"/>
                <a:ea typeface="Times New Roman"/>
                <a:cs typeface="Times New Roman"/>
              </a:defRPr>
            </a:defPPr>
            <a:lvl1pPr algn="l">
              <a:defRPr sz="2000" b="0" i="0">
                <a:solidFill>
                  <a:srgbClr val="C5FAEB"/>
                </a:solidFill>
                <a:latin typeface="Times New Roman"/>
                <a:ea typeface="Times New Roman"/>
                <a:cs typeface="Times New Roman"/>
              </a:defRPr>
            </a:lvl1pPr>
            <a:lvl2pPr algn="l">
              <a:defRPr sz="2000" b="0" i="0">
                <a:solidFill>
                  <a:srgbClr val="C5FAEB"/>
                </a:solidFill>
                <a:latin typeface="Times New Roman"/>
                <a:ea typeface="Times New Roman"/>
                <a:cs typeface="Times New Roman"/>
              </a:defRPr>
            </a:lvl2pPr>
            <a:lvl3pPr algn="l">
              <a:defRPr sz="2000" b="0" i="0">
                <a:solidFill>
                  <a:srgbClr val="C5FAEB"/>
                </a:solidFill>
                <a:latin typeface="Times New Roman"/>
                <a:ea typeface="Times New Roman"/>
                <a:cs typeface="Times New Roman"/>
              </a:defRPr>
            </a:lvl3pPr>
            <a:lvl4pPr algn="l">
              <a:defRPr sz="2000" b="0" i="0">
                <a:solidFill>
                  <a:srgbClr val="C5FAEB"/>
                </a:solidFill>
                <a:latin typeface="Times New Roman"/>
                <a:ea typeface="Times New Roman"/>
                <a:cs typeface="Times New Roman"/>
              </a:defRPr>
            </a:lvl4pPr>
            <a:lvl5pPr algn="l">
              <a:defRPr sz="2000" b="0" i="0">
                <a:solidFill>
                  <a:srgbClr val="C5FAEB"/>
                </a:solidFill>
                <a:latin typeface="Times New Roman"/>
                <a:ea typeface="Times New Roman"/>
                <a:cs typeface="Times New Roman"/>
              </a:defRPr>
            </a:lvl5pPr>
            <a:lvl6pPr algn="l">
              <a:defRPr sz="2000" b="0" i="0">
                <a:solidFill>
                  <a:srgbClr val="C5FAEB"/>
                </a:solidFill>
                <a:latin typeface="Times New Roman"/>
                <a:ea typeface="Times New Roman"/>
                <a:cs typeface="Times New Roman"/>
              </a:defRPr>
            </a:lvl6pPr>
            <a:lvl7pPr algn="l">
              <a:defRPr sz="2000" b="0" i="0">
                <a:solidFill>
                  <a:srgbClr val="C5FAEB"/>
                </a:solidFill>
                <a:latin typeface="Times New Roman"/>
                <a:ea typeface="Times New Roman"/>
                <a:cs typeface="Times New Roman"/>
              </a:defRPr>
            </a:lvl7pPr>
            <a:lvl8pPr algn="l">
              <a:defRPr sz="2000" b="0" i="0">
                <a:solidFill>
                  <a:srgbClr val="C5FAEB"/>
                </a:solidFill>
                <a:latin typeface="Times New Roman"/>
                <a:ea typeface="Times New Roman"/>
                <a:cs typeface="Times New Roman"/>
              </a:defRPr>
            </a:lvl8pPr>
            <a:lvl9pPr algn="l">
              <a:defRPr sz="2000" b="0" i="0">
                <a:solidFill>
                  <a:srgbClr val="C5FAEB"/>
                </a:solidFill>
                <a:latin typeface="Times New Roman"/>
                <a:ea typeface="Times New Roman"/>
                <a:cs typeface="Times New Roman"/>
              </a:defRPr>
            </a:lvl9pPr>
          </a:lstStyle>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Actual JavaScript: 1</a:t>
            </a:r>
          </a:p>
          <a:p xmlns:a="http://schemas.openxmlformats.org/drawingml/2006/main">
            <a:pPr algn="l">
              <a:lnSpc>
                <a:spcPct val="106000"/>
              </a:lnSpc>
              <a:buNone/>
              <a:defRPr sz="2000" b="0" i="0">
                <a:solidFill>
                  <a:srgbClr val="C5FAEB"/>
                </a:solidFill>
                <a:latin typeface="Times New Roman"/>
                <a:ea typeface="Times New Roman"/>
                <a:cs typeface="Times New Roman"/>
              </a:defRPr>
            </a:pPr>
            <a:r>
              <a:rPr sz="2000" b="0" i="0">
                <a:solidFill>
                  <a:srgbClr val="C5FAEB"/>
                </a:solidFill>
                <a:latin typeface="Times New Roman"/>
                <a:ea typeface="Times New Roman"/>
                <a:cs typeface="Times New Roman"/>
              </a:rPr>
              <a:t>(lexical scope)</a:t>
            </a:r>
          </a:p>
        </p:txBody>
      </p:sp>
    </p:spTree>
    <p:extLst>
      <p:ext uri="{BB962C8B-B14F-4D97-AF65-F5344CB8AC3E}">
        <p14:creationId xmlns:p14="http://schemas.microsoft.com/office/powerpoint/2010/main" val="1400335401"/>
      </p:ext>
    </p:extLst>
  </p:cSld>
</p:sld>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2026-10-23T15:50:50.4600000Z</dcterms:created>
  <dcterms:modified xsi:type="dcterms:W3CDTF">2026-10-23T15:50:50.4600000Z</dcterms:modified>
</coreProperties>
</file>