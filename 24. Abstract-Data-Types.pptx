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nativeTemplate/slideLayouts/slideLayout9.xml" ContentType="application/vnd.openxmlformats-officedocument.presentationml.slideLayout+xml"/>
  <Override PartName="/ppt/nativeTemplate/slideLayouts/slideLayout1.xml" ContentType="application/vnd.openxmlformats-officedocument.presentationml.slideLayout+xml"/>
  <Override PartName="/ppt/nativeTemplate/slideLayouts/slideLayout5.xml" ContentType="application/vnd.openxmlformats-officedocument.presentationml.slideLayout+xml"/>
  <Override PartName="/ppt/nativeTemplate/slideLayouts/slideLayout4.xml" ContentType="application/vnd.openxmlformats-officedocument.presentationml.slideLayout+xml"/>
  <Default Extension="jpeg" ContentType="image/jpeg"/>
  <Override PartName="/ppt/nativeTemplate/slideLayouts/slideLayout2.xml" ContentType="application/vnd.openxmlformats-officedocument.presentationml.slideLayout+xml"/>
  <Override PartName="/ppt/nativeTemplate/slideLayouts/slideLayout3.xml" ContentType="application/vnd.openxmlformats-officedocument.presentationml.slideLayout+xml"/>
  <Override PartName="/ppt/nativeTemplate/slideMasters/slideMaster1.xml" ContentType="application/vnd.openxmlformats-officedocument.presentationml.slideMaster+xml"/>
  <Override PartName="/ppt/nativeTemplate/slideLayouts/slideLayout10.xml" ContentType="application/vnd.openxmlformats-officedocument.presentationml.slideLayout+xml"/>
  <Override PartName="/ppt/nativeTemplate/slideLayouts/slideLayout7.xml" ContentType="application/vnd.openxmlformats-officedocument.presentationml.slideLayout+xml"/>
  <Override PartName="/ppt/nativeTemplate/theme/theme1.xml" ContentType="application/vnd.openxmlformats-officedocument.theme+xml"/>
  <Override PartName="/ppt/nativeTemplate/slideLayouts/slideLayout8.xml" ContentType="application/vnd.openxmlformats-officedocument.presentationml.slideLayout+xml"/>
  <Override PartName="/ppt/nativeTemplate/slideLayouts/slideLayout11.xml" ContentType="application/vnd.openxmlformats-officedocument.presentationml.slideLayout+xml"/>
  <Override PartName="/ppt/nativeTemplate/slideLayouts/slideLayout6.xml" ContentType="application/vnd.openxmlformats-officedocument.presentationml.slideLayout+xml"/>
</Types>
</file>

<file path=_rels/.rels>&#65279;<?xml version="1.0" encoding="utf-8"?><Relationships xmlns="http://schemas.openxmlformats.org/package/2006/relationships"><Relationship Type="http://schemas.openxmlformats.org/package/2006/relationships/metadata/core-properties" Target="/docProps/core.xml" Id="R09b70864b55b4c99" /><Relationship Type="http://schemas.openxmlformats.org/officeDocument/2006/relationships/extended-properties" Target="/docProps/app.xml" Id="Rbd2232d264e8406e" /><Relationship Type="http://schemas.openxmlformats.org/officeDocument/2006/relationships/officeDocument" Target="/ppt/presentation.xml" Id="Radb159e2713c447b" /></Relationships>
</file>

<file path=ppt/presentation.xml><?xml version="1.0" encoding="utf-8"?>
<p:presentation xmlns:p="http://schemas.openxmlformats.org/presentationml/2006/main">
  <p:sldMasterIdLst>
    <p:sldMasterId xmlns:ns0="http://schemas.openxmlformats.org/officeDocument/2006/relationships" id="2147483648" ns0:id="rIdNativeTemplateMaster"/>
  </p:sldMasterIdLst>
  <p:notesMasterIdLst>
    <p:notesMasterId xmlns:r="http://schemas.openxmlformats.org/officeDocument/2006/relationships" r:id="R3c8d179998ee44ca"/>
  </p:notesMasterIdLst>
  <p:sldIdLst>
    <p:sldId xmlns:r="http://schemas.openxmlformats.org/officeDocument/2006/relationships" id="256" r:id="R5fa4553e36314d5c"/>
    <p:sldId xmlns:r="http://schemas.openxmlformats.org/officeDocument/2006/relationships" id="257" r:id="Rc7cdfc1a56094985"/>
    <p:sldId xmlns:r="http://schemas.openxmlformats.org/officeDocument/2006/relationships" id="258" r:id="R1aebff5c469a458e"/>
    <p:sldId xmlns:r="http://schemas.openxmlformats.org/officeDocument/2006/relationships" id="259" r:id="R5b32a1b6b7ed4f57"/>
    <p:sldId xmlns:r="http://schemas.openxmlformats.org/officeDocument/2006/relationships" id="260" r:id="R4c847a165f7f414d"/>
    <p:sldId xmlns:r="http://schemas.openxmlformats.org/officeDocument/2006/relationships" id="261" r:id="R9d833d324f7c4935"/>
    <p:sldId xmlns:r="http://schemas.openxmlformats.org/officeDocument/2006/relationships" id="262" r:id="R746bca990bef48e1"/>
    <p:sldId xmlns:r="http://schemas.openxmlformats.org/officeDocument/2006/relationships" id="263" r:id="Rff845725d253474f"/>
    <p:sldId xmlns:r="http://schemas.openxmlformats.org/officeDocument/2006/relationships" id="264" r:id="R46e0d2932ef443a3"/>
    <p:sldId xmlns:r="http://schemas.openxmlformats.org/officeDocument/2006/relationships" id="265" r:id="R5ed77edb512f4243"/>
    <p:sldId xmlns:r="http://schemas.openxmlformats.org/officeDocument/2006/relationships" id="266" r:id="Rb5767e4d193e41a7"/>
    <p:sldId xmlns:r="http://schemas.openxmlformats.org/officeDocument/2006/relationships" id="267" r:id="R41380d39f36f4189"/>
    <p:sldId xmlns:r="http://schemas.openxmlformats.org/officeDocument/2006/relationships" id="268" r:id="R6c013c2749b348f5"/>
    <p:sldId xmlns:r="http://schemas.openxmlformats.org/officeDocument/2006/relationships" id="269" r:id="R0998654fb1bb4ec3"/>
    <p:sldId xmlns:r="http://schemas.openxmlformats.org/officeDocument/2006/relationships" id="270" r:id="Rc1d9e3e5fc4c42e3"/>
    <p:sldId xmlns:r="http://schemas.openxmlformats.org/officeDocument/2006/relationships" id="271" r:id="R5e713f6b4e314ba5"/>
    <p:sldId xmlns:r="http://schemas.openxmlformats.org/officeDocument/2006/relationships" id="272" r:id="R390c2f4aae93490f"/>
    <p:sldId xmlns:r="http://schemas.openxmlformats.org/officeDocument/2006/relationships" id="273" r:id="Rc6c52757cbb448c0"/>
    <p:sldId xmlns:r="http://schemas.openxmlformats.org/officeDocument/2006/relationships" id="274" r:id="Rdb91618a1acb4448"/>
    <p:sldId xmlns:r="http://schemas.openxmlformats.org/officeDocument/2006/relationships" id="275" r:id="Rf94cefdaf8034ea8"/>
    <p:sldId xmlns:r="http://schemas.openxmlformats.org/officeDocument/2006/relationships" id="276" r:id="R80237f18afe64cca"/>
    <p:sldId xmlns:r="http://schemas.openxmlformats.org/officeDocument/2006/relationships" id="277" r:id="R3d47e2fbf32644e6"/>
    <p:sldId xmlns:r="http://schemas.openxmlformats.org/officeDocument/2006/relationships" id="278" r:id="R650a8b1b52ab409a"/>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notesMaster" Target="/ppt/notesMasters/notesMaster1.xml" Id="R3c8d179998ee44ca"/><Relationship Type="http://schemas.openxmlformats.org/officeDocument/2006/relationships/presProps" Target="/ppt/presProps.xml" Id="R300151d8c8f24339"/><Relationship Type="http://schemas.openxmlformats.org/officeDocument/2006/relationships/viewProps" Target="/ppt/viewProps.xml" Id="R7e021c61b85d4290"/><Relationship Type="http://schemas.openxmlformats.org/officeDocument/2006/relationships/tableStyles" Target="/ppt/tableStyles.xml" Id="R90bf8568c2084951"/><Relationship Type="http://schemas.openxmlformats.org/officeDocument/2006/relationships/slide" Target="/ppt/slides/slide1.xml" Id="R5fa4553e36314d5c"/><Relationship Type="http://schemas.openxmlformats.org/officeDocument/2006/relationships/slide" Target="/ppt/slides/slide2.xml" Id="Rc7cdfc1a56094985"/><Relationship Type="http://schemas.openxmlformats.org/officeDocument/2006/relationships/slide" Target="/ppt/slides/slide3.xml" Id="R1aebff5c469a458e"/><Relationship Type="http://schemas.openxmlformats.org/officeDocument/2006/relationships/slide" Target="/ppt/slides/slide4.xml" Id="R5b32a1b6b7ed4f57"/><Relationship Type="http://schemas.openxmlformats.org/officeDocument/2006/relationships/slide" Target="/ppt/slides/slide5.xml" Id="R4c847a165f7f414d"/><Relationship Type="http://schemas.openxmlformats.org/officeDocument/2006/relationships/slide" Target="/ppt/slides/slide6.xml" Id="R9d833d324f7c4935"/><Relationship Type="http://schemas.openxmlformats.org/officeDocument/2006/relationships/slide" Target="/ppt/slides/slide7.xml" Id="R746bca990bef48e1"/><Relationship Type="http://schemas.openxmlformats.org/officeDocument/2006/relationships/slide" Target="/ppt/slides/slide8.xml" Id="Rff845725d253474f"/><Relationship Type="http://schemas.openxmlformats.org/officeDocument/2006/relationships/slide" Target="/ppt/slides/slide9.xml" Id="R46e0d2932ef443a3"/><Relationship Type="http://schemas.openxmlformats.org/officeDocument/2006/relationships/slide" Target="/ppt/slides/slide10.xml" Id="R5ed77edb512f4243"/><Relationship Type="http://schemas.openxmlformats.org/officeDocument/2006/relationships/slide" Target="/ppt/slides/slide11.xml" Id="Rb5767e4d193e41a7"/><Relationship Type="http://schemas.openxmlformats.org/officeDocument/2006/relationships/slide" Target="/ppt/slides/slide12.xml" Id="R41380d39f36f4189"/><Relationship Type="http://schemas.openxmlformats.org/officeDocument/2006/relationships/slide" Target="/ppt/slides/slide13.xml" Id="R6c013c2749b348f5"/><Relationship Type="http://schemas.openxmlformats.org/officeDocument/2006/relationships/slide" Target="/ppt/slides/slide14.xml" Id="R0998654fb1bb4ec3"/><Relationship Type="http://schemas.openxmlformats.org/officeDocument/2006/relationships/slide" Target="/ppt/slides/slide15.xml" Id="Rc1d9e3e5fc4c42e3"/><Relationship Type="http://schemas.openxmlformats.org/officeDocument/2006/relationships/slide" Target="/ppt/slides/slide16.xml" Id="R5e713f6b4e314ba5"/><Relationship Type="http://schemas.openxmlformats.org/officeDocument/2006/relationships/slide" Target="/ppt/slides/slide17.xml" Id="R390c2f4aae93490f"/><Relationship Type="http://schemas.openxmlformats.org/officeDocument/2006/relationships/slide" Target="/ppt/slides/slide18.xml" Id="Rc6c52757cbb448c0"/><Relationship Type="http://schemas.openxmlformats.org/officeDocument/2006/relationships/slide" Target="/ppt/slides/slide19.xml" Id="Rdb91618a1acb4448"/><Relationship Type="http://schemas.openxmlformats.org/officeDocument/2006/relationships/slide" Target="/ppt/slides/slide20.xml" Id="Rf94cefdaf8034ea8"/><Relationship Type="http://schemas.openxmlformats.org/officeDocument/2006/relationships/slide" Target="/ppt/slides/slide21.xml" Id="R80237f18afe64cca"/><Relationship Type="http://schemas.openxmlformats.org/officeDocument/2006/relationships/slide" Target="/ppt/slides/slide22.xml" Id="R3d47e2fbf32644e6"/><Relationship Type="http://schemas.openxmlformats.org/officeDocument/2006/relationships/slide" Target="/ppt/slides/slide23.xml" Id="R650a8b1b52ab409a"/><Relationship Id="rIdNativeTemplateMaster" Type="http://schemas.openxmlformats.org/officeDocument/2006/relationships/slideMaster" Target="nativeTemplate/slideMasters/slideMaster1.xml"/><Relationship Id="rIdNativeTemplateTheme" Type="http://schemas.openxmlformats.org/officeDocument/2006/relationships/theme" Target="nativeTemplate/theme/theme1.xml"/></Relationships>
</file>

<file path=ppt/native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Arial"/>
              </a:rPr>
              <a:t>◤</a:t>
            </a:r>
            <a:endParaRPr lang="en-US" sz="24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chor="ct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3/3/26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3/3/26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3/3/26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nativeTemplate/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3/3/26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nativeTemplate/theme/_rels/theme1.xml.rels><?xml version='1.0' encoding='UTF-8' standalone='yes'?>
<Relationships xmlns="http://schemas.openxmlformats.org/package/2006/relationships"><Relationship Id="rId1" Type="http://schemas.openxmlformats.org/officeDocument/2006/relationships/image" Target="../media/image1.jpeg"/></Relationships>
</file>

<file path=ppt/nativeTemplate/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263e0349b6cb44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lumMod val="110000"/>
                <a:satMod val="105000"/>
                <a:alpha val="88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4000"/>
                <a:lumMod val="92000"/>
                <a:satMod val="130000"/>
              </a:schemeClr>
            </a:gs>
            <a:gs pos="100000">
              <a:schemeClr val="phClr">
                <a:shade val="76000"/>
                <a:lumMod val="88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ba6a8cbb04594" /><Relationship Type="http://schemas.openxmlformats.org/officeDocument/2006/relationships/notesMaster" Target="/ppt/notesMasters/notesMaster1.xml" Id="R89db088f841d40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e685bf225044f5" /><Relationship Type="http://schemas.openxmlformats.org/officeDocument/2006/relationships/notesMaster" Target="/ppt/notesMasters/notesMaster1.xml" Id="R3be0092f44e045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9bba8d01ed41fb" /><Relationship Type="http://schemas.openxmlformats.org/officeDocument/2006/relationships/notesMaster" Target="/ppt/notesMasters/notesMaster1.xml" Id="R7c3c7ee1ff5e43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979798e58b400e" /><Relationship Type="http://schemas.openxmlformats.org/officeDocument/2006/relationships/notesMaster" Target="/ppt/notesMasters/notesMaster1.xml" Id="R7b919240219d47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52ed336ae648ad" /><Relationship Type="http://schemas.openxmlformats.org/officeDocument/2006/relationships/notesMaster" Target="/ppt/notesMasters/notesMaster1.xml" Id="R40b2b01e74cd46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38b87e6d2d4ecf" /><Relationship Type="http://schemas.openxmlformats.org/officeDocument/2006/relationships/notesMaster" Target="/ppt/notesMasters/notesMaster1.xml" Id="R778d4182712d44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51200160fb4159" /><Relationship Type="http://schemas.openxmlformats.org/officeDocument/2006/relationships/notesMaster" Target="/ppt/notesMasters/notesMaster1.xml" Id="R96551440b3fa48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b89a9387f049a2" /><Relationship Type="http://schemas.openxmlformats.org/officeDocument/2006/relationships/notesMaster" Target="/ppt/notesMasters/notesMaster1.xml" Id="Rab2a38be639a48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ae859e20ed4d15" /><Relationship Type="http://schemas.openxmlformats.org/officeDocument/2006/relationships/notesMaster" Target="/ppt/notesMasters/notesMaster1.xml" Id="R3e65d78bbe4848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f3137696134ea1" /><Relationship Type="http://schemas.openxmlformats.org/officeDocument/2006/relationships/notesMaster" Target="/ppt/notesMasters/notesMaster1.xml" Id="R8435746d6fe14a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e4c983a94b48e9" /><Relationship Type="http://schemas.openxmlformats.org/officeDocument/2006/relationships/notesMaster" Target="/ppt/notesMasters/notesMaster1.xml" Id="R88ecaf33d4d143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759dd8fa574fc3" /><Relationship Type="http://schemas.openxmlformats.org/officeDocument/2006/relationships/notesMaster" Target="/ppt/notesMasters/notesMaster1.xml" Id="R92be3adf6b364e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76d5c272f74c3c" /><Relationship Type="http://schemas.openxmlformats.org/officeDocument/2006/relationships/notesMaster" Target="/ppt/notesMasters/notesMaster1.xml" Id="Ra9b46906661047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da13a6b56b4fa9" /><Relationship Type="http://schemas.openxmlformats.org/officeDocument/2006/relationships/notesMaster" Target="/ppt/notesMasters/notesMaster1.xml" Id="R4b4aacaa526f4f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f06d2859b74dbb" /><Relationship Type="http://schemas.openxmlformats.org/officeDocument/2006/relationships/notesMaster" Target="/ppt/notesMasters/notesMaster1.xml" Id="Race58a926bf449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6b9e52fa374f67" /><Relationship Type="http://schemas.openxmlformats.org/officeDocument/2006/relationships/notesMaster" Target="/ppt/notesMasters/notesMaster1.xml" Id="R32fb5d736f7a43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27449a7c0a4173" /><Relationship Type="http://schemas.openxmlformats.org/officeDocument/2006/relationships/notesMaster" Target="/ppt/notesMasters/notesMaster1.xml" Id="R82fc2cf07f184c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1e4b39049d49a3" /><Relationship Type="http://schemas.openxmlformats.org/officeDocument/2006/relationships/notesMaster" Target="/ppt/notesMasters/notesMaster1.xml" Id="R04d5fecefc994c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18bd6adbff474e" /><Relationship Type="http://schemas.openxmlformats.org/officeDocument/2006/relationships/notesMaster" Target="/ppt/notesMasters/notesMaster1.xml" Id="R0cf39dde1b7444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6bfc34666d4af3" /><Relationship Type="http://schemas.openxmlformats.org/officeDocument/2006/relationships/notesMaster" Target="/ppt/notesMasters/notesMaster1.xml" Id="Rb02aac089e3441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2d40eb54864960" /><Relationship Type="http://schemas.openxmlformats.org/officeDocument/2006/relationships/notesMaster" Target="/ppt/notesMasters/notesMaster1.xml" Id="Raeb353fe34c14f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1158f7f55d4381" /><Relationship Type="http://schemas.openxmlformats.org/officeDocument/2006/relationships/notesMaster" Target="/ppt/notesMasters/notesMaster1.xml" Id="R540c4bc0f6e548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ffcbc1f9034609" /><Relationship Type="http://schemas.openxmlformats.org/officeDocument/2006/relationships/notesMaster" Target="/ppt/notesMasters/notesMaster1.xml" Id="Rcee96bbdd08840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OVERVIEW</a:t>
            </a:r>
          </a:p>
          <a:p xmlns:a="http://schemas.openxmlformats.org/drawingml/2006/main">
            <a:r>
              <a:t>The lecture begins with abstraction and the distinction between a public contract and an internal representation. It then examines information hiding, object initialization and cleanup, accessors, mutators, and properties. The final section considers larger units of organization and explains how languages prevent naming conflicts.</a:t>
            </a:r>
          </a:p>
          <a:p xmlns:a="http://schemas.openxmlformats.org/drawingml/2006/main">
            <a:r>
              <a:t/>
            </a:r>
          </a:p>
          <a:p xmlns:a="http://schemas.openxmlformats.org/drawingml/2006/main">
            <a:r>
              <a:t>A useful recurring question is: which facts must a client know to use a component correctly, and which decisions can the implementation change without affecting that client?</a:t>
            </a:r>
          </a:p>
          <a:p xmlns:a="http://schemas.openxmlformats.org/drawingml/2006/main">
            <a:r>
              <a:t/>
            </a:r>
          </a:p>
          <a:p xmlns:a="http://schemas.openxmlformats.org/drawingml/2006/main">
            <a:r>
              <a:t>Source provenance</a:t>
            </a:r>
          </a:p>
          <a:p xmlns:a="http://schemas.openxmlformats.org/drawingml/2006/main">
            <a:r>
              <a:t>Slides originally developed by William Killian and modified by Stephanie Schwartz, Gary Zoppetti, and Jingnan Xie. Sources include Robert Sebesta’s Concepts of Programming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lecture moves from the general idea of abstraction to language mechanisms that support it. First, distinguish a type's observable behavior from its internal representation. Then consider how an implementation controls access, establishes an initial state, manages resources, and exposes queries and updates. The final section broadens the discussion from individual data types to compilation units and naming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question: When you call a sorting function, which facts do you need to know? Its accepted inputs, ordering rule, and result matter to the caller. The internal loop structure usually does not. Use this distinction to introduce abstraction before applying it to data 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Process abstraction lets a caller use a named computation through a specification. For example, a distance function can promise a numerical result without exposing its arithmetic steps. Data abstraction applies the same principle to values and the operations available on them.</a:t>
            </a:r>
          </a:p>
          <a:p xmlns:a="http://schemas.openxmlformats.org/drawingml/2006/main">
            <a:r>
              <a:t/>
            </a:r>
          </a:p>
          <a:p xmlns:a="http://schemas.openxmlformats.org/drawingml/2006/main">
            <a:r>
              <a:t>Consider a game character. A movement system may care about position and movement rules, while a score display may care about the character's name and score. The useful abstraction depends on the client's task. Omitting details does not mean omitting essential behavior: an interface still needs to explain inputs, outputs, permitted changes, and exceptional cases.</a:t>
            </a:r>
          </a:p>
          <a:p xmlns:a="http://schemas.openxmlformats.org/drawingml/2006/main">
            <a:r>
              <a:t/>
            </a:r>
          </a:p>
          <a:p xmlns:a="http://schemas.openxmlformats.org/drawingml/2006/main">
            <a:r>
              <a:t>A class is one possible language mechanism. A module with an abstract type can provide the same separation. Abstraction therefore applies beyond object-oriented programming.</a:t>
            </a:r>
          </a:p>
          <a:p xmlns:a="http://schemas.openxmlformats.org/drawingml/2006/main">
            <a:r>
              <a:t/>
            </a:r>
          </a:p>
          <a:p xmlns:a="http://schemas.openxmlformats.org/drawingml/2006/main">
            <a:r>
              <a:t>References</a:t>
            </a:r>
          </a:p>
          <a:p xmlns:a="http://schemas.openxmlformats.org/drawingml/2006/main">
            <a:r>
              <a:t>https://web.mit.edu/6.031/www/sp22/classes/10-abstract-data-types/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stack illustrates the distinction. Its contract might provide push, pop, and isEmpty, with pop returning and removing the most recently pushed value. The contract must also say what happens when pop is called on an empty stack. These behavioral rules define the abstraction.</a:t>
            </a:r>
          </a:p>
          <a:p xmlns:a="http://schemas.openxmlformats.org/drawingml/2006/main">
            <a:r>
              <a:t/>
            </a:r>
          </a:p>
          <a:p xmlns:a="http://schemas.openxmlformats.org/drawingml/2006/main">
            <a:r>
              <a:t>An implementation could store the stack in an array or a linked structure. A client following the interface should not need to know which representation was chosen. Both implementations can satisfy the same ADT.</a:t>
            </a:r>
          </a:p>
          <a:p xmlns:a="http://schemas.openxmlformats.org/drawingml/2006/main">
            <a:r>
              <a:t/>
            </a:r>
          </a:p>
          <a:p xmlns:a="http://schemas.openxmlformats.org/drawingml/2006/main">
            <a:r>
              <a:t>The two conditions on the slide describe common language support for this approach: hide representation details and group the relevant declarations. They are useful implementation mechanisms. The ADT itself is the behavioral specification, and it need not be implemented using a class.</a:t>
            </a:r>
          </a:p>
          <a:p xmlns:a="http://schemas.openxmlformats.org/drawingml/2006/main">
            <a:r>
              <a:t/>
            </a:r>
          </a:p>
          <a:p xmlns:a="http://schemas.openxmlformats.org/drawingml/2006/main">
            <a:r>
              <a:t>References</a:t>
            </a:r>
          </a:p>
          <a:p xmlns:a="http://schemas.openxmlformats.org/drawingml/2006/main">
            <a:r>
              <a:t>https://xlinux.nist.gov/dads/HTML/abstractDataType.html</a:t>
            </a:r>
          </a:p>
          <a:p xmlns:a="http://schemas.openxmlformats.org/drawingml/2006/main">
            <a:r>
              <a:t>https://courses.cs.cornell.edu/cs2110/2025sp/reference/abstract_data_types.html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 stack stores an array and a count. If callers can change count directly, they may make it disagree with the number of stored elements. Restricting updates to stack operations gives the implementation a place to maintain that relationship.</a:t>
            </a:r>
          </a:p>
          <a:p xmlns:a="http://schemas.openxmlformats.org/drawingml/2006/main">
            <a:r>
              <a:t/>
            </a:r>
          </a:p>
          <a:p xmlns:a="http://schemas.openxmlformats.org/drawingml/2006/main">
            <a:r>
              <a:t>A client can still hold a stack, pass it to functions, and call its public operations. What the client should avoid is dependence on the array or count used internally. This separation makes a later representation change easier.</a:t>
            </a:r>
          </a:p>
          <a:p xmlns:a="http://schemas.openxmlformats.org/drawingml/2006/main">
            <a:r>
              <a:t/>
            </a:r>
          </a:p>
          <a:p xmlns:a="http://schemas.openxmlformats.org/drawingml/2006/main">
            <a:r>
              <a:t>For debugging, ask which operations can change the relevant state. A small, well-defined interface narrows that search. Names such as Stack.push and Queue.push also identify which abstraction owns an operation. These benefits depend on a sound interface and implementation; merely putting fields in a class does not establish correctness.</a:t>
            </a:r>
          </a:p>
          <a:p xmlns:a="http://schemas.openxmlformats.org/drawingml/2006/main">
            <a:r>
              <a:t/>
            </a:r>
          </a:p>
          <a:p xmlns:a="http://schemas.openxmlformats.org/drawingml/2006/main">
            <a:r>
              <a:t>References</a:t>
            </a:r>
          </a:p>
          <a:p xmlns:a="http://schemas.openxmlformats.org/drawingml/2006/main">
            <a:r>
              <a:t>https://courses.cs.cornell.edu/cs2110/2025sp/reference/abstract_data_types.html</a:t>
            </a:r>
          </a:p>
          <a:p xmlns:a="http://schemas.openxmlformats.org/drawingml/2006/main">
            <a:r>
              <a:t>https://ocaml.org/manual/5.4/moduleexamples.html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grouped interface tells a maintainer where to look for the operations belonging to a type. If an internal design changes, the related implementation can often be updated together while callers continue to use the same contract.</a:t>
            </a:r>
          </a:p>
          <a:p xmlns:a="http://schemas.openxmlformats.org/drawingml/2006/main">
            <a:r>
              <a:t/>
            </a:r>
          </a:p>
          <a:p xmlns:a="http://schemas.openxmlformats.org/drawingml/2006/main">
            <a:r>
              <a:t>The logical unit and the physical file need not be identical. In C++, a class declaration can be placed in a header while member-function definitions live in a source file. A translation unit includes a source file and the headers it includes. Translation units are compiled separately and then linked. OCaml similarly supports module interfaces and implementations in separate files.</a:t>
            </a:r>
          </a:p>
          <a:p xmlns:a="http://schemas.openxmlformats.org/drawingml/2006/main">
            <a:r>
              <a:t/>
            </a:r>
          </a:p>
          <a:p xmlns:a="http://schemas.openxmlformats.org/drawingml/2006/main">
            <a:r>
              <a:t>Separate compilation is a language and build-system capability. Changing an implementation may avoid recompiling unrelated clients, but interface changes or header dependencies can require more rebuilding. Encapsulation helps organize those dependencies; it does not remove them.</a:t>
            </a:r>
          </a:p>
          <a:p xmlns:a="http://schemas.openxmlformats.org/drawingml/2006/main">
            <a:r>
              <a:t/>
            </a:r>
          </a:p>
          <a:p xmlns:a="http://schemas.openxmlformats.org/drawingml/2006/main">
            <a:r>
              <a:t>References</a:t>
            </a:r>
          </a:p>
          <a:p xmlns:a="http://schemas.openxmlformats.org/drawingml/2006/main">
            <a:r>
              <a:t>https://learn.microsoft.com/en-us/cpp/cpp/program-and-linkage-cpp?view=msvc-170</a:t>
            </a:r>
          </a:p>
          <a:p xmlns:a="http://schemas.openxmlformats.org/drawingml/2006/main">
            <a:r>
              <a:t>https://ocaml.org/manual/5.4/moduleexamples.html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Player sketch groups three fields and one operation. It is pseudocode, so it does not prescribe a particular language's syntax or default visibility. Grouping the members demonstrates encapsulation. Explicit access rules or an abstract interface are still needed to enforce information hiding.</a:t>
            </a:r>
          </a:p>
          <a:p xmlns:a="http://schemas.openxmlformats.org/drawingml/2006/main">
            <a:r>
              <a:t/>
            </a:r>
          </a:p>
          <a:p xmlns:a="http://schemas.openxmlformats.org/drawingml/2006/main">
            <a:r>
              <a:t>For a worked design example, suppose position must stay within the game map. If clients can assign any position directly, they can bypass the rule. A public move operation can compute a candidate position, check the map boundary, and either accept the move or report failure. The position field and any collision helper can remain private.</a:t>
            </a:r>
          </a:p>
          <a:p xmlns:a="http://schemas.openxmlformats.org/drawingml/2006/main">
            <a:r>
              <a:t/>
            </a:r>
          </a:p>
          <a:p xmlns:a="http://schemas.openxmlformats.org/drawingml/2006/main">
            <a:r>
              <a:t>The hidden decision could later change from Cartesian coordinates to another internal representation. Clients should depend on what move means, including how it reports an invalid move, rather than the storage choice. Choosing module boundaries around changeable implementation decisions is the central information-hiding idea.</a:t>
            </a:r>
          </a:p>
          <a:p xmlns:a="http://schemas.openxmlformats.org/drawingml/2006/main">
            <a:r>
              <a:t/>
            </a:r>
          </a:p>
          <a:p xmlns:a="http://schemas.openxmlformats.org/drawingml/2006/main">
            <a:r>
              <a:t>References</a:t>
            </a:r>
          </a:p>
          <a:p xmlns:a="http://schemas.openxmlformats.org/drawingml/2006/main">
            <a:r>
              <a:t>https://wstomv.win.tue.nl/edu/2ip30/references/criteria_for_modularization.pdf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Player class, move may be public while position and a collision-checking helper remain private. A client requests a move through the interface instead of changing position directly. A protected helper can form an additional interface intended for subclasses.</a:t>
            </a:r>
          </a:p>
          <a:p xmlns:a="http://schemas.openxmlformats.org/drawingml/2006/main">
            <a:r>
              <a:t/>
            </a:r>
          </a:p>
          <a:p xmlns:a="http://schemas.openxmlformats.org/drawingml/2006/main">
            <a:r>
              <a:t>Check the language before applying the short definitions literally. In C++, member functions and declared friends can access private members. Protected members are also available in derived-class code, with restrictions on the object through which access occurs. A derived class does not gain access to private base-class members just because it inherits from that class.</a:t>
            </a:r>
          </a:p>
          <a:p xmlns:a="http://schemas.openxmlformats.org/drawingml/2006/main">
            <a:r>
              <a:t/>
            </a:r>
          </a:p>
          <a:p xmlns:a="http://schemas.openxmlformats.org/drawingml/2006/main">
            <a:r>
              <a:t>In Java, protected access also includes code in the declaring class's package. Outside that package, subclass access has additional rules. Java private access also extends across classes nested within the same top-level declaration.</a:t>
            </a:r>
          </a:p>
          <a:p xmlns:a="http://schemas.openxmlformats.org/drawingml/2006/main">
            <a:r>
              <a:t/>
            </a:r>
          </a:p>
          <a:p xmlns:a="http://schemas.openxmlformats.org/drawingml/2006/main">
            <a:r>
              <a:t>These modifiers regulate source-level access. A good abstraction additionally avoids exposing mutable internal objects through its public operations.</a:t>
            </a:r>
          </a:p>
          <a:p xmlns:a="http://schemas.openxmlformats.org/drawingml/2006/main">
            <a:r>
              <a:t/>
            </a:r>
          </a:p>
          <a:p xmlns:a="http://schemas.openxmlformats.org/drawingml/2006/main">
            <a:r>
              <a:t>References</a:t>
            </a:r>
          </a:p>
          <a:p xmlns:a="http://schemas.openxmlformats.org/drawingml/2006/main">
            <a:r>
              <a:t>https://learn.microsoft.com/en-us/cpp/cpp/member-access-control-cpp?view=msvc-170</a:t>
            </a:r>
          </a:p>
          <a:p xmlns:a="http://schemas.openxmlformats.org/drawingml/2006/main">
            <a:r>
              <a:t>https://docs.oracle.com/javase/specs/jls/se21/html/jls-6.html#jls-6.6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constructor establishes an object's initial state before ordinary client operations use it. Begin with a simple class invariant: a Player's health must remain between 0 and 1000. A constructor can accept the initial health, validate it, and reject an invalid argument. A default constructor might choose a useful starting value, while another constructor accepts an explicit value.</a:t>
            </a:r>
          </a:p>
          <a:p xmlns:a="http://schemas.openxmlformats.org/drawingml/2006/main">
            <a:r>
              <a:t/>
            </a:r>
          </a:p>
          <a:p xmlns:a="http://schemas.openxmlformats.org/drawingml/2006/main">
            <a:r>
              <a:t>C++ example:</a:t>
            </a:r>
          </a:p>
          <a:p xmlns:a="http://schemas.openxmlformats.org/drawingml/2006/main">
            <a:r>
              <a:t>class Player {</a:t>
            </a:r>
          </a:p>
          <a:p xmlns:a="http://schemas.openxmlformats.org/drawingml/2006/main">
            <a:r>
              <a:t>    int hp;</a:t>
            </a:r>
          </a:p>
          <a:p xmlns:a="http://schemas.openxmlformats.org/drawingml/2006/main">
            <a:r>
              <a:t>public:</a:t>
            </a:r>
          </a:p>
          <a:p xmlns:a="http://schemas.openxmlformats.org/drawingml/2006/main">
            <a:r>
              <a:t>    explicit Player(int initial) : hp(initial) {</a:t>
            </a:r>
          </a:p>
          <a:p xmlns:a="http://schemas.openxmlformats.org/drawingml/2006/main">
            <a:r>
              <a:t>        if (initial &lt; 0 || initial &gt; 1000)</a:t>
            </a:r>
          </a:p>
          <a:p xmlns:a="http://schemas.openxmlformats.org/drawingml/2006/main">
            <a:r>
              <a:t>            throw std::out_of_range("health");</a:t>
            </a:r>
          </a:p>
          <a:p xmlns:a="http://schemas.openxmlformats.org/drawingml/2006/main">
            <a:r>
              <a:t>    }</a:t>
            </a:r>
          </a:p>
          <a:p xmlns:a="http://schemas.openxmlformats.org/drawingml/2006/main">
            <a:r>
              <a:t>};</a:t>
            </a:r>
          </a:p>
          <a:p xmlns:a="http://schemas.openxmlformats.org/drawingml/2006/main">
            <a:r>
              <a:t>Player p{800};</a:t>
            </a:r>
          </a:p>
          <a:p xmlns:a="http://schemas.openxmlformats.org/drawingml/2006/main">
            <a:r>
              <a:t/>
            </a:r>
          </a:p>
          <a:p xmlns:a="http://schemas.openxmlformats.org/drawingml/2006/main">
            <a:r>
              <a:t>The declaration initializes p and invokes the constructor with 800. The member initializer list initializes hp before the constructor body runs. Include &lt;stdexcept&gt; for the exception type. If validation throws, construction fails, so no fully constructed Player is returned to the caller.</a:t>
            </a:r>
          </a:p>
          <a:p xmlns:a="http://schemas.openxmlformats.org/drawingml/2006/main">
            <a:r>
              <a:t/>
            </a:r>
          </a:p>
          <a:p xmlns:a="http://schemas.openxmlformats.org/drawingml/2006/main">
            <a:r>
              <a:t>The C++ expression Player(800) also performs initialization, even though it looks like a function call. An existing object's constructor cannot be invoked as p.Player(800). Java uses new Player(800) for object creation and allows constructor chaining with this(...) or super(...) inside a constructor. Constructor declarations in both languages use the class's spelling, but ordinary method-call rules do not apply.</a:t>
            </a:r>
          </a:p>
          <a:p xmlns:a="http://schemas.openxmlformats.org/drawingml/2006/main">
            <a:r>
              <a:t/>
            </a:r>
          </a:p>
          <a:p xmlns:a="http://schemas.openxmlformats.org/drawingml/2006/main">
            <a:r>
              <a:t>References</a:t>
            </a:r>
          </a:p>
          <a:p xmlns:a="http://schemas.openxmlformats.org/drawingml/2006/main">
            <a:r>
              <a:t>https://eel.is/c++draft/class.ctor.general</a:t>
            </a:r>
          </a:p>
          <a:p xmlns:a="http://schemas.openxmlformats.org/drawingml/2006/main">
            <a:r>
              <a:t>https://eel.is/c++draft/class.base.init</a:t>
            </a:r>
          </a:p>
          <a:p xmlns:a="http://schemas.openxmlformats.org/drawingml/2006/main">
            <a:r>
              <a:t>https://docs.oracle.com/javase/specs/jls/se25/html/jls-8.html#jls-8.8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 example separates storage allocation, object construction, object destruction, and storage deallocation. The six-line slide excerpt assumes that T has ordinary alignment and that its constructor, destructor, and the omitted use do not throw. Include &lt;cstdlib&gt; and &lt;new&gt;. The null check handles allocation failure before placement new receives the buffer.</a:t>
            </a:r>
          </a:p>
          <a:p xmlns:a="http://schemas.openxmlformats.org/drawingml/2006/main">
            <a:r>
              <a:t/>
            </a:r>
          </a:p>
          <a:p xmlns:a="http://schemas.openxmlformats.org/drawingml/2006/main">
            <a:r>
              <a:t>Trace the four operations:</a:t>
            </a:r>
          </a:p>
          <a:p xmlns:a="http://schemas.openxmlformats.org/drawingml/2006/main">
            <a:r>
              <a:t>1. std::malloc(sizeof(T)) obtains a raw storage region. It does not invoke T's constructor.</a:t>
            </a:r>
          </a:p>
          <a:p xmlns:a="http://schemas.openxmlformats.org/drawingml/2006/main">
            <a:r>
              <a:t>2. new (buffer) T() constructs a T in that existing region and returns a T*. This form of placement new does not allocate another storage block.</a:t>
            </a:r>
          </a:p>
          <a:p xmlns:a="http://schemas.openxmlformats.org/drawingml/2006/main">
            <a:r>
              <a:t>3. t1-&gt;~T() explicitly invokes T's destructor. The destructor releases resources owned by T. The storage block still exists afterward.</a:t>
            </a:r>
          </a:p>
          <a:p xmlns:a="http://schemas.openxmlformats.org/drawingml/2006/main">
            <a:r>
              <a:t>4. std::free(buffer) returns the storage obtained from malloc. free itself does not invoke T's destructor.</a:t>
            </a:r>
          </a:p>
          <a:p xmlns:a="http://schemas.openxmlformats.org/drawingml/2006/main">
            <a:r>
              <a:t/>
            </a:r>
          </a:p>
          <a:p xmlns:a="http://schemas.openxmlformats.org/drawingml/2006/main">
            <a:r>
              <a:t>For a concrete walkthrough, use:</a:t>
            </a:r>
          </a:p>
          <a:p xmlns:a="http://schemas.openxmlformats.org/drawingml/2006/main">
            <a:r>
              <a:t>struct T {</a:t>
            </a:r>
          </a:p>
          <a:p xmlns:a="http://schemas.openxmlformats.org/drawingml/2006/main">
            <a:r>
              <a:t>    int value;</a:t>
            </a:r>
          </a:p>
          <a:p xmlns:a="http://schemas.openxmlformats.org/drawingml/2006/main">
            <a:r>
              <a:t>    T() noexcept : value(42) {}</a:t>
            </a:r>
          </a:p>
          <a:p xmlns:a="http://schemas.openxmlformats.org/drawingml/2006/main">
            <a:r>
              <a:t>    ~T() noexcept { /* release any owned resources */ }</a:t>
            </a:r>
          </a:p>
          <a:p xmlns:a="http://schemas.openxmlformats.org/drawingml/2006/main">
            <a:r>
              <a:t>};</a:t>
            </a:r>
          </a:p>
          <a:p xmlns:a="http://schemas.openxmlformats.org/drawingml/2006/main">
            <a:r>
              <a:t/>
            </a:r>
          </a:p>
          <a:p xmlns:a="http://schemas.openxmlformats.org/drawingml/2006/main">
            <a:r>
              <a:t>After construction, t1-&gt;value is 42. The destructor is invoked exactly once, and code must no longer read t1-&gt;value after destruction. This T has no separately owned resources, so the destructor body is empty. A resource-owning type might instead close an open file or release a lock.</a:t>
            </a:r>
          </a:p>
          <a:p xmlns:a="http://schemas.openxmlformats.org/drawingml/2006/main">
            <a:r>
              <a:t/>
            </a:r>
          </a:p>
          <a:p xmlns:a="http://schemas.openxmlformats.org/drawingml/2006/main">
            <a:r>
              <a:t>The general case needs cleanup if construction or later work throws. Keep t1 initially null. In a try block, assign the result of placement new and perform the work. In a catch block, destroy T only if construction completed, then free the buffer and rethrow. On the normal path, destroy T and free the buffer once. Destructors used for cleanup should not throw. Over-aligned types require an appropriately aligned allocation strategy.</a:t>
            </a:r>
          </a:p>
          <a:p xmlns:a="http://schemas.openxmlformats.org/drawingml/2006/main">
            <a:r>
              <a:t/>
            </a:r>
          </a:p>
          <a:p xmlns:a="http://schemas.openxmlformats.org/drawingml/2006/main">
            <a:r>
              <a:t>Do not follow this explicit destructor call with delete t1: that would attempt another destruction and would mismatch storage allocated by malloc. In ordinary C++ code, automatic objects and RAII owners manage this sequence for you. An automatic object is normally destroyed at scope exit, including exception unwinding after successful construction. A delete expression destroys its object before releasing the corresponding dynamically allocated storage. Explicit destruction is mainly useful when implementing storage managers and containers.</a:t>
            </a:r>
          </a:p>
          <a:p xmlns:a="http://schemas.openxmlformats.org/drawingml/2006/main">
            <a:r>
              <a:t/>
            </a:r>
          </a:p>
          <a:p xmlns:a="http://schemas.openxmlformats.org/drawingml/2006/main">
            <a:r>
              <a:t>Cleanup terminology differs across languages. A C# finalizer, historically called a destructor, is scheduled by garbage collection and cannot be explicitly invoked. C# uses IDisposable and using for predictable resource cleanup. Automatic memory reclamation does not automatically provide timely release of every external resource.</a:t>
            </a:r>
          </a:p>
          <a:p xmlns:a="http://schemas.openxmlformats.org/drawingml/2006/main">
            <a:r>
              <a:t/>
            </a:r>
          </a:p>
          <a:p xmlns:a="http://schemas.openxmlformats.org/drawingml/2006/main">
            <a:r>
              <a:t>References</a:t>
            </a:r>
          </a:p>
          <a:p xmlns:a="http://schemas.openxmlformats.org/drawingml/2006/main">
            <a:r>
              <a:t>https://eel.is/c++draft/class.dtor</a:t>
            </a:r>
          </a:p>
          <a:p xmlns:a="http://schemas.openxmlformats.org/drawingml/2006/main">
            <a:r>
              <a:t>https://eel.is/c++draft/expr.new</a:t>
            </a:r>
          </a:p>
          <a:p xmlns:a="http://schemas.openxmlformats.org/drawingml/2006/main">
            <a:r>
              <a:t>https://eel.is/c++draft/c.malloc</a:t>
            </a:r>
          </a:p>
          <a:p xmlns:a="http://schemas.openxmlformats.org/drawingml/2006/main">
            <a:r>
              <a:t>https://eel.is/c++draft/basic.life</a:t>
            </a:r>
          </a:p>
          <a:p xmlns:a="http://schemas.openxmlformats.org/drawingml/2006/main">
            <a:r>
              <a:t>https://learn.microsoft.com/en-us/dotnet/csharp/programming-guide/classes-and-structs/finalizers</a:t>
            </a:r>
          </a:p>
          <a:p xmlns:a="http://schemas.openxmlformats.org/drawingml/2006/main">
            <a:r>
              <a:t>https://learn.microsoft.com/en-us/dotnet/standard/garbage-collection/implementing-dispose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marker identifies the exam-content boundary in the original lecture. It follows constructors and destructors. The remaining slides continue with accessors, mutators, properties, and larger-scale forms of encapsulation. Use the boundary according to the course's assessment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accessor reports a value without changing the object's observable meaning. If a Player has health 800, asking for its health should still leave it at 800. An accessor can expose a stored field or compute a result from several fields. Common names include health(), getHealth(), size(), and isEmpty().</a:t>
            </a:r>
          </a:p>
          <a:p xmlns:a="http://schemas.openxmlformats.org/drawingml/2006/main">
            <a:r>
              <a:t/>
            </a:r>
          </a:p>
          <a:p xmlns:a="http://schemas.openxmlformats.org/drawingml/2006/main">
            <a:r>
              <a:t>C++ example:</a:t>
            </a:r>
          </a:p>
          <a:p xmlns:a="http://schemas.openxmlformats.org/drawingml/2006/main">
            <a:r>
              <a:t>int health() const { return hp; }</a:t>
            </a:r>
          </a:p>
          <a:p xmlns:a="http://schemas.openxmlformats.org/drawingml/2006/main">
            <a:r>
              <a:t/>
            </a:r>
          </a:p>
          <a:p xmlns:a="http://schemas.openxmlformats.org/drawingml/2006/main">
            <a:r>
              <a:t>The trailing const qualifies the member function. It allows the function to be called on a const Player and prevents ordinary modification of the object's non-mutable data members through this. Trying to write hp = 0 in this function is a compile-time error when hp is an ordinary int member.</a:t>
            </a:r>
          </a:p>
          <a:p xmlns:a="http://schemas.openxmlformats.org/drawingml/2006/main">
            <a:r>
              <a:t/>
            </a:r>
          </a:p>
          <a:p xmlns:a="http://schemas.openxmlformats.org/drawingml/2006/main">
            <a:r>
              <a:t>This is a read-only access contract, not a promise that the whole object can never change. A separate mutator can still change a non-const Player. C++ also permits mutable members, such as a cache, to change inside a const function. A pointer member may refer to another mutable object, so const does not automatically propagate through every relationship. These exceptions make logical constness different from deep immutability.</a:t>
            </a:r>
          </a:p>
          <a:p xmlns:a="http://schemas.openxmlformats.org/drawingml/2006/main">
            <a:r>
              <a:t/>
            </a:r>
          </a:p>
          <a:p xmlns:a="http://schemas.openxmlformats.org/drawingml/2006/main">
            <a:r>
              <a:t>Returning a mutable reference to internal state can also weaken encapsulation. When clients only need an integer value, returning it by value gives them the result without exposing the internal field for modification.</a:t>
            </a:r>
          </a:p>
          <a:p xmlns:a="http://schemas.openxmlformats.org/drawingml/2006/main">
            <a:r>
              <a:t/>
            </a:r>
          </a:p>
          <a:p xmlns:a="http://schemas.openxmlformats.org/drawingml/2006/main">
            <a:r>
              <a:t>References</a:t>
            </a:r>
          </a:p>
          <a:p xmlns:a="http://schemas.openxmlformats.org/drawingml/2006/main">
            <a:r>
              <a:t>https://eel.is/c++draft/class.this</a:t>
            </a:r>
          </a:p>
          <a:p xmlns:a="http://schemas.openxmlformats.org/drawingml/2006/main">
            <a:r>
              <a:t>https://eel.is/c++draft/dcl.stc</a:t>
            </a:r>
          </a:p>
          <a:p xmlns:a="http://schemas.openxmlformats.org/drawingml/2006/main">
            <a:r>
              <a:t>https://learn.microsoft.com/en-us/cpp/cpp/const-cpp</a:t>
            </a:r>
          </a:p>
          <a:p xmlns:a="http://schemas.openxmlformats.org/drawingml/2006/main">
            <a:r>
              <a:t>https://learn.microsoft.com/en-us/cpp/cpp/mutable-data-members-cpp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mutator provides a controlled way to update an object. A setter accepts a replacement value, while a domain operation describes an action, such as move(displacement), withdraw(amount), or takeDamage(amount). The object can validate the request and maintain relationships among its fields before the caller observes the result.</a:t>
            </a:r>
          </a:p>
          <a:p xmlns:a="http://schemas.openxmlformats.org/drawingml/2006/main">
            <a:r>
              <a:t/>
            </a:r>
          </a:p>
          <a:p xmlns:a="http://schemas.openxmlformats.org/drawingml/2006/main">
            <a:r>
              <a:t>Continue the Player example with the invariant 0 &lt;= health &lt;= 1000:</a:t>
            </a:r>
          </a:p>
          <a:p xmlns:a="http://schemas.openxmlformats.org/drawingml/2006/main">
            <a:r>
              <a:t>void setHealth(int value) {</a:t>
            </a:r>
          </a:p>
          <a:p xmlns:a="http://schemas.openxmlformats.org/drawingml/2006/main">
            <a:r>
              <a:t>    if (value &lt; 0 || value &gt; 1000)</a:t>
            </a:r>
          </a:p>
          <a:p xmlns:a="http://schemas.openxmlformats.org/drawingml/2006/main">
            <a:r>
              <a:t>        throw std::out_of_range("health");</a:t>
            </a:r>
          </a:p>
          <a:p xmlns:a="http://schemas.openxmlformats.org/drawingml/2006/main">
            <a:r>
              <a:t>    hp = value;</a:t>
            </a:r>
          </a:p>
          <a:p xmlns:a="http://schemas.openxmlformats.org/drawingml/2006/main">
            <a:r>
              <a:t>}</a:t>
            </a:r>
          </a:p>
          <a:p xmlns:a="http://schemas.openxmlformats.org/drawingml/2006/main">
            <a:r>
              <a:t/>
            </a:r>
          </a:p>
          <a:p xmlns:a="http://schemas.openxmlformats.org/drawingml/2006/main">
            <a:r>
              <a:t>Start with hp = 1000. Calling setHealth(800) changes hp to 800, so the next accessor call returns 800. Calling setHealth(-1) throws before assignment, leaving hp at 800. Calling setHealth(800) again is a valid mutator call even though the stored value does not change. "Mutator" describes the operation's role and permissions, not a guarantee that every call changes a bit.</a:t>
            </a:r>
          </a:p>
          <a:p xmlns:a="http://schemas.openxmlformats.org/drawingml/2006/main">
            <a:r>
              <a:t/>
            </a:r>
          </a:p>
          <a:p xmlns:a="http://schemas.openxmlformats.org/drawingml/2006/main">
            <a:r>
              <a:t>For an operation involving several fields, validate the complete request before committing a partial update where practical. For example, a move operation may update all three position coordinates together. The surrounding program evolves as objects accept valid state transitions, while clients continue to rely on the same interface.</a:t>
            </a:r>
          </a:p>
          <a:p xmlns:a="http://schemas.openxmlformats.org/drawingml/2006/main">
            <a:r>
              <a:t/>
            </a:r>
          </a:p>
          <a:p xmlns:a="http://schemas.openxmlformats.org/drawingml/2006/main">
            <a:r>
              <a:t>References</a:t>
            </a:r>
          </a:p>
          <a:p xmlns:a="http://schemas.openxmlformats.org/drawingml/2006/main">
            <a:r>
              <a:t>https://learn.microsoft.com/en-us/dotnet/csharp/programming-guide/classes-and-structs/using-properties</a:t>
            </a:r>
          </a:p>
          <a:p xmlns:a="http://schemas.openxmlformats.org/drawingml/2006/main">
            <a:r>
              <a:t>https://eel.is/c++draft/class.access</a:t>
            </a:r>
          </a:p>
          <a:p xmlns:a="http://schemas.openxmlformats.org/drawingml/2006/main">
            <a:r>
              <a:t>https://learn.microsoft.com/en-us/dotnet/csharp/language-reference/language-specification/classes#157-properties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property gives callers convenient field-like syntax while the class controls what reading and writing mean. The traditional pattern uses a private field named name, a public getName() method, and a public setName(name: string) method. A property groups the access behavior under a single public name. The implementation can still use a private backing field.</a:t>
            </a:r>
          </a:p>
          <a:p xmlns:a="http://schemas.openxmlformats.org/drawingml/2006/main">
            <a:r>
              <a:t/>
            </a:r>
          </a:p>
          <a:p xmlns:a="http://schemas.openxmlformats.org/drawingml/2006/main">
            <a:r>
              <a:t>In C#, player.Health = 800 invokes the Health property's set accessor. If the class defines health as a value from 0 to 1000, the setter can validate 800 and then store it. A request outside that interval can throw before changing the field. Reading player.Health invokes get. The syntax resembles a direct field access, but class code executes at that boundary.</a:t>
            </a:r>
          </a:p>
          <a:p xmlns:a="http://schemas.openxmlformats.org/drawingml/2006/main">
            <a:r>
              <a:t/>
            </a:r>
          </a:p>
          <a:p xmlns:a="http://schemas.openxmlformats.org/drawingml/2006/main">
            <a:r>
              <a:t>A property can also present a computed view. The following Time example stores seconds and exposes Hours by dividing on reads and multiplying on writes. Clients can use hours without depending on the representation in seconds. A read-only property may provide only a getter, and a computed property need not store a separate result.</a:t>
            </a:r>
          </a:p>
          <a:p xmlns:a="http://schemas.openxmlformats.org/drawingml/2006/main">
            <a:r>
              <a:t/>
            </a:r>
          </a:p>
          <a:p xmlns:a="http://schemas.openxmlformats.org/drawingml/2006/main">
            <a:r>
              <a:t>The important design choice is the contract. State which values are allowed, what an invalid assignment does, and whether reading has observable side effects. Property syntax helps express that interface but does not automatically validate data or make an object immutable.</a:t>
            </a:r>
          </a:p>
          <a:p xmlns:a="http://schemas.openxmlformats.org/drawingml/2006/main">
            <a:r>
              <a:t/>
            </a:r>
          </a:p>
          <a:p xmlns:a="http://schemas.openxmlformats.org/drawingml/2006/main">
            <a:r>
              <a:t>References</a:t>
            </a:r>
          </a:p>
          <a:p xmlns:a="http://schemas.openxmlformats.org/drawingml/2006/main">
            <a:r>
              <a:t>https://learn.microsoft.com/en-us/dotnet/csharp/programming-guide/classes-and-structs/properties</a:t>
            </a:r>
          </a:p>
          <a:p xmlns:a="http://schemas.openxmlformats.org/drawingml/2006/main">
            <a:r>
              <a:t>https://learn.microsoft.com/en-us/dotnet/csharp/programming-guide/classes-and-structs/using-properties</a:t>
            </a:r>
          </a:p>
          <a:p xmlns:a="http://schemas.openxmlformats.org/drawingml/2006/main">
            <a:r>
              <a:t>https://learn.microsoft.com/en-us/dotnet/csharp/language-reference/language-specification/classes#157-properties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expose hours while storing seconds.</a:t>
            </a:r>
          </a:p>
          <a:p xmlns:a="http://schemas.openxmlformats.org/drawingml/2006/main">
            <a:r>
              <a:t/>
            </a:r>
          </a:p>
          <a:p xmlns:a="http://schemas.openxmlformats.org/drawingml/2006/main">
            <a:r>
              <a:t>The contract for this teaching example is a bounded quantity of hours in the inclusive interval [0, 24]. It is not a complete calendar or clock type. The private double seconds field stores the representation, and the public double Hours property gives clients a convenient unit. Add using System; above the class when compiling it in a standalone source file.</a:t>
            </a:r>
          </a:p>
          <a:p xmlns:a="http://schemas.openxmlformats.org/drawingml/2006/main">
            <a:r>
              <a:t/>
            </a:r>
          </a:p>
          <a:p xmlns:a="http://schemas.openxmlformats.org/drawingml/2006/main">
            <a:r>
              <a:t>The getter returns seconds / 3600.0. The setter receives its argument in the contextual parameter value. It first checks value &gt;= 0 &amp;&amp; value &lt;= 24. If the check passes, it converts hours to seconds and stores value * 3600.0. Otherwise it throws ArgumentOutOfRangeException before changing the stored state.</a:t>
            </a:r>
          </a:p>
          <a:p xmlns:a="http://schemas.openxmlformats.org/drawingml/2006/main">
            <a:r>
              <a:t/>
            </a:r>
          </a:p>
          <a:p xmlns:a="http://schemas.openxmlformats.org/drawingml/2006/main">
            <a:r>
              <a:t>Trace a valid assignment:</a:t>
            </a:r>
          </a:p>
          <a:p xmlns:a="http://schemas.openxmlformats.org/drawingml/2006/main">
            <a:r>
              <a:t>var time = new Time();</a:t>
            </a:r>
          </a:p>
          <a:p xmlns:a="http://schemas.openxmlformats.org/drawingml/2006/main">
            <a:r>
              <a:t>time.Hours = 1.5;</a:t>
            </a:r>
          </a:p>
          <a:p xmlns:a="http://schemas.openxmlformats.org/drawingml/2006/main">
            <a:r>
              <a:t>Console.WriteLine(time.Hours); // 1.5</a:t>
            </a:r>
          </a:p>
          <a:p xmlns:a="http://schemas.openxmlformats.org/drawingml/2006/main">
            <a:r>
              <a:t/>
            </a:r>
          </a:p>
          <a:p xmlns:a="http://schemas.openxmlformats.org/drawingml/2006/main">
            <a:r>
              <a:t>A new instance starts with seconds = 0. Assigning 1.5 passes both comparisons. The setter calculates 1.5 * 3600.0 = 5400.0 and saves that number. Reading Hours calculates 5400.0 / 3600.0 = 1.5. Storing seconds as double permits fractional seconds and matches the setter's double arithmetic. Integer division would discard the fractional part before a later conversion to double.</a:t>
            </a:r>
          </a:p>
          <a:p xmlns:a="http://schemas.openxmlformats.org/drawingml/2006/main">
            <a:r>
              <a:t/>
            </a:r>
          </a:p>
          <a:p xmlns:a="http://schemas.openxmlformats.org/drawingml/2006/main">
            <a:r>
              <a:t>Trace an invalid assignment:</a:t>
            </a:r>
          </a:p>
          <a:p xmlns:a="http://schemas.openxmlformats.org/drawingml/2006/main">
            <a:r>
              <a:t>try {</a:t>
            </a:r>
          </a:p>
          <a:p xmlns:a="http://schemas.openxmlformats.org/drawingml/2006/main">
            <a:r>
              <a:t>    time.Hours = 25;</a:t>
            </a:r>
          </a:p>
          <a:p xmlns:a="http://schemas.openxmlformats.org/drawingml/2006/main">
            <a:r>
              <a:t>} catch (ArgumentOutOfRangeException) {</a:t>
            </a:r>
          </a:p>
          <a:p xmlns:a="http://schemas.openxmlformats.org/drawingml/2006/main">
            <a:r>
              <a:t>    Console.WriteLine(time.Hours); // still 1.5</a:t>
            </a:r>
          </a:p>
          <a:p xmlns:a="http://schemas.openxmlformats.org/drawingml/2006/main">
            <a:r>
              <a:t>}</a:t>
            </a:r>
          </a:p>
          <a:p xmlns:a="http://schemas.openxmlformats.org/drawingml/2006/main">
            <a:r>
              <a:t/>
            </a:r>
          </a:p>
          <a:p xmlns:a="http://schemas.openxmlformats.org/drawingml/2006/main">
            <a:r>
              <a:t>The range check fails before the assignment, so the previous valid state remains. The exception identifies value as the rejected argument through nameof(value).</a:t>
            </a:r>
          </a:p>
          <a:p xmlns:a="http://schemas.openxmlformats.org/drawingml/2006/main">
            <a:r>
              <a:t/>
            </a:r>
          </a:p>
          <a:p xmlns:a="http://schemas.openxmlformats.org/drawingml/2006/main">
            <a:r>
              <a:t>Boundary cases:</a:t>
            </a:r>
          </a:p>
          <a:p xmlns:a="http://schemas.openxmlformats.org/drawingml/2006/main">
            <a:r>
              <a:t>- 0 is accepted and stores 0 seconds.</a:t>
            </a:r>
          </a:p>
          <a:p xmlns:a="http://schemas.openxmlformats.org/drawingml/2006/main">
            <a:r>
              <a:t>- 24 is accepted and stores 86400 seconds.</a:t>
            </a:r>
          </a:p>
          <a:p xmlns:a="http://schemas.openxmlformats.org/drawingml/2006/main">
            <a:r>
              <a:t>- -0.1 and 24.1 are rejected.</a:t>
            </a:r>
          </a:p>
          <a:p xmlns:a="http://schemas.openxmlformats.org/drawingml/2006/main">
            <a:r>
              <a:t>- double.PositiveInfinity and double.NegativeInfinity fail the bounded range.</a:t>
            </a:r>
          </a:p>
          <a:p xmlns:a="http://schemas.openxmlformats.org/drawingml/2006/main">
            <a:r>
              <a:t>- double.NaN also fails: ordered comparisons involving NaN are false, so the conjunction cannot succeed.</a:t>
            </a:r>
          </a:p>
          <a:p xmlns:a="http://schemas.openxmlformats.org/drawingml/2006/main">
            <a:r>
              <a:t/>
            </a:r>
          </a:p>
          <a:p xmlns:a="http://schemas.openxmlformats.org/drawingml/2006/main">
            <a:r>
              <a:t>The explicit 3600.0 constants make floating-point conversion clear to the reader. Floating-point arithmetic can round other decimal fractions, so application tests should normally compare approximate numerical results with an appropriate tolerance. The values 0, 1.5, and 24 used here are straightforward exact demonstration cases.</a:t>
            </a:r>
          </a:p>
          <a:p xmlns:a="http://schemas.openxmlformats.org/drawingml/2006/main">
            <a:r>
              <a:t/>
            </a:r>
          </a:p>
          <a:p xmlns:a="http://schemas.openxmlformats.org/drawingml/2006/main">
            <a:r>
              <a:t>Ask students to explain why the condition must use &amp;&amp; and why assignment belongs only on the valid branch. Then ask them to design a read-only Minutes property: get { return seconds / 60.0; }. Both properties can share the same hidden representation.</a:t>
            </a:r>
          </a:p>
          <a:p xmlns:a="http://schemas.openxmlformats.org/drawingml/2006/main">
            <a:r>
              <a:t/>
            </a:r>
          </a:p>
          <a:p xmlns:a="http://schemas.openxmlformats.org/drawingml/2006/main">
            <a:r>
              <a:t>References</a:t>
            </a:r>
          </a:p>
          <a:p xmlns:a="http://schemas.openxmlformats.org/drawingml/2006/main">
            <a:r>
              <a:t>https://learn.microsoft.com/en-us/dotnet/csharp/programming-guide/classes-and-structs/using-properties</a:t>
            </a:r>
          </a:p>
          <a:p xmlns:a="http://schemas.openxmlformats.org/drawingml/2006/main">
            <a:r>
              <a:t>https://learn.microsoft.com/en-us/dotnet/csharp/language-reference/builtin-types/numeric-conversions</a:t>
            </a:r>
          </a:p>
          <a:p xmlns:a="http://schemas.openxmlformats.org/drawingml/2006/main">
            <a:r>
              <a:t>https://learn.microsoft.com/en-us/dotnet/csharp/language-reference/operators/arithmetic-operators</a:t>
            </a:r>
          </a:p>
          <a:p xmlns:a="http://schemas.openxmlformats.org/drawingml/2006/main">
            <a:r>
              <a:t>https://learn.microsoft.com/en-us/dotnet/csharp/language-reference/operators/comparison-operators</a:t>
            </a:r>
          </a:p>
          <a:p xmlns:a="http://schemas.openxmlformats.org/drawingml/2006/main">
            <a:r>
              <a:t>https://learn.microsoft.com/en-us/dotnet/api/system.argumentoutofrangeexception</a:t>
            </a:r>
          </a:p>
          <a:p xmlns:a="http://schemas.openxmlformats.org/drawingml/2006/main">
            <a:r>
              <a:t>https://learn.microsoft.com/en-us/dotnet/csharp/language-reference/language-specification/classes#157-properties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 and separate compilation solve related problems. Organization lets a developer find the definitions for one responsibility, such as inventory management. Separate compilation lets a build process compile a smaller unit using the interfaces of its dependencies, then combine the results with the rest of the program.</a:t>
            </a:r>
          </a:p>
          <a:p xmlns:a="http://schemas.openxmlformats.org/drawingml/2006/main">
            <a:r>
              <a:t/>
            </a:r>
          </a:p>
          <a:p xmlns:a="http://schemas.openxmlformats.org/drawingml/2006/main">
            <a:r>
              <a:t>Consider a program with inventory.c, player.c, and main.c. A compiler can produce inventory.o, player.o, and main.o separately. The linker then combines those object files into the executable. If only the body of an inventory function changes and its interface stays compatible, a typical incremental build recompiles inventory.c and relinks. If an interface header changes, source files that depend on that header may also need recompilation.</a:t>
            </a:r>
          </a:p>
          <a:p xmlns:a="http://schemas.openxmlformats.org/drawingml/2006/main">
            <a:r>
              <a:t/>
            </a:r>
          </a:p>
          <a:p xmlns:a="http://schemas.openxmlformats.org/drawingml/2006/main">
            <a:r>
              <a:t>The word encapsulation describes the grouping here. The exact language construct matters: a C source file, a C++ class, an OCaml module, and a .NET assembly provide different boundaries. A C++ class does not automatically become an independent compilation unit. An OCaml compilation unit has an interface and an implementation, and its module system connects that organization to separate compilation.</a:t>
            </a:r>
          </a:p>
          <a:p xmlns:a="http://schemas.openxmlformats.org/drawingml/2006/main">
            <a:r>
              <a:t/>
            </a:r>
          </a:p>
          <a:p xmlns:a="http://schemas.openxmlformats.org/drawingml/2006/main">
            <a:r>
              <a:t>Ask students to identify both the logical grouping and the actual compilation unit when comparing languages. These boundaries may coincide, but they need not.</a:t>
            </a:r>
          </a:p>
          <a:p xmlns:a="http://schemas.openxmlformats.org/drawingml/2006/main">
            <a:r>
              <a:t/>
            </a:r>
          </a:p>
          <a:p xmlns:a="http://schemas.openxmlformats.org/drawingml/2006/main">
            <a:r>
              <a:t>References</a:t>
            </a:r>
          </a:p>
          <a:p xmlns:a="http://schemas.openxmlformats.org/drawingml/2006/main">
            <a:r>
              <a:t>https://gcc.gnu.org/onlinedocs/gcc/Overall-Options.html</a:t>
            </a:r>
          </a:p>
          <a:p xmlns:a="http://schemas.openxmlformats.org/drawingml/2006/main">
            <a:r>
              <a:t>https://ocaml.org/manual/5.4/compunit.html</a:t>
            </a:r>
          </a:p>
          <a:p xmlns:a="http://schemas.openxmlformats.org/drawingml/2006/main">
            <a:r>
              <a:t>https://learn.microsoft.com/en-us/cpp/cpp/header-files-cpp?view=msvc-170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nested helper keeps a name close to its use and can read variables from the enclosing lexical environment. Here is a complete Python example:</a:t>
            </a:r>
          </a:p>
          <a:p xmlns:a="http://schemas.openxmlformats.org/drawingml/2006/main">
            <a:r>
              <a:t/>
            </a:r>
          </a:p>
          <a:p xmlns:a="http://schemas.openxmlformats.org/drawingml/2006/main">
            <a:r>
              <a:t>def add_offset(n):</a:t>
            </a:r>
          </a:p>
          <a:p xmlns:a="http://schemas.openxmlformats.org/drawingml/2006/main">
            <a:r>
              <a:t>    def add(x):</a:t>
            </a:r>
          </a:p>
          <a:p xmlns:a="http://schemas.openxmlformats.org/drawingml/2006/main">
            <a:r>
              <a:t>        return x + n</a:t>
            </a:r>
          </a:p>
          <a:p xmlns:a="http://schemas.openxmlformats.org/drawingml/2006/main">
            <a:r>
              <a:t>    return add(3)</a:t>
            </a:r>
          </a:p>
          <a:p xmlns:a="http://schemas.openxmlformats.org/drawingml/2006/main">
            <a:r>
              <a:t/>
            </a:r>
          </a:p>
          <a:p xmlns:a="http://schemas.openxmlformats.org/drawingml/2006/main">
            <a:r>
              <a:t>add_offset(4) returns 7. The inner call binds x to 3 and resolves n in the enclosing invocation, where n is 4. The name add is local to add_offset. Returning the function object instead would allow a caller to retain and invoke the closure later.</a:t>
            </a:r>
          </a:p>
          <a:p xmlns:a="http://schemas.openxmlformats.org/drawingml/2006/main">
            <a:r>
              <a:t/>
            </a:r>
          </a:p>
          <a:p xmlns:a="http://schemas.openxmlformats.org/drawingml/2006/main">
            <a:r>
              <a:t>JavaScript has the same basic pattern:</a:t>
            </a:r>
          </a:p>
          <a:p xmlns:a="http://schemas.openxmlformats.org/drawingml/2006/main">
            <a:r>
              <a:t/>
            </a:r>
          </a:p>
          <a:p xmlns:a="http://schemas.openxmlformats.org/drawingml/2006/main">
            <a:r>
              <a:t>function addOffset(n) {</a:t>
            </a:r>
          </a:p>
          <a:p xmlns:a="http://schemas.openxmlformats.org/drawingml/2006/main">
            <a:r>
              <a:t>    function add(x) { return x + n; }</a:t>
            </a:r>
          </a:p>
          <a:p xmlns:a="http://schemas.openxmlformats.org/drawingml/2006/main">
            <a:r>
              <a:t>    return add(3);</a:t>
            </a:r>
          </a:p>
          <a:p xmlns:a="http://schemas.openxmlformats.org/drawingml/2006/main">
            <a:r>
              <a:t>}</a:t>
            </a:r>
          </a:p>
          <a:p xmlns:a="http://schemas.openxmlformats.org/drawingml/2006/main">
            <a:r>
              <a:t/>
            </a:r>
          </a:p>
          <a:p xmlns:a="http://schemas.openxmlformats.org/drawingml/2006/main">
            <a:r>
              <a:t>addOffset(4) also returns 7. The function declaration appears inside the outer function, so its name is available in that function's scope.</a:t>
            </a:r>
          </a:p>
          <a:p xmlns:a="http://schemas.openxmlformats.org/drawingml/2006/main">
            <a:r>
              <a:t/>
            </a:r>
          </a:p>
          <a:p xmlns:a="http://schemas.openxmlformats.org/drawingml/2006/main">
            <a:r>
              <a:t>In Ruby, use a lambda for this local-helper behavior:</a:t>
            </a:r>
          </a:p>
          <a:p xmlns:a="http://schemas.openxmlformats.org/drawingml/2006/main">
            <a:r>
              <a:t/>
            </a:r>
          </a:p>
          <a:p xmlns:a="http://schemas.openxmlformats.org/drawingml/2006/main">
            <a:r>
              <a:t>def add_offset(n)</a:t>
            </a:r>
          </a:p>
          <a:p xmlns:a="http://schemas.openxmlformats.org/drawingml/2006/main">
            <a:r>
              <a:t>  add = -&gt;(x) { x + n }</a:t>
            </a:r>
          </a:p>
          <a:p xmlns:a="http://schemas.openxmlformats.org/drawingml/2006/main">
            <a:r>
              <a:t>  add.call(3)</a:t>
            </a:r>
          </a:p>
          <a:p xmlns:a="http://schemas.openxmlformats.org/drawingml/2006/main">
            <a:r>
              <a:t>end</a:t>
            </a:r>
          </a:p>
          <a:p xmlns:a="http://schemas.openxmlformats.org/drawingml/2006/main">
            <a:r>
              <a:t/>
            </a:r>
          </a:p>
          <a:p xmlns:a="http://schemas.openxmlformats.org/drawingml/2006/main">
            <a:r>
              <a:t>add_offset(4) evaluates to 7. The lambda is a Proc closure and can use n. A def nested inside another Ruby method instead defines a method on the relevant class or object and starts a fresh method-local scope. It does not capture the enclosing method's local variables. The visual nesting of source text alone therefore does not establish the same scope rules across languages.</a:t>
            </a:r>
          </a:p>
          <a:p xmlns:a="http://schemas.openxmlformats.org/drawingml/2006/main">
            <a:r>
              <a:t/>
            </a:r>
          </a:p>
          <a:p xmlns:a="http://schemas.openxmlformats.org/drawingml/2006/main">
            <a:r>
              <a:t>References</a:t>
            </a:r>
          </a:p>
          <a:p xmlns:a="http://schemas.openxmlformats.org/drawingml/2006/main">
            <a:r>
              <a:t>https://docs.python.org/3/reference/executionmodel.html</a:t>
            </a:r>
          </a:p>
          <a:p xmlns:a="http://schemas.openxmlformats.org/drawingml/2006/main">
            <a:r>
              <a:t>https://tc39.es/ecma262/multipage/ecmascript-language-functions-and-classes.html#sec-function-definitions</a:t>
            </a:r>
          </a:p>
          <a:p xmlns:a="http://schemas.openxmlformats.org/drawingml/2006/main">
            <a:r>
              <a:t>https://docs.ruby-lang.org/en/3.2/Proc.html</a:t>
            </a:r>
          </a:p>
          <a:p xmlns:a="http://schemas.openxmlformats.org/drawingml/2006/main">
            <a:r>
              <a:t>https://docs.ruby-lang.org/en/3.2/syntax/methods_rdoc.html#label-Scope</a:t>
            </a:r>
          </a:p>
          <a:p xmlns:a="http://schemas.openxmlformats.org/drawingml/2006/main">
            <a:r>
              <a:t>https://www.ruby-lang.org/en/documentation/faq/4/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counter demonstrates the interface/implementation split. Put these declarations in counter.h:</a:t>
            </a:r>
          </a:p>
          <a:p xmlns:a="http://schemas.openxmlformats.org/drawingml/2006/main">
            <a:r>
              <a:t/>
            </a:r>
          </a:p>
          <a:p xmlns:a="http://schemas.openxmlformats.org/drawingml/2006/main">
            <a:r>
              <a:t>#ifndef ADT_COUNTER_H</a:t>
            </a:r>
          </a:p>
          <a:p xmlns:a="http://schemas.openxmlformats.org/drawingml/2006/main">
            <a:r>
              <a:t>#define ADT_COUNTER_H</a:t>
            </a:r>
          </a:p>
          <a:p xmlns:a="http://schemas.openxmlformats.org/drawingml/2006/main">
            <a:r>
              <a:t>void increment(void);</a:t>
            </a:r>
          </a:p>
          <a:p xmlns:a="http://schemas.openxmlformats.org/drawingml/2006/main">
            <a:r>
              <a:t>int value(void);</a:t>
            </a:r>
          </a:p>
          <a:p xmlns:a="http://schemas.openxmlformats.org/drawingml/2006/main">
            <a:r>
              <a:t>#endif</a:t>
            </a:r>
          </a:p>
          <a:p xmlns:a="http://schemas.openxmlformats.org/drawingml/2006/main">
            <a:r>
              <a:t/>
            </a:r>
          </a:p>
          <a:p xmlns:a="http://schemas.openxmlformats.org/drawingml/2006/main">
            <a:r>
              <a:t>Put the definitions in counter.c:</a:t>
            </a:r>
          </a:p>
          <a:p xmlns:a="http://schemas.openxmlformats.org/drawingml/2006/main">
            <a:r>
              <a:t/>
            </a:r>
          </a:p>
          <a:p xmlns:a="http://schemas.openxmlformats.org/drawingml/2006/main">
            <a:r>
              <a:t>#include "counter.h"</a:t>
            </a:r>
          </a:p>
          <a:p xmlns:a="http://schemas.openxmlformats.org/drawingml/2006/main">
            <a:r>
              <a:t>static int count = 0;</a:t>
            </a:r>
          </a:p>
          <a:p xmlns:a="http://schemas.openxmlformats.org/drawingml/2006/main">
            <a:r>
              <a:t>void increment(void) { ++count; }</a:t>
            </a:r>
          </a:p>
          <a:p xmlns:a="http://schemas.openxmlformats.org/drawingml/2006/main">
            <a:r>
              <a:t>int value(void) { return count; }</a:t>
            </a:r>
          </a:p>
          <a:p xmlns:a="http://schemas.openxmlformats.org/drawingml/2006/main">
            <a:r>
              <a:t/>
            </a:r>
          </a:p>
          <a:p xmlns:a="http://schemas.openxmlformats.org/drawingml/2006/main">
            <a:r>
              <a:t>A client includes counter.h, calls increment() twice, then reads value(). The result is 2. The file-scope static variable has internal linkage, so other translation units cannot refer to that count by linking against its name. Clients use the two declared functions.</a:t>
            </a:r>
          </a:p>
          <a:p xmlns:a="http://schemas.openxmlformats.org/drawingml/2006/main">
            <a:r>
              <a:t/>
            </a:r>
          </a:p>
          <a:p xmlns:a="http://schemas.openxmlformats.org/drawingml/2006/main">
            <a:r>
              <a:t>Compile counter.c and the client separately with gcc -c, then link their object files. Including counter.h in the implementation lets the compiler check the function definitions against the shared declarations. The client needs the declarations to type-check calls, while the linker connects those calls to the definitions.</a:t>
            </a:r>
          </a:p>
          <a:p xmlns:a="http://schemas.openxmlformats.org/drawingml/2006/main">
            <a:r>
              <a:t/>
            </a:r>
          </a:p>
          <a:p xmlns:a="http://schemas.openxmlformats.org/drawingml/2006/main">
            <a:r>
              <a:t>The include guard prevents the same header contents from being processed repeatedly within one translation unit. It does not make a non-static function definition safe to place in a header that several .c files include. That would usually give the program multiple external definitions. Keep ordinary externally linked function definitions in one implementation file. Header changes may require recompiling multiple clients, whereas an implementation-only change can often be handled by recompiling that source file and relinking.</a:t>
            </a:r>
          </a:p>
          <a:p xmlns:a="http://schemas.openxmlformats.org/drawingml/2006/main">
            <a:r>
              <a:t/>
            </a:r>
          </a:p>
          <a:p xmlns:a="http://schemas.openxmlformats.org/drawingml/2006/main">
            <a:r>
              <a:t>References</a:t>
            </a:r>
          </a:p>
          <a:p xmlns:a="http://schemas.openxmlformats.org/drawingml/2006/main">
            <a:r>
              <a:t>https://gcc.gnu.org/onlinedocs/cpp/Header-Files.html</a:t>
            </a:r>
          </a:p>
          <a:p xmlns:a="http://schemas.openxmlformats.org/drawingml/2006/main">
            <a:r>
              <a:t>https://gcc.gnu.org/onlinedocs/cpp/Once-Only-Headers.html</a:t>
            </a:r>
          </a:p>
          <a:p xmlns:a="http://schemas.openxmlformats.org/drawingml/2006/main">
            <a:r>
              <a:t>https://gcc.gnu.org/onlinedocs/gcc/Overall-Options.html</a:t>
            </a:r>
          </a:p>
          <a:p xmlns:a="http://schemas.openxmlformats.org/drawingml/2006/main">
            <a:r>
              <a:t>https://www.open-std.org/jtc1/sc22/wg14/www/docs/n1570.pdf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class and a source file provide different boundaries. The class controls member access. The source file, after preprocessing, forms a translation unit for compilation. A common arrangement uses both.</a:t>
            </a:r>
          </a:p>
          <a:p xmlns:a="http://schemas.openxmlformats.org/drawingml/2006/main">
            <a:r>
              <a:t/>
            </a:r>
          </a:p>
          <a:p xmlns:a="http://schemas.openxmlformats.org/drawingml/2006/main">
            <a:r>
              <a:t>Counter.hpp, inside an include guard:</a:t>
            </a:r>
          </a:p>
          <a:p xmlns:a="http://schemas.openxmlformats.org/drawingml/2006/main">
            <a:r>
              <a:t/>
            </a:r>
          </a:p>
          <a:p xmlns:a="http://schemas.openxmlformats.org/drawingml/2006/main">
            <a:r>
              <a:t>class Counter {</a:t>
            </a:r>
          </a:p>
          <a:p xmlns:a="http://schemas.openxmlformats.org/drawingml/2006/main">
            <a:r>
              <a:t>    int count_ = 0;</a:t>
            </a:r>
          </a:p>
          <a:p xmlns:a="http://schemas.openxmlformats.org/drawingml/2006/main">
            <a:r>
              <a:t>public:</a:t>
            </a:r>
          </a:p>
          <a:p xmlns:a="http://schemas.openxmlformats.org/drawingml/2006/main">
            <a:r>
              <a:t>    void increment();</a:t>
            </a:r>
          </a:p>
          <a:p xmlns:a="http://schemas.openxmlformats.org/drawingml/2006/main">
            <a:r>
              <a:t>    int value() const;</a:t>
            </a:r>
          </a:p>
          <a:p xmlns:a="http://schemas.openxmlformats.org/drawingml/2006/main">
            <a:r>
              <a:t>};</a:t>
            </a:r>
          </a:p>
          <a:p xmlns:a="http://schemas.openxmlformats.org/drawingml/2006/main">
            <a:r>
              <a:t/>
            </a:r>
          </a:p>
          <a:p xmlns:a="http://schemas.openxmlformats.org/drawingml/2006/main">
            <a:r>
              <a:t>Counter.cpp:</a:t>
            </a:r>
          </a:p>
          <a:p xmlns:a="http://schemas.openxmlformats.org/drawingml/2006/main">
            <a:r>
              <a:t/>
            </a:r>
          </a:p>
          <a:p xmlns:a="http://schemas.openxmlformats.org/drawingml/2006/main">
            <a:r>
              <a:t>#include "Counter.hpp"</a:t>
            </a:r>
          </a:p>
          <a:p xmlns:a="http://schemas.openxmlformats.org/drawingml/2006/main">
            <a:r>
              <a:t>void Counter::increment() { ++count_; }</a:t>
            </a:r>
          </a:p>
          <a:p xmlns:a="http://schemas.openxmlformats.org/drawingml/2006/main">
            <a:r>
              <a:t>int Counter::value() const { return count_; }</a:t>
            </a:r>
          </a:p>
          <a:p xmlns:a="http://schemas.openxmlformats.org/drawingml/2006/main">
            <a:r>
              <a:t/>
            </a:r>
          </a:p>
          <a:p xmlns:a="http://schemas.openxmlformats.org/drawingml/2006/main">
            <a:r>
              <a:t>In a client that includes Counter.hpp, create Counter c, call c.increment() twice, then call c.value(). The result is 2. The client can call the public operations, but cannot access c.count_. Counter.cpp and the client can be compiled separately and linked together. The private member is still visible as text in the header, so access control does not by itself hide every representation detail from compilation dependencies.</a:t>
            </a:r>
          </a:p>
          <a:p xmlns:a="http://schemas.openxmlformats.org/drawingml/2006/main">
            <a:r>
              <a:t/>
            </a:r>
          </a:p>
          <a:p xmlns:a="http://schemas.openxmlformats.org/drawingml/2006/main">
            <a:r>
              <a:t>Member function bodies may also appear within the class definition. Templates and inline functions commonly need definitions available to their users, so a separate .cpp file is a design option rather than a universal requirement.</a:t>
            </a:r>
          </a:p>
          <a:p xmlns:a="http://schemas.openxmlformats.org/drawingml/2006/main">
            <a:r>
              <a:t/>
            </a:r>
          </a:p>
          <a:p xmlns:a="http://schemas.openxmlformats.org/drawingml/2006/main">
            <a:r>
              <a:t>C++20 modules provide explicit module interfaces and imports. A named module can have an interface unit and implementation units. Importing its exported declarations differs from textual header inclusion. Namespaces still organize names inside or outside modules, and private class members still have class access rules. None of these constructs automatically replaces the others.</a:t>
            </a:r>
          </a:p>
          <a:p xmlns:a="http://schemas.openxmlformats.org/drawingml/2006/main">
            <a:r>
              <a:t/>
            </a:r>
          </a:p>
          <a:p xmlns:a="http://schemas.openxmlformats.org/drawingml/2006/main">
            <a:r>
              <a:t>References</a:t>
            </a:r>
          </a:p>
          <a:p xmlns:a="http://schemas.openxmlformats.org/drawingml/2006/main">
            <a:r>
              <a:t>https://learn.microsoft.com/en-us/cpp/cpp/header-files-cpp?view=msvc-170</a:t>
            </a:r>
          </a:p>
          <a:p xmlns:a="http://schemas.openxmlformats.org/drawingml/2006/main">
            <a:r>
              <a:t>https://eel.is/c++draft/class.mfct</a:t>
            </a:r>
          </a:p>
          <a:p xmlns:a="http://schemas.openxmlformats.org/drawingml/2006/main">
            <a:r>
              <a:t>https://learn.microsoft.com/en-us/cpp/cpp/modules-cpp?view=msvc-170</a:t>
            </a:r>
          </a:p>
          <a:p xmlns:a="http://schemas.openxmlformats.org/drawingml/2006/main">
            <a:r>
              <a:t>https://eel.is/c++draft/module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Game.Core class library whose source files include Player.cs and Inventory.cs. Building that project produces an assembly such as Game.Core.dll. A Game.App project can reference the compiled library and use its accessible types without recompiling the library's source as part of every application compilation.</a:t>
            </a:r>
          </a:p>
          <a:p xmlns:a="http://schemas.openxmlformats.org/drawingml/2006/main">
            <a:r>
              <a:t/>
            </a:r>
          </a:p>
          <a:p xmlns:a="http://schemas.openxmlformats.org/drawingml/2006/main">
            <a:r>
              <a:t>The assembly manifest identifies the assembly and describes its references. Type metadata describes the types and members. Common intermediate language, or CIL, expresses compiled method implementations in the usual managed compilation path. Resources may include embedded images or text. Not every assembly needs all of these elements: a resource-only assembly, for example, does not need ordinary application method bodies.</a:t>
            </a:r>
          </a:p>
          <a:p xmlns:a="http://schemas.openxmlformats.org/drawingml/2006/main">
            <a:r>
              <a:t/>
            </a:r>
          </a:p>
          <a:p xmlns:a="http://schemas.openxmlformats.org/drawingml/2006/main">
            <a:r>
              <a:t>Keep four concepts distinct. A source file organizes the program text. A namespace organizes names. A CLR module is a compiled metadata/code container. An assembly supplies the manifest and forms the unit that applications reference and deploy. .NET Framework also supports assemblies containing multiple modules or files, which explains the collection-of-files model. A common modern project produces a single assembly file from many source files.</a:t>
            </a:r>
          </a:p>
          <a:p xmlns:a="http://schemas.openxmlformats.org/drawingml/2006/main">
            <a:r>
              <a:t/>
            </a:r>
          </a:p>
          <a:p xmlns:a="http://schemas.openxmlformats.org/drawingml/2006/main">
            <a:r>
              <a:t>A namespace can span more than one assembly, and one assembly can contain several namespaces. Writing a using directive only affects name lookup. It does not by itself add an assembly or project reference.</a:t>
            </a:r>
          </a:p>
          <a:p xmlns:a="http://schemas.openxmlformats.org/drawingml/2006/main">
            <a:r>
              <a:t/>
            </a:r>
          </a:p>
          <a:p xmlns:a="http://schemas.openxmlformats.org/drawingml/2006/main">
            <a:r>
              <a:t>References</a:t>
            </a:r>
          </a:p>
          <a:p xmlns:a="http://schemas.openxmlformats.org/drawingml/2006/main">
            <a:r>
              <a:t>https://learn.microsoft.com/en-us/dotnet/standard/assembly/</a:t>
            </a:r>
          </a:p>
          <a:p xmlns:a="http://schemas.openxmlformats.org/drawingml/2006/main">
            <a:r>
              <a:t>https://learn.microsoft.com/en-us/dotnet/standard/assembly/contents</a:t>
            </a:r>
          </a:p>
          <a:p xmlns:a="http://schemas.openxmlformats.org/drawingml/2006/main">
            <a:r>
              <a:t>https://learn.microsoft.com/en-us/dotnet/standard/assembly/manifest</a:t>
            </a:r>
          </a:p>
          <a:p xmlns:a="http://schemas.openxmlformats.org/drawingml/2006/main">
            <a:r>
              <a:t>https://learn.microsoft.com/en-us/dotnet/framework/app-domains/multifile-assemblies</a:t>
            </a:r>
          </a:p>
          <a:p xmlns:a="http://schemas.openxmlformats.org/drawingml/2006/main">
            <a:r>
              <a:t>https://learn.microsoft.com/en-us/dotnet/csharp/fundamentals/program-structure/namespaces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problem: two libraries each define a type called Vector. The geometry library uses two coordinates; the graphics library uses three. We want to use both libraries in one program without renaming their public types.</a:t>
            </a:r>
          </a:p>
          <a:p xmlns:a="http://schemas.openxmlformats.org/drawingml/2006/main">
            <a:r>
              <a:t/>
            </a:r>
          </a:p>
          <a:p xmlns:a="http://schemas.openxmlformats.org/drawingml/2006/main">
            <a:r>
              <a:t>Step 1: place the definitions in different C++ namespaces.</a:t>
            </a:r>
          </a:p>
          <a:p xmlns:a="http://schemas.openxmlformats.org/drawingml/2006/main">
            <a:r>
              <a:t/>
            </a:r>
          </a:p>
          <a:p xmlns:a="http://schemas.openxmlformats.org/drawingml/2006/main">
            <a:r>
              <a:t>namespace geometry {</a:t>
            </a:r>
          </a:p>
          <a:p xmlns:a="http://schemas.openxmlformats.org/drawingml/2006/main">
            <a:r>
              <a:t>    struct Vector { double x, y; };</a:t>
            </a:r>
          </a:p>
          <a:p xmlns:a="http://schemas.openxmlformats.org/drawingml/2006/main">
            <a:r>
              <a:t>}</a:t>
            </a:r>
          </a:p>
          <a:p xmlns:a="http://schemas.openxmlformats.org/drawingml/2006/main">
            <a:r>
              <a:t>namespace graphics {</a:t>
            </a:r>
          </a:p>
          <a:p xmlns:a="http://schemas.openxmlformats.org/drawingml/2006/main">
            <a:r>
              <a:t>    struct Vector { double x, y, z; };</a:t>
            </a:r>
          </a:p>
          <a:p xmlns:a="http://schemas.openxmlformats.org/drawingml/2006/main">
            <a:r>
              <a:t>}</a:t>
            </a:r>
          </a:p>
          <a:p xmlns:a="http://schemas.openxmlformats.org/drawingml/2006/main">
            <a:r>
              <a:t/>
            </a:r>
          </a:p>
          <a:p xmlns:a="http://schemas.openxmlformats.org/drawingml/2006/main">
            <a:r>
              <a:t>Step 2: qualify each use with its namespace.</a:t>
            </a:r>
          </a:p>
          <a:p xmlns:a="http://schemas.openxmlformats.org/drawingml/2006/main">
            <a:r>
              <a:t/>
            </a:r>
          </a:p>
          <a:p xmlns:a="http://schemas.openxmlformats.org/drawingml/2006/main">
            <a:r>
              <a:t>geometry::Vector p{1, 2};</a:t>
            </a:r>
          </a:p>
          <a:p xmlns:a="http://schemas.openxmlformats.org/drawingml/2006/main">
            <a:r>
              <a:t>graphics::Vector d{1, 2, 3};</a:t>
            </a:r>
          </a:p>
          <a:p xmlns:a="http://schemas.openxmlformats.org/drawingml/2006/main">
            <a:r>
              <a:t/>
            </a:r>
          </a:p>
          <a:p xmlns:a="http://schemas.openxmlformats.org/drawingml/2006/main">
            <a:r>
              <a:t>The full names identify two distinct types even though their final component is the same. p has x and y; d also has z. With &lt;iostream&gt; included and these declarations inside main, std::cout &lt;&lt; p.x + d.z prints 4. The output follows from p.x being 1 and d.z being 3.</a:t>
            </a:r>
          </a:p>
          <a:p xmlns:a="http://schemas.openxmlformats.org/drawingml/2006/main">
            <a:r>
              <a:t/>
            </a:r>
          </a:p>
          <a:p xmlns:a="http://schemas.openxmlformats.org/drawingml/2006/main">
            <a:r>
              <a:t>Step 3: if a shorter local spelling improves readability, introduce a selective alias.</a:t>
            </a:r>
          </a:p>
          <a:p xmlns:a="http://schemas.openxmlformats.org/drawingml/2006/main">
            <a:r>
              <a:t/>
            </a:r>
          </a:p>
          <a:p xmlns:a="http://schemas.openxmlformats.org/drawingml/2006/main">
            <a:r>
              <a:t>using GeometryVector = geometry::Vector;</a:t>
            </a:r>
          </a:p>
          <a:p xmlns:a="http://schemas.openxmlformats.org/drawingml/2006/main">
            <a:r>
              <a:t>GeometryVector q{4, 5};</a:t>
            </a:r>
          </a:p>
          <a:p xmlns:a="http://schemas.openxmlformats.org/drawingml/2006/main">
            <a:r>
              <a:t/>
            </a:r>
          </a:p>
          <a:p xmlns:a="http://schemas.openxmlformats.org/drawingml/2006/main">
            <a:r>
              <a:t>The alias refers to the existing geometry type. It does not create a third Vector type. q.y is 5.</a:t>
            </a:r>
          </a:p>
          <a:p xmlns:a="http://schemas.openxmlformats.org/drawingml/2006/main">
            <a:r>
              <a:t/>
            </a:r>
          </a:p>
          <a:p xmlns:a="http://schemas.openxmlformats.org/drawingml/2006/main">
            <a:r>
              <a:t>Step 4: consider the failure case. After both using namespace geometry; and using namespace graphics;, a bare Vector v; is ambiguous because lookup finds two different declarations. Qualification or a distinct alias resolves the problem. The using directives themselves can coexist; the ambiguous use triggers the error.</a:t>
            </a:r>
          </a:p>
          <a:p xmlns:a="http://schemas.openxmlformats.org/drawingml/2006/main">
            <a:r>
              <a:t/>
            </a:r>
          </a:p>
          <a:p xmlns:a="http://schemas.openxmlformats.org/drawingml/2006/main">
            <a:r>
              <a:t>Now ask students to translate this strategy. C++ supplies namespaces, Java supplies packages, and OCaml supplies modules. Each supports a qualified form of name, but the syntax and the rules for importing names differ. The next slide's notes work through Java and OCaml explicitly.</a:t>
            </a:r>
          </a:p>
          <a:p xmlns:a="http://schemas.openxmlformats.org/drawingml/2006/main">
            <a:r>
              <a:t/>
            </a:r>
          </a:p>
          <a:p xmlns:a="http://schemas.openxmlformats.org/drawingml/2006/main">
            <a:r>
              <a:t>Keep the goal precise: namespace qualification prevents this naming collision. It does not automatically make fields private, create separate compiled libraries, or make two representations compatible. In the example, both Vector structs have public fields. Namespacing and information hiding solve different parts of program organization.</a:t>
            </a:r>
          </a:p>
          <a:p xmlns:a="http://schemas.openxmlformats.org/drawingml/2006/main">
            <a:r>
              <a:t/>
            </a:r>
          </a:p>
          <a:p xmlns:a="http://schemas.openxmlformats.org/drawingml/2006/main">
            <a:r>
              <a:t>References</a:t>
            </a:r>
          </a:p>
          <a:p xmlns:a="http://schemas.openxmlformats.org/drawingml/2006/main">
            <a:r>
              <a:t>https://eel.is/c++draft/namespace.def</a:t>
            </a:r>
          </a:p>
          <a:p xmlns:a="http://schemas.openxmlformats.org/drawingml/2006/main">
            <a:r>
              <a:t>https://eel.is/c++draft/namespace.qual</a:t>
            </a:r>
          </a:p>
          <a:p xmlns:a="http://schemas.openxmlformats.org/drawingml/2006/main">
            <a:r>
              <a:t>https://eel.is/c++draft/namespace.udir</a:t>
            </a:r>
          </a:p>
          <a:p xmlns:a="http://schemas.openxmlformats.org/drawingml/2006/main">
            <a:r>
              <a:t>https://eel.is/c++draft/dcl.typedef</a:t>
            </a:r>
          </a:p>
          <a:p xmlns:a="http://schemas.openxmlformats.org/drawingml/2006/main">
            <a:r>
              <a:t>https://docs.oracle.com/javase/specs/jls/se25/html/jls-7.html</a:t>
            </a:r>
          </a:p>
          <a:p xmlns:a="http://schemas.openxmlformats.org/drawingml/2006/main">
            <a:r>
              <a:t>https://ocaml.org/manual/5.4/moduleexamples.html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Java solution to the Vector problem</a:t>
            </a:r>
          </a:p>
          <a:p xmlns:a="http://schemas.openxmlformats.org/drawingml/2006/main">
            <a:r>
              <a:t/>
            </a:r>
          </a:p>
          <a:p xmlns:a="http://schemas.openxmlformats.org/drawingml/2006/main">
            <a:r>
              <a:t>Create geometry/Vector.java:</a:t>
            </a:r>
          </a:p>
          <a:p xmlns:a="http://schemas.openxmlformats.org/drawingml/2006/main">
            <a:r>
              <a:t>package geometry;</a:t>
            </a:r>
          </a:p>
          <a:p xmlns:a="http://schemas.openxmlformats.org/drawingml/2006/main">
            <a:r>
              <a:t>public final class Vector {}</a:t>
            </a:r>
          </a:p>
          <a:p xmlns:a="http://schemas.openxmlformats.org/drawingml/2006/main">
            <a:r>
              <a:t/>
            </a:r>
          </a:p>
          <a:p xmlns:a="http://schemas.openxmlformats.org/drawingml/2006/main">
            <a:r>
              <a:t>Create graphics/Vector.java:</a:t>
            </a:r>
          </a:p>
          <a:p xmlns:a="http://schemas.openxmlformats.org/drawingml/2006/main">
            <a:r>
              <a:t>package graphics;</a:t>
            </a:r>
          </a:p>
          <a:p xmlns:a="http://schemas.openxmlformats.org/drawingml/2006/main">
            <a:r>
              <a:t>public final class Vector {}</a:t>
            </a:r>
          </a:p>
          <a:p xmlns:a="http://schemas.openxmlformats.org/drawingml/2006/main">
            <a:r>
              <a:t/>
            </a:r>
          </a:p>
          <a:p xmlns:a="http://schemas.openxmlformats.org/drawingml/2006/main">
            <a:r>
              <a:t>In a main method, use the full names:</a:t>
            </a:r>
          </a:p>
          <a:p xmlns:a="http://schemas.openxmlformats.org/drawingml/2006/main">
            <a:r>
              <a:t>geometry.Vector p = new geometry.Vector();</a:t>
            </a:r>
          </a:p>
          <a:p xmlns:a="http://schemas.openxmlformats.org/drawingml/2006/main">
            <a:r>
              <a:t>graphics.Vector d = new graphics.Vector();</a:t>
            </a:r>
          </a:p>
          <a:p xmlns:a="http://schemas.openxmlformats.org/drawingml/2006/main">
            <a:r>
              <a:t>System.out.println(p.getClass().getName());</a:t>
            </a:r>
          </a:p>
          <a:p xmlns:a="http://schemas.openxmlformats.org/drawingml/2006/main">
            <a:r>
              <a:t>System.out.println(d.getClass().getName());</a:t>
            </a:r>
          </a:p>
          <a:p xmlns:a="http://schemas.openxmlformats.org/drawingml/2006/main">
            <a:r>
              <a:t/>
            </a:r>
          </a:p>
          <a:p xmlns:a="http://schemas.openxmlformats.org/drawingml/2006/main">
            <a:r>
              <a:t>The two printed names are geometry.Vector and graphics.Vector. These are separate classes. Java does not provide a general import-as alias. Import one class and qualify the other, or qualify both as shown. Two single-type imports of different classes both named Vector cause a compilation error.</a:t>
            </a:r>
          </a:p>
          <a:p xmlns:a="http://schemas.openxmlformats.org/drawingml/2006/main">
            <a:r>
              <a:t/>
            </a:r>
          </a:p>
          <a:p xmlns:a="http://schemas.openxmlformats.org/drawingml/2006/main">
            <a:r>
              <a:t>On this slide, java.* and javax.* describe families of package names. They are not instructions to import every nested package. For example, import java.util.*; makes accessible types in java.util available by simple name; it does not import types from java.util.concurrent. Several javax packages, such as javax.swing, are part of the Java SE API. A prefix alone does not establish whether an API needs an additional dependency.</a:t>
            </a:r>
          </a:p>
          <a:p xmlns:a="http://schemas.openxmlformats.org/drawingml/2006/main">
            <a:r>
              <a:t/>
            </a:r>
          </a:p>
          <a:p xmlns:a="http://schemas.openxmlformats.org/drawingml/2006/main">
            <a:r>
              <a:t>OCaml solution</a:t>
            </a:r>
          </a:p>
          <a:p xmlns:a="http://schemas.openxmlformats.org/drawingml/2006/main">
            <a:r>
              <a:t/>
            </a:r>
          </a:p>
          <a:p xmlns:a="http://schemas.openxmlformats.org/drawingml/2006/main">
            <a:r>
              <a:t>module Geometry = struct</a:t>
            </a:r>
          </a:p>
          <a:p xmlns:a="http://schemas.openxmlformats.org/drawingml/2006/main">
            <a:r>
              <a:t>  type vector = float * float</a:t>
            </a:r>
          </a:p>
          <a:p xmlns:a="http://schemas.openxmlformats.org/drawingml/2006/main">
            <a:r>
              <a:t>end</a:t>
            </a:r>
          </a:p>
          <a:p xmlns:a="http://schemas.openxmlformats.org/drawingml/2006/main">
            <a:r>
              <a:t>module Graphics = struct</a:t>
            </a:r>
          </a:p>
          <a:p xmlns:a="http://schemas.openxmlformats.org/drawingml/2006/main">
            <a:r>
              <a:t>  type vector = float * float * float</a:t>
            </a:r>
          </a:p>
          <a:p xmlns:a="http://schemas.openxmlformats.org/drawingml/2006/main">
            <a:r>
              <a:t>end</a:t>
            </a:r>
          </a:p>
          <a:p xmlns:a="http://schemas.openxmlformats.org/drawingml/2006/main">
            <a:r>
              <a:t>let p : Geometry.vector = (1., 2.)</a:t>
            </a:r>
          </a:p>
          <a:p xmlns:a="http://schemas.openxmlformats.org/drawingml/2006/main">
            <a:r>
              <a:t>let d : Graphics.vector = (1., 2., 3.)</a:t>
            </a:r>
          </a:p>
          <a:p xmlns:a="http://schemas.openxmlformats.org/drawingml/2006/main">
            <a:r>
              <a:t>module G = Geometry</a:t>
            </a:r>
          </a:p>
          <a:p xmlns:a="http://schemas.openxmlformats.org/drawingml/2006/main">
            <a:r>
              <a:t>let q : G.vector = (4., 5.)</a:t>
            </a:r>
          </a:p>
          <a:p xmlns:a="http://schemas.openxmlformats.org/drawingml/2006/main">
            <a:r>
              <a:t/>
            </a:r>
          </a:p>
          <a:p xmlns:a="http://schemas.openxmlformats.org/drawingml/2006/main">
            <a:r>
              <a:t>Module names begin with uppercase letters and these type names begin with lowercase letters. Geometry.vector and Graphics.vector have different tuple representations. G is an alias for Geometry, so q uses the same type as p. Qualifying the names makes their origin explicit. Opening several modules can shadow unqualified names, so qualification remains useful. A module signature can additionally make a representation abstract; the transparent type aliases shown here do not hide it.</a:t>
            </a:r>
          </a:p>
          <a:p xmlns:a="http://schemas.openxmlformats.org/drawingml/2006/main">
            <a:r>
              <a:t/>
            </a:r>
          </a:p>
          <a:p xmlns:a="http://schemas.openxmlformats.org/drawingml/2006/main">
            <a:r>
              <a:t>Related examples</a:t>
            </a:r>
          </a:p>
          <a:p xmlns:a="http://schemas.openxmlformats.org/drawingml/2006/main">
            <a:r>
              <a:t/>
            </a:r>
          </a:p>
          <a:p xmlns:a="http://schemas.openxmlformats.org/drawingml/2006/main">
            <a:r>
              <a:t>C++ library names include std::vector and glm::vec3. The std namespace is reserved for standard-library use, subject to specifically permitted extensions such as certain template specializations. GLM publishes its API in glm. In C#, System.Console uses the System namespace; a using alias can be written using GeometryVector = Geometry.Vector; when that type exists. Ruby can organize a class within module Geometry, giving the class the qualified name Geometry::Vector. Ruby modules also support mixins, which is a separate use of the same construct.</a:t>
            </a:r>
          </a:p>
          <a:p xmlns:a="http://schemas.openxmlformats.org/drawingml/2006/main">
            <a:r>
              <a:t/>
            </a:r>
          </a:p>
          <a:p xmlns:a="http://schemas.openxmlformats.org/drawingml/2006/main">
            <a:r>
              <a:t>Ask students to explain what changes when an alias is added. The available spelling changes, while the original type and its owning scope remain the same.</a:t>
            </a:r>
          </a:p>
          <a:p xmlns:a="http://schemas.openxmlformats.org/drawingml/2006/main">
            <a:r>
              <a:t/>
            </a:r>
          </a:p>
          <a:p xmlns:a="http://schemas.openxmlformats.org/drawingml/2006/main">
            <a:r>
              <a:t>References</a:t>
            </a:r>
          </a:p>
          <a:p xmlns:a="http://schemas.openxmlformats.org/drawingml/2006/main">
            <a:r>
              <a:t>https://docs.oracle.com/javase/specs/jls/se25/html/jls-7.html</a:t>
            </a:r>
          </a:p>
          <a:p xmlns:a="http://schemas.openxmlformats.org/drawingml/2006/main">
            <a:r>
              <a:t>https://docs.oracle.com/en/java/javase/21/docs/api/java.desktop/javax/swing/package-summary.html</a:t>
            </a:r>
          </a:p>
          <a:p xmlns:a="http://schemas.openxmlformats.org/drawingml/2006/main">
            <a:r>
              <a:t>https://www.oracle.com/java/technologies/faq-sun-packages.html</a:t>
            </a:r>
          </a:p>
          <a:p xmlns:a="http://schemas.openxmlformats.org/drawingml/2006/main">
            <a:r>
              <a:t>https://ocaml.org/manual/5.4/moduleexamples.html</a:t>
            </a:r>
          </a:p>
          <a:p xmlns:a="http://schemas.openxmlformats.org/drawingml/2006/main">
            <a:r>
              <a:t>https://ocaml.org/manual/5.4/modulealias.html</a:t>
            </a:r>
          </a:p>
          <a:p xmlns:a="http://schemas.openxmlformats.org/drawingml/2006/main">
            <a:r>
              <a:t>https://eel.is/c++draft/namespace.std</a:t>
            </a:r>
          </a:p>
          <a:p xmlns:a="http://schemas.openxmlformats.org/drawingml/2006/main">
            <a:r>
              <a:t>https://github.com/g-truc/glm/blob/master/manual.md</a:t>
            </a:r>
          </a:p>
          <a:p xmlns:a="http://schemas.openxmlformats.org/drawingml/2006/main">
            <a:r>
              <a:t>https://learn.microsoft.com/en-us/dotnet/csharp/fundamentals/program-structure/namespaces</a:t>
            </a:r>
          </a:p>
          <a:p xmlns:a="http://schemas.openxmlformats.org/drawingml/2006/main">
            <a:r>
              <a:t>https://docs.ruby-lang.org/en/3.2/syntax/modules_and_classes_rdoc.html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s/_rels/slide1.xml.rels><?xml version='1.0' encoding='UTF-8' standalone='yes'?>
<Relationships xmlns="http://schemas.openxmlformats.org/package/2006/relationships"><Relationship Type="http://schemas.openxmlformats.org/officeDocument/2006/relationships/slideLayout" Target="../nativeTemplate/slideLayouts/slideLayout1.xml" Id="R46b1d2a42fee434f"/><Relationship Type="http://schemas.openxmlformats.org/officeDocument/2006/relationships/notesSlide" Target="/ppt/notesSlides/notesSlide1.xml" Id="R54b6c847ad994c6c"/></Relationships>
</file>

<file path=ppt/slides/_rels/slide2.xml.rels><?xml version='1.0' encoding='UTF-8' standalone='yes'?>
<Relationships xmlns="http://schemas.openxmlformats.org/package/2006/relationships"><Relationship Type="http://schemas.openxmlformats.org/officeDocument/2006/relationships/slideLayout" Target="../nativeTemplate/slideLayouts/slideLayout2.xml" Id="R506704c59fdd4244"/><Relationship Type="http://schemas.openxmlformats.org/officeDocument/2006/relationships/notesSlide" Target="/ppt/notesSlides/notesSlide2.xml" Id="R8271a769dbac48f9"/></Relationships>
</file>

<file path=ppt/slides/_rels/slide3.xml.rels><?xml version='1.0' encoding='UTF-8' standalone='yes'?>
<Relationships xmlns="http://schemas.openxmlformats.org/package/2006/relationships"><Relationship Type="http://schemas.openxmlformats.org/officeDocument/2006/relationships/slideLayout" Target="../nativeTemplate/slideLayouts/slideLayout3.xml" Id="R33df0dcbae7d4185"/><Relationship Type="http://schemas.openxmlformats.org/officeDocument/2006/relationships/notesSlide" Target="/ppt/notesSlides/notesSlide3.xml" Id="R92c57916225d46d8"/></Relationships>
</file>

<file path=ppt/slides/_rels/slide4.xml.rels><?xml version='1.0' encoding='UTF-8' standalone='yes'?>
<Relationships xmlns="http://schemas.openxmlformats.org/package/2006/relationships"><Relationship Type="http://schemas.openxmlformats.org/officeDocument/2006/relationships/slideLayout" Target="../nativeTemplate/slideLayouts/slideLayout2.xml" Id="Rd4729b086c62486f"/><Relationship Type="http://schemas.openxmlformats.org/officeDocument/2006/relationships/notesSlide" Target="/ppt/notesSlides/notesSlide4.xml" Id="Rd465b1a325f74158"/></Relationships>
</file>

<file path=ppt/slides/_rels/slide5.xml.rels><?xml version='1.0' encoding='UTF-8' standalone='yes'?>
<Relationships xmlns="http://schemas.openxmlformats.org/package/2006/relationships"><Relationship Type="http://schemas.openxmlformats.org/officeDocument/2006/relationships/slideLayout" Target="../nativeTemplate/slideLayouts/slideLayout2.xml" Id="Rad6b97aeec8c4c63"/><Relationship Type="http://schemas.openxmlformats.org/officeDocument/2006/relationships/notesSlide" Target="/ppt/notesSlides/notesSlide5.xml" Id="R96ece52d5ed84c0e"/></Relationships>
</file>

<file path=ppt/slides/_rels/slide6.xml.rels><?xml version='1.0' encoding='UTF-8' standalone='yes'?>
<Relationships xmlns="http://schemas.openxmlformats.org/package/2006/relationships"><Relationship Type="http://schemas.openxmlformats.org/officeDocument/2006/relationships/slideLayout" Target="../nativeTemplate/slideLayouts/slideLayout2.xml" Id="Rbc4247439f2f4d34"/><Relationship Type="http://schemas.openxmlformats.org/officeDocument/2006/relationships/notesSlide" Target="/ppt/notesSlides/notesSlide6.xml" Id="R1232c614f01d49ec"/></Relationships>
</file>

<file path=ppt/slides/_rels/slide7.xml.rels><?xml version='1.0' encoding='UTF-8' standalone='yes'?>
<Relationships xmlns="http://schemas.openxmlformats.org/package/2006/relationships"><Relationship Type="http://schemas.openxmlformats.org/officeDocument/2006/relationships/slideLayout" Target="../nativeTemplate/slideLayouts/slideLayout2.xml" Id="R29bbd34a3e174dba"/><Relationship Type="http://schemas.openxmlformats.org/officeDocument/2006/relationships/notesSlide" Target="/ppt/notesSlides/notesSlide7.xml" Id="R5c05e98f97ef40be"/></Relationships>
</file>

<file path=ppt/slides/_rels/slide8.xml.rels><?xml version='1.0' encoding='UTF-8' standalone='yes'?>
<Relationships xmlns="http://schemas.openxmlformats.org/package/2006/relationships"><Relationship Type="http://schemas.openxmlformats.org/officeDocument/2006/relationships/slideLayout" Target="../nativeTemplate/slideLayouts/slideLayout2.xml" Id="Reb960bf04e764e14"/><Relationship Type="http://schemas.openxmlformats.org/officeDocument/2006/relationships/notesSlide" Target="/ppt/notesSlides/notesSlide8.xml" Id="Ra6882650bd7640dc"/></Relationships>
</file>

<file path=ppt/slides/_rels/slide9.xml.rels><?xml version='1.0' encoding='UTF-8' standalone='yes'?>
<Relationships xmlns="http://schemas.openxmlformats.org/package/2006/relationships"><Relationship Type="http://schemas.openxmlformats.org/officeDocument/2006/relationships/slideLayout" Target="../nativeTemplate/slideLayouts/slideLayout2.xml" Id="R1d654b98b4744b50"/><Relationship Type="http://schemas.openxmlformats.org/officeDocument/2006/relationships/notesSlide" Target="/ppt/notesSlides/notesSlide9.xml" Id="R7e1ff7cf170b4c7e"/></Relationships>
</file>

<file path=ppt/slides/_rels/slide10.xml.rels><?xml version='1.0' encoding='UTF-8' standalone='yes'?>
<Relationships xmlns="http://schemas.openxmlformats.org/package/2006/relationships"><Relationship Type="http://schemas.openxmlformats.org/officeDocument/2006/relationships/slideLayout" Target="../nativeTemplate/slideLayouts/slideLayout2.xml" Id="Rf773c4c1709b4c7a"/><Relationship Type="http://schemas.openxmlformats.org/officeDocument/2006/relationships/notesSlide" Target="/ppt/notesSlides/notesSlide10.xml" Id="Rf9ccdc6076c3408b"/></Relationships>
</file>

<file path=ppt/slides/_rels/slide11.xml.rels><?xml version='1.0' encoding='UTF-8' standalone='yes'?>
<Relationships xmlns="http://schemas.openxmlformats.org/package/2006/relationships"><Relationship Type="http://schemas.openxmlformats.org/officeDocument/2006/relationships/slideLayout" Target="../nativeTemplate/slideLayouts/slideLayout2.xml" Id="R6f6d07c9ba1a43ed"/><Relationship Type="http://schemas.openxmlformats.org/officeDocument/2006/relationships/notesSlide" Target="/ppt/notesSlides/notesSlide11.xml" Id="Rf4ac889746394b28"/></Relationships>
</file>

<file path=ppt/slides/_rels/slide12.xml.rels><?xml version='1.0' encoding='UTF-8' standalone='yes'?>
<Relationships xmlns="http://schemas.openxmlformats.org/package/2006/relationships"><Relationship Type="http://schemas.openxmlformats.org/officeDocument/2006/relationships/slideLayout" Target="../nativeTemplate/slideLayouts/slideLayout2.xml" Id="R0595ff53beac4383"/><Relationship Type="http://schemas.openxmlformats.org/officeDocument/2006/relationships/notesSlide" Target="/ppt/notesSlides/notesSlide12.xml" Id="R41cc3f7bda744cf2"/></Relationships>
</file>

<file path=ppt/slides/_rels/slide13.xml.rels><?xml version='1.0' encoding='UTF-8' standalone='yes'?>
<Relationships xmlns="http://schemas.openxmlformats.org/package/2006/relationships"><Relationship Type="http://schemas.openxmlformats.org/officeDocument/2006/relationships/slideLayout" Target="../nativeTemplate/slideLayouts/slideLayout2.xml" Id="R8d9de037c09f48c4"/><Relationship Type="http://schemas.openxmlformats.org/officeDocument/2006/relationships/notesSlide" Target="/ppt/notesSlides/notesSlide13.xml" Id="R829a2458f3e34170"/></Relationships>
</file>

<file path=ppt/slides/_rels/slide14.xml.rels><?xml version='1.0' encoding='UTF-8' standalone='yes'?>
<Relationships xmlns="http://schemas.openxmlformats.org/package/2006/relationships"><Relationship Type="http://schemas.openxmlformats.org/officeDocument/2006/relationships/slideLayout" Target="../nativeTemplate/slideLayouts/slideLayout2.xml" Id="R5bcc2f0b19454dbd"/><Relationship Type="http://schemas.openxmlformats.org/officeDocument/2006/relationships/notesSlide" Target="/ppt/notesSlides/notesSlide14.xml" Id="R2a9d61afd3654821"/></Relationships>
</file>

<file path=ppt/slides/_rels/slide15.xml.rels><?xml version='1.0' encoding='UTF-8' standalone='yes'?>
<Relationships xmlns="http://schemas.openxmlformats.org/package/2006/relationships"><Relationship Type="http://schemas.openxmlformats.org/officeDocument/2006/relationships/slideLayout" Target="../nativeTemplate/slideLayouts/slideLayout2.xml" Id="R863c2679cae9475c"/><Relationship Type="http://schemas.openxmlformats.org/officeDocument/2006/relationships/notesSlide" Target="/ppt/notesSlides/notesSlide15.xml" Id="R40b90a7844db4e11"/></Relationships>
</file>

<file path=ppt/slides/_rels/slide16.xml.rels><?xml version='1.0' encoding='UTF-8' standalone='yes'?>
<Relationships xmlns="http://schemas.openxmlformats.org/package/2006/relationships"><Relationship Type="http://schemas.openxmlformats.org/officeDocument/2006/relationships/slideLayout" Target="../nativeTemplate/slideLayouts/slideLayout2.xml" Id="R09a1570b1e6c45c5"/><Relationship Type="http://schemas.openxmlformats.org/officeDocument/2006/relationships/notesSlide" Target="/ppt/notesSlides/notesSlide16.xml" Id="R9c833bb375da4685"/></Relationships>
</file>

<file path=ppt/slides/_rels/slide17.xml.rels><?xml version='1.0' encoding='UTF-8' standalone='yes'?>
<Relationships xmlns="http://schemas.openxmlformats.org/package/2006/relationships"><Relationship Type="http://schemas.openxmlformats.org/officeDocument/2006/relationships/slideLayout" Target="../nativeTemplate/slideLayouts/slideLayout2.xml" Id="R02678aa7cf134014"/><Relationship Type="http://schemas.openxmlformats.org/officeDocument/2006/relationships/notesSlide" Target="/ppt/notesSlides/notesSlide17.xml" Id="R4e7fd843817544d8"/></Relationships>
</file>

<file path=ppt/slides/_rels/slide18.xml.rels><?xml version='1.0' encoding='UTF-8' standalone='yes'?>
<Relationships xmlns="http://schemas.openxmlformats.org/package/2006/relationships"><Relationship Type="http://schemas.openxmlformats.org/officeDocument/2006/relationships/slideLayout" Target="../nativeTemplate/slideLayouts/slideLayout2.xml" Id="Rc38ba0a7de16434e"/><Relationship Type="http://schemas.openxmlformats.org/officeDocument/2006/relationships/notesSlide" Target="/ppt/notesSlides/notesSlide18.xml" Id="Rccab04b2e6f742cc"/></Relationships>
</file>

<file path=ppt/slides/_rels/slide19.xml.rels><?xml version='1.0' encoding='UTF-8' standalone='yes'?>
<Relationships xmlns="http://schemas.openxmlformats.org/package/2006/relationships"><Relationship Type="http://schemas.openxmlformats.org/officeDocument/2006/relationships/slideLayout" Target="../nativeTemplate/slideLayouts/slideLayout2.xml" Id="R6482a3a46a914663"/><Relationship Type="http://schemas.openxmlformats.org/officeDocument/2006/relationships/notesSlide" Target="/ppt/notesSlides/notesSlide19.xml" Id="Rebee06b5fb234644"/></Relationships>
</file>

<file path=ppt/slides/_rels/slide20.xml.rels><?xml version='1.0' encoding='UTF-8' standalone='yes'?>
<Relationships xmlns="http://schemas.openxmlformats.org/package/2006/relationships"><Relationship Type="http://schemas.openxmlformats.org/officeDocument/2006/relationships/slideLayout" Target="../nativeTemplate/slideLayouts/slideLayout2.xml" Id="Rf9dc07a667da4203"/><Relationship Type="http://schemas.openxmlformats.org/officeDocument/2006/relationships/notesSlide" Target="/ppt/notesSlides/notesSlide20.xml" Id="R56e40983d5e343a9"/></Relationships>
</file>

<file path=ppt/slides/_rels/slide21.xml.rels><?xml version='1.0' encoding='UTF-8' standalone='yes'?>
<Relationships xmlns="http://schemas.openxmlformats.org/package/2006/relationships"><Relationship Type="http://schemas.openxmlformats.org/officeDocument/2006/relationships/slideLayout" Target="../nativeTemplate/slideLayouts/slideLayout2.xml" Id="Ra03a14b513364513"/><Relationship Type="http://schemas.openxmlformats.org/officeDocument/2006/relationships/notesSlide" Target="/ppt/notesSlides/notesSlide21.xml" Id="R44be29f5762042a5"/></Relationships>
</file>

<file path=ppt/slides/_rels/slide22.xml.rels><?xml version='1.0' encoding='UTF-8' standalone='yes'?>
<Relationships xmlns="http://schemas.openxmlformats.org/package/2006/relationships"><Relationship Type="http://schemas.openxmlformats.org/officeDocument/2006/relationships/slideLayout" Target="../nativeTemplate/slideLayouts/slideLayout2.xml" Id="R0bf052b51a184c8a"/><Relationship Type="http://schemas.openxmlformats.org/officeDocument/2006/relationships/notesSlide" Target="/ppt/notesSlides/notesSlide22.xml" Id="R4ff26c71ec7a47fb"/></Relationships>
</file>

<file path=ppt/slides/_rels/slide23.xml.rels><?xml version='1.0' encoding='UTF-8' standalone='yes'?>
<Relationships xmlns="http://schemas.openxmlformats.org/package/2006/relationships"><Relationship Type="http://schemas.openxmlformats.org/officeDocument/2006/relationships/slideLayout" Target="../nativeTemplate/slideLayouts/slideLayout2.xml" Id="Rc4d2463fa35c41e0"/><Relationship Type="http://schemas.openxmlformats.org/officeDocument/2006/relationships/notesSlide" Target="/ppt/notesSlides/notesSlide23.xml" Id="Raab07c6d685a4ae0"/></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0BD1F46E-F9E1-46EA-AFDF-00B5791CFCD4}"/>
              </a:ext>
            </a:extLst>
          </p:cNvPr>
          <p:cNvSpPr>
            <a:spLocks xmlns:a="http://schemas.openxmlformats.org/drawingml/2006/main" noGrp="1"/>
          </p:cNvSpPr>
          <p:nvPr/>
        </p:nvSpPr>
        <p:spPr>
          <a:xfrm xmlns:a="http://schemas.openxmlformats.org/drawingml/2006/main">
            <a:off x="2611812" y="3429000"/>
            <a:ext cx="5518071" cy="2268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6000" b="0" i="0">
                <a:solidFill>
                  <a:srgbClr val="FFFFFF"/>
                </a:solidFill>
                <a:latin typeface="Arial"/>
                <a:ea typeface="Arial"/>
                <a:cs typeface="Arial"/>
              </a:defRPr>
            </a:defPPr>
            <a:lvl1pPr algn="r">
              <a:defRPr sz="6000" b="0" i="0">
                <a:solidFill>
                  <a:srgbClr val="FFFFFF"/>
                </a:solidFill>
                <a:latin typeface="Arial"/>
                <a:ea typeface="Arial"/>
                <a:cs typeface="Arial"/>
              </a:defRPr>
            </a:lvl1pPr>
            <a:lvl2pPr algn="r">
              <a:defRPr sz="6000" b="0" i="0">
                <a:solidFill>
                  <a:srgbClr val="FFFFFF"/>
                </a:solidFill>
                <a:latin typeface="Arial"/>
                <a:ea typeface="Arial"/>
                <a:cs typeface="Arial"/>
              </a:defRPr>
            </a:lvl2pPr>
            <a:lvl3pPr algn="r">
              <a:defRPr sz="6000" b="0" i="0">
                <a:solidFill>
                  <a:srgbClr val="FFFFFF"/>
                </a:solidFill>
                <a:latin typeface="Arial"/>
                <a:ea typeface="Arial"/>
                <a:cs typeface="Arial"/>
              </a:defRPr>
            </a:lvl3pPr>
            <a:lvl4pPr algn="r">
              <a:defRPr sz="6000" b="0" i="0">
                <a:solidFill>
                  <a:srgbClr val="FFFFFF"/>
                </a:solidFill>
                <a:latin typeface="Arial"/>
                <a:ea typeface="Arial"/>
                <a:cs typeface="Arial"/>
              </a:defRPr>
            </a:lvl4pPr>
            <a:lvl5pPr algn="r">
              <a:defRPr sz="6000" b="0" i="0">
                <a:solidFill>
                  <a:srgbClr val="FFFFFF"/>
                </a:solidFill>
                <a:latin typeface="Arial"/>
                <a:ea typeface="Arial"/>
                <a:cs typeface="Arial"/>
              </a:defRPr>
            </a:lvl5pPr>
            <a:lvl6pPr algn="r">
              <a:defRPr sz="6000" b="0" i="0">
                <a:solidFill>
                  <a:srgbClr val="FFFFFF"/>
                </a:solidFill>
                <a:latin typeface="Arial"/>
                <a:ea typeface="Arial"/>
                <a:cs typeface="Arial"/>
              </a:defRPr>
            </a:lvl6pPr>
            <a:lvl7pPr algn="r">
              <a:defRPr sz="6000" b="0" i="0">
                <a:solidFill>
                  <a:srgbClr val="FFFFFF"/>
                </a:solidFill>
                <a:latin typeface="Arial"/>
                <a:ea typeface="Arial"/>
                <a:cs typeface="Arial"/>
              </a:defRPr>
            </a:lvl7pPr>
            <a:lvl8pPr algn="r">
              <a:defRPr sz="6000" b="0" i="0">
                <a:solidFill>
                  <a:srgbClr val="FFFFFF"/>
                </a:solidFill>
                <a:latin typeface="Arial"/>
                <a:ea typeface="Arial"/>
                <a:cs typeface="Arial"/>
              </a:defRPr>
            </a:lvl8pPr>
            <a:lvl9pPr algn="r">
              <a:defRPr sz="6000" b="0" i="0">
                <a:solidFill>
                  <a:srgbClr val="FFFFFF"/>
                </a:solidFill>
                <a:latin typeface="Arial"/>
                <a:ea typeface="Arial"/>
                <a:cs typeface="Arial"/>
              </a:defRPr>
            </a:lvl9pPr>
          </a:lstStyle>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Abstract</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Data Types</a:t>
            </a:r>
          </a:p>
        </p:txBody>
      </p:sp>
      <p:sp>
        <p:nvSpPr>
          <p:cNvPr id="2" name="cover-subtitle">
            <a:extLst xmlns:a="http://schemas.openxmlformats.org/drawingml/2006/main">
              <a:ext uri="{FF2B5EF4-FFF2-40B4-BE49-F238E27FC236}">
                <a16:creationId xmlns:a16="http://schemas.microsoft.com/office/drawing/2014/main" id="{E2A35BB3-BFDC-4006-9C1C-F7F027289625}"/>
              </a:ext>
            </a:extLst>
          </p:cNvPr>
          <p:cNvSpPr>
            <a:spLocks xmlns:a="http://schemas.openxmlformats.org/drawingml/2006/main" noGrp="1"/>
          </p:cNvSpPr>
          <p:nvPr/>
        </p:nvSpPr>
        <p:spPr>
          <a:xfrm xmlns:a="http://schemas.openxmlformats.org/drawingml/2006/main">
            <a:off x="2772270" y="2571750"/>
            <a:ext cx="5357603"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b">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CMSC 330: Programming Languages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Millersville University</a:t>
            </a:r>
          </a:p>
        </p:txBody>
      </p:sp>
    </p:spTree>
    <p:extLst>
      <p:ext uri="{BB962C8B-B14F-4D97-AF65-F5344CB8AC3E}">
        <p14:creationId xmlns:p14="http://schemas.microsoft.com/office/powerpoint/2010/main" val="21190394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CD10F57-CF77-4243-B761-30770DC93AC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Outline</a:t>
            </a:r>
          </a:p>
        </p:txBody>
      </p:sp>
      <p:sp>
        <p:nvSpPr>
          <p:cNvPr id="2" name="slide-number">
            <a:extLst xmlns:a="http://schemas.openxmlformats.org/drawingml/2006/main">
              <a:ext uri="{FF2B5EF4-FFF2-40B4-BE49-F238E27FC236}">
                <a16:creationId xmlns:a16="http://schemas.microsoft.com/office/drawing/2014/main" id="{147AECE2-B957-4194-9788-91B0867A03EA}"/>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a:t>
            </a:r>
          </a:p>
        </p:txBody>
      </p:sp>
      <p:sp>
        <p:nvSpPr>
          <p:cNvPr id="3" name="outline">
            <a:extLst xmlns:a="http://schemas.openxmlformats.org/drawingml/2006/main">
              <a:ext uri="{FF2B5EF4-FFF2-40B4-BE49-F238E27FC236}">
                <a16:creationId xmlns:a16="http://schemas.microsoft.com/office/drawing/2014/main" id="{12EC9D0E-BC63-4B2D-AB31-F570AC93FD7C}"/>
              </a:ext>
            </a:extLst>
          </p:cNvPr>
          <p:cNvSpPr>
            <a:spLocks xmlns:a="http://schemas.openxmlformats.org/drawingml/2006/main" noGrp="1"/>
          </p:cNvSpPr>
          <p:nvPr/>
        </p:nvSpPr>
        <p:spPr>
          <a:xfrm xmlns:a="http://schemas.openxmlformats.org/drawingml/2006/main">
            <a:off x="2773594" y="1971675"/>
            <a:ext cx="7796536" cy="429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Abstraction</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Abstract Data Types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Data Encapsulation &amp; Hiding</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Constructors and Destructors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Accessors and Mutators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Encapsulations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Naming Encapsulations</a:t>
            </a:r>
          </a:p>
        </p:txBody>
      </p:sp>
    </p:spTree>
    <p:extLst>
      <p:ext uri="{BB962C8B-B14F-4D97-AF65-F5344CB8AC3E}">
        <p14:creationId xmlns:p14="http://schemas.microsoft.com/office/powerpoint/2010/main" val="15337100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section-title">
            <a:extLst xmlns:a="http://schemas.openxmlformats.org/drawingml/2006/main">
              <a:ext uri="{FF2B5EF4-FFF2-40B4-BE49-F238E27FC236}">
                <a16:creationId xmlns:a16="http://schemas.microsoft.com/office/drawing/2014/main" id="{C806BC2F-F13C-4FBC-9880-C7B4AED3DDAE}"/>
              </a:ext>
            </a:extLst>
          </p:cNvPr>
          <p:cNvSpPr>
            <a:spLocks xmlns:a="http://schemas.openxmlformats.org/drawingml/2006/main" noGrp="1"/>
          </p:cNvSpPr>
          <p:nvPr/>
        </p:nvSpPr>
        <p:spPr>
          <a:xfrm xmlns:a="http://schemas.openxmlformats.org/drawingml/2006/main">
            <a:off x="2609840" y="3147251"/>
            <a:ext cx="7956556" cy="142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200" b="0" i="0">
                <a:solidFill>
                  <a:srgbClr val="FFFFFF"/>
                </a:solidFill>
                <a:latin typeface="Times New Roman"/>
                <a:ea typeface="Times New Roman"/>
                <a:cs typeface="Times New Roman"/>
              </a:defRPr>
            </a:defPPr>
            <a:lvl1pPr algn="r">
              <a:defRPr sz="3200" b="0" i="0">
                <a:solidFill>
                  <a:srgbClr val="FFFFFF"/>
                </a:solidFill>
                <a:latin typeface="Times New Roman"/>
                <a:ea typeface="Times New Roman"/>
                <a:cs typeface="Times New Roman"/>
              </a:defRPr>
            </a:lvl1pPr>
            <a:lvl2pPr algn="r">
              <a:defRPr sz="3200" b="0" i="0">
                <a:solidFill>
                  <a:srgbClr val="FFFFFF"/>
                </a:solidFill>
                <a:latin typeface="Times New Roman"/>
                <a:ea typeface="Times New Roman"/>
                <a:cs typeface="Times New Roman"/>
              </a:defRPr>
            </a:lvl2pPr>
            <a:lvl3pPr algn="r">
              <a:defRPr sz="3200" b="0" i="0">
                <a:solidFill>
                  <a:srgbClr val="FFFFFF"/>
                </a:solidFill>
                <a:latin typeface="Times New Roman"/>
                <a:ea typeface="Times New Roman"/>
                <a:cs typeface="Times New Roman"/>
              </a:defRPr>
            </a:lvl3pPr>
            <a:lvl4pPr algn="r">
              <a:defRPr sz="3200" b="0" i="0">
                <a:solidFill>
                  <a:srgbClr val="FFFFFF"/>
                </a:solidFill>
                <a:latin typeface="Times New Roman"/>
                <a:ea typeface="Times New Roman"/>
                <a:cs typeface="Times New Roman"/>
              </a:defRPr>
            </a:lvl4pPr>
            <a:lvl5pPr algn="r">
              <a:defRPr sz="3200" b="0" i="0">
                <a:solidFill>
                  <a:srgbClr val="FFFFFF"/>
                </a:solidFill>
                <a:latin typeface="Times New Roman"/>
                <a:ea typeface="Times New Roman"/>
                <a:cs typeface="Times New Roman"/>
              </a:defRPr>
            </a:lvl5pPr>
            <a:lvl6pPr algn="r">
              <a:defRPr sz="3200" b="0" i="0">
                <a:solidFill>
                  <a:srgbClr val="FFFFFF"/>
                </a:solidFill>
                <a:latin typeface="Times New Roman"/>
                <a:ea typeface="Times New Roman"/>
                <a:cs typeface="Times New Roman"/>
              </a:defRPr>
            </a:lvl6pPr>
            <a:lvl7pPr algn="r">
              <a:defRPr sz="3200" b="0" i="0">
                <a:solidFill>
                  <a:srgbClr val="FFFFFF"/>
                </a:solidFill>
                <a:latin typeface="Times New Roman"/>
                <a:ea typeface="Times New Roman"/>
                <a:cs typeface="Times New Roman"/>
              </a:defRPr>
            </a:lvl7pPr>
            <a:lvl8pPr algn="r">
              <a:defRPr sz="3200" b="0" i="0">
                <a:solidFill>
                  <a:srgbClr val="FFFFFF"/>
                </a:solidFill>
                <a:latin typeface="Times New Roman"/>
                <a:ea typeface="Times New Roman"/>
                <a:cs typeface="Times New Roman"/>
              </a:defRPr>
            </a:lvl8pPr>
            <a:lvl9pPr algn="r">
              <a:defRPr sz="32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200" b="0" i="0">
                <a:solidFill>
                  <a:srgbClr val="FFFFFF"/>
                </a:solidFill>
                <a:latin typeface="Times New Roman"/>
                <a:ea typeface="Times New Roman"/>
                <a:cs typeface="Times New Roman"/>
              </a:defRPr>
            </a:pPr>
            <a:r>
              <a:rPr sz="3200" b="0" i="0">
                <a:solidFill>
                  <a:srgbClr val="FFFFFF"/>
                </a:solidFill>
                <a:latin typeface="Times New Roman"/>
                <a:ea typeface="Times New Roman"/>
                <a:cs typeface="Times New Roman"/>
              </a:rPr>
              <a:t>Abstraction</a:t>
            </a:r>
          </a:p>
        </p:txBody>
      </p:sp>
      <p:sp>
        <p:nvSpPr>
          <p:cNvPr id="2" name="slide-number">
            <a:extLst xmlns:a="http://schemas.openxmlformats.org/drawingml/2006/main">
              <a:ext uri="{FF2B5EF4-FFF2-40B4-BE49-F238E27FC236}">
                <a16:creationId xmlns:a16="http://schemas.microsoft.com/office/drawing/2014/main" id="{71EE56BF-F014-493F-B7C9-386111A5684F}"/>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a:t>
            </a:r>
          </a:p>
        </p:txBody>
      </p:sp>
    </p:spTree>
    <p:extLst>
      <p:ext uri="{BB962C8B-B14F-4D97-AF65-F5344CB8AC3E}">
        <p14:creationId xmlns:p14="http://schemas.microsoft.com/office/powerpoint/2010/main" val="3474512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E0B088E-E532-49CB-BE27-B94F18BA56C4}"/>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Abstraction</a:t>
            </a:r>
          </a:p>
        </p:txBody>
      </p:sp>
      <p:sp>
        <p:nvSpPr>
          <p:cNvPr id="2" name="slide-number">
            <a:extLst xmlns:a="http://schemas.openxmlformats.org/drawingml/2006/main">
              <a:ext uri="{FF2B5EF4-FFF2-40B4-BE49-F238E27FC236}">
                <a16:creationId xmlns:a16="http://schemas.microsoft.com/office/drawing/2014/main" id="{EED6281B-6F51-4626-B7A8-128AB8E3A4F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4</a:t>
            </a:r>
          </a:p>
        </p:txBody>
      </p:sp>
      <p:sp>
        <p:nvSpPr>
          <p:cNvPr id="3" name="abstraction">
            <a:extLst xmlns:a="http://schemas.openxmlformats.org/drawingml/2006/main">
              <a:ext uri="{FF2B5EF4-FFF2-40B4-BE49-F238E27FC236}">
                <a16:creationId xmlns:a16="http://schemas.microsoft.com/office/drawing/2014/main" id="{99487642-AB81-44C7-B743-131517784FA6}"/>
              </a:ext>
            </a:extLst>
          </p:cNvPr>
          <p:cNvSpPr>
            <a:spLocks xmlns:a="http://schemas.openxmlformats.org/drawingml/2006/main" noGrp="1"/>
          </p:cNvSpPr>
          <p:nvPr/>
        </p:nvSpPr>
        <p:spPr>
          <a:xfrm xmlns:a="http://schemas.openxmlformats.org/drawingml/2006/main">
            <a:off x="2773594" y="2009775"/>
            <a:ext cx="7796536" cy="417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An abstraction emphasizes the attributes relevant to a task and omits other details.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Abstraction is fundamental in programming and computer science.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Subprograms provide process abstraction.</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Many languages support data abstraction through classes or modules.</a:t>
            </a:r>
          </a:p>
        </p:txBody>
      </p:sp>
    </p:spTree>
    <p:extLst>
      <p:ext uri="{BB962C8B-B14F-4D97-AF65-F5344CB8AC3E}">
        <p14:creationId xmlns:p14="http://schemas.microsoft.com/office/powerpoint/2010/main" val="10076026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CE4722A-5A92-41BD-A725-852EF84D1E6E}"/>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Abstract Data Types</a:t>
            </a:r>
          </a:p>
        </p:txBody>
      </p:sp>
      <p:sp>
        <p:nvSpPr>
          <p:cNvPr id="2" name="slide-number">
            <a:extLst xmlns:a="http://schemas.openxmlformats.org/drawingml/2006/main">
              <a:ext uri="{FF2B5EF4-FFF2-40B4-BE49-F238E27FC236}">
                <a16:creationId xmlns:a16="http://schemas.microsoft.com/office/drawing/2014/main" id="{AFDDC957-2192-472F-ADE0-0CC2ED1091D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5</a:t>
            </a:r>
          </a:p>
        </p:txBody>
      </p:sp>
      <p:sp>
        <p:nvSpPr>
          <p:cNvPr id="3" name="adt-label">
            <a:extLst xmlns:a="http://schemas.openxmlformats.org/drawingml/2006/main">
              <a:ext uri="{FF2B5EF4-FFF2-40B4-BE49-F238E27FC236}">
                <a16:creationId xmlns:a16="http://schemas.microsoft.com/office/drawing/2014/main" id="{FEAB769D-D726-43D3-93A0-1C17B251BF75}"/>
              </a:ext>
            </a:extLst>
          </p:cNvPr>
          <p:cNvSpPr>
            <a:spLocks xmlns:a="http://schemas.openxmlformats.org/drawingml/2006/main" noGrp="1"/>
          </p:cNvSpPr>
          <p:nvPr/>
        </p:nvSpPr>
        <p:spPr>
          <a:xfrm xmlns:a="http://schemas.openxmlformats.org/drawingml/2006/main">
            <a:off x="2773594" y="2009775"/>
            <a:ext cx="779653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1" i="0">
                <a:solidFill>
                  <a:srgbClr val="FFFFFF"/>
                </a:solidFill>
                <a:latin typeface="Times New Roman"/>
                <a:ea typeface="Times New Roman"/>
                <a:cs typeface="Times New Roman"/>
              </a:defRPr>
            </a:defPPr>
            <a:lvl1pPr algn="l">
              <a:defRPr sz="2400" b="1" i="0">
                <a:solidFill>
                  <a:srgbClr val="FFFFFF"/>
                </a:solidFill>
                <a:latin typeface="Times New Roman"/>
                <a:ea typeface="Times New Roman"/>
                <a:cs typeface="Times New Roman"/>
              </a:defRPr>
            </a:lvl1pPr>
            <a:lvl2pPr algn="l">
              <a:defRPr sz="2400" b="1" i="0">
                <a:solidFill>
                  <a:srgbClr val="FFFFFF"/>
                </a:solidFill>
                <a:latin typeface="Times New Roman"/>
                <a:ea typeface="Times New Roman"/>
                <a:cs typeface="Times New Roman"/>
              </a:defRPr>
            </a:lvl2pPr>
            <a:lvl3pPr algn="l">
              <a:defRPr sz="2400" b="1" i="0">
                <a:solidFill>
                  <a:srgbClr val="FFFFFF"/>
                </a:solidFill>
                <a:latin typeface="Times New Roman"/>
                <a:ea typeface="Times New Roman"/>
                <a:cs typeface="Times New Roman"/>
              </a:defRPr>
            </a:lvl3pPr>
            <a:lvl4pPr algn="l">
              <a:defRPr sz="2400" b="1" i="0">
                <a:solidFill>
                  <a:srgbClr val="FFFFFF"/>
                </a:solidFill>
                <a:latin typeface="Times New Roman"/>
                <a:ea typeface="Times New Roman"/>
                <a:cs typeface="Times New Roman"/>
              </a:defRPr>
            </a:lvl4pPr>
            <a:lvl5pPr algn="l">
              <a:defRPr sz="2400" b="1" i="0">
                <a:solidFill>
                  <a:srgbClr val="FFFFFF"/>
                </a:solidFill>
                <a:latin typeface="Times New Roman"/>
                <a:ea typeface="Times New Roman"/>
                <a:cs typeface="Times New Roman"/>
              </a:defRPr>
            </a:lvl5pPr>
            <a:lvl6pPr algn="l">
              <a:defRPr sz="2400" b="1" i="0">
                <a:solidFill>
                  <a:srgbClr val="FFFFFF"/>
                </a:solidFill>
                <a:latin typeface="Times New Roman"/>
                <a:ea typeface="Times New Roman"/>
                <a:cs typeface="Times New Roman"/>
              </a:defRPr>
            </a:lvl6pPr>
            <a:lvl7pPr algn="l">
              <a:defRPr sz="2400" b="1" i="0">
                <a:solidFill>
                  <a:srgbClr val="FFFFFF"/>
                </a:solidFill>
                <a:latin typeface="Times New Roman"/>
                <a:ea typeface="Times New Roman"/>
                <a:cs typeface="Times New Roman"/>
              </a:defRPr>
            </a:lvl7pPr>
            <a:lvl8pPr algn="l">
              <a:defRPr sz="2400" b="1" i="0">
                <a:solidFill>
                  <a:srgbClr val="FFFFFF"/>
                </a:solidFill>
                <a:latin typeface="Times New Roman"/>
                <a:ea typeface="Times New Roman"/>
                <a:cs typeface="Times New Roman"/>
              </a:defRPr>
            </a:lvl8pPr>
            <a:lvl9pPr algn="l">
              <a:defRPr sz="2400" b="1" i="0">
                <a:solidFill>
                  <a:srgbClr val="FFFFFF"/>
                </a:solidFill>
                <a:latin typeface="Times New Roman"/>
                <a:ea typeface="Times New Roman"/>
                <a:cs typeface="Times New Roman"/>
              </a:defRPr>
            </a:lvl9pPr>
          </a:lstStyle>
          <a:p xmlns:a="http://schemas.openxmlformats.org/drawingml/2006/main">
            <a:pPr algn="l">
              <a:lnSpc>
                <a:spcPct val="120000"/>
              </a:lnSpc>
              <a:buNone/>
              <a:defRPr sz="2400" b="1" i="0">
                <a:solidFill>
                  <a:srgbClr val="FFFFFF"/>
                </a:solidFill>
                <a:latin typeface="Times New Roman"/>
                <a:ea typeface="Times New Roman"/>
                <a:cs typeface="Times New Roman"/>
              </a:defRPr>
            </a:pPr>
            <a:r>
              <a:rPr sz="2400" b="1" i="0">
                <a:solidFill>
                  <a:srgbClr val="FFFFFF"/>
                </a:solidFill>
                <a:latin typeface="Times New Roman"/>
                <a:ea typeface="Times New Roman"/>
                <a:cs typeface="Times New Roman"/>
              </a:rPr>
              <a:t>Abstract Data Type (ADT)</a:t>
            </a:r>
          </a:p>
        </p:txBody>
      </p:sp>
      <p:sp>
        <p:nvSpPr>
          <p:cNvPr id="4" name="adt-definition">
            <a:extLst xmlns:a="http://schemas.openxmlformats.org/drawingml/2006/main">
              <a:ext uri="{FF2B5EF4-FFF2-40B4-BE49-F238E27FC236}">
                <a16:creationId xmlns:a16="http://schemas.microsoft.com/office/drawing/2014/main" id="{10A58F57-3712-42C3-92DA-C9BBA61B47DE}"/>
              </a:ext>
            </a:extLst>
          </p:cNvPr>
          <p:cNvSpPr>
            <a:spLocks xmlns:a="http://schemas.openxmlformats.org/drawingml/2006/main" noGrp="1"/>
          </p:cNvSpPr>
          <p:nvPr/>
        </p:nvSpPr>
        <p:spPr>
          <a:xfrm xmlns:a="http://schemas.openxmlformats.org/drawingml/2006/main">
            <a:off x="2773594" y="2581275"/>
            <a:ext cx="7796536"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 type defined by its values, operations, and their behavior.</a:t>
            </a:r>
          </a:p>
        </p:txBody>
      </p:sp>
      <p:sp>
        <p:nvSpPr>
          <p:cNvPr id="5" name="adt-support-intro">
            <a:extLst xmlns:a="http://schemas.openxmlformats.org/drawingml/2006/main">
              <a:ext uri="{FF2B5EF4-FFF2-40B4-BE49-F238E27FC236}">
                <a16:creationId xmlns:a16="http://schemas.microsoft.com/office/drawing/2014/main" id="{0D2BC86C-772F-43E8-9B4A-2D87949554CD}"/>
              </a:ext>
            </a:extLst>
          </p:cNvPr>
          <p:cNvSpPr>
            <a:spLocks xmlns:a="http://schemas.openxmlformats.org/drawingml/2006/main" noGrp="1"/>
          </p:cNvSpPr>
          <p:nvPr/>
        </p:nvSpPr>
        <p:spPr>
          <a:xfrm xmlns:a="http://schemas.openxmlformats.org/drawingml/2006/main">
            <a:off x="2773594" y="3457575"/>
            <a:ext cx="779653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1">
                <a:solidFill>
                  <a:srgbClr val="C5FAEB"/>
                </a:solidFill>
                <a:latin typeface="Times New Roman"/>
                <a:ea typeface="Times New Roman"/>
                <a:cs typeface="Times New Roman"/>
              </a:defRPr>
            </a:defPPr>
            <a:lvl1pPr algn="l">
              <a:defRPr sz="2000" b="0" i="1">
                <a:solidFill>
                  <a:srgbClr val="C5FAEB"/>
                </a:solidFill>
                <a:latin typeface="Times New Roman"/>
                <a:ea typeface="Times New Roman"/>
                <a:cs typeface="Times New Roman"/>
              </a:defRPr>
            </a:lvl1pPr>
            <a:lvl2pPr algn="l">
              <a:defRPr sz="2000" b="0" i="1">
                <a:solidFill>
                  <a:srgbClr val="C5FAEB"/>
                </a:solidFill>
                <a:latin typeface="Times New Roman"/>
                <a:ea typeface="Times New Roman"/>
                <a:cs typeface="Times New Roman"/>
              </a:defRPr>
            </a:lvl2pPr>
            <a:lvl3pPr algn="l">
              <a:defRPr sz="2000" b="0" i="1">
                <a:solidFill>
                  <a:srgbClr val="C5FAEB"/>
                </a:solidFill>
                <a:latin typeface="Times New Roman"/>
                <a:ea typeface="Times New Roman"/>
                <a:cs typeface="Times New Roman"/>
              </a:defRPr>
            </a:lvl3pPr>
            <a:lvl4pPr algn="l">
              <a:defRPr sz="2000" b="0" i="1">
                <a:solidFill>
                  <a:srgbClr val="C5FAEB"/>
                </a:solidFill>
                <a:latin typeface="Times New Roman"/>
                <a:ea typeface="Times New Roman"/>
                <a:cs typeface="Times New Roman"/>
              </a:defRPr>
            </a:lvl4pPr>
            <a:lvl5pPr algn="l">
              <a:defRPr sz="2000" b="0" i="1">
                <a:solidFill>
                  <a:srgbClr val="C5FAEB"/>
                </a:solidFill>
                <a:latin typeface="Times New Roman"/>
                <a:ea typeface="Times New Roman"/>
                <a:cs typeface="Times New Roman"/>
              </a:defRPr>
            </a:lvl5pPr>
            <a:lvl6pPr algn="l">
              <a:defRPr sz="2000" b="0" i="1">
                <a:solidFill>
                  <a:srgbClr val="C5FAEB"/>
                </a:solidFill>
                <a:latin typeface="Times New Roman"/>
                <a:ea typeface="Times New Roman"/>
                <a:cs typeface="Times New Roman"/>
              </a:defRPr>
            </a:lvl6pPr>
            <a:lvl7pPr algn="l">
              <a:defRPr sz="2000" b="0" i="1">
                <a:solidFill>
                  <a:srgbClr val="C5FAEB"/>
                </a:solidFill>
                <a:latin typeface="Times New Roman"/>
                <a:ea typeface="Times New Roman"/>
                <a:cs typeface="Times New Roman"/>
              </a:defRPr>
            </a:lvl7pPr>
            <a:lvl8pPr algn="l">
              <a:defRPr sz="2000" b="0" i="1">
                <a:solidFill>
                  <a:srgbClr val="C5FAEB"/>
                </a:solidFill>
                <a:latin typeface="Times New Roman"/>
                <a:ea typeface="Times New Roman"/>
                <a:cs typeface="Times New Roman"/>
              </a:defRPr>
            </a:lvl8pPr>
            <a:lvl9pPr algn="l">
              <a:defRPr sz="2000" b="0" i="1">
                <a:solidFill>
                  <a:srgbClr val="C5FAEB"/>
                </a:solidFill>
                <a:latin typeface="Times New Roman"/>
                <a:ea typeface="Times New Roman"/>
                <a:cs typeface="Times New Roman"/>
              </a:defRPr>
            </a:lvl9pPr>
          </a:lstStyle>
          <a:p xmlns:a="http://schemas.openxmlformats.org/drawingml/2006/main">
            <a:pPr algn="l">
              <a:lnSpc>
                <a:spcPct val="120000"/>
              </a:lnSpc>
              <a:buNone/>
              <a:defRPr sz="2000" b="0" i="1">
                <a:solidFill>
                  <a:srgbClr val="C5FAEB"/>
                </a:solidFill>
                <a:latin typeface="Times New Roman"/>
                <a:ea typeface="Times New Roman"/>
                <a:cs typeface="Times New Roman"/>
              </a:defRPr>
            </a:pPr>
            <a:r>
              <a:rPr sz="2000" b="0" i="1">
                <a:solidFill>
                  <a:srgbClr val="C5FAEB"/>
                </a:solidFill>
                <a:latin typeface="Times New Roman"/>
                <a:ea typeface="Times New Roman"/>
                <a:cs typeface="Times New Roman"/>
              </a:rPr>
              <a:t>Typical language support provides:</a:t>
            </a:r>
          </a:p>
        </p:txBody>
      </p:sp>
      <p:sp>
        <p:nvSpPr>
          <p:cNvPr id="6" name="adt-conditions">
            <a:extLst xmlns:a="http://schemas.openxmlformats.org/drawingml/2006/main">
              <a:ext uri="{FF2B5EF4-FFF2-40B4-BE49-F238E27FC236}">
                <a16:creationId xmlns:a16="http://schemas.microsoft.com/office/drawing/2014/main" id="{186C9F66-4F8C-461A-AB36-885E49D75668}"/>
              </a:ext>
            </a:extLst>
          </p:cNvPr>
          <p:cNvSpPr>
            <a:spLocks xmlns:a="http://schemas.openxmlformats.org/drawingml/2006/main" noGrp="1"/>
          </p:cNvSpPr>
          <p:nvPr/>
        </p:nvSpPr>
        <p:spPr>
          <a:xfrm xmlns:a="http://schemas.openxmlformats.org/drawingml/2006/main">
            <a:off x="2773594" y="3962400"/>
            <a:ext cx="7796536" cy="2295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AutoNum type="arabicPeriod" startAt="1"/>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hidden representation. Clients use the operations provided by the interface.</a:t>
            </a:r>
          </a:p>
          <a:p xmlns:a="http://schemas.openxmlformats.org/drawingml/2006/main">
            <a:pPr marL="344488" indent="-344488" algn="l">
              <a:lnSpc>
                <a:spcPct val="120000"/>
              </a:lnSpc>
              <a:spcBef>
                <a:spcPts val="1000"/>
              </a:spcBef>
              <a:spcAft>
                <a:spcPts val="600"/>
              </a:spcAft>
              <a:buClr>
                <a:srgbClr val="8EC0C1"/>
              </a:buClr>
              <a:buFont typeface="Arial"/>
              <a:buAutoNum type="arabicPeriod" startAt="2"/>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class or module that groups the state and supported operations.</a:t>
            </a:r>
          </a:p>
        </p:txBody>
      </p:sp>
    </p:spTree>
    <p:extLst>
      <p:ext uri="{BB962C8B-B14F-4D97-AF65-F5344CB8AC3E}">
        <p14:creationId xmlns:p14="http://schemas.microsoft.com/office/powerpoint/2010/main" val="21177448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580DEDA-4CC3-4EEC-914D-C4A0E9F7FD6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ADT Advantages</a:t>
            </a:r>
          </a:p>
        </p:txBody>
      </p:sp>
      <p:sp>
        <p:nvSpPr>
          <p:cNvPr id="2" name="slide-number">
            <a:extLst xmlns:a="http://schemas.openxmlformats.org/drawingml/2006/main">
              <a:ext uri="{FF2B5EF4-FFF2-40B4-BE49-F238E27FC236}">
                <a16:creationId xmlns:a16="http://schemas.microsoft.com/office/drawing/2014/main" id="{99E20D00-46CA-476A-8997-F59744F096EE}"/>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6</a:t>
            </a:r>
          </a:p>
        </p:txBody>
      </p:sp>
      <p:sp>
        <p:nvSpPr>
          <p:cNvPr id="3" name="hidden-representation-lead">
            <a:extLst xmlns:a="http://schemas.openxmlformats.org/drawingml/2006/main">
              <a:ext uri="{FF2B5EF4-FFF2-40B4-BE49-F238E27FC236}">
                <a16:creationId xmlns:a16="http://schemas.microsoft.com/office/drawing/2014/main" id="{804F820C-FD7D-48D9-9902-21EB5E4517E4}"/>
              </a:ext>
            </a:extLst>
          </p:cNvPr>
          <p:cNvSpPr>
            <a:spLocks xmlns:a="http://schemas.openxmlformats.org/drawingml/2006/main" noGrp="1"/>
          </p:cNvSpPr>
          <p:nvPr/>
        </p:nvSpPr>
        <p:spPr>
          <a:xfrm xmlns:a="http://schemas.openxmlformats.org/drawingml/2006/main">
            <a:off x="2773594" y="2009775"/>
            <a:ext cx="7796536"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AutoNum type="arabicPeriod" startAt="1"/>
              <a:defRPr sz="2000" b="0" i="0">
                <a:solidFill>
                  <a:srgbClr val="FFFFFF"/>
                </a:solidFill>
                <a:latin typeface="Times New Roman"/>
                <a:ea typeface="Times New Roman"/>
                <a:cs typeface="Times New Roman"/>
              </a:defRPr>
            </a:pPr>
            <a:r>
              <a:rPr sz="2000" i="1">
                <a:solidFill>
                  <a:srgbClr val="C5FAEB"/>
                </a:solidFill>
                <a:latin typeface="Times New Roman"/>
                <a:ea typeface="Times New Roman"/>
                <a:cs typeface="Times New Roman"/>
              </a:rPr>
              <a:t>Hide the representation and expose a defined set of operations.</a:t>
            </a:r>
          </a:p>
        </p:txBody>
      </p:sp>
      <p:sp>
        <p:nvSpPr>
          <p:cNvPr id="4" name="hiding-advantages">
            <a:extLst xmlns:a="http://schemas.openxmlformats.org/drawingml/2006/main">
              <a:ext uri="{FF2B5EF4-FFF2-40B4-BE49-F238E27FC236}">
                <a16:creationId xmlns:a16="http://schemas.microsoft.com/office/drawing/2014/main" id="{D40BFC5C-6A95-4DC0-BB28-42ECEA64AD49}"/>
              </a:ext>
            </a:extLst>
          </p:cNvPr>
          <p:cNvSpPr>
            <a:spLocks xmlns:a="http://schemas.openxmlformats.org/drawingml/2006/main" noGrp="1"/>
          </p:cNvSpPr>
          <p:nvPr/>
        </p:nvSpPr>
        <p:spPr>
          <a:xfrm xmlns:a="http://schemas.openxmlformats.org/drawingml/2006/main">
            <a:off x="2773594" y="3086100"/>
            <a:ext cx="7796536" cy="3209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b="1">
                <a:solidFill>
                  <a:srgbClr val="FFFFFF"/>
                </a:solidFill>
                <a:latin typeface="Times New Roman"/>
                <a:ea typeface="Times New Roman"/>
                <a:cs typeface="Times New Roman"/>
              </a:rPr>
              <a:t>Reliable: </a:t>
            </a:r>
            <a:r>
              <a:rPr sz="2400">
                <a:solidFill>
                  <a:srgbClr val="FFFFFF"/>
                </a:solidFill>
                <a:latin typeface="Times New Roman"/>
                <a:ea typeface="Times New Roman"/>
                <a:cs typeface="Times New Roman"/>
              </a:rPr>
              <a:t>clients cannot directly corrupt hidden state or depend on its layout.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b="1">
                <a:solidFill>
                  <a:srgbClr val="FFFFFF"/>
                </a:solidFill>
                <a:latin typeface="Times New Roman"/>
                <a:ea typeface="Times New Roman"/>
                <a:cs typeface="Times New Roman"/>
              </a:rPr>
              <a:t>Modular: </a:t>
            </a:r>
            <a:r>
              <a:rPr sz="2400">
                <a:solidFill>
                  <a:srgbClr val="FFFFFF"/>
                </a:solidFill>
                <a:latin typeface="Times New Roman"/>
                <a:ea typeface="Times New Roman"/>
                <a:cs typeface="Times New Roman"/>
              </a:rPr>
              <a:t>reasoning can focus on the type and its operations.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b="1">
                <a:solidFill>
                  <a:srgbClr val="FFFFFF"/>
                </a:solidFill>
                <a:latin typeface="Times New Roman"/>
                <a:ea typeface="Times New Roman"/>
                <a:cs typeface="Times New Roman"/>
              </a:rPr>
              <a:t>Readable: </a:t>
            </a:r>
            <a:r>
              <a:rPr sz="2400">
                <a:solidFill>
                  <a:srgbClr val="FFFFFF"/>
                </a:solidFill>
                <a:latin typeface="Times New Roman"/>
                <a:ea typeface="Times New Roman"/>
                <a:cs typeface="Times New Roman"/>
              </a:rPr>
              <a:t>class or module scopes make ownership clear and reduce name conflicts.</a:t>
            </a:r>
          </a:p>
        </p:txBody>
      </p:sp>
    </p:spTree>
    <p:extLst>
      <p:ext uri="{BB962C8B-B14F-4D97-AF65-F5344CB8AC3E}">
        <p14:creationId xmlns:p14="http://schemas.microsoft.com/office/powerpoint/2010/main" val="2480708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C0DCB0B-0E22-49B3-B4EF-ED70C757C38B}"/>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ADT Advantages</a:t>
            </a:r>
          </a:p>
        </p:txBody>
      </p:sp>
      <p:sp>
        <p:nvSpPr>
          <p:cNvPr id="2" name="slide-number">
            <a:extLst xmlns:a="http://schemas.openxmlformats.org/drawingml/2006/main">
              <a:ext uri="{FF2B5EF4-FFF2-40B4-BE49-F238E27FC236}">
                <a16:creationId xmlns:a16="http://schemas.microsoft.com/office/drawing/2014/main" id="{A250EF9D-0F90-48F9-B36E-2DE4569228FE}"/>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7</a:t>
            </a:r>
          </a:p>
        </p:txBody>
      </p:sp>
      <p:sp>
        <p:nvSpPr>
          <p:cNvPr id="3" name="grouped-declarations-lead">
            <a:extLst xmlns:a="http://schemas.openxmlformats.org/drawingml/2006/main">
              <a:ext uri="{FF2B5EF4-FFF2-40B4-BE49-F238E27FC236}">
                <a16:creationId xmlns:a16="http://schemas.microsoft.com/office/drawing/2014/main" id="{54FC73CF-BD6E-46D6-97D7-0F87D8FDB4CB}"/>
              </a:ext>
            </a:extLst>
          </p:cNvPr>
          <p:cNvSpPr>
            <a:spLocks xmlns:a="http://schemas.openxmlformats.org/drawingml/2006/main" noGrp="1"/>
          </p:cNvSpPr>
          <p:nvPr/>
        </p:nvSpPr>
        <p:spPr>
          <a:xfrm xmlns:a="http://schemas.openxmlformats.org/drawingml/2006/main">
            <a:off x="2773594" y="2009775"/>
            <a:ext cx="7796536"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AutoNum type="arabicPeriod" startAt="2"/>
              <a:defRPr sz="2000" b="0" i="0">
                <a:solidFill>
                  <a:srgbClr val="FFFFFF"/>
                </a:solidFill>
                <a:latin typeface="Times New Roman"/>
                <a:ea typeface="Times New Roman"/>
                <a:cs typeface="Times New Roman"/>
              </a:defRPr>
            </a:pPr>
            <a:r>
              <a:rPr sz="2000" i="1">
                <a:solidFill>
                  <a:srgbClr val="C5FAEB"/>
                </a:solidFill>
                <a:latin typeface="Times New Roman"/>
                <a:ea typeface="Times New Roman"/>
                <a:cs typeface="Times New Roman"/>
              </a:rPr>
              <a:t>Group state declarations and operation interfaces in a class or module.</a:t>
            </a:r>
          </a:p>
        </p:txBody>
      </p:sp>
      <p:sp>
        <p:nvSpPr>
          <p:cNvPr id="4" name="encapsulation-advantages">
            <a:extLst xmlns:a="http://schemas.openxmlformats.org/drawingml/2006/main">
              <a:ext uri="{FF2B5EF4-FFF2-40B4-BE49-F238E27FC236}">
                <a16:creationId xmlns:a16="http://schemas.microsoft.com/office/drawing/2014/main" id="{07DAFA0A-2CF0-49B1-B387-0C1C35B2A5FC}"/>
              </a:ext>
            </a:extLst>
          </p:cNvPr>
          <p:cNvSpPr>
            <a:spLocks xmlns:a="http://schemas.openxmlformats.org/drawingml/2006/main" noGrp="1"/>
          </p:cNvSpPr>
          <p:nvPr/>
        </p:nvSpPr>
        <p:spPr>
          <a:xfrm xmlns:a="http://schemas.openxmlformats.org/drawingml/2006/main">
            <a:off x="2773594" y="3133725"/>
            <a:ext cx="7796536"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Provides a clear unit of program organization.</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Aids modification by keeping related information together.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Supports separate compilation in languages that allow it.</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Especially valuable in large projects.</a:t>
            </a:r>
          </a:p>
        </p:txBody>
      </p:sp>
    </p:spTree>
    <p:extLst>
      <p:ext uri="{BB962C8B-B14F-4D97-AF65-F5344CB8AC3E}">
        <p14:creationId xmlns:p14="http://schemas.microsoft.com/office/powerpoint/2010/main" val="19713313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C8184EE-3A74-4E09-95BA-1BAFBD860FA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Data Encapsulation</a:t>
            </a:r>
          </a:p>
        </p:txBody>
      </p:sp>
      <p:sp>
        <p:nvSpPr>
          <p:cNvPr id="2" name="slide-number">
            <a:extLst xmlns:a="http://schemas.openxmlformats.org/drawingml/2006/main">
              <a:ext uri="{FF2B5EF4-FFF2-40B4-BE49-F238E27FC236}">
                <a16:creationId xmlns:a16="http://schemas.microsoft.com/office/drawing/2014/main" id="{81C90367-5F8C-4BA8-8516-AFA6EECD1AC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8</a:t>
            </a:r>
          </a:p>
        </p:txBody>
      </p:sp>
      <p:sp>
        <p:nvSpPr>
          <p:cNvPr id="3" name="encapsulation-hiding">
            <a:extLst xmlns:a="http://schemas.openxmlformats.org/drawingml/2006/main">
              <a:ext uri="{FF2B5EF4-FFF2-40B4-BE49-F238E27FC236}">
                <a16:creationId xmlns:a16="http://schemas.microsoft.com/office/drawing/2014/main" id="{49F334D4-0940-4B60-88ED-4FB2AA5748D1}"/>
              </a:ext>
            </a:extLst>
          </p:cNvPr>
          <p:cNvSpPr>
            <a:spLocks xmlns:a="http://schemas.openxmlformats.org/drawingml/2006/main" noGrp="1"/>
          </p:cNvSpPr>
          <p:nvPr/>
        </p:nvSpPr>
        <p:spPr>
          <a:xfrm xmlns:a="http://schemas.openxmlformats.org/drawingml/2006/main">
            <a:off x="2773594" y="1924050"/>
            <a:ext cx="7796536"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Condition #1: Information hiding</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Hide implementation decisions behind an interface.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Condition #2: Encapsulation</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Group related state and operations in one unit.</a:t>
            </a:r>
          </a:p>
        </p:txBody>
      </p:sp>
      <p:sp>
        <p:nvSpPr>
          <p:cNvPr id="4" name="pseudocode-label">
            <a:extLst xmlns:a="http://schemas.openxmlformats.org/drawingml/2006/main">
              <a:ext uri="{FF2B5EF4-FFF2-40B4-BE49-F238E27FC236}">
                <a16:creationId xmlns:a16="http://schemas.microsoft.com/office/drawing/2014/main" id="{3E446648-C4BC-41DE-B31F-797E3E6BA996}"/>
              </a:ext>
            </a:extLst>
          </p:cNvPr>
          <p:cNvSpPr>
            <a:spLocks xmlns:a="http://schemas.openxmlformats.org/drawingml/2006/main" noGrp="1"/>
          </p:cNvSpPr>
          <p:nvPr/>
        </p:nvSpPr>
        <p:spPr>
          <a:xfrm xmlns:a="http://schemas.openxmlformats.org/drawingml/2006/main">
            <a:off x="2773594" y="4143375"/>
            <a:ext cx="7796536"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Pseudocode</a:t>
            </a:r>
          </a:p>
        </p:txBody>
      </p:sp>
      <p:sp>
        <p:nvSpPr>
          <p:cNvPr id="5" name="player-pseudocode">
            <a:extLst xmlns:a="http://schemas.openxmlformats.org/drawingml/2006/main">
              <a:ext uri="{FF2B5EF4-FFF2-40B4-BE49-F238E27FC236}">
                <a16:creationId xmlns:a16="http://schemas.microsoft.com/office/drawing/2014/main" id="{1E3DEE01-46C9-4582-867A-A6E26791E2BC}"/>
              </a:ext>
            </a:extLst>
          </p:cNvPr>
          <p:cNvSpPr>
            <a:spLocks xmlns:a="http://schemas.openxmlformats.org/drawingml/2006/main" noGrp="1"/>
          </p:cNvSpPr>
          <p:nvPr/>
        </p:nvSpPr>
        <p:spPr>
          <a:xfrm xmlns:a="http://schemas.openxmlformats.org/drawingml/2006/main">
            <a:off x="2865025" y="4552950"/>
            <a:ext cx="7705106" cy="1628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Player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hp</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int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name</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string</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position</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vec3</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fn</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move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d</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vec3</a:t>
            </a: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183774494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53C02F4-C5D2-4B82-B594-14922DC85EA5}"/>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Data/Information Hiding</a:t>
            </a:r>
          </a:p>
        </p:txBody>
      </p:sp>
      <p:sp>
        <p:nvSpPr>
          <p:cNvPr id="2" name="slide-number">
            <a:extLst xmlns:a="http://schemas.openxmlformats.org/drawingml/2006/main">
              <a:ext uri="{FF2B5EF4-FFF2-40B4-BE49-F238E27FC236}">
                <a16:creationId xmlns:a16="http://schemas.microsoft.com/office/drawing/2014/main" id="{42AFD275-59D8-4E70-AA42-B2BDD05234D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9</a:t>
            </a:r>
          </a:p>
        </p:txBody>
      </p:sp>
      <p:sp>
        <p:nvSpPr>
          <p:cNvPr id="3" name="visibility-intro">
            <a:extLst xmlns:a="http://schemas.openxmlformats.org/drawingml/2006/main">
              <a:ext uri="{FF2B5EF4-FFF2-40B4-BE49-F238E27FC236}">
                <a16:creationId xmlns:a16="http://schemas.microsoft.com/office/drawing/2014/main" id="{36629B52-E2BA-4A65-903D-A2E523143B87}"/>
              </a:ext>
            </a:extLst>
          </p:cNvPr>
          <p:cNvSpPr>
            <a:spLocks xmlns:a="http://schemas.openxmlformats.org/drawingml/2006/main" noGrp="1"/>
          </p:cNvSpPr>
          <p:nvPr/>
        </p:nvSpPr>
        <p:spPr>
          <a:xfrm xmlns:a="http://schemas.openxmlformats.org/drawingml/2006/main">
            <a:off x="2773594" y="2009775"/>
            <a:ext cx="7796536"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Hide internal state and helper operations from clients.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Access modifiers control which code may use a member.</a:t>
            </a:r>
          </a:p>
        </p:txBody>
      </p:sp>
      <p:graphicFrame>
        <p:nvGraphicFramePr>
          <p:cNvPr id="4" name="">
            <a:extLst xmlns:a="http://schemas.openxmlformats.org/drawingml/2006/main">
              <a:ext uri="{FF2B5EF4-FFF2-40B4-BE49-F238E27FC236}">
                <a16:creationId xmlns:a16="http://schemas.microsoft.com/office/drawing/2014/main" id="{A9E74307-1DCE-44CD-AD13-9AD693A2697B}"/>
              </a:ext>
            </a:extLst>
          </p:cNvPr>
          <p:cNvGraphicFramePr/>
          <p:nvPr/>
        </p:nvGraphicFramePr>
        <p:xfrm>
          <a:off xmlns:a="http://schemas.openxmlformats.org/drawingml/2006/main" x="2865025" y="3781425"/>
          <a:ext xmlns:a="http://schemas.openxmlformats.org/drawingml/2006/main" cx="7705106" cy="2000250"/>
        </p:xfrm>
        <a:graphic xmlns:a="http://schemas.openxmlformats.org/drawingml/2006/main">
          <a:graphicData uri="http://schemas.openxmlformats.org/drawingml/2006/table">
            <a:tbl>
              <a:tblPr firstRow="0" firstCol="0" bandRow="0"/>
              <a:tblGrid>
                <a:gridCol w="1714500"/>
                <a:gridCol w="5990606"/>
              </a:tblGrid>
              <a:tr h="666750">
                <a:tc>
                  <a:txBody>
                    <a:bodyPr lIns="95250" tIns="95250" rIns="95250" bIns="95250">
                      <a:noAutofit/>
                    </a:bodyPr>
                    <a:lstStyle/>
                    <a:p>
                      <a:pPr algn="l">
                        <a:lnSpc>
                          <a:spcPct val="100000"/>
                        </a:lnSpc>
                        <a:buNone/>
                      </a:pPr>
                      <a:r>
                        <a:rPr sz="2000" b="0">
                          <a:solidFill>
                            <a:srgbClr val="C5FAEB"/>
                          </a:solidFill>
                          <a:latin typeface="Courier New"/>
                          <a:ea typeface="Courier New"/>
                          <a:cs typeface="Courier New"/>
                        </a:rPr>
                        <a:t>public</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Accessible to clients that can access the type</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29423B"/>
                    </a:solidFill>
                  </a:tcPr>
                </a:tc>
              </a:tr>
              <a:tr h="666750">
                <a:tc>
                  <a:txBody>
                    <a:bodyPr lIns="95250" tIns="95250" rIns="95250" bIns="95250">
                      <a:noAutofit/>
                    </a:bodyPr>
                    <a:lstStyle/>
                    <a:p>
                      <a:pPr algn="l">
                        <a:lnSpc>
                          <a:spcPct val="100000"/>
                        </a:lnSpc>
                        <a:buNone/>
                      </a:pPr>
                      <a:r>
                        <a:rPr sz="2000" b="0">
                          <a:solidFill>
                            <a:srgbClr val="C5FAEB"/>
                          </a:solidFill>
                          <a:latin typeface="Courier New"/>
                          <a:ea typeface="Courier New"/>
                          <a:cs typeface="Courier New"/>
                        </a:rPr>
                        <a:t>private</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Accessible within the defining class</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666750">
                <a:tc>
                  <a:txBody>
                    <a:bodyPr lIns="95250" tIns="95250" rIns="95250" bIns="95250">
                      <a:noAutofit/>
                    </a:bodyPr>
                    <a:lstStyle/>
                    <a:p>
                      <a:pPr algn="l">
                        <a:lnSpc>
                          <a:spcPct val="100000"/>
                        </a:lnSpc>
                        <a:buNone/>
                      </a:pPr>
                      <a:r>
                        <a:rPr sz="2000" b="0">
                          <a:solidFill>
                            <a:srgbClr val="C5FAEB"/>
                          </a:solidFill>
                          <a:latin typeface="Courier New"/>
                          <a:ea typeface="Courier New"/>
                          <a:cs typeface="Courier New"/>
                        </a:rPr>
                        <a:t>protected</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Also accessible in derived classes</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bl>
          </a:graphicData>
        </a:graphic>
      </p:graphicFrame>
      <p:sp>
        <p:nvSpPr>
          <p:cNvPr id="5" name="visibility-language-rules">
            <a:extLst xmlns:a="http://schemas.openxmlformats.org/drawingml/2006/main">
              <a:ext uri="{FF2B5EF4-FFF2-40B4-BE49-F238E27FC236}">
                <a16:creationId xmlns:a16="http://schemas.microsoft.com/office/drawing/2014/main" id="{CD7E2CFC-47E9-42CA-87AE-365D84832273}"/>
              </a:ext>
            </a:extLst>
          </p:cNvPr>
          <p:cNvSpPr>
            <a:spLocks xmlns:a="http://schemas.openxmlformats.org/drawingml/2006/main" noGrp="1"/>
          </p:cNvSpPr>
          <p:nvPr/>
        </p:nvSpPr>
        <p:spPr>
          <a:xfrm xmlns:a="http://schemas.openxmlformats.org/drawingml/2006/main">
            <a:off x="2773594" y="5972175"/>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1">
                <a:solidFill>
                  <a:srgbClr val="FFFFFF"/>
                </a:solidFill>
                <a:latin typeface="Times New Roman"/>
                <a:ea typeface="Times New Roman"/>
                <a:cs typeface="Times New Roman"/>
              </a:defRPr>
            </a:defPPr>
            <a:lvl1pPr algn="l">
              <a:defRPr sz="2000" b="0" i="1">
                <a:solidFill>
                  <a:srgbClr val="FFFFFF"/>
                </a:solidFill>
                <a:latin typeface="Times New Roman"/>
                <a:ea typeface="Times New Roman"/>
                <a:cs typeface="Times New Roman"/>
              </a:defRPr>
            </a:lvl1pPr>
            <a:lvl2pPr algn="l">
              <a:defRPr sz="2000" b="0" i="1">
                <a:solidFill>
                  <a:srgbClr val="FFFFFF"/>
                </a:solidFill>
                <a:latin typeface="Times New Roman"/>
                <a:ea typeface="Times New Roman"/>
                <a:cs typeface="Times New Roman"/>
              </a:defRPr>
            </a:lvl2pPr>
            <a:lvl3pPr algn="l">
              <a:defRPr sz="2000" b="0" i="1">
                <a:solidFill>
                  <a:srgbClr val="FFFFFF"/>
                </a:solidFill>
                <a:latin typeface="Times New Roman"/>
                <a:ea typeface="Times New Roman"/>
                <a:cs typeface="Times New Roman"/>
              </a:defRPr>
            </a:lvl3pPr>
            <a:lvl4pPr algn="l">
              <a:defRPr sz="2000" b="0" i="1">
                <a:solidFill>
                  <a:srgbClr val="FFFFFF"/>
                </a:solidFill>
                <a:latin typeface="Times New Roman"/>
                <a:ea typeface="Times New Roman"/>
                <a:cs typeface="Times New Roman"/>
              </a:defRPr>
            </a:lvl4pPr>
            <a:lvl5pPr algn="l">
              <a:defRPr sz="2000" b="0" i="1">
                <a:solidFill>
                  <a:srgbClr val="FFFFFF"/>
                </a:solidFill>
                <a:latin typeface="Times New Roman"/>
                <a:ea typeface="Times New Roman"/>
                <a:cs typeface="Times New Roman"/>
              </a:defRPr>
            </a:lvl5pPr>
            <a:lvl6pPr algn="l">
              <a:defRPr sz="2000" b="0" i="1">
                <a:solidFill>
                  <a:srgbClr val="FFFFFF"/>
                </a:solidFill>
                <a:latin typeface="Times New Roman"/>
                <a:ea typeface="Times New Roman"/>
                <a:cs typeface="Times New Roman"/>
              </a:defRPr>
            </a:lvl6pPr>
            <a:lvl7pPr algn="l">
              <a:defRPr sz="2000" b="0" i="1">
                <a:solidFill>
                  <a:srgbClr val="FFFFFF"/>
                </a:solidFill>
                <a:latin typeface="Times New Roman"/>
                <a:ea typeface="Times New Roman"/>
                <a:cs typeface="Times New Roman"/>
              </a:defRPr>
            </a:lvl7pPr>
            <a:lvl8pPr algn="l">
              <a:defRPr sz="2000" b="0" i="1">
                <a:solidFill>
                  <a:srgbClr val="FFFFFF"/>
                </a:solidFill>
                <a:latin typeface="Times New Roman"/>
                <a:ea typeface="Times New Roman"/>
                <a:cs typeface="Times New Roman"/>
              </a:defRPr>
            </a:lvl8pPr>
            <a:lvl9pPr algn="l">
              <a:defRPr sz="2000" b="0" i="1">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1">
                <a:solidFill>
                  <a:srgbClr val="FFFFFF"/>
                </a:solidFill>
                <a:latin typeface="Times New Roman"/>
                <a:ea typeface="Times New Roman"/>
                <a:cs typeface="Times New Roman"/>
              </a:defRPr>
            </a:pPr>
            <a:r>
              <a:rPr sz="2000" b="0" i="1">
                <a:solidFill>
                  <a:srgbClr val="FFFFFF"/>
                </a:solidFill>
                <a:latin typeface="Times New Roman"/>
                <a:ea typeface="Times New Roman"/>
                <a:cs typeface="Times New Roman"/>
              </a:rPr>
              <a:t>Exact access rules depend on the language.</a:t>
            </a:r>
          </a:p>
        </p:txBody>
      </p:sp>
    </p:spTree>
    <p:extLst>
      <p:ext uri="{BB962C8B-B14F-4D97-AF65-F5344CB8AC3E}">
        <p14:creationId xmlns:p14="http://schemas.microsoft.com/office/powerpoint/2010/main" val="1565834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CD7C1D11-C682-4C33-8D6C-631A535912D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Object Init: Constructors</a:t>
            </a:r>
          </a:p>
        </p:txBody>
      </p:sp>
      <p:sp>
        <p:nvSpPr>
          <p:cNvPr id="2" name="slide-number">
            <a:extLst xmlns:a="http://schemas.openxmlformats.org/drawingml/2006/main">
              <a:ext uri="{FF2B5EF4-FFF2-40B4-BE49-F238E27FC236}">
                <a16:creationId xmlns:a16="http://schemas.microsoft.com/office/drawing/2014/main" id="{8B631FA9-D6E8-4E47-A69C-849F060590A5}"/>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10</a:t>
            </a:r>
          </a:p>
        </p:txBody>
      </p:sp>
      <p:sp>
        <p:nvSpPr>
          <p:cNvPr id="3" name="constructors">
            <a:extLst xmlns:a="http://schemas.openxmlformats.org/drawingml/2006/main">
              <a:ext uri="{FF2B5EF4-FFF2-40B4-BE49-F238E27FC236}">
                <a16:creationId xmlns:a16="http://schemas.microsoft.com/office/drawing/2014/main" id="{3DE5B144-CDAE-4330-B8D7-71DD319FBE36}"/>
              </a:ext>
            </a:extLst>
          </p:cNvPr>
          <p:cNvSpPr>
            <a:spLocks xmlns:a="http://schemas.openxmlformats.org/drawingml/2006/main" noGrp="1"/>
          </p:cNvSpPr>
          <p:nvPr/>
        </p:nvSpPr>
        <p:spPr>
          <a:xfrm xmlns:a="http://schemas.openxmlformats.org/drawingml/2006/main">
            <a:off x="2773594" y="2009775"/>
            <a:ext cx="7796536" cy="429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Special routines that initialize an object’s state.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Parameters can supply the initial state.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Object initialization invokes the selected constructor.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Programmers can request construction explicitly.</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Use construction syntax, not an ordinary method call.</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Declarations use the class name in C++ and Java.</a:t>
            </a:r>
          </a:p>
        </p:txBody>
      </p:sp>
    </p:spTree>
    <p:extLst>
      <p:ext uri="{BB962C8B-B14F-4D97-AF65-F5344CB8AC3E}">
        <p14:creationId xmlns:p14="http://schemas.microsoft.com/office/powerpoint/2010/main" val="15970597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884BAED-5EC1-4867-9881-331FBCA89CE9}"/>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Object Destruction: Destructors</a:t>
            </a:r>
          </a:p>
        </p:txBody>
      </p:sp>
      <p:sp>
        <p:nvSpPr>
          <p:cNvPr id="2" name="slide-number">
            <a:extLst xmlns:a="http://schemas.openxmlformats.org/drawingml/2006/main">
              <a:ext uri="{FF2B5EF4-FFF2-40B4-BE49-F238E27FC236}">
                <a16:creationId xmlns:a16="http://schemas.microsoft.com/office/drawing/2014/main" id="{BBA4ECE3-7E00-4919-850F-42CCD375CDE4}"/>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11</a:t>
            </a:r>
          </a:p>
        </p:txBody>
      </p:sp>
      <p:sp>
        <p:nvSpPr>
          <p:cNvPr id="3" name="destructors">
            <a:extLst xmlns:a="http://schemas.openxmlformats.org/drawingml/2006/main">
              <a:ext uri="{FF2B5EF4-FFF2-40B4-BE49-F238E27FC236}">
                <a16:creationId xmlns:a16="http://schemas.microsoft.com/office/drawing/2014/main" id="{1D0B0FD3-5BD6-4DA9-8273-4CEA993E5F92}"/>
              </a:ext>
            </a:extLst>
          </p:cNvPr>
          <p:cNvSpPr>
            <a:spLocks xmlns:a="http://schemas.openxmlformats.org/drawingml/2006/main" noGrp="1"/>
          </p:cNvSpPr>
          <p:nvPr/>
        </p:nvSpPr>
        <p:spPr>
          <a:xfrm xmlns:a="http://schemas.openxmlformats.org/drawingml/2006/main">
            <a:off x="2773594" y="1924050"/>
            <a:ext cx="7796536" cy="2105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Destructors clean up objects as their lifetimes end.</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Release resources such as memory, files, or locks.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Calls may be automatic or explicit in C++.</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Cleanup rules differ across languages.</a:t>
            </a:r>
          </a:p>
        </p:txBody>
      </p:sp>
      <p:sp>
        <p:nvSpPr>
          <p:cNvPr id="4" name="placement-label">
            <a:extLst xmlns:a="http://schemas.openxmlformats.org/drawingml/2006/main">
              <a:ext uri="{FF2B5EF4-FFF2-40B4-BE49-F238E27FC236}">
                <a16:creationId xmlns:a16="http://schemas.microsoft.com/office/drawing/2014/main" id="{E5BB7F2F-0F8C-4E5C-B352-26A400B8625E}"/>
              </a:ext>
            </a:extLst>
          </p:cNvPr>
          <p:cNvSpPr>
            <a:spLocks xmlns:a="http://schemas.openxmlformats.org/drawingml/2006/main" noGrp="1"/>
          </p:cNvSpPr>
          <p:nvPr/>
        </p:nvSpPr>
        <p:spPr>
          <a:xfrm xmlns:a="http://schemas.openxmlformats.org/drawingml/2006/main">
            <a:off x="2773594" y="4086225"/>
            <a:ext cx="779653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C++: explicit lifetime management</a:t>
            </a:r>
          </a:p>
        </p:txBody>
      </p:sp>
      <p:sp>
        <p:nvSpPr>
          <p:cNvPr id="5" name="explicit-destruction">
            <a:extLst xmlns:a="http://schemas.openxmlformats.org/drawingml/2006/main">
              <a:ext uri="{FF2B5EF4-FFF2-40B4-BE49-F238E27FC236}">
                <a16:creationId xmlns:a16="http://schemas.microsoft.com/office/drawing/2014/main" id="{B3804461-0152-4A58-8665-247A2A2425F3}"/>
              </a:ext>
            </a:extLst>
          </p:cNvPr>
          <p:cNvSpPr>
            <a:spLocks xmlns:a="http://schemas.openxmlformats.org/drawingml/2006/main" noGrp="1"/>
          </p:cNvSpPr>
          <p:nvPr/>
        </p:nvSpPr>
        <p:spPr>
          <a:xfrm xmlns:a="http://schemas.openxmlformats.org/drawingml/2006/main">
            <a:off x="2865025" y="4505325"/>
            <a:ext cx="7705106" cy="18192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void</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buffer</a:t>
            </a:r>
            <a:r>
              <a:rPr sz="2000">
                <a:solidFill>
                  <a:srgbClr val="FFFFFF"/>
                </a:solidFill>
                <a:latin typeface="Courier New"/>
                <a:ea typeface="Courier New"/>
                <a:cs typeface="Courier New"/>
              </a:rPr>
              <a:t> = std::</a:t>
            </a:r>
            <a:r>
              <a:rPr sz="2000">
                <a:solidFill>
                  <a:srgbClr val="DCDCAA"/>
                </a:solidFill>
                <a:latin typeface="Courier New"/>
                <a:ea typeface="Courier New"/>
                <a:cs typeface="Courier New"/>
              </a:rPr>
              <a:t>malloc</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sizeof</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if</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buffer</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throw</a:t>
            </a:r>
            <a:r>
              <a:rPr sz="2000">
                <a:solidFill>
                  <a:srgbClr val="FFFFFF"/>
                </a:solidFill>
                <a:latin typeface="Courier New"/>
                <a:ea typeface="Courier New"/>
                <a:cs typeface="Courier New"/>
              </a:rPr>
              <a:t> std::bad_alloc{};</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t1</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new</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buffer</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9DB890"/>
                </a:solidFill>
                <a:latin typeface="Courier New"/>
                <a:ea typeface="Courier New"/>
                <a:cs typeface="Courier New"/>
              </a:rPr>
              <a:t>// ... use *t1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FAEB"/>
                </a:solidFill>
                <a:latin typeface="Courier New"/>
                <a:ea typeface="Courier New"/>
                <a:cs typeface="Courier New"/>
              </a:rPr>
              <a:t>t1</a:t>
            </a:r>
            <a:r>
              <a:rPr sz="2000">
                <a:solidFill>
                  <a:srgbClr val="FFFFFF"/>
                </a:solidFill>
                <a:latin typeface="Courier New"/>
                <a:ea typeface="Courier New"/>
                <a:cs typeface="Courier New"/>
              </a:rPr>
              <a:t>-&gt;~</a:t>
            </a:r>
            <a:r>
              <a:rPr sz="2000">
                <a:solidFill>
                  <a:srgbClr val="DCDCAA"/>
                </a:solidFill>
                <a:latin typeface="Courier New"/>
                <a:ea typeface="Courier New"/>
                <a:cs typeface="Courier New"/>
              </a:rPr>
              <a:t>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std::</a:t>
            </a:r>
            <a:r>
              <a:rPr sz="2000">
                <a:solidFill>
                  <a:srgbClr val="DCDCAA"/>
                </a:solidFill>
                <a:latin typeface="Courier New"/>
                <a:ea typeface="Courier New"/>
                <a:cs typeface="Courier New"/>
              </a:rPr>
              <a:t>free</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buffer</a:t>
            </a: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158123828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826035B5-D212-4BCD-8A31-3AD0F9FD721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END OF EXAM CONTENT</a:t>
            </a:r>
          </a:p>
        </p:txBody>
      </p:sp>
      <p:sp>
        <p:nvSpPr>
          <p:cNvPr id="2" name="slide-number">
            <a:extLst xmlns:a="http://schemas.openxmlformats.org/drawingml/2006/main">
              <a:ext uri="{FF2B5EF4-FFF2-40B4-BE49-F238E27FC236}">
                <a16:creationId xmlns:a16="http://schemas.microsoft.com/office/drawing/2014/main" id="{D101F4CC-E464-4F01-9C7C-0295A7859D2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12</a:t>
            </a:r>
          </a:p>
        </p:txBody>
      </p:sp>
      <p:sp>
        <p:nvSpPr>
          <p:cNvPr id="3" name="exam-marker">
            <a:extLst xmlns:a="http://schemas.openxmlformats.org/drawingml/2006/main">
              <a:ext uri="{FF2B5EF4-FFF2-40B4-BE49-F238E27FC236}">
                <a16:creationId xmlns:a16="http://schemas.microsoft.com/office/drawing/2014/main" id="{E7F52C23-8C46-4650-8BE9-B388D0F8CB3E}"/>
              </a:ext>
            </a:extLst>
          </p:cNvPr>
          <p:cNvSpPr>
            <a:spLocks xmlns:a="http://schemas.openxmlformats.org/drawingml/2006/main" noGrp="1"/>
          </p:cNvSpPr>
          <p:nvPr/>
        </p:nvSpPr>
        <p:spPr>
          <a:xfrm xmlns:a="http://schemas.openxmlformats.org/drawingml/2006/main">
            <a:off x="2773594" y="2343150"/>
            <a:ext cx="7796536"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END OF EXAM CONTENT</a:t>
            </a:r>
          </a:p>
        </p:txBody>
      </p:sp>
    </p:spTree>
    <p:extLst>
      <p:ext uri="{BB962C8B-B14F-4D97-AF65-F5344CB8AC3E}">
        <p14:creationId xmlns:p14="http://schemas.microsoft.com/office/powerpoint/2010/main" val="84639242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2B65EA4-DA0C-4086-BF62-D5E66CD7E9A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Object Access: Accessor Methods</a:t>
            </a:r>
          </a:p>
        </p:txBody>
      </p:sp>
      <p:sp>
        <p:nvSpPr>
          <p:cNvPr id="2" name="slide-number">
            <a:extLst xmlns:a="http://schemas.openxmlformats.org/drawingml/2006/main">
              <a:ext uri="{FF2B5EF4-FFF2-40B4-BE49-F238E27FC236}">
                <a16:creationId xmlns:a16="http://schemas.microsoft.com/office/drawing/2014/main" id="{5D63DC01-7F23-4281-98BE-63CE80D926C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13</a:t>
            </a:r>
          </a:p>
        </p:txBody>
      </p:sp>
      <p:sp>
        <p:nvSpPr>
          <p:cNvPr id="3" name="accessors">
            <a:extLst xmlns:a="http://schemas.openxmlformats.org/drawingml/2006/main">
              <a:ext uri="{FF2B5EF4-FFF2-40B4-BE49-F238E27FC236}">
                <a16:creationId xmlns:a16="http://schemas.microsoft.com/office/drawing/2014/main" id="{08F0B00B-6486-4C04-931E-1662648E3E60}"/>
              </a:ext>
            </a:extLst>
          </p:cNvPr>
          <p:cNvSpPr>
            <a:spLocks xmlns:a="http://schemas.openxmlformats.org/drawingml/2006/main" noGrp="1"/>
          </p:cNvSpPr>
          <p:nvPr/>
        </p:nvSpPr>
        <p:spPr>
          <a:xfrm xmlns:a="http://schemas.openxmlformats.org/drawingml/2006/main">
            <a:off x="2773594" y="2009775"/>
            <a:ext cx="7796536" cy="427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Accessors query an object’s state without changing it.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Often named </a:t>
            </a:r>
            <a:r>
              <a:rPr sz="2400">
                <a:solidFill>
                  <a:srgbClr val="C5FAEB"/>
                </a:solidFill>
                <a:latin typeface="Courier New"/>
                <a:ea typeface="Courier New"/>
                <a:cs typeface="Courier New"/>
              </a:rPr>
              <a:t>noun()</a:t>
            </a:r>
            <a:r>
              <a:rPr sz="2400">
                <a:solidFill>
                  <a:srgbClr val="FFFFFF"/>
                </a:solidFill>
                <a:latin typeface="Times New Roman"/>
                <a:ea typeface="Times New Roman"/>
                <a:cs typeface="Times New Roman"/>
              </a:rPr>
              <a:t> or </a:t>
            </a:r>
            <a:r>
              <a:rPr sz="2400">
                <a:solidFill>
                  <a:srgbClr val="C5FAEB"/>
                </a:solidFill>
                <a:latin typeface="Courier New"/>
                <a:ea typeface="Courier New"/>
                <a:cs typeface="Courier New"/>
              </a:rPr>
              <a:t>getNoun()</a:t>
            </a:r>
            <a:r>
              <a:rPr sz="2400">
                <a:solidFill>
                  <a:srgbClr val="FFFFFF"/>
                </a:solidFill>
                <a:latin typeface="Times New Roman"/>
                <a:ea typeface="Times New Roman"/>
                <a:cs typeface="Times New Roman"/>
              </a:rPr>
              <a: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query contract promises no observable state change.</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Calling an accessor does not make the object immutable.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a:t>
            </a:r>
            <a:r>
              <a:rPr sz="2400">
                <a:solidFill>
                  <a:srgbClr val="C5FAEB"/>
                </a:solidFill>
                <a:latin typeface="Courier New"/>
                <a:ea typeface="Courier New"/>
                <a:cs typeface="Courier New"/>
              </a:rPr>
              <a:t>const</a:t>
            </a:r>
            <a:r>
              <a:rPr sz="2400">
                <a:solidFill>
                  <a:srgbClr val="FFFFFF"/>
                </a:solidFill>
                <a:latin typeface="Times New Roman"/>
                <a:ea typeface="Times New Roman"/>
                <a:cs typeface="Times New Roman"/>
              </a:rPr>
              <a:t> restricts modification through </a:t>
            </a:r>
            <a:r>
              <a:rPr sz="2400">
                <a:solidFill>
                  <a:srgbClr val="C5FAEB"/>
                </a:solidFill>
                <a:latin typeface="Courier New"/>
                <a:ea typeface="Courier New"/>
                <a:cs typeface="Courier New"/>
              </a:rPr>
              <a:t>this</a:t>
            </a:r>
            <a:r>
              <a:rPr sz="2400">
                <a:solidFill>
                  <a:srgbClr val="FFFFFF"/>
                </a:solidFill>
                <a:latin typeface="Times New Roman"/>
                <a:ea typeface="Times New Roman"/>
                <a:cs typeface="Times New Roman"/>
              </a:rPr>
              <a:t>.</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It does not guarantee deep immutability.</a:t>
            </a:r>
          </a:p>
        </p:txBody>
      </p:sp>
    </p:spTree>
    <p:extLst>
      <p:ext uri="{BB962C8B-B14F-4D97-AF65-F5344CB8AC3E}">
        <p14:creationId xmlns:p14="http://schemas.microsoft.com/office/powerpoint/2010/main" val="201255147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0AE5D167-F2AC-4CBC-ABE8-10878B360432}"/>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Object Mutation: Mutator Methods</a:t>
            </a:r>
          </a:p>
        </p:txBody>
      </p:sp>
      <p:sp>
        <p:nvSpPr>
          <p:cNvPr id="2" name="slide-number">
            <a:extLst xmlns:a="http://schemas.openxmlformats.org/drawingml/2006/main">
              <a:ext uri="{FF2B5EF4-FFF2-40B4-BE49-F238E27FC236}">
                <a16:creationId xmlns:a16="http://schemas.microsoft.com/office/drawing/2014/main" id="{6C59FA49-DEA0-4EB5-B8C7-AE962CA0FAF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14</a:t>
            </a:r>
          </a:p>
        </p:txBody>
      </p:sp>
      <p:sp>
        <p:nvSpPr>
          <p:cNvPr id="3" name="mutators">
            <a:extLst xmlns:a="http://schemas.openxmlformats.org/drawingml/2006/main">
              <a:ext uri="{FF2B5EF4-FFF2-40B4-BE49-F238E27FC236}">
                <a16:creationId xmlns:a16="http://schemas.microsoft.com/office/drawing/2014/main" id="{E7A31231-286F-4E19-A13C-AE285EB7CE65}"/>
              </a:ext>
            </a:extLst>
          </p:cNvPr>
          <p:cNvSpPr>
            <a:spLocks xmlns:a="http://schemas.openxmlformats.org/drawingml/2006/main" noGrp="1"/>
          </p:cNvSpPr>
          <p:nvPr/>
        </p:nvSpPr>
        <p:spPr>
          <a:xfrm xmlns:a="http://schemas.openxmlformats.org/drawingml/2006/main">
            <a:off x="2773594" y="2009775"/>
            <a:ext cx="7796536" cy="427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Mutators may change an object’s logical state.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Often named </a:t>
            </a:r>
            <a:r>
              <a:rPr sz="2400">
                <a:solidFill>
                  <a:srgbClr val="C5FAEB"/>
                </a:solidFill>
                <a:latin typeface="Courier New"/>
                <a:ea typeface="Courier New"/>
                <a:cs typeface="Courier New"/>
              </a:rPr>
              <a:t>verb()</a:t>
            </a:r>
            <a:r>
              <a:rPr sz="2400">
                <a:solidFill>
                  <a:srgbClr val="FFFFFF"/>
                </a:solidFill>
                <a:latin typeface="Times New Roman"/>
                <a:ea typeface="Times New Roman"/>
                <a:cs typeface="Times New Roman"/>
              </a:rPr>
              <a:t> or </a:t>
            </a:r>
            <a:r>
              <a:rPr sz="2400">
                <a:solidFill>
                  <a:srgbClr val="C5FAEB"/>
                </a:solidFill>
                <a:latin typeface="Courier New"/>
                <a:ea typeface="Courier New"/>
                <a:cs typeface="Courier New"/>
              </a:rPr>
              <a:t>setNoun()</a:t>
            </a:r>
            <a:r>
              <a:rPr sz="2400">
                <a:solidFill>
                  <a:srgbClr val="FFFFFF"/>
                </a:solidFill>
                <a:latin typeface="Times New Roman"/>
                <a:ea typeface="Times New Roman"/>
                <a:cs typeface="Times New Roman"/>
              </a:rPr>
              <a: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Parameters often supply the requested change.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Changes must preserve the object’s invariants.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An update can leave the state unchanged or reject invalid input.</a:t>
            </a:r>
          </a:p>
        </p:txBody>
      </p:sp>
    </p:spTree>
    <p:extLst>
      <p:ext uri="{BB962C8B-B14F-4D97-AF65-F5344CB8AC3E}">
        <p14:creationId xmlns:p14="http://schemas.microsoft.com/office/powerpoint/2010/main" val="53364600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9C47909-E86B-4B8C-900A-4C64E5EFB51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Object Properties</a:t>
            </a:r>
          </a:p>
        </p:txBody>
      </p:sp>
      <p:sp>
        <p:nvSpPr>
          <p:cNvPr id="2" name="slide-number">
            <a:extLst xmlns:a="http://schemas.openxmlformats.org/drawingml/2006/main">
              <a:ext uri="{FF2B5EF4-FFF2-40B4-BE49-F238E27FC236}">
                <a16:creationId xmlns:a16="http://schemas.microsoft.com/office/drawing/2014/main" id="{40379075-DBD2-4F13-BD56-E1A088D1AE8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15</a:t>
            </a:r>
          </a:p>
        </p:txBody>
      </p:sp>
      <p:sp>
        <p:nvSpPr>
          <p:cNvPr id="3" name="properties-intro">
            <a:extLst xmlns:a="http://schemas.openxmlformats.org/drawingml/2006/main">
              <a:ext uri="{FF2B5EF4-FFF2-40B4-BE49-F238E27FC236}">
                <a16:creationId xmlns:a16="http://schemas.microsoft.com/office/drawing/2014/main" id="{592F2043-F72E-4A00-899F-9DF3A02DF04B}"/>
              </a:ext>
            </a:extLst>
          </p:cNvPr>
          <p:cNvSpPr>
            <a:spLocks xmlns:a="http://schemas.openxmlformats.org/drawingml/2006/main" noGrp="1"/>
          </p:cNvSpPr>
          <p:nvPr/>
        </p:nvSpPr>
        <p:spPr>
          <a:xfrm xmlns:a="http://schemas.openxmlformats.org/drawingml/2006/main">
            <a:off x="2773594" y="2000250"/>
            <a:ext cx="7796536"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Properties can replace the usual three-part pattern:</a:t>
            </a:r>
          </a:p>
        </p:txBody>
      </p:sp>
      <p:graphicFrame>
        <p:nvGraphicFramePr>
          <p:cNvPr id="4" name="">
            <a:extLst xmlns:a="http://schemas.openxmlformats.org/drawingml/2006/main">
              <a:ext uri="{FF2B5EF4-FFF2-40B4-BE49-F238E27FC236}">
                <a16:creationId xmlns:a16="http://schemas.microsoft.com/office/drawing/2014/main" id="{6A758105-109B-47D9-B54C-9CA3E0B03729}"/>
              </a:ext>
            </a:extLst>
          </p:cNvPr>
          <p:cNvGraphicFramePr/>
          <p:nvPr/>
        </p:nvGraphicFramePr>
        <p:xfrm>
          <a:off xmlns:a="http://schemas.openxmlformats.org/drawingml/2006/main" x="2865025" y="2857500"/>
          <a:ext xmlns:a="http://schemas.openxmlformats.org/drawingml/2006/main" cx="7705106" cy="1657350"/>
        </p:xfrm>
        <a:graphic xmlns:a="http://schemas.openxmlformats.org/drawingml/2006/main">
          <a:graphicData uri="http://schemas.openxmlformats.org/drawingml/2006/table">
            <a:tbl>
              <a:tblPr firstRow="0" firstCol="0" bandRow="0"/>
              <a:tblGrid>
                <a:gridCol w="3143250"/>
                <a:gridCol w="4561856"/>
              </a:tblGrid>
              <a:tr h="552450">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Private data</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C5FAEB"/>
                          </a:solidFill>
                          <a:latin typeface="Courier New"/>
                          <a:ea typeface="Courier New"/>
                          <a:cs typeface="Courier New"/>
                        </a:rPr>
                        <a:t>name</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29423B"/>
                    </a:solidFill>
                  </a:tcPr>
                </a:tc>
              </a:tr>
              <a:tr h="552450">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Public accessor method</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C5FAEB"/>
                          </a:solidFill>
                          <a:latin typeface="Courier New"/>
                          <a:ea typeface="Courier New"/>
                          <a:cs typeface="Courier New"/>
                        </a:rPr>
                        <a:t>getName()</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552450">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Public mutator method</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C5FAEB"/>
                          </a:solidFill>
                          <a:latin typeface="Courier New"/>
                          <a:ea typeface="Courier New"/>
                          <a:cs typeface="Courier New"/>
                        </a:rPr>
                        <a:t>setName(name: string)</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bl>
          </a:graphicData>
        </a:graphic>
      </p:graphicFrame>
      <p:sp>
        <p:nvSpPr>
          <p:cNvPr id="5" name="property-benefits">
            <a:extLst xmlns:a="http://schemas.openxmlformats.org/drawingml/2006/main">
              <a:ext uri="{FF2B5EF4-FFF2-40B4-BE49-F238E27FC236}">
                <a16:creationId xmlns:a16="http://schemas.microsoft.com/office/drawing/2014/main" id="{835BFF7E-9262-4892-BBC1-11EED4BFD3B4}"/>
              </a:ext>
            </a:extLst>
          </p:cNvPr>
          <p:cNvSpPr>
            <a:spLocks xmlns:a="http://schemas.openxmlformats.org/drawingml/2006/main" noGrp="1"/>
          </p:cNvSpPr>
          <p:nvPr/>
        </p:nvSpPr>
        <p:spPr>
          <a:xfrm xmlns:a="http://schemas.openxmlformats.org/drawingml/2006/main">
            <a:off x="2773594" y="4667250"/>
            <a:ext cx="7796536"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Centralize validation in a setter.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Expose computed values backed by stored state.</a:t>
            </a:r>
          </a:p>
        </p:txBody>
      </p:sp>
      <p:sp>
        <p:nvSpPr>
          <p:cNvPr id="6" name="health-property">
            <a:extLst xmlns:a="http://schemas.openxmlformats.org/drawingml/2006/main">
              <a:ext uri="{FF2B5EF4-FFF2-40B4-BE49-F238E27FC236}">
                <a16:creationId xmlns:a16="http://schemas.microsoft.com/office/drawing/2014/main" id="{0F3CE0FF-DC89-4F1B-AB66-AB7053EEDF68}"/>
              </a:ext>
            </a:extLst>
          </p:cNvPr>
          <p:cNvSpPr>
            <a:spLocks xmlns:a="http://schemas.openxmlformats.org/drawingml/2006/main" noGrp="1"/>
          </p:cNvSpPr>
          <p:nvPr/>
        </p:nvSpPr>
        <p:spPr>
          <a:xfrm xmlns:a="http://schemas.openxmlformats.org/drawingml/2006/main">
            <a:off x="2865025" y="5915025"/>
            <a:ext cx="7705106" cy="485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FAEB"/>
                </a:solidFill>
                <a:latin typeface="Courier New"/>
                <a:ea typeface="Courier New"/>
                <a:cs typeface="Courier New"/>
              </a:rPr>
              <a:t>player</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Health</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800</a:t>
            </a: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4673164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8139955-8FF4-4409-AF9C-09033EFD4749}"/>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Object Properties in C#</a:t>
            </a:r>
          </a:p>
        </p:txBody>
      </p:sp>
      <p:sp>
        <p:nvSpPr>
          <p:cNvPr id="2" name="slide-number">
            <a:extLst xmlns:a="http://schemas.openxmlformats.org/drawingml/2006/main">
              <a:ext uri="{FF2B5EF4-FFF2-40B4-BE49-F238E27FC236}">
                <a16:creationId xmlns:a16="http://schemas.microsoft.com/office/drawing/2014/main" id="{B546D4BE-4BF7-430C-8AF3-23A6854618C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16</a:t>
            </a:r>
          </a:p>
        </p:txBody>
      </p:sp>
      <p:sp>
        <p:nvSpPr>
          <p:cNvPr id="3" name="time-hours-property">
            <a:extLst xmlns:a="http://schemas.openxmlformats.org/drawingml/2006/main">
              <a:ext uri="{FF2B5EF4-FFF2-40B4-BE49-F238E27FC236}">
                <a16:creationId xmlns:a16="http://schemas.microsoft.com/office/drawing/2014/main" id="{F1370C38-C699-4F37-B71F-DDFCD5E5FBFA}"/>
              </a:ext>
            </a:extLst>
          </p:cNvPr>
          <p:cNvSpPr>
            <a:spLocks xmlns:a="http://schemas.openxmlformats.org/drawingml/2006/main" noGrp="1"/>
          </p:cNvSpPr>
          <p:nvPr/>
        </p:nvSpPr>
        <p:spPr>
          <a:xfrm xmlns:a="http://schemas.openxmlformats.org/drawingml/2006/main">
            <a:off x="2865025" y="2047875"/>
            <a:ext cx="7705106" cy="37909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class</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Time</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private</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seconds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public</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Hours</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get</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seconds</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3600.0</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set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if</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&gt;= </a:t>
            </a:r>
            <a:r>
              <a:rPr sz="2000">
                <a:solidFill>
                  <a:srgbClr val="D7BA7D"/>
                </a:solidFill>
                <a:latin typeface="Courier New"/>
                <a:ea typeface="Courier New"/>
                <a:cs typeface="Courier New"/>
              </a:rPr>
              <a:t>0</a:t>
            </a:r>
            <a:r>
              <a:rPr sz="2000">
                <a:solidFill>
                  <a:srgbClr val="FFFFFF"/>
                </a:solidFill>
                <a:latin typeface="Courier New"/>
                <a:ea typeface="Courier New"/>
                <a:cs typeface="Courier New"/>
              </a:rPr>
              <a:t> &amp;&amp;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&lt;= </a:t>
            </a:r>
            <a:r>
              <a:rPr sz="2000">
                <a:solidFill>
                  <a:srgbClr val="D7BA7D"/>
                </a:solidFill>
                <a:latin typeface="Courier New"/>
                <a:ea typeface="Courier New"/>
                <a:cs typeface="Courier New"/>
              </a:rPr>
              <a:t>24</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seconds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3600.0</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else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throw</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new</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ArgumentOutOfRangeException</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nameof</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4" name="time-example">
            <a:extLst xmlns:a="http://schemas.openxmlformats.org/drawingml/2006/main">
              <a:ext uri="{FF2B5EF4-FFF2-40B4-BE49-F238E27FC236}">
                <a16:creationId xmlns:a16="http://schemas.microsoft.com/office/drawing/2014/main" id="{95582AE8-95D2-406B-A78A-5391D5922593}"/>
              </a:ext>
            </a:extLst>
          </p:cNvPr>
          <p:cNvSpPr>
            <a:spLocks xmlns:a="http://schemas.openxmlformats.org/drawingml/2006/main" noGrp="1"/>
          </p:cNvSpPr>
          <p:nvPr/>
        </p:nvSpPr>
        <p:spPr>
          <a:xfrm xmlns:a="http://schemas.openxmlformats.org/drawingml/2006/main">
            <a:off x="2773594" y="6019800"/>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Range: 0 to 24 hours. Example: 1.5 h = 5,400 s.</a:t>
            </a:r>
          </a:p>
        </p:txBody>
      </p:sp>
    </p:spTree>
    <p:extLst>
      <p:ext uri="{BB962C8B-B14F-4D97-AF65-F5344CB8AC3E}">
        <p14:creationId xmlns:p14="http://schemas.microsoft.com/office/powerpoint/2010/main" val="36185296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35C7A57-0F46-42BC-89FB-16AAFAB16FA5}"/>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Encapsulations</a:t>
            </a:r>
          </a:p>
        </p:txBody>
      </p:sp>
      <p:sp>
        <p:nvSpPr>
          <p:cNvPr id="2" name="slide-number">
            <a:extLst xmlns:a="http://schemas.openxmlformats.org/drawingml/2006/main">
              <a:ext uri="{FF2B5EF4-FFF2-40B4-BE49-F238E27FC236}">
                <a16:creationId xmlns:a16="http://schemas.microsoft.com/office/drawing/2014/main" id="{BBC5AB6F-D1A4-427C-8C12-E4BDDC9A30E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17</a:t>
            </a:r>
          </a:p>
        </p:txBody>
      </p:sp>
      <p:sp>
        <p:nvSpPr>
          <p:cNvPr id="3" name="large-program-needs">
            <a:extLst xmlns:a="http://schemas.openxmlformats.org/drawingml/2006/main">
              <a:ext uri="{FF2B5EF4-FFF2-40B4-BE49-F238E27FC236}">
                <a16:creationId xmlns:a16="http://schemas.microsoft.com/office/drawing/2014/main" id="{95697592-2435-4BAF-9299-BE9FDA5482AC}"/>
              </a:ext>
            </a:extLst>
          </p:cNvPr>
          <p:cNvSpPr>
            <a:spLocks xmlns:a="http://schemas.openxmlformats.org/drawingml/2006/main" noGrp="1"/>
          </p:cNvSpPr>
          <p:nvPr/>
        </p:nvSpPr>
        <p:spPr>
          <a:xfrm xmlns:a="http://schemas.openxmlformats.org/drawingml/2006/main">
            <a:off x="2773594" y="2009775"/>
            <a:ext cx="7796536"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Large programs have two special needs:</a:t>
            </a:r>
          </a:p>
        </p:txBody>
      </p:sp>
      <p:sp>
        <p:nvSpPr>
          <p:cNvPr id="4" name="large-program-needs-list">
            <a:extLst xmlns:a="http://schemas.openxmlformats.org/drawingml/2006/main">
              <a:ext uri="{FF2B5EF4-FFF2-40B4-BE49-F238E27FC236}">
                <a16:creationId xmlns:a16="http://schemas.microsoft.com/office/drawing/2014/main" id="{3A75D319-50D4-4BB2-BAFF-BBD72093F9F4}"/>
              </a:ext>
            </a:extLst>
          </p:cNvPr>
          <p:cNvSpPr>
            <a:spLocks xmlns:a="http://schemas.openxmlformats.org/drawingml/2006/main" noGrp="1"/>
          </p:cNvSpPr>
          <p:nvPr/>
        </p:nvSpPr>
        <p:spPr>
          <a:xfrm xmlns:a="http://schemas.openxmlformats.org/drawingml/2006/main">
            <a:off x="2773594" y="2533650"/>
            <a:ext cx="7796536"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AutoNum type="arabicPeriod" startAt="1"/>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Organization beyond a large collection of subprograms and ADTs.</a:t>
            </a:r>
          </a:p>
          <a:p xmlns:a="http://schemas.openxmlformats.org/drawingml/2006/main">
            <a:pPr marL="344488" indent="-344488" algn="l">
              <a:lnSpc>
                <a:spcPct val="120000"/>
              </a:lnSpc>
              <a:spcBef>
                <a:spcPts val="1000"/>
              </a:spcBef>
              <a:spcAft>
                <a:spcPts val="600"/>
              </a:spcAft>
              <a:buClr>
                <a:srgbClr val="8EC0C1"/>
              </a:buClr>
              <a:buFont typeface="Arial"/>
              <a:buAutoNum type="arabicPeriod" startAt="2"/>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Separate compilation of units smaller than the whole program.</a:t>
            </a:r>
          </a:p>
        </p:txBody>
      </p:sp>
      <p:sp>
        <p:nvSpPr>
          <p:cNvPr id="5" name="encapsulation-solution">
            <a:extLst xmlns:a="http://schemas.openxmlformats.org/drawingml/2006/main">
              <a:ext uri="{FF2B5EF4-FFF2-40B4-BE49-F238E27FC236}">
                <a16:creationId xmlns:a16="http://schemas.microsoft.com/office/drawing/2014/main" id="{2A7E01B5-344A-4045-AA77-BBF251E06BF2}"/>
              </a:ext>
            </a:extLst>
          </p:cNvPr>
          <p:cNvSpPr>
            <a:spLocks xmlns:a="http://schemas.openxmlformats.org/drawingml/2006/main" noGrp="1"/>
          </p:cNvSpPr>
          <p:nvPr/>
        </p:nvSpPr>
        <p:spPr>
          <a:xfrm xmlns:a="http://schemas.openxmlformats.org/drawingml/2006/main">
            <a:off x="2773594" y="4591050"/>
            <a:ext cx="779653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Solution</a:t>
            </a:r>
          </a:p>
        </p:txBody>
      </p:sp>
      <p:sp>
        <p:nvSpPr>
          <p:cNvPr id="6" name="compilation-grouping">
            <a:extLst xmlns:a="http://schemas.openxmlformats.org/drawingml/2006/main">
              <a:ext uri="{FF2B5EF4-FFF2-40B4-BE49-F238E27FC236}">
                <a16:creationId xmlns:a16="http://schemas.microsoft.com/office/drawing/2014/main" id="{1892834A-604A-42FE-BD9F-AE84CB4816C7}"/>
              </a:ext>
            </a:extLst>
          </p:cNvPr>
          <p:cNvSpPr>
            <a:spLocks xmlns:a="http://schemas.openxmlformats.org/drawingml/2006/main" noGrp="1"/>
          </p:cNvSpPr>
          <p:nvPr/>
        </p:nvSpPr>
        <p:spPr>
          <a:xfrm xmlns:a="http://schemas.openxmlformats.org/drawingml/2006/main">
            <a:off x="2773594" y="5010150"/>
            <a:ext cx="7796536"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Group logically related subprograms into compilation units.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Such a grouping is an encapsulation.</a:t>
            </a:r>
          </a:p>
        </p:txBody>
      </p:sp>
    </p:spTree>
    <p:extLst>
      <p:ext uri="{BB962C8B-B14F-4D97-AF65-F5344CB8AC3E}">
        <p14:creationId xmlns:p14="http://schemas.microsoft.com/office/powerpoint/2010/main" val="199691928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9C0F578-35AC-42A8-9862-37CDD1A532E2}"/>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Nested Subprograms</a:t>
            </a:r>
          </a:p>
        </p:txBody>
      </p:sp>
      <p:sp>
        <p:nvSpPr>
          <p:cNvPr id="2" name="slide-number">
            <a:extLst xmlns:a="http://schemas.openxmlformats.org/drawingml/2006/main">
              <a:ext uri="{FF2B5EF4-FFF2-40B4-BE49-F238E27FC236}">
                <a16:creationId xmlns:a16="http://schemas.microsoft.com/office/drawing/2014/main" id="{79566098-5809-4616-B0D4-A0C31AC64B4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18</a:t>
            </a:r>
          </a:p>
        </p:txBody>
      </p:sp>
      <p:sp>
        <p:nvSpPr>
          <p:cNvPr id="3" name="nested-subprograms">
            <a:extLst xmlns:a="http://schemas.openxmlformats.org/drawingml/2006/main">
              <a:ext uri="{FF2B5EF4-FFF2-40B4-BE49-F238E27FC236}">
                <a16:creationId xmlns:a16="http://schemas.microsoft.com/office/drawing/2014/main" id="{4B344C4B-32C9-46E7-A973-F40E71A1548E}"/>
              </a:ext>
            </a:extLst>
          </p:cNvPr>
          <p:cNvSpPr>
            <a:spLocks xmlns:a="http://schemas.openxmlformats.org/drawingml/2006/main" noGrp="1"/>
          </p:cNvSpPr>
          <p:nvPr/>
        </p:nvSpPr>
        <p:spPr>
          <a:xfrm xmlns:a="http://schemas.openxmlformats.org/drawingml/2006/main">
            <a:off x="2773594" y="2009775"/>
            <a:ext cx="7796536" cy="394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Nest a helper within the subprogram that uses it.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Python and JavaScript support nested functions.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Ruby uses blocks and lambdas for lexical closures.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A nested </a:t>
            </a:r>
            <a:r>
              <a:rPr sz="2000">
                <a:solidFill>
                  <a:srgbClr val="C5FAEB"/>
                </a:solidFill>
                <a:latin typeface="Courier New"/>
                <a:ea typeface="Courier New"/>
                <a:cs typeface="Courier New"/>
              </a:rPr>
              <a:t>def</a:t>
            </a:r>
            <a:r>
              <a:rPr sz="2000">
                <a:solidFill>
                  <a:srgbClr val="FFFFFF"/>
                </a:solidFill>
                <a:latin typeface="Times New Roman"/>
                <a:ea typeface="Times New Roman"/>
                <a:cs typeface="Times New Roman"/>
              </a:rPr>
              <a:t> does not create the same local scope.</a:t>
            </a:r>
          </a:p>
        </p:txBody>
      </p:sp>
    </p:spTree>
    <p:extLst>
      <p:ext uri="{BB962C8B-B14F-4D97-AF65-F5344CB8AC3E}">
        <p14:creationId xmlns:p14="http://schemas.microsoft.com/office/powerpoint/2010/main" val="208741919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32DBB474-BEDF-4FF4-ACAF-BC85E9E11D85}"/>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Encapsulation in C</a:t>
            </a:r>
          </a:p>
        </p:txBody>
      </p:sp>
      <p:sp>
        <p:nvSpPr>
          <p:cNvPr id="2" name="slide-number">
            <a:extLst xmlns:a="http://schemas.openxmlformats.org/drawingml/2006/main">
              <a:ext uri="{FF2B5EF4-FFF2-40B4-BE49-F238E27FC236}">
                <a16:creationId xmlns:a16="http://schemas.microsoft.com/office/drawing/2014/main" id="{4DEEF531-FF6A-411C-BA02-0B73BCDCD1D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19</a:t>
            </a:r>
          </a:p>
        </p:txBody>
      </p:sp>
      <p:sp>
        <p:nvSpPr>
          <p:cNvPr id="3" name="c-encapsulation">
            <a:extLst xmlns:a="http://schemas.openxmlformats.org/drawingml/2006/main">
              <a:ext uri="{FF2B5EF4-FFF2-40B4-BE49-F238E27FC236}">
                <a16:creationId xmlns:a16="http://schemas.microsoft.com/office/drawing/2014/main" id="{46A4E466-CB46-4651-B619-C7B0315D83F3}"/>
              </a:ext>
            </a:extLst>
          </p:cNvPr>
          <p:cNvSpPr>
            <a:spLocks xmlns:a="http://schemas.openxmlformats.org/drawingml/2006/main" noGrp="1"/>
          </p:cNvSpPr>
          <p:nvPr/>
        </p:nvSpPr>
        <p:spPr>
          <a:xfrm xmlns:a="http://schemas.openxmlformats.org/drawingml/2006/main">
            <a:off x="2773594" y="2009775"/>
            <a:ext cx="7796536" cy="427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Compile each translation unit independently.</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A source file plus its included headers.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Place interface declarations in a header (.h).</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Put function implementations in source files (.c).</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Repeated declarations and multiple definitions need care.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#include</a:t>
            </a:r>
            <a:r>
              <a:rPr sz="2400">
                <a:solidFill>
                  <a:srgbClr val="FFFFFF"/>
                </a:solidFill>
                <a:latin typeface="Times New Roman"/>
                <a:ea typeface="Times New Roman"/>
                <a:cs typeface="Times New Roman"/>
              </a:rPr>
              <a:t> brings header text into a source file.</a:t>
            </a:r>
          </a:p>
        </p:txBody>
      </p:sp>
    </p:spTree>
    <p:extLst>
      <p:ext uri="{BB962C8B-B14F-4D97-AF65-F5344CB8AC3E}">
        <p14:creationId xmlns:p14="http://schemas.microsoft.com/office/powerpoint/2010/main" val="181279815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01737B9-781E-405A-9150-23B8DBC528E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Encapsulation in C++</a:t>
            </a:r>
          </a:p>
        </p:txBody>
      </p:sp>
      <p:sp>
        <p:nvSpPr>
          <p:cNvPr id="2" name="slide-number">
            <a:extLst xmlns:a="http://schemas.openxmlformats.org/drawingml/2006/main">
              <a:ext uri="{FF2B5EF4-FFF2-40B4-BE49-F238E27FC236}">
                <a16:creationId xmlns:a16="http://schemas.microsoft.com/office/drawing/2014/main" id="{83CBED6A-1D5E-4CDF-A237-A34251C27E2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20</a:t>
            </a:r>
          </a:p>
        </p:txBody>
      </p:sp>
      <p:sp>
        <p:nvSpPr>
          <p:cNvPr id="3" name="cpp-encapsulation">
            <a:extLst xmlns:a="http://schemas.openxmlformats.org/drawingml/2006/main">
              <a:ext uri="{FF2B5EF4-FFF2-40B4-BE49-F238E27FC236}">
                <a16:creationId xmlns:a16="http://schemas.microsoft.com/office/drawing/2014/main" id="{B7B12FAF-43D5-4589-9339-4BE2C6368943}"/>
              </a:ext>
            </a:extLst>
          </p:cNvPr>
          <p:cNvSpPr>
            <a:spLocks xmlns:a="http://schemas.openxmlformats.org/drawingml/2006/main" noGrp="1"/>
          </p:cNvSpPr>
          <p:nvPr/>
        </p:nvSpPr>
        <p:spPr>
          <a:xfrm xmlns:a="http://schemas.openxmlformats.org/drawingml/2006/main">
            <a:off x="2773594" y="2009775"/>
            <a:ext cx="7796536" cy="417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Header and source files work much as they do in C.</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Classes group data and operations.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The class definition specifies its interface and members.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Member function definitions can appear in a separate file.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C++20 also supports modules.</a:t>
            </a:r>
          </a:p>
        </p:txBody>
      </p:sp>
    </p:spTree>
    <p:extLst>
      <p:ext uri="{BB962C8B-B14F-4D97-AF65-F5344CB8AC3E}">
        <p14:creationId xmlns:p14="http://schemas.microsoft.com/office/powerpoint/2010/main" val="96525627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2D2AEE57-29D4-47CD-A4E0-74BDB0C922C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 Assemblies</a:t>
            </a:r>
          </a:p>
        </p:txBody>
      </p:sp>
      <p:sp>
        <p:nvSpPr>
          <p:cNvPr id="2" name="slide-number">
            <a:extLst xmlns:a="http://schemas.openxmlformats.org/drawingml/2006/main">
              <a:ext uri="{FF2B5EF4-FFF2-40B4-BE49-F238E27FC236}">
                <a16:creationId xmlns:a16="http://schemas.microsoft.com/office/drawing/2014/main" id="{FBC4A215-97C0-44FE-986D-4D164B30A0F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21</a:t>
            </a:r>
          </a:p>
        </p:txBody>
      </p:sp>
      <p:sp>
        <p:nvSpPr>
          <p:cNvPr id="3" name="assemblies">
            <a:extLst xmlns:a="http://schemas.openxmlformats.org/drawingml/2006/main">
              <a:ext uri="{FF2B5EF4-FFF2-40B4-BE49-F238E27FC236}">
                <a16:creationId xmlns:a16="http://schemas.microsoft.com/office/drawing/2014/main" id="{5EA6C240-65A1-4788-974C-962A02217D27}"/>
              </a:ext>
            </a:extLst>
          </p:cNvPr>
          <p:cNvSpPr>
            <a:spLocks xmlns:a="http://schemas.openxmlformats.org/drawingml/2006/main" noGrp="1"/>
          </p:cNvSpPr>
          <p:nvPr/>
        </p:nvSpPr>
        <p:spPr>
          <a:xfrm xmlns:a="http://schemas.openxmlformats.org/drawingml/2006/main">
            <a:off x="2773594" y="2009775"/>
            <a:ext cx="7796536" cy="427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An assembly is a .NET unit of deployment and versioning.</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Usually stored in one DLL or executable file.</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.NET Framework also supports assemblies with multiple files.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Assemblies can be built and referenced separately.</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Typically contains CIL, type metadata, assembly references, and version data.</a:t>
            </a:r>
          </a:p>
        </p:txBody>
      </p:sp>
    </p:spTree>
    <p:extLst>
      <p:ext uri="{BB962C8B-B14F-4D97-AF65-F5344CB8AC3E}">
        <p14:creationId xmlns:p14="http://schemas.microsoft.com/office/powerpoint/2010/main" val="5139774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2BAF7DD9-DC6E-4267-B003-21258948D20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Naming Encapsulations</a:t>
            </a:r>
          </a:p>
        </p:txBody>
      </p:sp>
      <p:sp>
        <p:nvSpPr>
          <p:cNvPr id="2" name="slide-number">
            <a:extLst xmlns:a="http://schemas.openxmlformats.org/drawingml/2006/main">
              <a:ext uri="{FF2B5EF4-FFF2-40B4-BE49-F238E27FC236}">
                <a16:creationId xmlns:a16="http://schemas.microsoft.com/office/drawing/2014/main" id="{4C70E418-5EDA-413A-82DF-B06012921C8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22</a:t>
            </a:r>
          </a:p>
        </p:txBody>
      </p:sp>
      <p:sp>
        <p:nvSpPr>
          <p:cNvPr id="3" name="naming-problem">
            <a:extLst xmlns:a="http://schemas.openxmlformats.org/drawingml/2006/main">
              <a:ext uri="{FF2B5EF4-FFF2-40B4-BE49-F238E27FC236}">
                <a16:creationId xmlns:a16="http://schemas.microsoft.com/office/drawing/2014/main" id="{6B8FB23D-417E-4530-BD30-BC7792D501B4}"/>
              </a:ext>
            </a:extLst>
          </p:cNvPr>
          <p:cNvSpPr>
            <a:spLocks xmlns:a="http://schemas.openxmlformats.org/drawingml/2006/main" noGrp="1"/>
          </p:cNvSpPr>
          <p:nvPr/>
        </p:nvSpPr>
        <p:spPr>
          <a:xfrm xmlns:a="http://schemas.openxmlformats.org/drawingml/2006/main">
            <a:off x="2773594" y="2009775"/>
            <a:ext cx="7796536" cy="427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Large programs may define conflicting global names.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For example, two types both named </a:t>
            </a:r>
            <a:r>
              <a:rPr sz="2000">
                <a:solidFill>
                  <a:srgbClr val="C5FAEB"/>
                </a:solidFill>
                <a:latin typeface="Courier New"/>
                <a:ea typeface="Courier New"/>
                <a:cs typeface="Courier New"/>
              </a:rPr>
              <a:t>Vector</a:t>
            </a:r>
            <a:r>
              <a:rPr sz="2000">
                <a:solidFill>
                  <a:srgbClr val="FFFFFF"/>
                </a:solidFill>
                <a:latin typeface="Times New Roman"/>
                <a:ea typeface="Times New Roman"/>
                <a:cs typeface="Times New Roman"/>
              </a:rPr>
              <a: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Logical naming groups reduce conflicts.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naming encapsulation introduces a scope for names.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Which mechanisms do C++, Java, and OCaml provide?</a:t>
            </a:r>
          </a:p>
        </p:txBody>
      </p:sp>
    </p:spTree>
    <p:extLst>
      <p:ext uri="{BB962C8B-B14F-4D97-AF65-F5344CB8AC3E}">
        <p14:creationId xmlns:p14="http://schemas.microsoft.com/office/powerpoint/2010/main" val="7736736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23F0303-3FFF-4D70-935E-D450975EC0E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Naming Encapsulations</a:t>
            </a:r>
          </a:p>
        </p:txBody>
      </p:sp>
      <p:sp>
        <p:nvSpPr>
          <p:cNvPr id="2" name="slide-number">
            <a:extLst xmlns:a="http://schemas.openxmlformats.org/drawingml/2006/main">
              <a:ext uri="{FF2B5EF4-FFF2-40B4-BE49-F238E27FC236}">
                <a16:creationId xmlns:a16="http://schemas.microsoft.com/office/drawing/2014/main" id="{E527A3C4-14EA-4482-B354-7B1062EB92D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23</a:t>
            </a:r>
          </a:p>
        </p:txBody>
      </p:sp>
      <p:sp>
        <p:nvSpPr>
          <p:cNvPr id="3" name="language-scopes-intro">
            <a:extLst xmlns:a="http://schemas.openxmlformats.org/drawingml/2006/main">
              <a:ext uri="{FF2B5EF4-FFF2-40B4-BE49-F238E27FC236}">
                <a16:creationId xmlns:a16="http://schemas.microsoft.com/office/drawing/2014/main" id="{76B151CE-9153-40D3-9BBD-7BF4B8D147E4}"/>
              </a:ext>
            </a:extLst>
          </p:cNvPr>
          <p:cNvSpPr>
            <a:spLocks xmlns:a="http://schemas.openxmlformats.org/drawingml/2006/main" noGrp="1"/>
          </p:cNvSpPr>
          <p:nvPr/>
        </p:nvSpPr>
        <p:spPr>
          <a:xfrm xmlns:a="http://schemas.openxmlformats.org/drawingml/2006/main">
            <a:off x="2773594" y="1990725"/>
            <a:ext cx="7796536"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Languages provide different naming scopes.</a:t>
            </a:r>
          </a:p>
        </p:txBody>
      </p:sp>
      <p:sp>
        <p:nvSpPr>
          <p:cNvPr id="4" name="language-naming-scopes">
            <a:extLst xmlns:a="http://schemas.openxmlformats.org/drawingml/2006/main">
              <a:ext uri="{FF2B5EF4-FFF2-40B4-BE49-F238E27FC236}">
                <a16:creationId xmlns:a16="http://schemas.microsoft.com/office/drawing/2014/main" id="{3CE44707-5F7D-471D-BF3B-692EDFFB746E}"/>
              </a:ext>
            </a:extLst>
          </p:cNvPr>
          <p:cNvSpPr>
            <a:spLocks xmlns:a="http://schemas.openxmlformats.org/drawingml/2006/main" noGrp="1"/>
          </p:cNvSpPr>
          <p:nvPr/>
        </p:nvSpPr>
        <p:spPr>
          <a:xfrm xmlns:a="http://schemas.openxmlformats.org/drawingml/2006/main">
            <a:off x="2773594" y="2447925"/>
            <a:ext cx="7796536" cy="3895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namespaces</a:t>
            </a:r>
          </a:p>
          <a:p xmlns:a="http://schemas.openxmlformats.org/drawingml/2006/main">
            <a:pPr marL="688976" indent="-344488" algn="l">
              <a:lnSpc>
                <a:spcPct val="120000"/>
              </a:lnSpc>
              <a:spcBef>
                <a:spcPts val="100"/>
              </a:spcBef>
              <a:spcAft>
                <a:spcPts val="100"/>
              </a:spcAft>
              <a:buClr>
                <a:srgbClr val="8EC0C1"/>
              </a:buClr>
              <a:buFont typeface="Arial"/>
              <a:buChar char="▪"/>
              <a:defRPr sz="24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std</a:t>
            </a:r>
            <a:r>
              <a:rPr sz="2000">
                <a:solidFill>
                  <a:srgbClr val="FFFFFF"/>
                </a:solidFill>
                <a:latin typeface="Times New Roman"/>
                <a:ea typeface="Times New Roman"/>
                <a:cs typeface="Times New Roman"/>
              </a:rPr>
              <a:t> contains standard-library names.</a:t>
            </a:r>
            <a:br>
              <a:rPr sz="2000">
                <a:solidFill>
                  <a:srgbClr val="FFFFFF"/>
                </a:solidFill>
                <a:latin typeface="Times New Roman"/>
                <a:ea typeface="Times New Roman"/>
                <a:cs typeface="Times New Roman"/>
              </a:rPr>
            </a:br>
            <a:r>
              <a:rPr sz="2000">
                <a:solidFill>
                  <a:srgbClr val="C5FAEB"/>
                </a:solidFill>
                <a:latin typeface="Courier New"/>
                <a:ea typeface="Courier New"/>
                <a:cs typeface="Courier New"/>
              </a:rPr>
              <a:t>glm</a:t>
            </a:r>
            <a:r>
              <a:rPr sz="2000">
                <a:solidFill>
                  <a:srgbClr val="FFFFFF"/>
                </a:solidFill>
                <a:latin typeface="Times New Roman"/>
                <a:ea typeface="Times New Roman"/>
                <a:cs typeface="Times New Roman"/>
              </a:rPr>
              <a:t> contains GLM library names.</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Java: packages</a:t>
            </a:r>
          </a:p>
          <a:p xmlns:a="http://schemas.openxmlformats.org/drawingml/2006/main">
            <a:pPr marL="688976" indent="-344488" algn="l">
              <a:lnSpc>
                <a:spcPct val="120000"/>
              </a:lnSpc>
              <a:spcBef>
                <a:spcPts val="100"/>
              </a:spcBef>
              <a:spcAft>
                <a:spcPts val="100"/>
              </a:spcAft>
              <a:buClr>
                <a:srgbClr val="8EC0C1"/>
              </a:buClr>
              <a:buFont typeface="Arial"/>
              <a:buChar char="▪"/>
              <a:defRPr sz="24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java.*</a:t>
            </a:r>
            <a:r>
              <a:rPr sz="2000">
                <a:solidFill>
                  <a:srgbClr val="FFFFFF"/>
                </a:solidFill>
                <a:latin typeface="Times New Roman"/>
                <a:ea typeface="Times New Roman"/>
                <a:cs typeface="Times New Roman"/>
              </a:rPr>
              <a:t> and some </a:t>
            </a:r>
            <a:r>
              <a:rPr sz="2000">
                <a:solidFill>
                  <a:srgbClr val="C5FAEB"/>
                </a:solidFill>
                <a:latin typeface="Courier New"/>
                <a:ea typeface="Courier New"/>
                <a:cs typeface="Courier New"/>
              </a:rPr>
              <a:t>javax.*</a:t>
            </a:r>
            <a:r>
              <a:rPr sz="2000">
                <a:solidFill>
                  <a:srgbClr val="FFFFFF"/>
                </a:solidFill>
                <a:latin typeface="Times New Roman"/>
                <a:ea typeface="Times New Roman"/>
                <a:cs typeface="Times New Roman"/>
              </a:rPr>
              <a:t> packages belong to Java SE.</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namespaces</a:t>
            </a:r>
          </a:p>
          <a:p xmlns:a="http://schemas.openxmlformats.org/drawingml/2006/main">
            <a:pPr marL="688976" indent="-344488" algn="l">
              <a:lnSpc>
                <a:spcPct val="120000"/>
              </a:lnSpc>
              <a:spcBef>
                <a:spcPts val="100"/>
              </a:spcBef>
              <a:spcAft>
                <a:spcPts val="100"/>
              </a:spcAft>
              <a:buClr>
                <a:srgbClr val="8EC0C1"/>
              </a:buClr>
              <a:buFont typeface="Arial"/>
              <a:buChar char="▪"/>
              <a:defRPr sz="24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System</a:t>
            </a:r>
            <a:r>
              <a:rPr sz="2000">
                <a:solidFill>
                  <a:srgbClr val="FFFFFF"/>
                </a:solidFill>
                <a:latin typeface="Times New Roman"/>
                <a:ea typeface="Times New Roman"/>
                <a:cs typeface="Times New Roman"/>
              </a:rPr>
              <a:t> is part of the .NET libraries.</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Ruby: modules</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OCaml: modules</a:t>
            </a:r>
          </a:p>
        </p:txBody>
      </p:sp>
    </p:spTree>
    <p:extLst>
      <p:ext uri="{BB962C8B-B14F-4D97-AF65-F5344CB8AC3E}">
        <p14:creationId xmlns:p14="http://schemas.microsoft.com/office/powerpoint/2010/main" val="1879179475"/>
      </p:ext>
    </p:extLst>
  </p:cSld>
</p:sld>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2026-10-26T17:57:08.4620000Z</dcterms:created>
  <dcterms:modified xsi:type="dcterms:W3CDTF">2026-10-26T17:57:08.4620000Z</dcterms:modified>
</coreProperties>
</file>