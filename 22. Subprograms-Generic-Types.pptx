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nativeTemplate/slideLayouts/slideLayout2.xml" ContentType="application/vnd.openxmlformats-officedocument.presentationml.slideLayout+xml"/>
  <Override PartName="/ppt/nativeTemplate/slideLayouts/slideLayout3.xml" ContentType="application/vnd.openxmlformats-officedocument.presentationml.slideLayout+xml"/>
  <Override PartName="/ppt/nativeTemplate/slideLayouts/slideLayout7.xml" ContentType="application/vnd.openxmlformats-officedocument.presentationml.slideLayout+xml"/>
  <Override PartName="/ppt/nativeTemplate/theme/theme1.xml" ContentType="application/vnd.openxmlformats-officedocument.theme+xml"/>
  <Override PartName="/ppt/nativeTemplate/slideLayouts/slideLayout10.xml" ContentType="application/vnd.openxmlformats-officedocument.presentationml.slideLayout+xml"/>
  <Override PartName="/ppt/nativeTemplate/slideLayouts/slideLayout6.xml" ContentType="application/vnd.openxmlformats-officedocument.presentationml.slideLayout+xml"/>
  <Default Extension="jpeg" ContentType="image/jpeg"/>
  <Override PartName="/ppt/nativeTemplate/slideLayouts/slideLayout8.xml" ContentType="application/vnd.openxmlformats-officedocument.presentationml.slideLayout+xml"/>
  <Override PartName="/ppt/nativeTemplate/slideLayouts/slideLayout11.xml" ContentType="application/vnd.openxmlformats-officedocument.presentationml.slideLayout+xml"/>
  <Override PartName="/ppt/nativeTemplate/slideMasters/slideMaster1.xml" ContentType="application/vnd.openxmlformats-officedocument.presentationml.slideMaster+xml"/>
  <Override PartName="/ppt/nativeTemplate/slideLayouts/slideLayout9.xml" ContentType="application/vnd.openxmlformats-officedocument.presentationml.slideLayout+xml"/>
  <Override PartName="/ppt/nativeTemplate/slideLayouts/slideLayout4.xml" ContentType="application/vnd.openxmlformats-officedocument.presentationml.slideLayout+xml"/>
  <Override PartName="/ppt/nativeTemplate/slideLayouts/slideLayout5.xml" ContentType="application/vnd.openxmlformats-officedocument.presentationml.slideLayout+xml"/>
  <Override PartName="/ppt/nativeTemplate/slideLayouts/slideLayout1.xml" ContentType="application/vnd.openxmlformats-officedocument.presentationml.slideLayout+xml"/>
</Types>
</file>

<file path=_rels/.rels>&#65279;<?xml version="1.0" encoding="utf-8"?><Relationships xmlns="http://schemas.openxmlformats.org/package/2006/relationships"><Relationship Type="http://schemas.openxmlformats.org/package/2006/relationships/metadata/core-properties" Target="/docProps/core.xml" Id="R94a49638e34c4f64" /><Relationship Type="http://schemas.openxmlformats.org/officeDocument/2006/relationships/extended-properties" Target="/docProps/app.xml" Id="R4e89441669e742d6" /><Relationship Type="http://schemas.openxmlformats.org/officeDocument/2006/relationships/officeDocument" Target="/ppt/presentation.xml" Id="Re18cb4cf31664594" /></Relationships>
</file>

<file path=ppt/presentation.xml><?xml version="1.0" encoding="utf-8"?>
<p:presentation xmlns:p="http://schemas.openxmlformats.org/presentationml/2006/main">
  <p:sldMasterIdLst>
    <p:sldMasterId xmlns:ns0="http://schemas.openxmlformats.org/officeDocument/2006/relationships" id="2147483648" ns0:id="rIdNativeTemplateMaster"/>
  </p:sldMasterIdLst>
  <p:notesMasterIdLst>
    <p:notesMasterId xmlns:r="http://schemas.openxmlformats.org/officeDocument/2006/relationships" r:id="R0db85929584e43ca"/>
  </p:notesMasterIdLst>
  <p:sldIdLst>
    <p:sldId xmlns:r="http://schemas.openxmlformats.org/officeDocument/2006/relationships" id="256" r:id="R5d4037414aab42fa"/>
    <p:sldId xmlns:r="http://schemas.openxmlformats.org/officeDocument/2006/relationships" id="257" r:id="R9b4e68b320f44608"/>
    <p:sldId xmlns:r="http://schemas.openxmlformats.org/officeDocument/2006/relationships" id="258" r:id="R2a313104c1b64e71"/>
    <p:sldId xmlns:r="http://schemas.openxmlformats.org/officeDocument/2006/relationships" id="259" r:id="R59c93f9d25da44b4"/>
    <p:sldId xmlns:r="http://schemas.openxmlformats.org/officeDocument/2006/relationships" id="260" r:id="Rb83e6fee6c634e09"/>
    <p:sldId xmlns:r="http://schemas.openxmlformats.org/officeDocument/2006/relationships" id="261" r:id="Rdde2f5331bd64ed2"/>
    <p:sldId xmlns:r="http://schemas.openxmlformats.org/officeDocument/2006/relationships" id="262" r:id="Raaed763c7c254247"/>
    <p:sldId xmlns:r="http://schemas.openxmlformats.org/officeDocument/2006/relationships" id="263" r:id="Rdd8df1e6534f4857"/>
    <p:sldId xmlns:r="http://schemas.openxmlformats.org/officeDocument/2006/relationships" id="264" r:id="R12eafe664d2648b7"/>
    <p:sldId xmlns:r="http://schemas.openxmlformats.org/officeDocument/2006/relationships" id="265" r:id="R997451f3540d445b"/>
    <p:sldId xmlns:r="http://schemas.openxmlformats.org/officeDocument/2006/relationships" id="266" r:id="R8838528eef164ab9"/>
    <p:sldId xmlns:r="http://schemas.openxmlformats.org/officeDocument/2006/relationships" id="267" r:id="Rb856624a64494270"/>
    <p:sldId xmlns:r="http://schemas.openxmlformats.org/officeDocument/2006/relationships" id="268" r:id="R1cac1cf8e22d478d"/>
    <p:sldId xmlns:r="http://schemas.openxmlformats.org/officeDocument/2006/relationships" id="269" r:id="Rabdec56ce3664172"/>
    <p:sldId xmlns:r="http://schemas.openxmlformats.org/officeDocument/2006/relationships" id="270" r:id="Reddb868ad10943af"/>
    <p:sldId xmlns:r="http://schemas.openxmlformats.org/officeDocument/2006/relationships" id="271" r:id="R9cca15ed1f2a4d61"/>
    <p:sldId xmlns:r="http://schemas.openxmlformats.org/officeDocument/2006/relationships" id="272" r:id="R25b7be0e686e4c39"/>
    <p:sldId xmlns:r="http://schemas.openxmlformats.org/officeDocument/2006/relationships" id="273" r:id="Red24058f8c484c04"/>
    <p:sldId xmlns:r="http://schemas.openxmlformats.org/officeDocument/2006/relationships" id="274" r:id="R68aff90263734047"/>
    <p:sldId xmlns:r="http://schemas.openxmlformats.org/officeDocument/2006/relationships" id="275" r:id="Rac4ca7705a254bf0"/>
    <p:sldId xmlns:r="http://schemas.openxmlformats.org/officeDocument/2006/relationships" id="276" r:id="R573e3326dabe4c64"/>
    <p:sldId xmlns:r="http://schemas.openxmlformats.org/officeDocument/2006/relationships" id="277" r:id="Rb236ab4ddcf1490c"/>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Type="http://schemas.openxmlformats.org/officeDocument/2006/relationships/notesMaster" Target="/ppt/notesMasters/notesMaster1.xml" Id="R0db85929584e43ca"/><Relationship Type="http://schemas.openxmlformats.org/officeDocument/2006/relationships/presProps" Target="/ppt/presProps.xml" Id="R50d5ef19a2124e7a"/><Relationship Type="http://schemas.openxmlformats.org/officeDocument/2006/relationships/viewProps" Target="/ppt/viewProps.xml" Id="R167e949621d848f9"/><Relationship Type="http://schemas.openxmlformats.org/officeDocument/2006/relationships/tableStyles" Target="/ppt/tableStyles.xml" Id="R1d53057d4c4b4ec5"/><Relationship Type="http://schemas.openxmlformats.org/officeDocument/2006/relationships/slide" Target="/ppt/slides/slide1.xml" Id="R5d4037414aab42fa"/><Relationship Type="http://schemas.openxmlformats.org/officeDocument/2006/relationships/slide" Target="/ppt/slides/slide2.xml" Id="R9b4e68b320f44608"/><Relationship Type="http://schemas.openxmlformats.org/officeDocument/2006/relationships/slide" Target="/ppt/slides/slide3.xml" Id="R2a313104c1b64e71"/><Relationship Type="http://schemas.openxmlformats.org/officeDocument/2006/relationships/slide" Target="/ppt/slides/slide4.xml" Id="R59c93f9d25da44b4"/><Relationship Type="http://schemas.openxmlformats.org/officeDocument/2006/relationships/slide" Target="/ppt/slides/slide5.xml" Id="Rb83e6fee6c634e09"/><Relationship Type="http://schemas.openxmlformats.org/officeDocument/2006/relationships/slide" Target="/ppt/slides/slide6.xml" Id="Rdde2f5331bd64ed2"/><Relationship Type="http://schemas.openxmlformats.org/officeDocument/2006/relationships/slide" Target="/ppt/slides/slide7.xml" Id="Raaed763c7c254247"/><Relationship Type="http://schemas.openxmlformats.org/officeDocument/2006/relationships/slide" Target="/ppt/slides/slide8.xml" Id="Rdd8df1e6534f4857"/><Relationship Type="http://schemas.openxmlformats.org/officeDocument/2006/relationships/slide" Target="/ppt/slides/slide9.xml" Id="R12eafe664d2648b7"/><Relationship Type="http://schemas.openxmlformats.org/officeDocument/2006/relationships/slide" Target="/ppt/slides/slide10.xml" Id="R997451f3540d445b"/><Relationship Type="http://schemas.openxmlformats.org/officeDocument/2006/relationships/slide" Target="/ppt/slides/slide11.xml" Id="R8838528eef164ab9"/><Relationship Type="http://schemas.openxmlformats.org/officeDocument/2006/relationships/slide" Target="/ppt/slides/slide12.xml" Id="Rb856624a64494270"/><Relationship Type="http://schemas.openxmlformats.org/officeDocument/2006/relationships/slide" Target="/ppt/slides/slide13.xml" Id="R1cac1cf8e22d478d"/><Relationship Type="http://schemas.openxmlformats.org/officeDocument/2006/relationships/slide" Target="/ppt/slides/slide14.xml" Id="Rabdec56ce3664172"/><Relationship Type="http://schemas.openxmlformats.org/officeDocument/2006/relationships/slide" Target="/ppt/slides/slide15.xml" Id="Reddb868ad10943af"/><Relationship Type="http://schemas.openxmlformats.org/officeDocument/2006/relationships/slide" Target="/ppt/slides/slide16.xml" Id="R9cca15ed1f2a4d61"/><Relationship Type="http://schemas.openxmlformats.org/officeDocument/2006/relationships/slide" Target="/ppt/slides/slide17.xml" Id="R25b7be0e686e4c39"/><Relationship Type="http://schemas.openxmlformats.org/officeDocument/2006/relationships/slide" Target="/ppt/slides/slide18.xml" Id="Red24058f8c484c04"/><Relationship Type="http://schemas.openxmlformats.org/officeDocument/2006/relationships/slide" Target="/ppt/slides/slide19.xml" Id="R68aff90263734047"/><Relationship Type="http://schemas.openxmlformats.org/officeDocument/2006/relationships/slide" Target="/ppt/slides/slide20.xml" Id="Rac4ca7705a254bf0"/><Relationship Type="http://schemas.openxmlformats.org/officeDocument/2006/relationships/slide" Target="/ppt/slides/slide21.xml" Id="R573e3326dabe4c64"/><Relationship Type="http://schemas.openxmlformats.org/officeDocument/2006/relationships/slide" Target="/ppt/slides/slide22.xml" Id="Rb236ab4ddcf1490c"/><Relationship Id="rIdNativeTemplateMaster" Type="http://schemas.openxmlformats.org/officeDocument/2006/relationships/slideMaster" Target="nativeTemplate/slideMasters/slideMaster1.xml"/><Relationship Id="rIdNativeTemplateTheme" Type="http://schemas.openxmlformats.org/officeDocument/2006/relationships/theme" Target="nativeTemplate/theme/theme1.xml"/></Relationships>
</file>

<file path=ppt/nativeTemplate/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Arial"/>
              </a:rPr>
              <a:t>◤</a:t>
            </a:r>
            <a:endParaRPr lang="en-US" sz="24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chor="ct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3/3/26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3/3/26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3/3/26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nativeTemplate/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3/3/26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nativeTemplate/theme/_rels/theme1.xml.rels><?xml version='1.0' encoding='UTF-8' standalone='yes'?>
<Relationships xmlns="http://schemas.openxmlformats.org/package/2006/relationships"><Relationship Id="rId1" Type="http://schemas.openxmlformats.org/officeDocument/2006/relationships/image" Target="../media/image1.jpeg"/></Relationships>
</file>

<file path=ppt/nativeTemplate/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e0087e0d67f144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lumMod val="110000"/>
                <a:satMod val="105000"/>
                <a:alpha val="88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4000"/>
                <a:lumMod val="92000"/>
                <a:satMod val="130000"/>
              </a:schemeClr>
            </a:gs>
            <a:gs pos="100000">
              <a:schemeClr val="phClr">
                <a:shade val="76000"/>
                <a:lumMod val="88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lt2"/>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d4547a6ac642ee" /><Relationship Type="http://schemas.openxmlformats.org/officeDocument/2006/relationships/notesMaster" Target="/ppt/notesMasters/notesMaster1.xml" Id="R24ba4318aa1c45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93e53fdd824a25" /><Relationship Type="http://schemas.openxmlformats.org/officeDocument/2006/relationships/notesMaster" Target="/ppt/notesMasters/notesMaster1.xml" Id="Rafcfd6f1e27f4f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40cbc2ae284652" /><Relationship Type="http://schemas.openxmlformats.org/officeDocument/2006/relationships/notesMaster" Target="/ppt/notesMasters/notesMaster1.xml" Id="R9c55eb86a2554e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8d219506d54c83" /><Relationship Type="http://schemas.openxmlformats.org/officeDocument/2006/relationships/notesMaster" Target="/ppt/notesMasters/notesMaster1.xml" Id="R7c1b7962f5d041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2b60f03ee747b6" /><Relationship Type="http://schemas.openxmlformats.org/officeDocument/2006/relationships/notesMaster" Target="/ppt/notesMasters/notesMaster1.xml" Id="R0087b61405474f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8c4aa5ebad4692" /><Relationship Type="http://schemas.openxmlformats.org/officeDocument/2006/relationships/notesMaster" Target="/ppt/notesMasters/notesMaster1.xml" Id="Rec695375945446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7576139d484f9b" /><Relationship Type="http://schemas.openxmlformats.org/officeDocument/2006/relationships/notesMaster" Target="/ppt/notesMasters/notesMaster1.xml" Id="Ra341089f36b34a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7951b661ff4588" /><Relationship Type="http://schemas.openxmlformats.org/officeDocument/2006/relationships/notesMaster" Target="/ppt/notesMasters/notesMaster1.xml" Id="Rf1828465c28f42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b2567fca0f41b4" /><Relationship Type="http://schemas.openxmlformats.org/officeDocument/2006/relationships/notesMaster" Target="/ppt/notesMasters/notesMaster1.xml" Id="Re554435b946e4e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651c96ccfc4859" /><Relationship Type="http://schemas.openxmlformats.org/officeDocument/2006/relationships/notesMaster" Target="/ppt/notesMasters/notesMaster1.xml" Id="R9e6bb9a4a34443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3ca928f19c4031" /><Relationship Type="http://schemas.openxmlformats.org/officeDocument/2006/relationships/notesMaster" Target="/ppt/notesMasters/notesMaster1.xml" Id="Rded724dd03a045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5901c241de458b" /><Relationship Type="http://schemas.openxmlformats.org/officeDocument/2006/relationships/notesMaster" Target="/ppt/notesMasters/notesMaster1.xml" Id="R5b31811fc3d34e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9eb25684604560" /><Relationship Type="http://schemas.openxmlformats.org/officeDocument/2006/relationships/notesMaster" Target="/ppt/notesMasters/notesMaster1.xml" Id="R7b628cb6ad4f44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3cc5c40d464261" /><Relationship Type="http://schemas.openxmlformats.org/officeDocument/2006/relationships/notesMaster" Target="/ppt/notesMasters/notesMaster1.xml" Id="Ra2df094b143246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b04208b2034c29" /><Relationship Type="http://schemas.openxmlformats.org/officeDocument/2006/relationships/notesMaster" Target="/ppt/notesMasters/notesMaster1.xml" Id="R1785c6c2270e44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ae3f3626d948a2" /><Relationship Type="http://schemas.openxmlformats.org/officeDocument/2006/relationships/notesMaster" Target="/ppt/notesMasters/notesMaster1.xml" Id="Rdf7b288483dc4f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a2b84dfb9b493e" /><Relationship Type="http://schemas.openxmlformats.org/officeDocument/2006/relationships/notesMaster" Target="/ppt/notesMasters/notesMaster1.xml" Id="R2bac981726da4bc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f8edd1575b46ae" /><Relationship Type="http://schemas.openxmlformats.org/officeDocument/2006/relationships/notesMaster" Target="/ppt/notesMasters/notesMaster1.xml" Id="Re14ad01943504b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6171c719714a02" /><Relationship Type="http://schemas.openxmlformats.org/officeDocument/2006/relationships/notesMaster" Target="/ppt/notesMasters/notesMaster1.xml" Id="R59602607e75044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4efeeb254842ac" /><Relationship Type="http://schemas.openxmlformats.org/officeDocument/2006/relationships/notesMaster" Target="/ppt/notesMasters/notesMaster1.xml" Id="Rde863e120b1c43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bf5d0891b44f4f" /><Relationship Type="http://schemas.openxmlformats.org/officeDocument/2006/relationships/notesMaster" Target="/ppt/notesMasters/notesMaster1.xml" Id="Ra9cc175764d943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3892da49a6f47bd" /><Relationship Type="http://schemas.openxmlformats.org/officeDocument/2006/relationships/notesMaster" Target="/ppt/notesMasters/notesMaster1.xml" Id="R63cb8a21fe344d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OVERVIEW</a:t>
            </a:r>
          </a:p>
          <a:p xmlns:a="http://schemas.openxmlformats.org/drawingml/2006/main">
            <a:r>
              <a:t>This lecture compares ways of using one operation with different types. Begin with type parameters in OCaml and Java, then study C++ templates and the constraints that keep an unsuitable type from selecting an overload. The examples distinguish compile-time checking, type erasure, specialization, and checking an operation when it executes.</a:t>
            </a:r>
          </a:p>
          <a:p xmlns:a="http://schemas.openxmlformats.org/drawingml/2006/main">
            <a:r>
              <a:t/>
            </a:r>
          </a:p>
          <a:p xmlns:a="http://schemas.openxmlformats.org/drawingml/2006/main">
            <a:r>
              <a:t>Source provenance</a:t>
            </a:r>
          </a:p>
          <a:p xmlns:a="http://schemas.openxmlformats.org/drawingml/2006/main">
            <a:r>
              <a:t>Slides originally developed by William Killian and modified by Stephanie Schwartz, Gary Zoppetti, and Jingnan Xie. Sources include Robert Sebesta’s Concepts of Programming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PLAN</a:t>
            </a:r>
          </a:p>
          <a:p xmlns:a="http://schemas.openxmlformats.org/drawingml/2006/main">
            <a:r>
              <a:t>Keep four questions in view: How is a type parameter written? Which operations are permitted on its values? When does the language check those operations? How does the implementation represent the resulting code?</a:t>
            </a:r>
          </a:p>
          <a:p xmlns:a="http://schemas.openxmlformats.org/drawingml/2006/main">
            <a:r>
              <a:t/>
            </a:r>
          </a:p>
          <a:p xmlns:a="http://schemas.openxmlformats.org/drawingml/2006/main">
            <a:r>
              <a:t>Move from OCaml/F# type variables to Java generics and wildcards. Then follow the C++ examples from templates to the constructor-selection problem, SFINAE, and concepts. Finish by comparing these approaches with dynamic typing in common scripting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THE THREE EXAMPLES</a:t>
            </a:r>
          </a:p>
          <a:p xmlns:a="http://schemas.openxmlformats.org/drawingml/2006/main">
            <a:r>
              <a:t>The signatures on this slide are schematic; they show the relationship between names, parameter types, and type parameters, rather than complete declarations in one language.</a:t>
            </a:r>
          </a:p>
          <a:p xmlns:a="http://schemas.openxmlformats.org/drawingml/2006/main">
            <a:r>
              <a:t/>
            </a:r>
          </a:p>
          <a:p xmlns:a="http://schemas.openxmlformats.org/drawingml/2006/main">
            <a:r>
              <a:t>In the first pair, the operation sorts integers in one call and floating-point values in another. The important question is whether the programmer writes separate type-specific definitions or one definition parameterized by type.</a:t>
            </a:r>
          </a:p>
          <a:p xmlns:a="http://schemas.openxmlformats.org/drawingml/2006/main">
            <a:r>
              <a:t/>
            </a:r>
          </a:p>
          <a:p xmlns:a="http://schemas.openxmlformats.org/drawingml/2006/main">
            <a:r>
              <a:t>In the square example, an overload set contains separately declared functions with the same name. Each overload can have its own implementation and can even behave differently. The type of a call's argument helps select the overload.</a:t>
            </a:r>
          </a:p>
          <a:p xmlns:a="http://schemas.openxmlformats.org/drawingml/2006/main">
            <a:r>
              <a:t/>
            </a:r>
          </a:p>
          <a:p xmlns:a="http://schemas.openxmlformats.org/drawingml/2006/main">
            <a:r>
              <a:t>In sort(T[] A), T stands for an element type supplied or inferred for a particular use. The algorithm can reuse one source-level structure for arrays of different element types, provided the operations it needs, such as comparison, are available.</a:t>
            </a:r>
          </a:p>
          <a:p xmlns:a="http://schemas.openxmlformats.org/drawingml/2006/main">
            <a:r>
              <a:t/>
            </a:r>
          </a:p>
          <a:p xmlns:a="http://schemas.openxmlformats.org/drawingml/2006/main">
            <a:r>
              <a:t>“Generic” does not mean that all values or all types can be mixed arbitrarily. A type variable may link several parameter positions, and a language can impose constraints on its permitted types. The next slides show how different languages express those relationships.</a:t>
            </a:r>
          </a:p>
          <a:p xmlns:a="http://schemas.openxmlformats.org/drawingml/2006/main">
            <a:r>
              <a:t/>
            </a:r>
          </a:p>
          <a:p xmlns:a="http://schemas.openxmlformats.org/drawingml/2006/main">
            <a:r>
              <a:t>References</a:t>
            </a:r>
          </a:p>
          <a:p xmlns:a="http://schemas.openxmlformats.org/drawingml/2006/main">
            <a:r>
              <a:t>https://docs.oracle.com/javase/tutorial/java/generics/methods.html</a:t>
            </a:r>
          </a:p>
          <a:p xmlns:a="http://schemas.openxmlformats.org/drawingml/2006/main">
            <a:r>
              <a:t>https://learn.microsoft.com/en-us/dotnet/fsharp/language-reference/generics/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 CONSTRUCTOR VERSUS VALUE CONSTRUCTOR</a:t>
            </a:r>
          </a:p>
          <a:p xmlns:a="http://schemas.openxmlformats.org/drawingml/2006/main">
            <a:r>
              <a:t>The notation shown is OCaml. The type constructor option needs an element type: int option and string option are two resulting types. Some and None are value constructors.</a:t>
            </a:r>
          </a:p>
          <a:p xmlns:a="http://schemas.openxmlformats.org/drawingml/2006/main">
            <a:r>
              <a:t/>
            </a:r>
          </a:p>
          <a:p xmlns:a="http://schemas.openxmlformats.org/drawingml/2006/main">
            <a:r>
              <a:t>Work through these examples:</a:t>
            </a:r>
          </a:p>
          <a:p xmlns:a="http://schemas.openxmlformats.org/drawingml/2006/main">
            <a:r>
              <a:t>  Some 42       has type int option</a:t>
            </a:r>
          </a:p>
          <a:p xmlns:a="http://schemas.openxmlformats.org/drawingml/2006/main">
            <a:r>
              <a:t>  Some "hello"  has type string option</a:t>
            </a:r>
          </a:p>
          <a:p xmlns:a="http://schemas.openxmlformats.org/drawingml/2006/main">
            <a:r>
              <a:t>  None          has type 'a option until context fixes the type</a:t>
            </a:r>
          </a:p>
          <a:p xmlns:a="http://schemas.openxmlformats.org/drawingml/2006/main">
            <a:r>
              <a:t/>
            </a:r>
          </a:p>
          <a:p xmlns:a="http://schemas.openxmlformats.org/drawingml/2006/main">
            <a:r>
              <a:t>For type int_option = int option, int_option is an alias for int option. This declaration does not create a separate incompatible type.</a:t>
            </a:r>
          </a:p>
          <a:p xmlns:a="http://schemas.openxmlformats.org/drawingml/2006/main">
            <a:r>
              <a:t/>
            </a:r>
          </a:p>
          <a:p xmlns:a="http://schemas.openxmlformats.org/drawingml/2006/main">
            <a:r>
              <a:t>READING compare : 'a -&gt; 'a -&gt; int</a:t>
            </a:r>
          </a:p>
          <a:p xmlns:a="http://schemas.openxmlformats.org/drawingml/2006/main">
            <a:r>
              <a:t>Both inputs have the same type because the same variable 'a occurs twice. In compare 3 7, 'a is int and the result is negative. In compare "cat" "cat", 'a is string and the result is 0. A positive result means the first value is greater. Only the sign is significant; do not promise a particular negative or positive integer.</a:t>
            </a:r>
          </a:p>
          <a:p xmlns:a="http://schemas.openxmlformats.org/drawingml/2006/main">
            <a:r>
              <a:t/>
            </a:r>
          </a:p>
          <a:p xmlns:a="http://schemas.openxmlformats.org/drawingml/2006/main">
            <a:r>
              <a:t>The expression compare 3 "7" does not match this type: int and string cannot both instantiate the same 'a in one call.</a:t>
            </a:r>
          </a:p>
          <a:p xmlns:a="http://schemas.openxmlformats.org/drawingml/2006/main">
            <a:r>
              <a:t/>
            </a:r>
          </a:p>
          <a:p xmlns:a="http://schemas.openxmlformats.org/drawingml/2006/main">
            <a:r>
              <a:t>WHY THE LABEL SAYS POLYMORPHIC COMPARISON</a:t>
            </a:r>
          </a:p>
          <a:p xmlns:a="http://schemas.openxmlformats.org/drawingml/2006/main">
            <a:r>
              <a:t>OCaml's built-in compare inspects values using structural comparison. Its polymorphic type should not be presented as evidence that it is a purely parametric function. Comparing functional values may raise Invalid_argument, and cyclic structures may not terminate.</a:t>
            </a:r>
          </a:p>
          <a:p xmlns:a="http://schemas.openxmlformats.org/drawingml/2006/main">
            <a:r>
              <a:t/>
            </a:r>
          </a:p>
          <a:p xmlns:a="http://schemas.openxmlformats.org/drawingml/2006/main">
            <a:r>
              <a:t>F# also has generic type parameters and option values, but its compare has a comparison constraint on the element type. The unqualified OCaml signature here should not be read as the complete F# signature. F# also supports specialized type-parameter forms, so avoid claiming that every form in both languages must start with an apostrophe.</a:t>
            </a:r>
          </a:p>
          <a:p xmlns:a="http://schemas.openxmlformats.org/drawingml/2006/main">
            <a:r>
              <a:t/>
            </a:r>
          </a:p>
          <a:p xmlns:a="http://schemas.openxmlformats.org/drawingml/2006/main">
            <a:r>
              <a:t>References</a:t>
            </a:r>
          </a:p>
          <a:p xmlns:a="http://schemas.openxmlformats.org/drawingml/2006/main">
            <a:r>
              <a:t>https://ocaml.org/docs/basic-data-types</a:t>
            </a:r>
          </a:p>
          <a:p xmlns:a="http://schemas.openxmlformats.org/drawingml/2006/main">
            <a:r>
              <a:t>https://ocaml.org/manual/5.1/types.html</a:t>
            </a:r>
          </a:p>
          <a:p xmlns:a="http://schemas.openxmlformats.org/drawingml/2006/main">
            <a:r>
              <a:t>https://ocaml.org/manual/5.1/api/Stdlib.html</a:t>
            </a:r>
          </a:p>
          <a:p xmlns:a="http://schemas.openxmlformats.org/drawingml/2006/main">
            <a:r>
              <a:t>https://fsharp.github.io/fsharp-core-docs/reference/fsharp-core-operators.html#compare</a:t>
            </a:r>
          </a:p>
          <a:p xmlns:a="http://schemas.openxmlformats.org/drawingml/2006/main">
            <a:r>
              <a:t>https://learn.microsoft.com/en-us/dotnet/fsharp/language-reference/generics/</a:t>
            </a:r>
          </a:p>
          <a:p xmlns:a="http://schemas.openxmlformats.org/drawingml/2006/main">
            <a:r>
              <a:t>https://learn.microsoft.com/en-us/dotnet/fsharp/language-reference/generics/statically-resolved-type-parameters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THE CLASS</a:t>
            </a:r>
          </a:p>
          <a:p xmlns:a="http://schemas.openxmlformats.org/drawingml/2006/main">
            <a:r>
              <a:t>E is a type parameter chosen when Node is used. Node&lt;String&gt; has a data field that the source-level type checker treats as String; its next field refers to another Node&lt;String&gt;. Node&lt;Integer&gt; describes the same structure for Integer values.</a:t>
            </a:r>
          </a:p>
          <a:p xmlns:a="http://schemas.openxmlformats.org/drawingml/2006/main">
            <a:r>
              <a:t/>
            </a:r>
          </a:p>
          <a:p xmlns:a="http://schemas.openxmlformats.org/drawingml/2006/main">
            <a:r>
              <a:t>The class shown contains only fields. Constructors and accessors would be added to use it as a linked-list node. Its default field values are null.</a:t>
            </a:r>
          </a:p>
          <a:p xmlns:a="http://schemas.openxmlformats.org/drawingml/2006/main">
            <a:r>
              <a:t/>
            </a:r>
          </a:p>
          <a:p xmlns:a="http://schemas.openxmlformats.org/drawingml/2006/main">
            <a:r>
              <a:t>WORKED COLLECTION EXAMPLE</a:t>
            </a:r>
          </a:p>
          <a:p xmlns:a="http://schemas.openxmlformats.org/drawingml/2006/main">
            <a:r>
              <a:t>With imports from java.util:</a:t>
            </a:r>
          </a:p>
          <a:p xmlns:a="http://schemas.openxmlformats.org/drawingml/2006/main">
            <a:r>
              <a:t>  ArrayList&lt;Number&gt; lst = new ArrayList&lt;&gt;();</a:t>
            </a:r>
          </a:p>
          <a:p xmlns:a="http://schemas.openxmlformats.org/drawingml/2006/main">
            <a:r>
              <a:t>  lst.add(4);</a:t>
            </a:r>
          </a:p>
          <a:p xmlns:a="http://schemas.openxmlformats.org/drawingml/2006/main">
            <a:r>
              <a:t>  lst.add(2.5);</a:t>
            </a:r>
          </a:p>
          <a:p xmlns:a="http://schemas.openxmlformats.org/drawingml/2006/main">
            <a:r>
              <a:t/>
            </a:r>
          </a:p>
          <a:p xmlns:a="http://schemas.openxmlformats.org/drawingml/2006/main">
            <a:r>
              <a:t>The int literal 4 is boxed as Integer, and 2.5 is boxed as Double. Both wrapper classes are subtypes of Number, so both values can be stored. Reading lst.get(0) has static type Number. Adding a String is rejected by the compiler.</a:t>
            </a:r>
          </a:p>
          <a:p xmlns:a="http://schemas.openxmlformats.org/drawingml/2006/main">
            <a:r>
              <a:t/>
            </a:r>
          </a:p>
          <a:p xmlns:a="http://schemas.openxmlformats.org/drawingml/2006/main">
            <a:r>
              <a:t>Java type arguments here are reference types. ArrayList&lt;Integer&gt; is permitted; ArrayList&lt;int&gt; is not. “Any type” would therefore be too broad.</a:t>
            </a:r>
          </a:p>
          <a:p xmlns:a="http://schemas.openxmlformats.org/drawingml/2006/main">
            <a:r>
              <a:t/>
            </a:r>
          </a:p>
          <a:p xmlns:a="http://schemas.openxmlformats.org/drawingml/2006/main">
            <a:r>
              <a:t>TYPE ERASURE</a:t>
            </a:r>
          </a:p>
          <a:p xmlns:a="http://schemas.openxmlformats.org/drawingml/2006/main">
            <a:r>
              <a:t>For this unbounded E, the erased data-field type is Object. Node&lt;E&gt; erases to Node. The compiler still checks source-level uses of E and adds casts where required by erased operations. The runtime objects keep their actual classes; erasure does not turn an Integer object into an Object-only value.</a:t>
            </a:r>
          </a:p>
          <a:p xmlns:a="http://schemas.openxmlformats.org/drawingml/2006/main">
            <a:r>
              <a:t/>
            </a:r>
          </a:p>
          <a:p xmlns:a="http://schemas.openxmlformats.org/drawingml/2006/main">
            <a:r>
              <a:t>Bounds change the erased type, which is why the next slide does not always erase E to Object.</a:t>
            </a:r>
          </a:p>
          <a:p xmlns:a="http://schemas.openxmlformats.org/drawingml/2006/main">
            <a:r>
              <a:t/>
            </a:r>
          </a:p>
          <a:p xmlns:a="http://schemas.openxmlformats.org/drawingml/2006/main">
            <a:r>
              <a:t>References</a:t>
            </a:r>
          </a:p>
          <a:p xmlns:a="http://schemas.openxmlformats.org/drawingml/2006/main">
            <a:r>
              <a:t>https://docs.oracle.com/javase/tutorial/java/generics/restrictions.html</a:t>
            </a:r>
          </a:p>
          <a:p xmlns:a="http://schemas.openxmlformats.org/drawingml/2006/main">
            <a:r>
              <a:t>https://docs.oracle.com/javase/tutorial/java/generics/genTypes.html</a:t>
            </a:r>
          </a:p>
          <a:p xmlns:a="http://schemas.openxmlformats.org/drawingml/2006/main">
            <a:r>
              <a:t>https://docs.oracle.com/javase/specs/jls/se26/html/jls-4.html#jls-4.6</a:t>
            </a:r>
          </a:p>
          <a:p xmlns:a="http://schemas.openxmlformats.org/drawingml/2006/main">
            <a:r>
              <a:t>https://docs.oracle.com/javase/tutorial/java/generics/inheritance.html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THE BOUND</a:t>
            </a:r>
          </a:p>
          <a:p xmlns:a="http://schemas.openxmlformats.org/drawingml/2006/main">
            <a:r>
              <a:t>E extends Comparable&lt;E&gt; requires a permitted E to support comparison with values of the same E. In a type-parameter bound, extends is also used for interfaces; Comparable is an interface.</a:t>
            </a:r>
          </a:p>
          <a:p xmlns:a="http://schemas.openxmlformats.org/drawingml/2006/main">
            <a:r>
              <a:t/>
            </a:r>
          </a:p>
          <a:p xmlns:a="http://schemas.openxmlformats.org/drawingml/2006/main">
            <a:r>
              <a:t>Integer implements Comparable&lt;Integer&gt;, so BstNode&lt;Integer&gt; satisfies this declaration. String similarly supports Comparable&lt;String&gt;. A class that does not implement the required Comparable form cannot be substituted for E.</a:t>
            </a:r>
          </a:p>
          <a:p xmlns:a="http://schemas.openxmlformats.org/drawingml/2006/main">
            <a:r>
              <a:t/>
            </a:r>
          </a:p>
          <a:p xmlns:a="http://schemas.openxmlformats.org/drawingml/2006/main">
            <a:r>
              <a:t>WHY A BINARY SEARCH TREE NEEDS THIS</a:t>
            </a:r>
          </a:p>
          <a:p xmlns:a="http://schemas.openxmlformats.org/drawingml/2006/main">
            <a:r>
              <a:t>Suppose a node stores Integer 10 and an insertion operation receives Integer 7. The bound makes a comparison such as value.compareTo(data) available. A negative result can direct the search left; a positive result can direct it right. A complete tree implementation must also decide how to handle equal keys. These methods are not included in the small field-only class on the slide.</a:t>
            </a:r>
          </a:p>
          <a:p xmlns:a="http://schemas.openxmlformats.org/drawingml/2006/main">
            <a:r>
              <a:t/>
            </a:r>
          </a:p>
          <a:p xmlns:a="http://schemas.openxmlformats.org/drawingml/2006/main">
            <a:r>
              <a:t>ERASURE</a:t>
            </a:r>
          </a:p>
          <a:p xmlns:a="http://schemas.openxmlformats.org/drawingml/2006/main">
            <a:r>
              <a:t>The source-level bound is Comparable&lt;E&gt;. The erasure of E is the erasure of its leftmost bound, here the non-parameterized Comparable type. It is not Comparable&lt;E&gt; at the erased level. The BstNode&lt;E&gt; fields erase to BstNode.</a:t>
            </a:r>
          </a:p>
          <a:p xmlns:a="http://schemas.openxmlformats.org/drawingml/2006/main">
            <a:r>
              <a:t/>
            </a:r>
          </a:p>
          <a:p xmlns:a="http://schemas.openxmlformats.org/drawingml/2006/main">
            <a:r>
              <a:t>CHECKING A CANDIDATE TYPE</a:t>
            </a:r>
          </a:p>
          <a:p xmlns:a="http://schemas.openxmlformats.org/drawingml/2006/main">
            <a:r>
              <a:t>Ask students whether BstNode&lt;Number&gt; works. It does not: Number itself does not implement Comparable&lt;Number&gt;, even though several of its subclasses have comparison methods. A type argument must satisfy the declared bound; being numeric is not sufficient.</a:t>
            </a:r>
          </a:p>
          <a:p xmlns:a="http://schemas.openxmlformats.org/drawingml/2006/main">
            <a:r>
              <a:t/>
            </a:r>
          </a:p>
          <a:p xmlns:a="http://schemas.openxmlformats.org/drawingml/2006/main">
            <a:r>
              <a:t>A more flexible library design may use Comparable&lt;? super E&gt;.</a:t>
            </a:r>
          </a:p>
          <a:p xmlns:a="http://schemas.openxmlformats.org/drawingml/2006/main">
            <a:r>
              <a:t/>
            </a:r>
          </a:p>
          <a:p xmlns:a="http://schemas.openxmlformats.org/drawingml/2006/main">
            <a:r>
              <a:t>References</a:t>
            </a:r>
          </a:p>
          <a:p xmlns:a="http://schemas.openxmlformats.org/drawingml/2006/main">
            <a:r>
              <a:t>https://docs.oracle.com/javase/tutorial/java/generics/bounded.html</a:t>
            </a:r>
          </a:p>
          <a:p xmlns:a="http://schemas.openxmlformats.org/drawingml/2006/main">
            <a:r>
              <a:t>https://docs.oracle.com/javase/tutorial/java/generics/genTypes.html</a:t>
            </a:r>
          </a:p>
          <a:p xmlns:a="http://schemas.openxmlformats.org/drawingml/2006/main">
            <a:r>
              <a:t>https://docs.oracle.com/javase/specs/jls/se26/html/jls-4.html#jls-4.4</a:t>
            </a:r>
          </a:p>
          <a:p xmlns:a="http://schemas.openxmlformats.org/drawingml/2006/main">
            <a:r>
              <a:t>https://docs.oracle.com/en/java/javase/26/docs/api/java.base/java/lang/Integer.html</a:t>
            </a:r>
          </a:p>
          <a:p xmlns:a="http://schemas.openxmlformats.org/drawingml/2006/main">
            <a:r>
              <a:t>https://docs.oracle.com/en/java/javase/26/docs/api/java.base/java/lang/Number.html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METHOD NEEDS NO TYPE NAME</a:t>
            </a:r>
          </a:p>
          <a:p xmlns:a="http://schemas.openxmlformats.org/drawingml/2006/main">
            <a:r>
              <a:t>The method only asks for the number of elements. It does not need to create an element, inspect its specific type, or relate its type to a result. Collection&lt;?&gt; therefore expresses the needed flexibility without introducing a named type parameter.</a:t>
            </a:r>
          </a:p>
          <a:p xmlns:a="http://schemas.openxmlformats.org/drawingml/2006/main">
            <a:r>
              <a:t/>
            </a:r>
          </a:p>
          <a:p xmlns:a="http://schemas.openxmlformats.org/drawingml/2006/main">
            <a:r>
              <a:t>With java.util imports:</a:t>
            </a:r>
          </a:p>
          <a:p xmlns:a="http://schemas.openxmlformats.org/drawingml/2006/main">
            <a:r>
              <a:t>  size(List.of("a", "b"))       returns 2</a:t>
            </a:r>
          </a:p>
          <a:p xmlns:a="http://schemas.openxmlformats.org/drawingml/2006/main">
            <a:r>
              <a:t>  size(List.of(10, 20, 30))     returns 3</a:t>
            </a:r>
          </a:p>
          <a:p xmlns:a="http://schemas.openxmlformats.org/drawingml/2006/main">
            <a:r>
              <a:t/>
            </a:r>
          </a:p>
          <a:p xmlns:a="http://schemas.openxmlformats.org/drawingml/2006/main">
            <a:r>
              <a:t>The first collection has String elements and the second has Integer elements. Both match Collection&lt;?&gt;. The method invokes size() and returns an int independently of the element type.</a:t>
            </a:r>
          </a:p>
          <a:p xmlns:a="http://schemas.openxmlformats.org/drawingml/2006/main">
            <a:r>
              <a:t/>
            </a:r>
          </a:p>
          <a:p xmlns:a="http://schemas.openxmlformats.org/drawingml/2006/main">
            <a:r>
              <a:t>UNKNOWN TYPE IS NOT Object</a:t>
            </a:r>
          </a:p>
          <a:p xmlns:a="http://schemas.openxmlformats.org/drawingml/2006/main">
            <a:r>
              <a:t>Collection&lt;?&gt; means a collection with one unknown element type. It does not mean Collection&lt;Object&gt;. A Collection&lt;String&gt; can be passed to the former but cannot be freely assigned to the latter.</a:t>
            </a:r>
          </a:p>
          <a:p xmlns:a="http://schemas.openxmlformats.org/drawingml/2006/main">
            <a:r>
              <a:t/>
            </a:r>
          </a:p>
          <a:p xmlns:a="http://schemas.openxmlformats.org/drawingml/2006/main">
            <a:r>
              <a:t>An element read through Collection&lt;?&gt; can safely be held in an Object variable. Adding an arbitrary non-null Object is not safe, because the underlying collection might be a collection of Strings. Passing null may type-check, but a particular collection implementation can reject null at runtime.</a:t>
            </a:r>
          </a:p>
          <a:p xmlns:a="http://schemas.openxmlformats.org/drawingml/2006/main">
            <a:r>
              <a:t/>
            </a:r>
          </a:p>
          <a:p xmlns:a="http://schemas.openxmlformats.org/drawingml/2006/main">
            <a:r>
              <a:t>WHEN A NAMED PARAMETER HELPS</a:t>
            </a:r>
          </a:p>
          <a:p xmlns:a="http://schemas.openxmlformats.org/drawingml/2006/main">
            <a:r>
              <a:t>A method such as &lt;T&gt; T first(List&lt;T&gt; items) uses T to connect the list's element type to its return type. That relationship is not expressed by merely saying the list has an unknown element type.</a:t>
            </a:r>
          </a:p>
          <a:p xmlns:a="http://schemas.openxmlformats.org/drawingml/2006/main">
            <a:r>
              <a:t/>
            </a:r>
          </a:p>
          <a:p xmlns:a="http://schemas.openxmlformats.org/drawingml/2006/main">
            <a:r>
              <a:t>The slide's “read as Object” describes a source-level guarantee. Do not confuse it with erasure: Collection&lt;?&gt; erases to Collection, just as other parameterizations of Collection do.</a:t>
            </a:r>
          </a:p>
          <a:p xmlns:a="http://schemas.openxmlformats.org/drawingml/2006/main">
            <a:r>
              <a:t/>
            </a:r>
          </a:p>
          <a:p xmlns:a="http://schemas.openxmlformats.org/drawingml/2006/main">
            <a:r>
              <a:t>References</a:t>
            </a:r>
          </a:p>
          <a:p xmlns:a="http://schemas.openxmlformats.org/drawingml/2006/main">
            <a:r>
              <a:t>https://docs.oracle.com/javase/tutorial/java/generics/wildcards.html</a:t>
            </a:r>
          </a:p>
          <a:p xmlns:a="http://schemas.openxmlformats.org/drawingml/2006/main">
            <a:r>
              <a:t>https://docs.oracle.com/javase/tutorial/java/generics/unboundedWildcards.html</a:t>
            </a:r>
          </a:p>
          <a:p xmlns:a="http://schemas.openxmlformats.org/drawingml/2006/main">
            <a:r>
              <a:t>https://docs.oracle.com/javase/tutorial/java/generics/methods.html</a:t>
            </a:r>
          </a:p>
          <a:p xmlns:a="http://schemas.openxmlformats.org/drawingml/2006/main">
            <a:r>
              <a:t>https://docs.oracle.com/javase/specs/jls/se26/html/jls-4.html#jls-4.6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UPPER BOUND: READING NUMBER VALUES</a:t>
            </a:r>
          </a:p>
          <a:p xmlns:a="http://schemas.openxmlformats.org/drawingml/2006/main">
            <a:r>
              <a:t>A parameter List&lt;? extends Number&gt; can refer to a List&lt;Integer&gt;, List&lt;Double&gt;, or List&lt;Number&gt;. Whatever the actual element type, a retrieved element can be stored in a Number variable.</a:t>
            </a:r>
          </a:p>
          <a:p xmlns:a="http://schemas.openxmlformats.org/drawingml/2006/main">
            <a:r>
              <a:t/>
            </a:r>
          </a:p>
          <a:p xmlns:a="http://schemas.openxmlformats.org/drawingml/2006/main">
            <a:r>
              <a:t>For example, if foo receives a list containing Integer 3 and Integer 7, it can read both elements as Number and call doubleValue() on each. But foo cannot safely add Double 2.5: the actual list may require Integer. It also cannot generally add Integer 3, because the actual list may require Double. The bound permits safe reading; it does not reveal the exact writable element type.</a:t>
            </a:r>
          </a:p>
          <a:p xmlns:a="http://schemas.openxmlformats.org/drawingml/2006/main">
            <a:r>
              <a:t/>
            </a:r>
          </a:p>
          <a:p xmlns:a="http://schemas.openxmlformats.org/drawingml/2006/main">
            <a:r>
              <a:t>LOWER BOUND: INSERTING INTEGER VALUES</a:t>
            </a:r>
          </a:p>
          <a:p xmlns:a="http://schemas.openxmlformats.org/drawingml/2006/main">
            <a:r>
              <a:t>A parameter List&lt;? super Integer&gt; can refer, for example, to a List&lt;Integer&gt;, List&lt;Number&gt;, or List&lt;Object&gt;. Each can accept an Integer.</a:t>
            </a:r>
          </a:p>
          <a:p xmlns:a="http://schemas.openxmlformats.org/drawingml/2006/main">
            <a:r>
              <a:t/>
            </a:r>
          </a:p>
          <a:p xmlns:a="http://schemas.openxmlformats.org/drawingml/2006/main">
            <a:r>
              <a:t>  List&lt;Object&gt; objects = new ArrayList&lt;&gt;();</a:t>
            </a:r>
          </a:p>
          <a:p xmlns:a="http://schemas.openxmlformats.org/drawingml/2006/main">
            <a:r>
              <a:t>  List&lt;? super Integer&gt; target = objects;</a:t>
            </a:r>
          </a:p>
          <a:p xmlns:a="http://schemas.openxmlformats.org/drawingml/2006/main">
            <a:r>
              <a:t>  target.add(7);</a:t>
            </a:r>
          </a:p>
          <a:p xmlns:a="http://schemas.openxmlformats.org/drawingml/2006/main">
            <a:r>
              <a:t/>
            </a:r>
          </a:p>
          <a:p xmlns:a="http://schemas.openxmlformats.org/drawingml/2006/main">
            <a:r>
              <a:t>The added value is boxed as Integer. Reading target.get(0) has only the guaranteed static type Object: the underlying Object list could also contain a String inserted through another reference. The lower bound is a permission to insert Integer values, not a promise that every existing element is an Integer.</a:t>
            </a:r>
          </a:p>
          <a:p xmlns:a="http://schemas.openxmlformats.org/drawingml/2006/main">
            <a:r>
              <a:t/>
            </a:r>
          </a:p>
          <a:p xmlns:a="http://schemas.openxmlformats.org/drawingml/2006/main">
            <a:r>
              <a:t>PREDICTION EXERCISE</a:t>
            </a:r>
          </a:p>
          <a:p xmlns:a="http://schemas.openxmlformats.org/drawingml/2006/main">
            <a:r>
              <a:t>For List&lt;? extends Number&gt;, may we read a Number? Yes.</a:t>
            </a:r>
          </a:p>
          <a:p xmlns:a="http://schemas.openxmlformats.org/drawingml/2006/main">
            <a:r>
              <a:t>May we add an arbitrary Number? No.</a:t>
            </a:r>
          </a:p>
          <a:p xmlns:a="http://schemas.openxmlformats.org/drawingml/2006/main">
            <a:r>
              <a:t>For List&lt;? super Integer&gt;, may we add an Integer? Yes.</a:t>
            </a:r>
          </a:p>
          <a:p xmlns:a="http://schemas.openxmlformats.org/drawingml/2006/main">
            <a:r>
              <a:t>May we read directly into an Integer variable? No; only Object is guaranteed.</a:t>
            </a:r>
          </a:p>
          <a:p xmlns:a="http://schemas.openxmlformats.org/drawingml/2006/main">
            <a:r>
              <a:t/>
            </a:r>
          </a:p>
          <a:p xmlns:a="http://schemas.openxmlformats.org/drawingml/2006/main">
            <a:r>
              <a:t>These are compile-time type rules. A list may still be unmodifiable, and a modifying operation can throw UnsupportedOperationException. Likewise, null acceptance depends on the implementation.</a:t>
            </a:r>
          </a:p>
          <a:p xmlns:a="http://schemas.openxmlformats.org/drawingml/2006/main">
            <a:r>
              <a:t/>
            </a:r>
          </a:p>
          <a:p xmlns:a="http://schemas.openxmlformats.org/drawingml/2006/main">
            <a:r>
              <a:t>The two code lines on the slide intentionally show method signatures only. A concrete class method would need a body. Both parameter types erase to List. Erasure differs from the safe type of a retrieved value.</a:t>
            </a:r>
          </a:p>
          <a:p xmlns:a="http://schemas.openxmlformats.org/drawingml/2006/main">
            <a:r>
              <a:t/>
            </a:r>
          </a:p>
          <a:p xmlns:a="http://schemas.openxmlformats.org/drawingml/2006/main">
            <a:r>
              <a:t>References</a:t>
            </a:r>
          </a:p>
          <a:p xmlns:a="http://schemas.openxmlformats.org/drawingml/2006/main">
            <a:r>
              <a:t>https://docs.oracle.com/javase/tutorial/java/generics/upperBounded.html</a:t>
            </a:r>
          </a:p>
          <a:p xmlns:a="http://schemas.openxmlformats.org/drawingml/2006/main">
            <a:r>
              <a:t>https://docs.oracle.com/javase/tutorial/java/generics/lowerBounded.html</a:t>
            </a:r>
          </a:p>
          <a:p xmlns:a="http://schemas.openxmlformats.org/drawingml/2006/main">
            <a:r>
              <a:t>https://docs.oracle.com/javase/tutorial/java/generics/wildcardGuidelines.html</a:t>
            </a:r>
          </a:p>
          <a:p xmlns:a="http://schemas.openxmlformats.org/drawingml/2006/main">
            <a:r>
              <a:t>https://docs.oracle.com/javase/tutorial/java/generics/subtyping.html</a:t>
            </a:r>
          </a:p>
          <a:p xmlns:a="http://schemas.openxmlformats.org/drawingml/2006/main">
            <a:r>
              <a:t>https://docs.oracle.com/javase/specs/jls/se26/html/jls-4.html#jls-4.6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TO READ THE TWO BOUNDS</a:t>
            </a:r>
          </a:p>
          <a:p xmlns:a="http://schemas.openxmlformats.org/drawingml/2006/main">
            <a:r>
              <a:t>T extends Number restricts elem to Number or a subtype. List&lt;? super Number&gt; means the destination list has an element type that is Number or a supertype of Number. Any permitted elem can therefore be inserted safely.</a:t>
            </a:r>
          </a:p>
          <a:p xmlns:a="http://schemas.openxmlformats.org/drawingml/2006/main">
            <a:r>
              <a:t/>
            </a:r>
          </a:p>
          <a:p xmlns:a="http://schemas.openxmlformats.org/drawingml/2006/main">
            <a:r>
              <a:t>WORKED CALL</a:t>
            </a:r>
          </a:p>
          <a:p xmlns:a="http://schemas.openxmlformats.org/drawingml/2006/main">
            <a:r>
              <a:t>  List&lt;Number&gt; numbers = new ArrayList&lt;&gt;();</a:t>
            </a:r>
          </a:p>
          <a:p xmlns:a="http://schemas.openxmlformats.org/drawingml/2006/main">
            <a:r>
              <a:t>  adder(7, numbers);</a:t>
            </a:r>
          </a:p>
          <a:p xmlns:a="http://schemas.openxmlformats.org/drawingml/2006/main">
            <a:r>
              <a:t>  adder(2.5, numbers);</a:t>
            </a:r>
          </a:p>
          <a:p xmlns:a="http://schemas.openxmlformats.org/drawingml/2006/main">
            <a:r>
              <a:t/>
            </a:r>
          </a:p>
          <a:p xmlns:a="http://schemas.openxmlformats.org/drawingml/2006/main">
            <a:r>
              <a:t>For the first call, 7 is boxed as Integer, which satisfies the upper bound. The destination is a List&lt;Number&gt;, which satisfies the lower bound. The method adds the Integer value. For the second call, the Double value also satisfies the upper bound and is added. The list now contains 7 and 2.5, with source-level element type Number.</a:t>
            </a:r>
          </a:p>
          <a:p xmlns:a="http://schemas.openxmlformats.org/drawingml/2006/main">
            <a:r>
              <a:t/>
            </a:r>
          </a:p>
          <a:p xmlns:a="http://schemas.openxmlformats.org/drawingml/2006/main">
            <a:r>
              <a:t>A List&lt;Object&gt; is another valid destination. These are examples, not an exhaustive list of Number's supertypes.</a:t>
            </a:r>
          </a:p>
          <a:p xmlns:a="http://schemas.openxmlformats.org/drawingml/2006/main">
            <a:r>
              <a:t/>
            </a:r>
          </a:p>
          <a:p xmlns:a="http://schemas.openxmlformats.org/drawingml/2006/main">
            <a:r>
              <a:t>WHY List&lt;Integer&gt; IS REJECTED HERE</a:t>
            </a:r>
          </a:p>
          <a:p xmlns:a="http://schemas.openxmlformats.org/drawingml/2006/main">
            <a:r>
              <a:t>  List&lt;Integer&gt; integers = new ArrayList&lt;&gt;();</a:t>
            </a:r>
          </a:p>
          <a:p xmlns:a="http://schemas.openxmlformats.org/drawingml/2006/main">
            <a:r>
              <a:t>  adder(7, integers);  // does not match this signature</a:t>
            </a:r>
          </a:p>
          <a:p xmlns:a="http://schemas.openxmlformats.org/drawingml/2006/main">
            <a:r>
              <a:t/>
            </a:r>
          </a:p>
          <a:p xmlns:a="http://schemas.openxmlformats.org/drawingml/2006/main">
            <a:r>
              <a:t>The list parameter requires a supertype of Number. Integer is a subtype of Number, so List&lt;Integer&gt; does not match even though this particular element is an Integer. The signature protects the destination against other permitted Number values, such as Double.</a:t>
            </a:r>
          </a:p>
          <a:p xmlns:a="http://schemas.openxmlformats.org/drawingml/2006/main">
            <a:r>
              <a:t/>
            </a:r>
          </a:p>
          <a:p xmlns:a="http://schemas.openxmlformats.org/drawingml/2006/main">
            <a:r>
              <a:t>A MORE FLEXIBLE VARIANT</a:t>
            </a:r>
          </a:p>
          <a:p xmlns:a="http://schemas.openxmlformats.org/drawingml/2006/main">
            <a:r>
              <a:t>If the intended rule is “the list only needs to accept this element's type,” the parameter can instead be List&lt;? super T&gt;. Then T ties the element type to the destination, and the Integer example can be accepted.</a:t>
            </a:r>
          </a:p>
          <a:p xmlns:a="http://schemas.openxmlformats.org/drawingml/2006/main">
            <a:r>
              <a:t/>
            </a:r>
          </a:p>
          <a:p xmlns:a="http://schemas.openxmlformats.org/drawingml/2006/main">
            <a:r>
              <a:t>LIMIT OF THE TYPE-SAFETY CLAIM</a:t>
            </a:r>
          </a:p>
          <a:p xmlns:a="http://schemas.openxmlformats.org/drawingml/2006/main">
            <a:r>
              <a:t>The compiler verifies the generic insertion when the types are used correctly. Raw types and unchecked casts can bypass parts of those checks. The list must also support addition; generics do not guarantee mutability or a non-null list reference.</a:t>
            </a:r>
          </a:p>
          <a:p xmlns:a="http://schemas.openxmlformats.org/drawingml/2006/main">
            <a:r>
              <a:t/>
            </a:r>
          </a:p>
          <a:p xmlns:a="http://schemas.openxmlformats.org/drawingml/2006/main">
            <a:r>
              <a:t>References</a:t>
            </a:r>
          </a:p>
          <a:p xmlns:a="http://schemas.openxmlformats.org/drawingml/2006/main">
            <a:r>
              <a:t>https://docs.oracle.com/javase/tutorial/java/generics/bounded.html</a:t>
            </a:r>
          </a:p>
          <a:p xmlns:a="http://schemas.openxmlformats.org/drawingml/2006/main">
            <a:r>
              <a:t>https://docs.oracle.com/javase/tutorial/java/generics/lowerBounded.html</a:t>
            </a:r>
          </a:p>
          <a:p xmlns:a="http://schemas.openxmlformats.org/drawingml/2006/main">
            <a:r>
              <a:t>https://docs.oracle.com/javase/tutorial/java/generics/methods.html</a:t>
            </a:r>
          </a:p>
          <a:p xmlns:a="http://schemas.openxmlformats.org/drawingml/2006/main">
            <a:r>
              <a:t>https://docs.oracle.com/javase/tutorial/java/generics/rawTypes.html</a:t>
            </a:r>
          </a:p>
          <a:p xmlns:a="http://schemas.openxmlformats.org/drawingml/2006/main">
            <a:r>
              <a:t>https://docs.oracle.com/javase/tutorial/java/generics/inheritance.html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PARAMETERS AND ARGUMENTS</a:t>
            </a:r>
          </a:p>
          <a:p xmlns:a="http://schemas.openxmlformats.org/drawingml/2006/main">
            <a:r>
              <a:t>The template declaration introduces parameters. A use supplies arguments for them. In template&lt;typename T&gt;, T is a type parameter; in add&lt;int&gt;, int is its argument.</a:t>
            </a:r>
          </a:p>
          <a:p xmlns:a="http://schemas.openxmlformats.org/drawingml/2006/main">
            <a:r>
              <a:t/>
            </a:r>
          </a:p>
          <a:p xmlns:a="http://schemas.openxmlformats.org/drawingml/2006/main">
            <a:r>
              <a:t>For example:</a:t>
            </a:r>
          </a:p>
          <a:p xmlns:a="http://schemas.openxmlformats.org/drawingml/2006/main">
            <a:r>
              <a:t>  template&lt;typename T&gt;</a:t>
            </a:r>
          </a:p>
          <a:p xmlns:a="http://schemas.openxmlformats.org/drawingml/2006/main">
            <a:r>
              <a:t>  T add(T a, T b) { return a + b; }</a:t>
            </a:r>
          </a:p>
          <a:p xmlns:a="http://schemas.openxmlformats.org/drawingml/2006/main">
            <a:r>
              <a:t/>
            </a:r>
          </a:p>
          <a:p xmlns:a="http://schemas.openxmlformats.org/drawingml/2006/main">
            <a:r>
              <a:t>add&lt;int&gt;(2, 3) produces 5. add&lt;double&gt;(2.0, 3.5) produces 5.5. These are distinct function specializations, and the operations are checked with the chosen types. They do not all operate on Object as Java's unbounded erased type parameters do. Do not infer that two visible machine-code function bodies must remain in an optimized executable: calls can be inlined, and unused code can disappear.</a:t>
            </a:r>
          </a:p>
          <a:p xmlns:a="http://schemas.openxmlformats.org/drawingml/2006/main">
            <a:r>
              <a:t/>
            </a:r>
          </a:p>
          <a:p xmlns:a="http://schemas.openxmlformats.org/drawingml/2006/main">
            <a:r>
              <a:t>THREE USEFUL PARAMETER CATEGORIES</a:t>
            </a:r>
          </a:p>
          <a:p xmlns:a="http://schemas.openxmlformats.org/drawingml/2006/main">
            <a:r>
              <a:t>1. A type: template&lt;typename T&gt;. int is a type argument; an enumeration type such as Color can be one too.</a:t>
            </a:r>
          </a:p>
          <a:p xmlns:a="http://schemas.openxmlformats.org/drawingml/2006/main">
            <a:r>
              <a:t>2. A constant value: template&lt;int N&gt; can be used as Buffer&lt;4&gt;. With enum class Color { red, blue }, template&lt;Color C&gt; can be used as Choice&lt;Color::red&gt;. Color is the type; Color::red is an enumerator value.</a:t>
            </a:r>
          </a:p>
          <a:p xmlns:a="http://schemas.openxmlformats.org/drawingml/2006/main">
            <a:r>
              <a:t>3. A template: a template-template parameter accepts another suitable template.</a:t>
            </a:r>
          </a:p>
          <a:p xmlns:a="http://schemas.openxmlformats.org/drawingml/2006/main">
            <a:r>
              <a:t/>
            </a:r>
          </a:p>
          <a:p xmlns:a="http://schemas.openxmlformats.org/drawingml/2006/main">
            <a:r>
              <a:t>Since C++20, floating-point types are also permitted for value parameters; for example, template&lt;double Scale&gt; and a use Scaled&lt;0.5&gt;. The list on this slide gives representative cases rather than every permitted value-parameter type.</a:t>
            </a:r>
          </a:p>
          <a:p xmlns:a="http://schemas.openxmlformats.org/drawingml/2006/main">
            <a:r>
              <a:t/>
            </a:r>
          </a:p>
          <a:p xmlns:a="http://schemas.openxmlformats.org/drawingml/2006/main">
            <a:r>
              <a:t>DEDUCTION</a:t>
            </a:r>
          </a:p>
          <a:p xmlns:a="http://schemas.openxmlformats.org/drawingml/2006/main">
            <a:r>
              <a:t>The call add(2, 3) can deduce T as int, so explicit &lt;int&gt; is unnecessary. For add(2, 3.5), these parameter declarations try to deduce T as both int and double, which conflicts. add&lt;double&gt;(2, 3.5) chooses double explicitly and then converts 2 to that parameter type.</a:t>
            </a:r>
          </a:p>
          <a:p xmlns:a="http://schemas.openxmlformats.org/drawingml/2006/main">
            <a:r>
              <a:t/>
            </a:r>
          </a:p>
          <a:p xmlns:a="http://schemas.openxmlformats.org/drawingml/2006/main">
            <a:r>
              <a:t>Ask students to distinguish the template argument &lt;double&gt; from the ordinary function arguments (2, 3.5). Both kinds of arguments appear in the same call but serve different roles.</a:t>
            </a:r>
          </a:p>
          <a:p xmlns:a="http://schemas.openxmlformats.org/drawingml/2006/main">
            <a:r>
              <a:t/>
            </a:r>
          </a:p>
          <a:p xmlns:a="http://schemas.openxmlformats.org/drawingml/2006/main">
            <a:r>
              <a:t>References</a:t>
            </a:r>
          </a:p>
          <a:p xmlns:a="http://schemas.openxmlformats.org/drawingml/2006/main">
            <a:r>
              <a:t>https://eel.is/c++draft/temp.param</a:t>
            </a:r>
          </a:p>
          <a:p xmlns:a="http://schemas.openxmlformats.org/drawingml/2006/main">
            <a:r>
              <a:t>https://eel.is/c++draft/temp.inst</a:t>
            </a:r>
          </a:p>
          <a:p xmlns:a="http://schemas.openxmlformats.org/drawingml/2006/main">
            <a:r>
              <a:t>https://eel.is/c++draft/temp.arg.explicit</a:t>
            </a:r>
          </a:p>
          <a:p xmlns:a="http://schemas.openxmlformats.org/drawingml/2006/main">
            <a:r>
              <a:t>https://eel.is/c++draft/temp.deduct.call</a:t>
            </a:r>
          </a:p>
          <a:p xmlns:a="http://schemas.openxmlformats.org/drawingml/2006/main">
            <a:r>
              <a:t>https://gcc.gnu.org/projects/cxx-status.html</a:t>
            </a:r>
          </a:p>
          <a:p xmlns:a="http://schemas.openxmlformats.org/drawingml/2006/main">
            <a:r>
              <a:t>https://www.open-std.org/jtc1/sc22/wg21/docs/papers/2019/p1907r1.html</a:t>
            </a:r>
          </a:p>
          <a:p xmlns:a="http://schemas.openxmlformats.org/drawingml/2006/main">
            <a:r>
              <a:t>https://gcc.gnu.org/onlinedocs/gcc-13.3.0/gcc/Optimize-Options.html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SUBSTITUTION</a:t>
            </a:r>
          </a:p>
          <a:p xmlns:a="http://schemas.openxmlformats.org/drawingml/2006/main">
            <a:r>
              <a:t>Read vector&lt;int&gt; by substituting int for every occurrence of T in this class definition:</a:t>
            </a:r>
          </a:p>
          <a:p xmlns:a="http://schemas.openxmlformats.org/drawingml/2006/main">
            <a:r>
              <a:t>  T* data;       becomes int* data;</a:t>
            </a:r>
          </a:p>
          <a:p xmlns:a="http://schemas.openxmlformats.org/drawingml/2006/main">
            <a:r>
              <a:t>  int size;      remains int size;</a:t>
            </a:r>
          </a:p>
          <a:p xmlns:a="http://schemas.openxmlformats.org/drawingml/2006/main">
            <a:r>
              <a:t>  int capacity;  remains int capacity.</a:t>
            </a:r>
          </a:p>
          <a:p xmlns:a="http://schemas.openxmlformats.org/drawingml/2006/main">
            <a:r>
              <a:t/>
            </a:r>
          </a:p>
          <a:p xmlns:a="http://schemas.openxmlformats.org/drawingml/2006/main">
            <a:r>
              <a:t>For vector&lt;double&gt;, data has type double*. size and capacity still have type int. The type argument changes occurrences of T; it does not change every type written in the class.</a:t>
            </a:r>
          </a:p>
          <a:p xmlns:a="http://schemas.openxmlformats.org/drawingml/2006/main">
            <a:r>
              <a:t/>
            </a:r>
          </a:p>
          <a:p xmlns:a="http://schemas.openxmlformats.org/drawingml/2006/main">
            <a:r>
              <a:t>vector&lt;int&gt; and vector&lt;double&gt; are different class types. A variable of one type does not automatically become a variable of the other type. The compiler checks each specialization using its substituted member types.</a:t>
            </a:r>
          </a:p>
          <a:p xmlns:a="http://schemas.openxmlformats.org/drawingml/2006/main">
            <a:r>
              <a:t/>
            </a:r>
          </a:p>
          <a:p xmlns:a="http://schemas.openxmlformats.org/drawingml/2006/main">
            <a:r>
              <a:t>READING THE SKELETON</a:t>
            </a:r>
          </a:p>
          <a:p xmlns:a="http://schemas.openxmlformats.org/drawingml/2006/main">
            <a:r>
              <a:t>The members before public: are private because this is a class. The comment marks omitted member declarations. This is a small teaching skeleton named vector, not the implementation of std::vector. It has no allocation, resizing, copying, or destruction logic yet. A pointer member alone does not create a dynamic array.</a:t>
            </a:r>
          </a:p>
          <a:p xmlns:a="http://schemas.openxmlformats.org/drawingml/2006/main">
            <a:r>
              <a:t/>
            </a:r>
          </a:p>
          <a:p xmlns:a="http://schemas.openxmlformats.org/drawingml/2006/main">
            <a:r>
              <a:t>Ask students:</a:t>
            </a:r>
          </a:p>
          <a:p xmlns:a="http://schemas.openxmlformats.org/drawingml/2006/main">
            <a:r>
              <a:t>1. What is the type of data in vector&lt;char&gt;? Answer: char*.</a:t>
            </a:r>
          </a:p>
          <a:p xmlns:a="http://schemas.openxmlformats.org/drawingml/2006/main">
            <a:r>
              <a:t>2. Does capacity become char? Answer: no; its declaration explicitly says int.</a:t>
            </a:r>
          </a:p>
          <a:p xmlns:a="http://schemas.openxmlformats.org/drawingml/2006/main">
            <a:r>
              <a:t>3. What happens if T itself is a pointer type, such as int*? Answer: the declaration T* makes data an int**.</a:t>
            </a:r>
          </a:p>
          <a:p xmlns:a="http://schemas.openxmlformats.org/drawingml/2006/main">
            <a:r>
              <a:t/>
            </a:r>
          </a:p>
          <a:p xmlns:a="http://schemas.openxmlformats.org/drawingml/2006/main">
            <a:r>
              <a:t>The purpose is to follow substitution precisely before adding behavior to the class.</a:t>
            </a:r>
          </a:p>
          <a:p xmlns:a="http://schemas.openxmlformats.org/drawingml/2006/main">
            <a:r>
              <a:t/>
            </a:r>
          </a:p>
          <a:p xmlns:a="http://schemas.openxmlformats.org/drawingml/2006/main">
            <a:r>
              <a:t>References</a:t>
            </a:r>
          </a:p>
          <a:p xmlns:a="http://schemas.openxmlformats.org/drawingml/2006/main">
            <a:r>
              <a:t>https://eel.is/c++draft/temp.names</a:t>
            </a:r>
          </a:p>
          <a:p xmlns:a="http://schemas.openxmlformats.org/drawingml/2006/main">
            <a:r>
              <a:t>https://eel.is/c++draft/temp.inst</a:t>
            </a:r>
          </a:p>
          <a:p xmlns:a="http://schemas.openxmlformats.org/drawingml/2006/main">
            <a:r>
              <a:t>https://eel.is/c++draft/temp.param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DEFAULT ARGUMENT</a:t>
            </a:r>
          </a:p>
          <a:p xmlns:a="http://schemas.openxmlformats.org/drawingml/2006/main">
            <a:r>
              <a:t>Consider:</a:t>
            </a:r>
          </a:p>
          <a:p xmlns:a="http://schemas.openxmlformats.org/drawingml/2006/main">
            <a:r>
              <a:t>  vector&lt;int&gt; numbers;</a:t>
            </a:r>
          </a:p>
          <a:p xmlns:a="http://schemas.openxmlformats.org/drawingml/2006/main">
            <a:r>
              <a:t/>
            </a:r>
          </a:p>
          <a:p xmlns:a="http://schemas.openxmlformats.org/drawingml/2006/main">
            <a:r>
              <a:t>1. The first explicit argument makes T equal to int.</a:t>
            </a:r>
          </a:p>
          <a:p xmlns:a="http://schemas.openxmlformats.org/drawingml/2006/main">
            <a:r>
              <a:t>2. No second argument is written.</a:t>
            </a:r>
          </a:p>
          <a:p xmlns:a="http://schemas.openxmlformats.org/drawingml/2006/main">
            <a:r>
              <a:t>3. Substitute T = int into the default std::allocator&lt;T&gt;.</a:t>
            </a:r>
          </a:p>
          <a:p xmlns:a="http://schemas.openxmlformats.org/drawingml/2006/main">
            <a:r>
              <a:t>4. Alloc therefore becomes std::allocator&lt;int&gt;.</a:t>
            </a:r>
          </a:p>
          <a:p xmlns:a="http://schemas.openxmlformats.org/drawingml/2006/main">
            <a:r>
              <a:t/>
            </a:r>
          </a:p>
          <a:p xmlns:a="http://schemas.openxmlformats.org/drawingml/2006/main">
            <a:r>
              <a:t>vector&lt;int&gt; and vector&lt;int, std::allocator&lt;int&gt;&gt; name the same specialization. For vector&lt;double&gt;, the default is std::allocator&lt;double&gt;.</a:t>
            </a:r>
          </a:p>
          <a:p xmlns:a="http://schemas.openxmlformats.org/drawingml/2006/main">
            <a:r>
              <a:t/>
            </a:r>
          </a:p>
          <a:p xmlns:a="http://schemas.openxmlformats.org/drawingml/2006/main">
            <a:r>
              <a:t>The default is a type expression that depends on the earlier parameter T. It is not one fixed allocator type shared by every possible element type.</a:t>
            </a:r>
          </a:p>
          <a:p xmlns:a="http://schemas.openxmlformats.org/drawingml/2006/main">
            <a:r>
              <a:t/>
            </a:r>
          </a:p>
          <a:p xmlns:a="http://schemas.openxmlformats.org/drawingml/2006/main">
            <a:r>
              <a:t>OVERRIDING THE DEFAULT</a:t>
            </a:r>
          </a:p>
          <a:p xmlns:a="http://schemas.openxmlformats.org/drawingml/2006/main">
            <a:r>
              <a:t>A caller may supply a second argument explicitly:</a:t>
            </a:r>
          </a:p>
          <a:p xmlns:a="http://schemas.openxmlformats.org/drawingml/2006/main">
            <a:r>
              <a:t>  vector&lt;int, MyAllocator&lt;int&gt;&gt; numbers;</a:t>
            </a:r>
          </a:p>
          <a:p xmlns:a="http://schemas.openxmlformats.org/drawingml/2006/main">
            <a:r>
              <a:t>This is meaningful only if the omitted implementation can use that allocator as required. The slide illustrates the type-parameter declaration; it does not implement allocator behavior.</a:t>
            </a:r>
          </a:p>
          <a:p xmlns:a="http://schemas.openxmlformats.org/drawingml/2006/main">
            <a:r>
              <a:t/>
            </a:r>
          </a:p>
          <a:p xmlns:a="http://schemas.openxmlformats.org/drawingml/2006/main">
            <a:r>
              <a:t>The standard allocator declaration is available through &lt;memory&gt;. Declaring Alloc does not itself allocate storage. A complete container must use the allocator in its implementation, maintain its size/capacity invariants, and release resources correctly.</a:t>
            </a:r>
          </a:p>
          <a:p xmlns:a="http://schemas.openxmlformats.org/drawingml/2006/main">
            <a:r>
              <a:t/>
            </a:r>
          </a:p>
          <a:p xmlns:a="http://schemas.openxmlformats.org/drawingml/2006/main">
            <a:r>
              <a:t>Ask students to expand vector&lt;char&gt; into its complete template argument list, then identify the type of data. The answers are vector&lt;char, std::allocator&lt;char&gt;&gt; and char*.</a:t>
            </a:r>
          </a:p>
          <a:p xmlns:a="http://schemas.openxmlformats.org/drawingml/2006/main">
            <a:r>
              <a:t/>
            </a:r>
          </a:p>
          <a:p xmlns:a="http://schemas.openxmlformats.org/drawingml/2006/main">
            <a:r>
              <a:t>References</a:t>
            </a:r>
          </a:p>
          <a:p xmlns:a="http://schemas.openxmlformats.org/drawingml/2006/main">
            <a:r>
              <a:t>https://eel.is/c++draft/temp.param</a:t>
            </a:r>
          </a:p>
          <a:p xmlns:a="http://schemas.openxmlformats.org/drawingml/2006/main">
            <a:r>
              <a:t>https://eel.is/c++draft/vector.syn</a:t>
            </a:r>
          </a:p>
          <a:p xmlns:a="http://schemas.openxmlformats.org/drawingml/2006/main">
            <a:r>
              <a:t>https://eel.is/c++draft/vector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CALL WITH INTEGERS</a:t>
            </a:r>
          </a:p>
          <a:p xmlns:a="http://schemas.openxmlformats.org/drawingml/2006/main">
            <a:r>
              <a:t>For max(3, 7):</a:t>
            </a:r>
          </a:p>
          <a:p xmlns:a="http://schemas.openxmlformats.org/drawingml/2006/main">
            <a:r>
              <a:t>1. Both arguments have type int, so T is deduced as int.</a:t>
            </a:r>
          </a:p>
          <a:p xmlns:a="http://schemas.openxmlformats.org/drawingml/2006/main">
            <a:r>
              <a:t>2. The local parameters a and b receive the values 3 and 7.</a:t>
            </a:r>
          </a:p>
          <a:p xmlns:a="http://schemas.openxmlformats.org/drawingml/2006/main">
            <a:r>
              <a:t>3. Evaluate a &gt; b: 3 &gt; 7 is false.</a:t>
            </a:r>
          </a:p>
          <a:p xmlns:a="http://schemas.openxmlformats.org/drawingml/2006/main">
            <a:r>
              <a:t>4. Return b, giving the value 7.</a:t>
            </a:r>
          </a:p>
          <a:p xmlns:a="http://schemas.openxmlformats.org/drawingml/2006/main">
            <a:r>
              <a:t/>
            </a:r>
          </a:p>
          <a:p xmlns:a="http://schemas.openxmlformats.org/drawingml/2006/main">
            <a:r>
              <a:t>For equal inputs, the condition is false, so this version selects b. The result value is still a maximum, but this tie behavior matters in the reference-returning version later.</a:t>
            </a:r>
          </a:p>
          <a:p xmlns:a="http://schemas.openxmlformats.org/drawingml/2006/main">
            <a:r>
              <a:t/>
            </a:r>
          </a:p>
          <a:p xmlns:a="http://schemas.openxmlformats.org/drawingml/2006/main">
            <a:r>
              <a:t>WHY PARAMETER PASSING MATTERS</a:t>
            </a:r>
          </a:p>
          <a:p xmlns:a="http://schemas.openxmlformats.org/drawingml/2006/main">
            <a:r>
              <a:t>The parameters are separate values. Passing existing class objects by value can invoke their copy constructors; passing other expressions may involve moves or direct construction. Do not describe every call as having an identical fixed number of copies.</a:t>
            </a:r>
          </a:p>
          <a:p xmlns:a="http://schemas.openxmlformats.org/drawingml/2006/main">
            <a:r>
              <a:t/>
            </a:r>
          </a:p>
          <a:p xmlns:a="http://schemas.openxmlformats.org/drawingml/2006/main">
            <a:r>
              <a:t>VECTOR EXAMPLE</a:t>
            </a:r>
          </a:p>
          <a:p xmlns:a="http://schemas.openxmlformats.org/drawingml/2006/main">
            <a:r>
              <a:t>Let:</a:t>
            </a:r>
          </a:p>
          <a:p xmlns:a="http://schemas.openxmlformats.org/drawingml/2006/main">
            <a:r>
              <a:t>  std::vector&lt;int&gt; a{1, 9};</a:t>
            </a:r>
          </a:p>
          <a:p xmlns:a="http://schemas.openxmlformats.org/drawingml/2006/main">
            <a:r>
              <a:t>  std::vector&lt;int&gt; b{2, 0};</a:t>
            </a:r>
          </a:p>
          <a:p xmlns:a="http://schemas.openxmlformats.org/drawingml/2006/main">
            <a:r>
              <a:t/>
            </a:r>
          </a:p>
          <a:p xmlns:a="http://schemas.openxmlformats.org/drawingml/2006/main">
            <a:r>
              <a:t>The comparison is lexicographic: compare corresponding elements from the beginning. The first pair is 1 and 2, so a is smaller than b immediately; 9 and 0 do not change that result. This version returns a vector with contents {2, 0}. The ordering is not by the sum of the elements.</a:t>
            </a:r>
          </a:p>
          <a:p xmlns:a="http://schemas.openxmlformats.org/drawingml/2006/main">
            <a:r>
              <a:t/>
            </a:r>
          </a:p>
          <a:p xmlns:a="http://schemas.openxmlformats.org/drawingml/2006/main">
            <a:r>
              <a:t>For standard vectors, the required element comparisons must be valid. An arbitrary class type does not automatically gain a meaningful &gt; operation merely by being used as T.</a:t>
            </a:r>
          </a:p>
          <a:p xmlns:a="http://schemas.openxmlformats.org/drawingml/2006/main">
            <a:r>
              <a:t/>
            </a:r>
          </a:p>
          <a:p xmlns:a="http://schemas.openxmlformats.org/drawingml/2006/main">
            <a:r>
              <a:t>RELATION TO THE NEXT SLIDES</a:t>
            </a:r>
          </a:p>
          <a:p xmlns:a="http://schemas.openxmlformats.org/drawingml/2006/main">
            <a:r>
              <a:t>Treat the three max definitions as alternative versions. They are not three definitions to paste into one scope as an overload set. When testing a global max with standard-library argument types, writing ::max(a, b) explicitly selects this global name and avoids confusion with std::max found through argument-dependent lookup.</a:t>
            </a:r>
          </a:p>
          <a:p xmlns:a="http://schemas.openxmlformats.org/drawingml/2006/main">
            <a:r>
              <a:t/>
            </a:r>
          </a:p>
          <a:p xmlns:a="http://schemas.openxmlformats.org/drawingml/2006/main">
            <a:r>
              <a:t>This version is simple and appropriate for inexpensive values. The next version avoids copying existing inputs into value parameters.</a:t>
            </a:r>
          </a:p>
          <a:p xmlns:a="http://schemas.openxmlformats.org/drawingml/2006/main">
            <a:r>
              <a:t/>
            </a:r>
          </a:p>
          <a:p xmlns:a="http://schemas.openxmlformats.org/drawingml/2006/main">
            <a:r>
              <a:t>References</a:t>
            </a:r>
          </a:p>
          <a:p xmlns:a="http://schemas.openxmlformats.org/drawingml/2006/main">
            <a:r>
              <a:t>https://eel.is/c++draft/temp.deduct.call</a:t>
            </a:r>
          </a:p>
          <a:p xmlns:a="http://schemas.openxmlformats.org/drawingml/2006/main">
            <a:r>
              <a:t>https://eel.is/c++draft/expr.call</a:t>
            </a:r>
          </a:p>
          <a:p xmlns:a="http://schemas.openxmlformats.org/drawingml/2006/main">
            <a:r>
              <a:t>https://eel.is/c++draft/stmt.return</a:t>
            </a:r>
          </a:p>
          <a:p xmlns:a="http://schemas.openxmlformats.org/drawingml/2006/main">
            <a:r>
              <a:t>https://eel.is/c++draft/class.copy.elision</a:t>
            </a:r>
          </a:p>
          <a:p xmlns:a="http://schemas.openxmlformats.org/drawingml/2006/main">
            <a:r>
              <a:t>https://eel.is/c++draft/vector.syn</a:t>
            </a:r>
          </a:p>
          <a:p xmlns:a="http://schemas.openxmlformats.org/drawingml/2006/main">
            <a:r>
              <a:t>https://eel.is/c++draft/container.opt.reqmts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CHANGED?</a:t>
            </a:r>
          </a:p>
          <a:p xmlns:a="http://schemas.openxmlformats.org/drawingml/2006/main">
            <a:r>
              <a:t>The two parameter declarations now contain const&amp;. For existing objects of the deduced type, a and b bind to the caller's objects instead of constructing separate parameter objects. The function cannot modify those objects through these const references.</a:t>
            </a:r>
          </a:p>
          <a:p xmlns:a="http://schemas.openxmlformats.org/drawingml/2006/main">
            <a:r>
              <a:t/>
            </a:r>
          </a:p>
          <a:p xmlns:a="http://schemas.openxmlformats.org/drawingml/2006/main">
            <a:r>
              <a:t>The return type is still T. Returning a or b therefore initializes a separate result value. For a standard vector returned from one of these const lvalue inputs, that means copying the selected vector into the result. Binding the input references did not change the result's ownership.</a:t>
            </a:r>
          </a:p>
          <a:p xmlns:a="http://schemas.openxmlformats.org/drawingml/2006/main">
            <a:r>
              <a:t/>
            </a:r>
          </a:p>
          <a:p xmlns:a="http://schemas.openxmlformats.org/drawingml/2006/main">
            <a:r>
              <a:t>WORKED VECTOR EXAMPLE</a:t>
            </a:r>
          </a:p>
          <a:p xmlns:a="http://schemas.openxmlformats.org/drawingml/2006/main">
            <a:r>
              <a:t>  std::vector&lt;int&gt; a{1, 9};</a:t>
            </a:r>
          </a:p>
          <a:p xmlns:a="http://schemas.openxmlformats.org/drawingml/2006/main">
            <a:r>
              <a:t>  std::vector&lt;int&gt; b{2, 0};</a:t>
            </a:r>
          </a:p>
          <a:p xmlns:a="http://schemas.openxmlformats.org/drawingml/2006/main">
            <a:r>
              <a:t>  auto result = ::max(a, b);</a:t>
            </a:r>
          </a:p>
          <a:p xmlns:a="http://schemas.openxmlformats.org/drawingml/2006/main">
            <a:r>
              <a:t/>
            </a:r>
          </a:p>
          <a:p xmlns:a="http://schemas.openxmlformats.org/drawingml/2006/main">
            <a:r>
              <a:t>1. Deduce T as std::vector&lt;int&gt;.</a:t>
            </a:r>
          </a:p>
          <a:p xmlns:a="http://schemas.openxmlformats.org/drawingml/2006/main">
            <a:r>
              <a:t>2. Bind the parameter references directly to a and b.</a:t>
            </a:r>
          </a:p>
          <a:p xmlns:a="http://schemas.openxmlformats.org/drawingml/2006/main">
            <a:r>
              <a:t>3. The lexicographic test a &gt; b is false.</a:t>
            </a:r>
          </a:p>
          <a:p xmlns:a="http://schemas.openxmlformats.org/drawingml/2006/main">
            <a:r>
              <a:t>4. return b initializes result as a separate vector containing {2, 0}.</a:t>
            </a:r>
          </a:p>
          <a:p xmlns:a="http://schemas.openxmlformats.org/drawingml/2006/main">
            <a:r>
              <a:t>5. If the caller later changes b[1] to 8, result still contains {2, 0}.</a:t>
            </a:r>
          </a:p>
          <a:p xmlns:a="http://schemas.openxmlformats.org/drawingml/2006/main">
            <a:r>
              <a:t/>
            </a:r>
          </a:p>
          <a:p xmlns:a="http://schemas.openxmlformats.org/drawingml/2006/main">
            <a:r>
              <a:t>This makes the result independent of the input objects. The result remains usable even after the inputs are destroyed. That ownership benefit is part of the tradeoff; reducing copies is not the only design goal.</a:t>
            </a:r>
          </a:p>
          <a:p xmlns:a="http://schemas.openxmlformats.org/drawingml/2006/main">
            <a:r>
              <a:t/>
            </a:r>
          </a:p>
          <a:p xmlns:a="http://schemas.openxmlformats.org/drawingml/2006/main">
            <a:r>
              <a:t>The unchanged T return type is the key to reading this slide. Ask students to identify which part of the function signature must change if the result should instead refer to an existing input.</a:t>
            </a:r>
          </a:p>
          <a:p xmlns:a="http://schemas.openxmlformats.org/drawingml/2006/main">
            <a:r>
              <a:t/>
            </a:r>
          </a:p>
          <a:p xmlns:a="http://schemas.openxmlformats.org/drawingml/2006/main">
            <a:r>
              <a:t>References</a:t>
            </a:r>
          </a:p>
          <a:p xmlns:a="http://schemas.openxmlformats.org/drawingml/2006/main">
            <a:r>
              <a:t>https://eel.is/c++draft/dcl.init.ref</a:t>
            </a:r>
          </a:p>
          <a:p xmlns:a="http://schemas.openxmlformats.org/drawingml/2006/main">
            <a:r>
              <a:t>https://eel.is/c++draft/stmt.return</a:t>
            </a:r>
          </a:p>
          <a:p xmlns:a="http://schemas.openxmlformats.org/drawingml/2006/main">
            <a:r>
              <a:t>https://eel.is/c++draft/container.reqmts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THE SIGNATURE</a:t>
            </a:r>
          </a:p>
          <a:p xmlns:a="http://schemas.openxmlformats.org/drawingml/2006/main">
            <a:r>
              <a:t>Both parameters and the result have type T const&amp;. The function chooses one of the existing argument objects and returns a reference to it. It does not create a separate result object.</a:t>
            </a:r>
          </a:p>
          <a:p xmlns:a="http://schemas.openxmlformats.org/drawingml/2006/main">
            <a:r>
              <a:t/>
            </a:r>
          </a:p>
          <a:p xmlns:a="http://schemas.openxmlformats.org/drawingml/2006/main">
            <a:r>
              <a:t>WORKED ALIASING EXAMPLE</a:t>
            </a:r>
          </a:p>
          <a:p xmlns:a="http://schemas.openxmlformats.org/drawingml/2006/main">
            <a:r>
              <a:t>  int a = 3;</a:t>
            </a:r>
          </a:p>
          <a:p xmlns:a="http://schemas.openxmlformats.org/drawingml/2006/main">
            <a:r>
              <a:t>  int b = 7;</a:t>
            </a:r>
          </a:p>
          <a:p xmlns:a="http://schemas.openxmlformats.org/drawingml/2006/main">
            <a:r>
              <a:t>  int const&amp; result = ::max(a, b);</a:t>
            </a:r>
          </a:p>
          <a:p xmlns:a="http://schemas.openxmlformats.org/drawingml/2006/main">
            <a:r>
              <a:t/>
            </a:r>
          </a:p>
          <a:p xmlns:a="http://schemas.openxmlformats.org/drawingml/2006/main">
            <a:r>
              <a:t>1. T is int.</a:t>
            </a:r>
          </a:p>
          <a:p xmlns:a="http://schemas.openxmlformats.org/drawingml/2006/main">
            <a:r>
              <a:t>2. The parameter references bind to a and b.</a:t>
            </a:r>
          </a:p>
          <a:p xmlns:a="http://schemas.openxmlformats.org/drawingml/2006/main">
            <a:r>
              <a:t>3. 3 &gt; 7 is false, so return b returns a reference to the caller's b.</a:t>
            </a:r>
          </a:p>
          <a:p xmlns:a="http://schemas.openxmlformats.org/drawingml/2006/main">
            <a:r>
              <a:t>4. result is another way to access b. Its value is initially 7.</a:t>
            </a:r>
          </a:p>
          <a:p xmlns:a="http://schemas.openxmlformats.org/drawingml/2006/main">
            <a:r>
              <a:t>5. If b is later assigned 9, reading result gives 9.</a:t>
            </a:r>
          </a:p>
          <a:p xmlns:a="http://schemas.openxmlformats.org/drawingml/2006/main">
            <a:r>
              <a:t/>
            </a:r>
          </a:p>
          <a:p xmlns:a="http://schemas.openxmlformats.org/drawingml/2006/main">
            <a:r>
              <a:t>const prevents assignment through result; it does not freeze b against changes through other names.</a:t>
            </a:r>
          </a:p>
          <a:p xmlns:a="http://schemas.openxmlformats.org/drawingml/2006/main">
            <a:r>
              <a:t/>
            </a:r>
          </a:p>
          <a:p xmlns:a="http://schemas.openxmlformats.org/drawingml/2006/main">
            <a:r>
              <a:t>THE CALLER CAN STILL COPY</a:t>
            </a:r>
          </a:p>
          <a:p xmlns:a="http://schemas.openxmlformats.org/drawingml/2006/main">
            <a:r>
              <a:t>  auto result = ::max(a, b);</a:t>
            </a:r>
          </a:p>
          <a:p xmlns:a="http://schemas.openxmlformats.org/drawingml/2006/main">
            <a:r>
              <a:t>declares a value, not a reference. It copies the selected value into result. To preserve reference semantics, use auto const&amp; result = ::max(a, b). With a vector, this distinction decides whether the caller obtains an independent vector or an alias.</a:t>
            </a:r>
          </a:p>
          <a:p xmlns:a="http://schemas.openxmlformats.org/drawingml/2006/main">
            <a:r>
              <a:t/>
            </a:r>
          </a:p>
          <a:p xmlns:a="http://schemas.openxmlformats.org/drawingml/2006/main">
            <a:r>
              <a:t>LIFETIME PITFALL</a:t>
            </a:r>
          </a:p>
          <a:p xmlns:a="http://schemas.openxmlformats.org/drawingml/2006/main">
            <a:r>
              <a:t>  int const&amp; bad = ::max(3, 7);</a:t>
            </a:r>
          </a:p>
          <a:p xmlns:a="http://schemas.openxmlformats.org/drawingml/2006/main">
            <a:r>
              <a:t/>
            </a:r>
          </a:p>
          <a:p xmlns:a="http://schemas.openxmlformats.org/drawingml/2006/main">
            <a:r>
              <a:t>The two literal arguments create temporary int objects for the reference parameters. Those temporaries survive through the containing full-expression, but are gone after the semicolon. bad then dangles; reading through it is invalid. Returning a reference does not extend their lifetimes again.</a:t>
            </a:r>
          </a:p>
          <a:p xmlns:a="http://schemas.openxmlformats.org/drawingml/2006/main">
            <a:r>
              <a:t/>
            </a:r>
          </a:p>
          <a:p xmlns:a="http://schemas.openxmlformats.org/drawingml/2006/main">
            <a:r>
              <a:t>A value capture such as int good = ::max(3, 7); copies the selected value before the temporaries are destroyed, so good remains valid.</a:t>
            </a:r>
          </a:p>
          <a:p xmlns:a="http://schemas.openxmlformats.org/drawingml/2006/main">
            <a:r>
              <a:t/>
            </a:r>
          </a:p>
          <a:p xmlns:a="http://schemas.openxmlformats.org/drawingml/2006/main">
            <a:r>
              <a:t>If the inputs compare equal, this implementation returns the second argument. That is a consequence of its strict &gt; test and final return b.</a:t>
            </a:r>
          </a:p>
          <a:p xmlns:a="http://schemas.openxmlformats.org/drawingml/2006/main">
            <a:r>
              <a:t/>
            </a:r>
          </a:p>
          <a:p xmlns:a="http://schemas.openxmlformats.org/drawingml/2006/main">
            <a:r>
              <a:t>The design tradeoff is explicit: a reference result can avoid copying but depends on the lifetime and later state of the selected input. A value result provides an independent object.</a:t>
            </a:r>
          </a:p>
          <a:p xmlns:a="http://schemas.openxmlformats.org/drawingml/2006/main">
            <a:r>
              <a:t/>
            </a:r>
          </a:p>
          <a:p xmlns:a="http://schemas.openxmlformats.org/drawingml/2006/main">
            <a:r>
              <a:t>References</a:t>
            </a:r>
          </a:p>
          <a:p xmlns:a="http://schemas.openxmlformats.org/drawingml/2006/main">
            <a:r>
              <a:t>https://eel.is/c++draft/dcl.init.ref</a:t>
            </a:r>
          </a:p>
          <a:p xmlns:a="http://schemas.openxmlformats.org/drawingml/2006/main">
            <a:r>
              <a:t>https://eel.is/c++draft/stmt.return</a:t>
            </a:r>
          </a:p>
          <a:p xmlns:a="http://schemas.openxmlformats.org/drawingml/2006/main">
            <a:r>
              <a:t>https://eel.is/c++draft/class.temporary</a:t>
            </a:r>
          </a:p>
          <a:p xmlns:a="http://schemas.openxmlformats.org/drawingml/2006/main">
            <a:r>
              <a:t>https://eel.is/c++draft/dcl.spec.auto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MEANINGS FOR TWO ARGUMENTS</a:t>
            </a:r>
          </a:p>
          <a:p xmlns:a="http://schemas.openxmlformats.org/drawingml/2006/main">
            <a:r>
              <a:t>This is a simplified custom vector class used to study overload resolution. It is not a complete implementation of std::vector. The comments stand for omitted members and definitions. Use &lt;cstddef&gt; for std::size_t.</a:t>
            </a:r>
          </a:p>
          <a:p xmlns:a="http://schemas.openxmlformats.org/drawingml/2006/main">
            <a:r>
              <a:t/>
            </a:r>
          </a:p>
          <a:p xmlns:a="http://schemas.openxmlformats.org/drawingml/2006/main">
            <a:r>
              <a:t>The range constructor is intended to copy values from [first, last). first identifies the first value; last identifies the end and is not itself copied. The fill constructor is intended to create size copies of value.</a:t>
            </a:r>
          </a:p>
          <a:p xmlns:a="http://schemas.openxmlformats.org/drawingml/2006/main">
            <a:r>
              <a:t/>
            </a:r>
          </a:p>
          <a:p xmlns:a="http://schemas.openxmlformats.org/drawingml/2006/main">
            <a:r>
              <a:t>For example, an array a = {2, 4, 6} can supply a range with a and a + 3. A fill call with count 3 and value 7 is intended to create {7, 7, 7}. Both calls use two arguments, but they mean different things.</a:t>
            </a:r>
          </a:p>
          <a:p xmlns:a="http://schemas.openxmlformats.org/drawingml/2006/main">
            <a:r>
              <a:t/>
            </a:r>
          </a:p>
          <a:p xmlns:a="http://schemas.openxmlformats.org/drawingml/2006/main">
            <a:r>
              <a:t>Separate the two template parameters. T is the vector's element type. Iter is the constructor template's proposed iterator type. Nothing in the unconstrained declaration yet requires Iter to be an iterator.</a:t>
            </a:r>
          </a:p>
          <a:p xmlns:a="http://schemas.openxmlformats.org/drawingml/2006/main">
            <a:r>
              <a:t/>
            </a:r>
          </a:p>
          <a:p xmlns:a="http://schemas.openxmlformats.org/drawingml/2006/main">
            <a:r>
              <a:t>Ask students to consider vector&lt;std::size_t&gt; v(3, 7). The element type T is std::size_t, but the two literals have type int. What does the range constructor deduce for Iter? Can that deduction compete with the fill constructor? Keep the answer for the next slide.</a:t>
            </a:r>
          </a:p>
          <a:p xmlns:a="http://schemas.openxmlformats.org/drawingml/2006/main">
            <a:r>
              <a:t/>
            </a:r>
          </a:p>
          <a:p xmlns:a="http://schemas.openxmlformats.org/drawingml/2006/main">
            <a:r>
              <a:t>These are declarations, not executable constructor definitions. When tracing overload selection, assume both definitions exist. In a real container, the bodies must also implement storage and element construction.</a:t>
            </a:r>
          </a:p>
          <a:p xmlns:a="http://schemas.openxmlformats.org/drawingml/2006/main">
            <a:r>
              <a:t/>
            </a:r>
          </a:p>
          <a:p xmlns:a="http://schemas.openxmlformats.org/drawingml/2006/main">
            <a:r>
              <a:t>References</a:t>
            </a:r>
          </a:p>
          <a:p xmlns:a="http://schemas.openxmlformats.org/drawingml/2006/main">
            <a:r>
              <a:t>https://eel.is/c++draft/vector.cons</a:t>
            </a:r>
          </a:p>
          <a:p xmlns:a="http://schemas.openxmlformats.org/drawingml/2006/main">
            <a:r>
              <a:t>https://eel.is/c++draft/over.match.best.general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OVERLOAD SELECTION</a:t>
            </a:r>
          </a:p>
          <a:p xmlns:a="http://schemas.openxmlformats.org/drawingml/2006/main">
            <a:r>
              <a:t>For vector&lt;std::size_t&gt;, substitute std::size_t for T in the fill constructor. Its parameters become std::size_t and std::size_t const&amp;. The range constructor still has its own independent template parameter Iter.</a:t>
            </a:r>
          </a:p>
          <a:p xmlns:a="http://schemas.openxmlformats.org/drawingml/2006/main">
            <a:r>
              <a:t/>
            </a:r>
          </a:p>
          <a:p xmlns:a="http://schemas.openxmlformats.org/drawingml/2006/main">
            <a:r>
              <a:t>CASE 1: INT LITERALS</a:t>
            </a:r>
          </a:p>
          <a:p xmlns:a="http://schemas.openxmlformats.org/drawingml/2006/main">
            <a:r>
              <a:t>  vector&lt;std::size_t&gt; v(3, 7);</a:t>
            </a:r>
          </a:p>
          <a:p xmlns:a="http://schemas.openxmlformats.org/drawingml/2006/main">
            <a:r>
              <a:t>1. The literals 3 and 7 have type int.</a:t>
            </a:r>
          </a:p>
          <a:p xmlns:a="http://schemas.openxmlformats.org/drawingml/2006/main">
            <a:r>
              <a:t>2. The range constructor deduces Iter = int. Its two parameters are therefore int and int, which match the arguments exactly.</a:t>
            </a:r>
          </a:p>
          <a:p xmlns:a="http://schemas.openxmlformats.org/drawingml/2006/main">
            <a:r>
              <a:t>3. The fill constructor needs conversions from int to std::size_t.</a:t>
            </a:r>
          </a:p>
          <a:p xmlns:a="http://schemas.openxmlformats.org/drawingml/2006/main">
            <a:r>
              <a:t>4. The range candidate has better conversions, so it wins. Merely preferring a non-template in a tie cannot override better conversions.</a:t>
            </a:r>
          </a:p>
          <a:p xmlns:a="http://schemas.openxmlformats.org/drawingml/2006/main">
            <a:r>
              <a:t>5. This is an unintended selection: ordinary integers are not iterators. If the selected constructor body tries to dereference first, instantiating that body fails. Overload resolution does not backtrack and select fill after a body error.</a:t>
            </a:r>
          </a:p>
          <a:p xmlns:a="http://schemas.openxmlformats.org/drawingml/2006/main">
            <a:r>
              <a:t/>
            </a:r>
          </a:p>
          <a:p xmlns:a="http://schemas.openxmlformats.org/drawingml/2006/main">
            <a:r>
              <a:t>CASE 2: SIZE_T VARIABLES</a:t>
            </a:r>
          </a:p>
          <a:p xmlns:a="http://schemas.openxmlformats.org/drawingml/2006/main">
            <a:r>
              <a:t>  std::size_t n = 3, value = 7;</a:t>
            </a:r>
          </a:p>
          <a:p xmlns:a="http://schemas.openxmlformats.org/drawingml/2006/main">
            <a:r>
              <a:t>  vector&lt;std::size_t&gt; v(n, value);</a:t>
            </a:r>
          </a:p>
          <a:p xmlns:a="http://schemas.openxmlformats.org/drawingml/2006/main">
            <a:r>
              <a:t>Both candidates have exact-match-ranked conversions. The constructor that is not itself a function template wins the tie, so this call selects fill. The enclosing class being a template does not make every member a function template.</a:t>
            </a:r>
          </a:p>
          <a:p xmlns:a="http://schemas.openxmlformats.org/drawingml/2006/main">
            <a:r>
              <a:t/>
            </a:r>
          </a:p>
          <a:p xmlns:a="http://schemas.openxmlformats.org/drawingml/2006/main">
            <a:r>
              <a:t>The statement that T = std::size_t automatically causes ambiguity is incorrect. The argument expressions and their types determine the result.</a:t>
            </a:r>
          </a:p>
          <a:p xmlns:a="http://schemas.openxmlformats.org/drawingml/2006/main">
            <a:r>
              <a:t/>
            </a:r>
          </a:p>
          <a:p xmlns:a="http://schemas.openxmlformats.org/drawingml/2006/main">
            <a:r>
              <a:t>References</a:t>
            </a:r>
          </a:p>
          <a:p xmlns:a="http://schemas.openxmlformats.org/drawingml/2006/main">
            <a:r>
              <a:t>https://eel.is/c++draft/over.ics.rank</a:t>
            </a:r>
          </a:p>
          <a:p xmlns:a="http://schemas.openxmlformats.org/drawingml/2006/main">
            <a:r>
              <a:t>https://eel.is/c++draft/over.match.best.general</a:t>
            </a:r>
          </a:p>
          <a:p xmlns:a="http://schemas.openxmlformats.org/drawingml/2006/main">
            <a:r>
              <a:t>https://eel.is/c++draft/temp.deduct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OF THE CONSTRAINT</a:t>
            </a:r>
          </a:p>
          <a:p xmlns:a="http://schemas.openxmlformats.org/drawingml/2006/main">
            <a:r>
              <a:t>Keep the two intended uses: a pair of iterators should select the range constructor, and a count followed by an element value should select the fill constructor.</a:t>
            </a:r>
          </a:p>
          <a:p xmlns:a="http://schemas.openxmlformats.org/drawingml/2006/main">
            <a:r>
              <a:t/>
            </a:r>
          </a:p>
          <a:p xmlns:a="http://schemas.openxmlformats.org/drawingml/2006/main">
            <a:r>
              <a:t>For vector&lt;std::size_t&gt; v(3, 7), the unconstrained range template deduces Iter = int. We want to reject that proposed specialization before overload selection chooses it. The fill overload then remains available and the call can mean three copies of seven.</a:t>
            </a:r>
          </a:p>
          <a:p xmlns:a="http://schemas.openxmlformats.org/drawingml/2006/main">
            <a:r>
              <a:t/>
            </a:r>
          </a:p>
          <a:p xmlns:a="http://schemas.openxmlformats.org/drawingml/2006/main">
            <a:r>
              <a:t>For an actual pointer range:</a:t>
            </a:r>
          </a:p>
          <a:p xmlns:a="http://schemas.openxmlformats.org/drawingml/2006/main">
            <a:r>
              <a:t>  int a[] = {2, 4, 6};</a:t>
            </a:r>
          </a:p>
          <a:p xmlns:a="http://schemas.openxmlformats.org/drawingml/2006/main">
            <a:r>
              <a:t>  vector&lt;std::size_t&gt; v(a, a + 3);</a:t>
            </a:r>
          </a:p>
          <a:p xmlns:a="http://schemas.openxmlformats.org/drawingml/2006/main">
            <a:r>
              <a:t>Iter is int*. That type supports the operations needed to walk through the array, so the range constructor should remain available. The elements can be converted to std::size_t when constructing this vector's elements.</a:t>
            </a:r>
          </a:p>
          <a:p xmlns:a="http://schemas.openxmlformats.org/drawingml/2006/main">
            <a:r>
              <a:t/>
            </a:r>
          </a:p>
          <a:p xmlns:a="http://schemas.openxmlformats.org/drawingml/2006/main">
            <a:r>
              <a:t>A constraint describes the capabilities required of the argument type. The next slides first show a small expression-validity test and then the named C++20 input_iterator concept. The small test is a teaching illustration; it is not a complete specification of every operation and semantic requirement that a real range constructor needs.</a:t>
            </a:r>
          </a:p>
          <a:p xmlns:a="http://schemas.openxmlformats.org/drawingml/2006/main">
            <a:r>
              <a:t/>
            </a:r>
          </a:p>
          <a:p xmlns:a="http://schemas.openxmlformats.org/drawingml/2006/main">
            <a:r>
              <a:t>The words 'Consider T = std::size_t' are explanatory prose. C++ does not put 'where T = size_t' after this template header.</a:t>
            </a:r>
          </a:p>
          <a:p xmlns:a="http://schemas.openxmlformats.org/drawingml/2006/main">
            <a:r>
              <a:t/>
            </a:r>
          </a:p>
          <a:p xmlns:a="http://schemas.openxmlformats.org/drawingml/2006/main">
            <a:r>
              <a:t>References</a:t>
            </a:r>
          </a:p>
          <a:p xmlns:a="http://schemas.openxmlformats.org/drawingml/2006/main">
            <a:r>
              <a:t>https://eel.is/c++draft/temp.deduct</a:t>
            </a:r>
          </a:p>
          <a:p xmlns:a="http://schemas.openxmlformats.org/drawingml/2006/main">
            <a:r>
              <a:t>https://eel.is/c++draft/temp.constr.constr</a:t>
            </a:r>
          </a:p>
          <a:p xmlns:a="http://schemas.openxmlformats.org/drawingml/2006/main">
            <a:r>
              <a:t>https://eel.is/c++draft/iterator.concept.input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EXPRESSION AS A COMPILE-TIME CHECK</a:t>
            </a:r>
          </a:p>
          <a:p xmlns:a="http://schemas.openxmlformats.org/drawingml/2006/main">
            <a:r>
              <a:t>The expression asks whether two operations are well-formed for a hypothetical iterator variable: dereference it and pre-increment it. It does not actually read memory or advance an iterator.</a:t>
            </a:r>
          </a:p>
          <a:p xmlns:a="http://schemas.openxmlformats.org/drawingml/2006/main">
            <a:r>
              <a:t/>
            </a:r>
          </a:p>
          <a:p xmlns:a="http://schemas.openxmlformats.org/drawingml/2006/main">
            <a:r>
              <a:t>decltype examines an expression without evaluating it. Its rules also preserve reference information in appropriate cases. Here the resulting type is less important than whether the expression is valid at all.</a:t>
            </a:r>
          </a:p>
          <a:p xmlns:a="http://schemas.openxmlformats.org/drawingml/2006/main">
            <a:r>
              <a:t/>
            </a:r>
          </a:p>
          <a:p xmlns:a="http://schemas.openxmlformats.org/drawingml/2006/main">
            <a:r>
              <a:t>std::declval is a helper for unevaluated contexts. It does not construct a real instance. std::declval&lt;Iter&amp;&gt;() has lvalue-reference type Iter&amp;, matching an ordinary named iterator variable. The &amp; matters: std::declval&lt;Iter&gt;() usually yields an rvalue expression, and built-in pointer increment requires a modifiable lvalue. That rvalue form can therefore reject a perfectly useful int* iterator.</a:t>
            </a:r>
          </a:p>
          <a:p xmlns:a="http://schemas.openxmlformats.org/drawingml/2006/main">
            <a:r>
              <a:t/>
            </a:r>
          </a:p>
          <a:p xmlns:a="http://schemas.openxmlformats.org/drawingml/2006/main">
            <a:r>
              <a:t>WORKED TYPE CHECKS</a:t>
            </a:r>
          </a:p>
          <a:p xmlns:a="http://schemas.openxmlformats.org/drawingml/2006/main">
            <a:r>
              <a:t>- Iter = int*: *iter can read an int; ++iter can advance the pointer. Both expressions are well-formed.</a:t>
            </a:r>
          </a:p>
          <a:p xmlns:a="http://schemas.openxmlformats.org/drawingml/2006/main">
            <a:r>
              <a:t>- Iter = std::size_t: ++iter is well-formed for a variable, but *iter is not. The combined expression is ill-formed.</a:t>
            </a:r>
          </a:p>
          <a:p xmlns:a="http://schemas.openxmlformats.org/drawingml/2006/main">
            <a:r>
              <a:t>- Iter = int: increment is possible, but dereference is not.</a:t>
            </a:r>
          </a:p>
          <a:p xmlns:a="http://schemas.openxmlformats.org/drawingml/2006/main">
            <a:r>
              <a:t/>
            </a:r>
          </a:p>
          <a:p xmlns:a="http://schemas.openxmlformats.org/drawingml/2006/main">
            <a:r>
              <a:t>The comma requires both expressions to be valid, and its built-in form has the type and value category of the right operand. This elementary probe does not establish all iterator requirements, such as every needed comparison or semantic rule.</a:t>
            </a:r>
          </a:p>
          <a:p xmlns:a="http://schemas.openxmlformats.org/drawingml/2006/main">
            <a:r>
              <a:t/>
            </a:r>
          </a:p>
          <a:p xmlns:a="http://schemas.openxmlformats.org/drawingml/2006/main">
            <a:r>
              <a:t>The surrounding context matters. An invalid expression written directly in ordinary code is an error. In the constructor template parameter list shown next, an invalid substitution occurs in the immediate context and can discard that candidate through SFINAE. A failure inside an instantiated function body is not protected by this rule. Include &lt;utility&gt; for std::declval.</a:t>
            </a:r>
          </a:p>
          <a:p xmlns:a="http://schemas.openxmlformats.org/drawingml/2006/main">
            <a:r>
              <a:t/>
            </a:r>
          </a:p>
          <a:p xmlns:a="http://schemas.openxmlformats.org/drawingml/2006/main">
            <a:r>
              <a:t>The cast to void discards the dereference result and makes the comma in this probe use the built-in comma operator. Both expressions must still be well-formed; neither is evaluated.</a:t>
            </a:r>
          </a:p>
          <a:p xmlns:a="http://schemas.openxmlformats.org/drawingml/2006/main">
            <a:r>
              <a:t/>
            </a:r>
          </a:p>
          <a:p xmlns:a="http://schemas.openxmlformats.org/drawingml/2006/main">
            <a:r>
              <a:t>References</a:t>
            </a:r>
          </a:p>
          <a:p xmlns:a="http://schemas.openxmlformats.org/drawingml/2006/main">
            <a:r>
              <a:t>https://eel.is/c++draft/dcl.type.decltype</a:t>
            </a:r>
          </a:p>
          <a:p xmlns:a="http://schemas.openxmlformats.org/drawingml/2006/main">
            <a:r>
              <a:t>https://eel.is/c++draft/declval</a:t>
            </a:r>
          </a:p>
          <a:p xmlns:a="http://schemas.openxmlformats.org/drawingml/2006/main">
            <a:r>
              <a:t>https://eel.is/c++draft/temp.deduct</a:t>
            </a:r>
          </a:p>
          <a:p xmlns:a="http://schemas.openxmlformats.org/drawingml/2006/main">
            <a:r>
              <a:t>https://eel.is/c++draft/iterator.concept.input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THE DEFAULTED TEMPLATE PARAMETER WORKS</a:t>
            </a:r>
          </a:p>
          <a:p xmlns:a="http://schemas.openxmlformats.org/drawingml/2006/main">
            <a:r>
              <a:t>The range constructor has two template parameters. Iter is deduced from first and last. The second parameter is an unnamed type parameter with a default. Substitution must form the decltype expression before the constructor can remain a candidate. The caller does not provide an extra function argument for it.</a:t>
            </a:r>
          </a:p>
          <a:p xmlns:a="http://schemas.openxmlformats.org/drawingml/2006/main">
            <a:r>
              <a:t/>
            </a:r>
          </a:p>
          <a:p xmlns:a="http://schemas.openxmlformats.org/drawingml/2006/main">
            <a:r>
              <a:t>SFINAE stands for Substitution Failure Is Not An Error. In the relevant immediate context, an invalid substituted type or expression causes template argument deduction to fail for that candidate. The compiler continues considering the other overloads.</a:t>
            </a:r>
          </a:p>
          <a:p xmlns:a="http://schemas.openxmlformats.org/drawingml/2006/main">
            <a:r>
              <a:t/>
            </a:r>
          </a:p>
          <a:p xmlns:a="http://schemas.openxmlformats.org/drawingml/2006/main">
            <a:r>
              <a:t>WORKED CALL: vector&lt;std::size_t&gt; v(3, 7)</a:t>
            </a:r>
          </a:p>
          <a:p xmlns:a="http://schemas.openxmlformats.org/drawingml/2006/main">
            <a:r>
              <a:t>1. The unconstrained range signature would deduce Iter = int.</a:t>
            </a:r>
          </a:p>
          <a:p xmlns:a="http://schemas.openxmlformats.org/drawingml/2006/main">
            <a:r>
              <a:t>2. Substitute int into the defaulted template parameter.</a:t>
            </a:r>
          </a:p>
          <a:p xmlns:a="http://schemas.openxmlformats.org/drawingml/2006/main">
            <a:r>
              <a:t>3. *std::declval&lt;int&amp;&gt;() is ill-formed: an integer variable cannot be dereferenced.</a:t>
            </a:r>
          </a:p>
          <a:p xmlns:a="http://schemas.openxmlformats.org/drawingml/2006/main">
            <a:r>
              <a:t>4. This range constructor specialization is removed from consideration.</a:t>
            </a:r>
          </a:p>
          <a:p xmlns:a="http://schemas.openxmlformats.org/drawingml/2006/main">
            <a:r>
              <a:t>5. The fill overload can accept count 3 and value 7 after conversion to std::size_t.</a:t>
            </a:r>
          </a:p>
          <a:p xmlns:a="http://schemas.openxmlformats.org/drawingml/2006/main">
            <a:r>
              <a:t>6. The intended fill operation creates three copies of seven.</a:t>
            </a:r>
          </a:p>
          <a:p xmlns:a="http://schemas.openxmlformats.org/drawingml/2006/main">
            <a:r>
              <a:t/>
            </a:r>
          </a:p>
          <a:p xmlns:a="http://schemas.openxmlformats.org/drawingml/2006/main">
            <a:r>
              <a:t>WORKED CALL WITH SIZE_T VARIABLES</a:t>
            </a:r>
          </a:p>
          <a:p xmlns:a="http://schemas.openxmlformats.org/drawingml/2006/main">
            <a:r>
              <a:t>  std::size_t n = 3, value = 7;</a:t>
            </a:r>
          </a:p>
          <a:p xmlns:a="http://schemas.openxmlformats.org/drawingml/2006/main">
            <a:r>
              <a:t>  vector&lt;std::size_t&gt; v(n, value);</a:t>
            </a:r>
          </a:p>
          <a:p xmlns:a="http://schemas.openxmlformats.org/drawingml/2006/main">
            <a:r>
              <a:t>Here Iter would be std::size_t. ++iter would be a valid operation on such a variable, but *iter would not. The range candidate is again excluded, and fill is selected.</a:t>
            </a:r>
          </a:p>
          <a:p xmlns:a="http://schemas.openxmlformats.org/drawingml/2006/main">
            <a:r>
              <a:t/>
            </a:r>
          </a:p>
          <a:p xmlns:a="http://schemas.openxmlformats.org/drawingml/2006/main">
            <a:r>
              <a:t>WORKED POINTER RANGE</a:t>
            </a:r>
          </a:p>
          <a:p xmlns:a="http://schemas.openxmlformats.org/drawingml/2006/main">
            <a:r>
              <a:t>  int a[] = {2, 4, 6};</a:t>
            </a:r>
          </a:p>
          <a:p xmlns:a="http://schemas.openxmlformats.org/drawingml/2006/main">
            <a:r>
              <a:t>  vector&lt;std::size_t&gt; v(a, a + 3);</a:t>
            </a:r>
          </a:p>
          <a:p xmlns:a="http://schemas.openxmlformats.org/drawingml/2006/main">
            <a:r>
              <a:t>Iter is int*. Both checked expressions are valid, so the range candidate remains. The fill overload cannot use the first pointer as a count. The range overload is selected and is intended to copy 2, 4, and 6.</a:t>
            </a:r>
          </a:p>
          <a:p xmlns:a="http://schemas.openxmlformats.org/drawingml/2006/main">
            <a:r>
              <a:t/>
            </a:r>
          </a:p>
          <a:p xmlns:a="http://schemas.openxmlformats.org/drawingml/2006/main">
            <a:r>
              <a:t>WHAT SFINAE DOES NOT PROMISE</a:t>
            </a:r>
          </a:p>
          <a:p xmlns:a="http://schemas.openxmlformats.org/drawingml/2006/main">
            <a:r>
              <a:t>A program can still fail if no viable overload remains, or if a selected constructor body is invalid. This two-operation test is intentionally small. Real iterator constraints also describe other operations and semantics. Use &lt;utility&gt; for declval and &lt;cstddef&gt; for size_t; the shown class is an excerpt with definitions omitted.</a:t>
            </a:r>
          </a:p>
          <a:p xmlns:a="http://schemas.openxmlformats.org/drawingml/2006/main">
            <a:r>
              <a:t/>
            </a:r>
          </a:p>
          <a:p xmlns:a="http://schemas.openxmlformats.org/drawingml/2006/main">
            <a:r>
              <a:t>As on the preceding slide, the void cast ensures that the expression probe uses the built-in comma operator.</a:t>
            </a:r>
          </a:p>
          <a:p xmlns:a="http://schemas.openxmlformats.org/drawingml/2006/main">
            <a:r>
              <a:t/>
            </a:r>
          </a:p>
          <a:p xmlns:a="http://schemas.openxmlformats.org/drawingml/2006/main">
            <a:r>
              <a:t>References</a:t>
            </a:r>
          </a:p>
          <a:p xmlns:a="http://schemas.openxmlformats.org/drawingml/2006/main">
            <a:r>
              <a:t>https://eel.is/c++draft/temp.deduct</a:t>
            </a:r>
          </a:p>
          <a:p xmlns:a="http://schemas.openxmlformats.org/drawingml/2006/main">
            <a:r>
              <a:t>https://eel.is/c++draft/declval</a:t>
            </a:r>
          </a:p>
          <a:p xmlns:a="http://schemas.openxmlformats.org/drawingml/2006/main">
            <a:r>
              <a:t>https://eel.is/c++draft/vector.cons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NAMED CONSTRAINT</a:t>
            </a:r>
          </a:p>
          <a:p xmlns:a="http://schemas.openxmlformats.org/drawingml/2006/main">
            <a:r>
              <a:t>std::input_iterator is a standard library concept from &lt;iterator&gt;. The declaration template&lt;std::input_iterator Iter&gt; says that Iter is a type parameter constrained by that concept. It expresses the intent more directly than the preceding hand-written expression probe. The equivalent long form begins template&lt;typename Iter&gt; requires std::input_iterator&lt;Iter&gt;.</a:t>
            </a:r>
          </a:p>
          <a:p xmlns:a="http://schemas.openxmlformats.org/drawingml/2006/main">
            <a:r>
              <a:t/>
            </a:r>
          </a:p>
          <a:p xmlns:a="http://schemas.openxmlformats.org/drawingml/2006/main">
            <a:r>
              <a:t>REPEAT THE THREE CALLS</a:t>
            </a:r>
          </a:p>
          <a:p xmlns:a="http://schemas.openxmlformats.org/drawingml/2006/main">
            <a:r>
              <a:t>1. vector&lt;std::size_t&gt; v(3, 7): Iter would be int. int does not satisfy input_iterator, so the range constructor is unavailable. The fill constructor is selected.</a:t>
            </a:r>
          </a:p>
          <a:p xmlns:a="http://schemas.openxmlformats.org/drawingml/2006/main">
            <a:r>
              <a:t>2. With two std::size_t variables, the range constraint is again false and fill is selected.</a:t>
            </a:r>
          </a:p>
          <a:p xmlns:a="http://schemas.openxmlformats.org/drawingml/2006/main">
            <a:r>
              <a:t>3. For int a[] = {2, 4, 6}, the call with (a, a + 3) deduces Iter = int*. A pointer to int satisfies input_iterator, so the range constructor can be selected.</a:t>
            </a:r>
          </a:p>
          <a:p xmlns:a="http://schemas.openxmlformats.org/drawingml/2006/main">
            <a:r>
              <a:t/>
            </a:r>
          </a:p>
          <a:p xmlns:a="http://schemas.openxmlformats.org/drawingml/2006/main">
            <a:r>
              <a:t>The result is the same intended distinction: integers provide a count and value; iterators provide a range.</a:t>
            </a:r>
          </a:p>
          <a:p xmlns:a="http://schemas.openxmlformats.org/drawingml/2006/main">
            <a:r>
              <a:t/>
            </a:r>
          </a:p>
          <a:p xmlns:a="http://schemas.openxmlformats.org/drawingml/2006/main">
            <a:r>
              <a:t>SCOPE OF THE EXCERPT</a:t>
            </a:r>
          </a:p>
          <a:p xmlns:a="http://schemas.openxmlformats.org/drawingml/2006/main">
            <a:r>
              <a:t>input_iterator is stronger and more expressive than merely checking that *iter and ++iter compile. It includes reading and iterator-associated-type requirements. It does not by itself guarantee that two values of Iter can be compared for equality: C++20 ranges can use a separate sentinel type. A complete constructor implemented by comparing first and last also needs a suitable sentinel/equality relationship and must be able to construct T from the values read. Those details are omitted here to keep attention on constraints. The short declaration illustrates the language feature rather than fully implementing the standard vector interface.</a:t>
            </a:r>
          </a:p>
          <a:p xmlns:a="http://schemas.openxmlformats.org/drawingml/2006/main">
            <a:r>
              <a:t/>
            </a:r>
          </a:p>
          <a:p xmlns:a="http://schemas.openxmlformats.org/drawingml/2006/main">
            <a:r>
              <a:t>References</a:t>
            </a:r>
          </a:p>
          <a:p xmlns:a="http://schemas.openxmlformats.org/drawingml/2006/main">
            <a:r>
              <a:t>https://eel.is/c++draft/iterator.concept.input</a:t>
            </a:r>
          </a:p>
          <a:p xmlns:a="http://schemas.openxmlformats.org/drawingml/2006/main">
            <a:r>
              <a:t>https://eel.is/c++draft/iterator.concept.sentinel</a:t>
            </a:r>
          </a:p>
          <a:p xmlns:a="http://schemas.openxmlformats.org/drawingml/2006/main">
            <a:r>
              <a:t>https://eel.is/c++draft/temp.constr.constr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PYTHON EXAMPLE</a:t>
            </a:r>
          </a:p>
          <a:p xmlns:a="http://schemas.openxmlformats.org/drawingml/2006/main">
            <a:r>
              <a:t>  def twice(x):</a:t>
            </a:r>
          </a:p>
          <a:p xmlns:a="http://schemas.openxmlformats.org/drawingml/2006/main">
            <a:r>
              <a:t>      return x + x</a:t>
            </a:r>
          </a:p>
          <a:p xmlns:a="http://schemas.openxmlformats.org/drawingml/2006/main">
            <a:r>
              <a:t/>
            </a:r>
          </a:p>
          <a:p xmlns:a="http://schemas.openxmlformats.org/drawingml/2006/main">
            <a:r>
              <a:t>The function has no explicit parameter type declaration. What happens depends on the operation supported by the supplied value:</a:t>
            </a:r>
          </a:p>
          <a:p xmlns:a="http://schemas.openxmlformats.org/drawingml/2006/main">
            <a:r>
              <a:t>- twice(3) evaluates 3 + 3 and returns 6.</a:t>
            </a:r>
          </a:p>
          <a:p xmlns:a="http://schemas.openxmlformats.org/drawingml/2006/main">
            <a:r>
              <a:t>- twice("ha") concatenates strings and returns "haha".</a:t>
            </a:r>
          </a:p>
          <a:p xmlns:a="http://schemas.openxmlformats.org/drawingml/2006/main">
            <a:r>
              <a:t>- twice([1, 2]) concatenates lists and returns [1, 2, 1, 2].</a:t>
            </a:r>
          </a:p>
          <a:p xmlns:a="http://schemas.openxmlformats.org/drawingml/2006/main">
            <a:r>
              <a:t>- twice(None) raises TypeError because None does not support this addition.</a:t>
            </a:r>
          </a:p>
          <a:p xmlns:a="http://schemas.openxmlformats.org/drawingml/2006/main">
            <a:r>
              <a:t/>
            </a:r>
          </a:p>
          <a:p xmlns:a="http://schemas.openxmlformats.org/drawingml/2006/main">
            <a:r>
              <a:t>The same function body can work with several types, but not every value is suitable. Values still have types. The absence of an annotation does not mean the absence of type rules. This style is often described as duck typing: code relies on supported operations rather than a declared inheritance relationship.</a:t>
            </a:r>
          </a:p>
          <a:p xmlns:a="http://schemas.openxmlformats.org/drawingml/2006/main">
            <a:r>
              <a:t/>
            </a:r>
          </a:p>
          <a:p xmlns:a="http://schemas.openxmlformats.org/drawingml/2006/main">
            <a:r>
              <a:t>UNREACHED CODE AND ERRORS</a:t>
            </a:r>
          </a:p>
          <a:p xmlns:a="http://schemas.openxmlformats.org/drawingml/2006/main">
            <a:r>
              <a:t>In Python, the expression inside this branch is not executed:</a:t>
            </a:r>
          </a:p>
          <a:p xmlns:a="http://schemas.openxmlformats.org/drawingml/2006/main">
            <a:r>
              <a:t>  if False:</a:t>
            </a:r>
          </a:p>
          <a:p xmlns:a="http://schemas.openxmlformats.org/drawingml/2006/main">
            <a:r>
              <a:t>      1 + "x"</a:t>
            </a:r>
          </a:p>
          <a:p xmlns:a="http://schemas.openxmlformats.org/drawingml/2006/main">
            <a:r>
              <a:t>There is therefore no runtime TypeError from that addition. But malformed Python syntax in the same unreachable branch can still cause SyntaxError while the program is parsed.</a:t>
            </a:r>
          </a:p>
          <a:p xmlns:a="http://schemas.openxmlformats.org/drawingml/2006/main">
            <a:r>
              <a:t/>
            </a:r>
          </a:p>
          <a:p xmlns:a="http://schemas.openxmlformats.org/drawingml/2006/main">
            <a:r>
              <a:t>Interpretation and dynamic typing are different issues. Compiled languages also skip branches that are not taken, and an implementation may compile a dynamically typed language to bytecode or machine code. The useful comparison here is when operations are checked.</a:t>
            </a:r>
          </a:p>
          <a:p xmlns:a="http://schemas.openxmlformats.org/drawingml/2006/main">
            <a:r>
              <a:t/>
            </a:r>
          </a:p>
          <a:p xmlns:a="http://schemas.openxmlformats.org/drawingml/2006/main">
            <a:r>
              <a:t>Python type annotations can document intended inputs and support external static checking. The Python runtime generally does not enforce those annotations by itself. Ask students which problems the earlier compile-time constraints catch before running a program, and which problems this Python function discovers only for an executed call.</a:t>
            </a:r>
          </a:p>
          <a:p xmlns:a="http://schemas.openxmlformats.org/drawingml/2006/main">
            <a:r>
              <a:t/>
            </a:r>
          </a:p>
          <a:p xmlns:a="http://schemas.openxmlformats.org/drawingml/2006/main">
            <a:r>
              <a:t>References</a:t>
            </a:r>
          </a:p>
          <a:p xmlns:a="http://schemas.openxmlformats.org/drawingml/2006/main">
            <a:r>
              <a:t>https://docs.python.org/3/glossary.html#term-duck-typing</a:t>
            </a:r>
          </a:p>
          <a:p xmlns:a="http://schemas.openxmlformats.org/drawingml/2006/main">
            <a:r>
              <a:t>https://docs.python.org/3/library/typing.html</a:t>
            </a:r>
          </a:p>
          <a:p xmlns:a="http://schemas.openxmlformats.org/drawingml/2006/main">
            <a:r>
              <a:t>https://docs.python.org/3/reference/compound_stmts.html#the-if-statement</a:t>
            </a:r>
          </a:p>
          <a:p xmlns:a="http://schemas.openxmlformats.org/drawingml/2006/main">
            <a:r>
              <a:t>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s/_rels/slide1.xml.rels><?xml version='1.0' encoding='UTF-8' standalone='yes'?>
<Relationships xmlns="http://schemas.openxmlformats.org/package/2006/relationships"><Relationship Type="http://schemas.openxmlformats.org/officeDocument/2006/relationships/slideLayout" Target="../nativeTemplate/slideLayouts/slideLayout1.xml" Id="R4d34e39b6f4e4af3"/><Relationship Type="http://schemas.openxmlformats.org/officeDocument/2006/relationships/notesSlide" Target="/ppt/notesSlides/notesSlide1.xml" Id="Ra2f9b0bc34c74888"/></Relationships>
</file>

<file path=ppt/slides/_rels/slide2.xml.rels><?xml version='1.0' encoding='UTF-8' standalone='yes'?>
<Relationships xmlns="http://schemas.openxmlformats.org/package/2006/relationships"><Relationship Type="http://schemas.openxmlformats.org/officeDocument/2006/relationships/slideLayout" Target="../nativeTemplate/slideLayouts/slideLayout2.xml" Id="Ra6d889c122694d51"/><Relationship Type="http://schemas.openxmlformats.org/officeDocument/2006/relationships/notesSlide" Target="/ppt/notesSlides/notesSlide2.xml" Id="Ra7bf98bbd0a543a0"/></Relationships>
</file>

<file path=ppt/slides/_rels/slide3.xml.rels><?xml version='1.0' encoding='UTF-8' standalone='yes'?>
<Relationships xmlns="http://schemas.openxmlformats.org/package/2006/relationships"><Relationship Type="http://schemas.openxmlformats.org/officeDocument/2006/relationships/slideLayout" Target="../nativeTemplate/slideLayouts/slideLayout2.xml" Id="R2618c0aa41a0408d"/><Relationship Type="http://schemas.openxmlformats.org/officeDocument/2006/relationships/notesSlide" Target="/ppt/notesSlides/notesSlide3.xml" Id="Racba65bf0e3646b7"/></Relationships>
</file>

<file path=ppt/slides/_rels/slide4.xml.rels><?xml version='1.0' encoding='UTF-8' standalone='yes'?>
<Relationships xmlns="http://schemas.openxmlformats.org/package/2006/relationships"><Relationship Type="http://schemas.openxmlformats.org/officeDocument/2006/relationships/slideLayout" Target="../nativeTemplate/slideLayouts/slideLayout2.xml" Id="R8c8ff47357b04766"/><Relationship Type="http://schemas.openxmlformats.org/officeDocument/2006/relationships/notesSlide" Target="/ppt/notesSlides/notesSlide4.xml" Id="Rb5c6a5832b8b4169"/></Relationships>
</file>

<file path=ppt/slides/_rels/slide5.xml.rels><?xml version='1.0' encoding='UTF-8' standalone='yes'?>
<Relationships xmlns="http://schemas.openxmlformats.org/package/2006/relationships"><Relationship Type="http://schemas.openxmlformats.org/officeDocument/2006/relationships/slideLayout" Target="../nativeTemplate/slideLayouts/slideLayout2.xml" Id="R820e8e2d9ef04fd7"/><Relationship Type="http://schemas.openxmlformats.org/officeDocument/2006/relationships/notesSlide" Target="/ppt/notesSlides/notesSlide5.xml" Id="R6c96de243ecf4f91"/></Relationships>
</file>

<file path=ppt/slides/_rels/slide6.xml.rels><?xml version='1.0' encoding='UTF-8' standalone='yes'?>
<Relationships xmlns="http://schemas.openxmlformats.org/package/2006/relationships"><Relationship Type="http://schemas.openxmlformats.org/officeDocument/2006/relationships/slideLayout" Target="../nativeTemplate/slideLayouts/slideLayout2.xml" Id="R3d350e0bb6e6422c"/><Relationship Type="http://schemas.openxmlformats.org/officeDocument/2006/relationships/notesSlide" Target="/ppt/notesSlides/notesSlide6.xml" Id="Rd84db00b0f5f4a81"/></Relationships>
</file>

<file path=ppt/slides/_rels/slide7.xml.rels><?xml version='1.0' encoding='UTF-8' standalone='yes'?>
<Relationships xmlns="http://schemas.openxmlformats.org/package/2006/relationships"><Relationship Type="http://schemas.openxmlformats.org/officeDocument/2006/relationships/slideLayout" Target="../nativeTemplate/slideLayouts/slideLayout2.xml" Id="Raee47cfdd82042e0"/><Relationship Type="http://schemas.openxmlformats.org/officeDocument/2006/relationships/notesSlide" Target="/ppt/notesSlides/notesSlide7.xml" Id="Ra738eed6e950407f"/></Relationships>
</file>

<file path=ppt/slides/_rels/slide8.xml.rels><?xml version='1.0' encoding='UTF-8' standalone='yes'?>
<Relationships xmlns="http://schemas.openxmlformats.org/package/2006/relationships"><Relationship Type="http://schemas.openxmlformats.org/officeDocument/2006/relationships/slideLayout" Target="../nativeTemplate/slideLayouts/slideLayout2.xml" Id="R27f070654ffb4fa8"/><Relationship Type="http://schemas.openxmlformats.org/officeDocument/2006/relationships/notesSlide" Target="/ppt/notesSlides/notesSlide8.xml" Id="R6c130905a184484a"/></Relationships>
</file>

<file path=ppt/slides/_rels/slide9.xml.rels><?xml version='1.0' encoding='UTF-8' standalone='yes'?>
<Relationships xmlns="http://schemas.openxmlformats.org/package/2006/relationships"><Relationship Type="http://schemas.openxmlformats.org/officeDocument/2006/relationships/slideLayout" Target="../nativeTemplate/slideLayouts/slideLayout2.xml" Id="Rb522b8033d864f23"/><Relationship Type="http://schemas.openxmlformats.org/officeDocument/2006/relationships/notesSlide" Target="/ppt/notesSlides/notesSlide9.xml" Id="Rd952b12784b24111"/></Relationships>
</file>

<file path=ppt/slides/_rels/slide10.xml.rels><?xml version='1.0' encoding='UTF-8' standalone='yes'?>
<Relationships xmlns="http://schemas.openxmlformats.org/package/2006/relationships"><Relationship Type="http://schemas.openxmlformats.org/officeDocument/2006/relationships/slideLayout" Target="../nativeTemplate/slideLayouts/slideLayout2.xml" Id="R358363f6a7524a76"/><Relationship Type="http://schemas.openxmlformats.org/officeDocument/2006/relationships/notesSlide" Target="/ppt/notesSlides/notesSlide10.xml" Id="Rd749ce271d8640b4"/></Relationships>
</file>

<file path=ppt/slides/_rels/slide11.xml.rels><?xml version='1.0' encoding='UTF-8' standalone='yes'?>
<Relationships xmlns="http://schemas.openxmlformats.org/package/2006/relationships"><Relationship Type="http://schemas.openxmlformats.org/officeDocument/2006/relationships/slideLayout" Target="../nativeTemplate/slideLayouts/slideLayout2.xml" Id="R43d88dc9ce3c47d3"/><Relationship Type="http://schemas.openxmlformats.org/officeDocument/2006/relationships/notesSlide" Target="/ppt/notesSlides/notesSlide11.xml" Id="Red3742a2fc2c4fac"/></Relationships>
</file>

<file path=ppt/slides/_rels/slide12.xml.rels><?xml version='1.0' encoding='UTF-8' standalone='yes'?>
<Relationships xmlns="http://schemas.openxmlformats.org/package/2006/relationships"><Relationship Type="http://schemas.openxmlformats.org/officeDocument/2006/relationships/slideLayout" Target="../nativeTemplate/slideLayouts/slideLayout2.xml" Id="R799fa84a547541b0"/><Relationship Type="http://schemas.openxmlformats.org/officeDocument/2006/relationships/notesSlide" Target="/ppt/notesSlides/notesSlide12.xml" Id="R1de713f4e62945b5"/></Relationships>
</file>

<file path=ppt/slides/_rels/slide13.xml.rels><?xml version='1.0' encoding='UTF-8' standalone='yes'?>
<Relationships xmlns="http://schemas.openxmlformats.org/package/2006/relationships"><Relationship Type="http://schemas.openxmlformats.org/officeDocument/2006/relationships/slideLayout" Target="../nativeTemplate/slideLayouts/slideLayout2.xml" Id="R3fd93d43c55741ec"/><Relationship Type="http://schemas.openxmlformats.org/officeDocument/2006/relationships/notesSlide" Target="/ppt/notesSlides/notesSlide13.xml" Id="R04652c3b1abf4cc2"/></Relationships>
</file>

<file path=ppt/slides/_rels/slide14.xml.rels><?xml version='1.0' encoding='UTF-8' standalone='yes'?>
<Relationships xmlns="http://schemas.openxmlformats.org/package/2006/relationships"><Relationship Type="http://schemas.openxmlformats.org/officeDocument/2006/relationships/slideLayout" Target="../nativeTemplate/slideLayouts/slideLayout2.xml" Id="R6c6b74488cb0440b"/><Relationship Type="http://schemas.openxmlformats.org/officeDocument/2006/relationships/notesSlide" Target="/ppt/notesSlides/notesSlide14.xml" Id="Rf801f04bc05b4dc3"/></Relationships>
</file>

<file path=ppt/slides/_rels/slide15.xml.rels><?xml version='1.0' encoding='UTF-8' standalone='yes'?>
<Relationships xmlns="http://schemas.openxmlformats.org/package/2006/relationships"><Relationship Type="http://schemas.openxmlformats.org/officeDocument/2006/relationships/slideLayout" Target="../nativeTemplate/slideLayouts/slideLayout2.xml" Id="R41fa6561251a441c"/><Relationship Type="http://schemas.openxmlformats.org/officeDocument/2006/relationships/notesSlide" Target="/ppt/notesSlides/notesSlide15.xml" Id="Rb3549651ebc64679"/></Relationships>
</file>

<file path=ppt/slides/_rels/slide16.xml.rels><?xml version='1.0' encoding='UTF-8' standalone='yes'?>
<Relationships xmlns="http://schemas.openxmlformats.org/package/2006/relationships"><Relationship Type="http://schemas.openxmlformats.org/officeDocument/2006/relationships/slideLayout" Target="../nativeTemplate/slideLayouts/slideLayout2.xml" Id="R89d67ff2a0c04953"/><Relationship Type="http://schemas.openxmlformats.org/officeDocument/2006/relationships/notesSlide" Target="/ppt/notesSlides/notesSlide16.xml" Id="R5c16b82d47ac4722"/></Relationships>
</file>

<file path=ppt/slides/_rels/slide17.xml.rels><?xml version='1.0' encoding='UTF-8' standalone='yes'?>
<Relationships xmlns="http://schemas.openxmlformats.org/package/2006/relationships"><Relationship Type="http://schemas.openxmlformats.org/officeDocument/2006/relationships/slideLayout" Target="../nativeTemplate/slideLayouts/slideLayout2.xml" Id="Red0284822f27468f"/><Relationship Type="http://schemas.openxmlformats.org/officeDocument/2006/relationships/notesSlide" Target="/ppt/notesSlides/notesSlide17.xml" Id="Rc35403a325ca4ad7"/></Relationships>
</file>

<file path=ppt/slides/_rels/slide18.xml.rels><?xml version='1.0' encoding='UTF-8' standalone='yes'?>
<Relationships xmlns="http://schemas.openxmlformats.org/package/2006/relationships"><Relationship Type="http://schemas.openxmlformats.org/officeDocument/2006/relationships/slideLayout" Target="../nativeTemplate/slideLayouts/slideLayout2.xml" Id="Rd5010d8d477448ac"/><Relationship Type="http://schemas.openxmlformats.org/officeDocument/2006/relationships/notesSlide" Target="/ppt/notesSlides/notesSlide18.xml" Id="Rbebaa1562d1a4bed"/></Relationships>
</file>

<file path=ppt/slides/_rels/slide19.xml.rels><?xml version='1.0' encoding='UTF-8' standalone='yes'?>
<Relationships xmlns="http://schemas.openxmlformats.org/package/2006/relationships"><Relationship Type="http://schemas.openxmlformats.org/officeDocument/2006/relationships/slideLayout" Target="../nativeTemplate/slideLayouts/slideLayout2.xml" Id="Rd2921f21a6904007"/><Relationship Type="http://schemas.openxmlformats.org/officeDocument/2006/relationships/notesSlide" Target="/ppt/notesSlides/notesSlide19.xml" Id="R99233042efb54221"/></Relationships>
</file>

<file path=ppt/slides/_rels/slide20.xml.rels><?xml version='1.0' encoding='UTF-8' standalone='yes'?>
<Relationships xmlns="http://schemas.openxmlformats.org/package/2006/relationships"><Relationship Type="http://schemas.openxmlformats.org/officeDocument/2006/relationships/slideLayout" Target="../nativeTemplate/slideLayouts/slideLayout2.xml" Id="Rb2bd1771bdda4118"/><Relationship Type="http://schemas.openxmlformats.org/officeDocument/2006/relationships/notesSlide" Target="/ppt/notesSlides/notesSlide20.xml" Id="R9e173de7d5564cd8"/></Relationships>
</file>

<file path=ppt/slides/_rels/slide21.xml.rels><?xml version='1.0' encoding='UTF-8' standalone='yes'?>
<Relationships xmlns="http://schemas.openxmlformats.org/package/2006/relationships"><Relationship Type="http://schemas.openxmlformats.org/officeDocument/2006/relationships/slideLayout" Target="../nativeTemplate/slideLayouts/slideLayout2.xml" Id="R135551cc7bb64028"/><Relationship Type="http://schemas.openxmlformats.org/officeDocument/2006/relationships/notesSlide" Target="/ppt/notesSlides/notesSlide21.xml" Id="R62fc01398a1e4dd5"/></Relationships>
</file>

<file path=ppt/slides/_rels/slide22.xml.rels><?xml version='1.0' encoding='UTF-8' standalone='yes'?>
<Relationships xmlns="http://schemas.openxmlformats.org/package/2006/relationships"><Relationship Type="http://schemas.openxmlformats.org/officeDocument/2006/relationships/slideLayout" Target="../nativeTemplate/slideLayouts/slideLayout2.xml" Id="R0e506d1c121949ac"/><Relationship Type="http://schemas.openxmlformats.org/officeDocument/2006/relationships/notesSlide" Target="/ppt/notesSlides/notesSlide22.xml" Id="R417a5e4dc07c4605"/></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8CC0AF3A-1C65-4322-BD5D-BF56DDB0A06B}"/>
              </a:ext>
            </a:extLst>
          </p:cNvPr>
          <p:cNvSpPr>
            <a:spLocks xmlns:a="http://schemas.openxmlformats.org/drawingml/2006/main" noGrp="1"/>
          </p:cNvSpPr>
          <p:nvPr/>
        </p:nvSpPr>
        <p:spPr>
          <a:xfrm xmlns:a="http://schemas.openxmlformats.org/drawingml/2006/main">
            <a:off x="2611812" y="3429000"/>
            <a:ext cx="5518071" cy="2268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6000" b="0" i="0">
                <a:solidFill>
                  <a:srgbClr val="FFFFFF"/>
                </a:solidFill>
                <a:latin typeface="Arial"/>
                <a:ea typeface="Arial"/>
                <a:cs typeface="Arial"/>
              </a:defRPr>
            </a:defPPr>
            <a:lvl1pPr algn="r">
              <a:defRPr sz="6000" b="0" i="0">
                <a:solidFill>
                  <a:srgbClr val="FFFFFF"/>
                </a:solidFill>
                <a:latin typeface="Arial"/>
                <a:ea typeface="Arial"/>
                <a:cs typeface="Arial"/>
              </a:defRPr>
            </a:lvl1pPr>
            <a:lvl2pPr algn="r">
              <a:defRPr sz="6000" b="0" i="0">
                <a:solidFill>
                  <a:srgbClr val="FFFFFF"/>
                </a:solidFill>
                <a:latin typeface="Arial"/>
                <a:ea typeface="Arial"/>
                <a:cs typeface="Arial"/>
              </a:defRPr>
            </a:lvl2pPr>
            <a:lvl3pPr algn="r">
              <a:defRPr sz="6000" b="0" i="0">
                <a:solidFill>
                  <a:srgbClr val="FFFFFF"/>
                </a:solidFill>
                <a:latin typeface="Arial"/>
                <a:ea typeface="Arial"/>
                <a:cs typeface="Arial"/>
              </a:defRPr>
            </a:lvl3pPr>
            <a:lvl4pPr algn="r">
              <a:defRPr sz="6000" b="0" i="0">
                <a:solidFill>
                  <a:srgbClr val="FFFFFF"/>
                </a:solidFill>
                <a:latin typeface="Arial"/>
                <a:ea typeface="Arial"/>
                <a:cs typeface="Arial"/>
              </a:defRPr>
            </a:lvl4pPr>
            <a:lvl5pPr algn="r">
              <a:defRPr sz="6000" b="0" i="0">
                <a:solidFill>
                  <a:srgbClr val="FFFFFF"/>
                </a:solidFill>
                <a:latin typeface="Arial"/>
                <a:ea typeface="Arial"/>
                <a:cs typeface="Arial"/>
              </a:defRPr>
            </a:lvl5pPr>
            <a:lvl6pPr algn="r">
              <a:defRPr sz="6000" b="0" i="0">
                <a:solidFill>
                  <a:srgbClr val="FFFFFF"/>
                </a:solidFill>
                <a:latin typeface="Arial"/>
                <a:ea typeface="Arial"/>
                <a:cs typeface="Arial"/>
              </a:defRPr>
            </a:lvl6pPr>
            <a:lvl7pPr algn="r">
              <a:defRPr sz="6000" b="0" i="0">
                <a:solidFill>
                  <a:srgbClr val="FFFFFF"/>
                </a:solidFill>
                <a:latin typeface="Arial"/>
                <a:ea typeface="Arial"/>
                <a:cs typeface="Arial"/>
              </a:defRPr>
            </a:lvl7pPr>
            <a:lvl8pPr algn="r">
              <a:defRPr sz="6000" b="0" i="0">
                <a:solidFill>
                  <a:srgbClr val="FFFFFF"/>
                </a:solidFill>
                <a:latin typeface="Arial"/>
                <a:ea typeface="Arial"/>
                <a:cs typeface="Arial"/>
              </a:defRPr>
            </a:lvl8pPr>
            <a:lvl9pPr algn="r">
              <a:defRPr sz="6000" b="0" i="0">
                <a:solidFill>
                  <a:srgbClr val="FFFFFF"/>
                </a:solidFill>
                <a:latin typeface="Arial"/>
                <a:ea typeface="Arial"/>
                <a:cs typeface="Arial"/>
              </a:defRPr>
            </a:lvl9pPr>
          </a:lstStyle>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Subprograms:</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Generic Types</a:t>
            </a:r>
          </a:p>
        </p:txBody>
      </p:sp>
      <p:sp>
        <p:nvSpPr>
          <p:cNvPr id="2" name="cover-subtitle">
            <a:extLst xmlns:a="http://schemas.openxmlformats.org/drawingml/2006/main">
              <a:ext uri="{FF2B5EF4-FFF2-40B4-BE49-F238E27FC236}">
                <a16:creationId xmlns:a16="http://schemas.microsoft.com/office/drawing/2014/main" id="{15590055-9C72-460C-95B2-700B80D529F2}"/>
              </a:ext>
            </a:extLst>
          </p:cNvPr>
          <p:cNvSpPr>
            <a:spLocks xmlns:a="http://schemas.openxmlformats.org/drawingml/2006/main" noGrp="1"/>
          </p:cNvSpPr>
          <p:nvPr/>
        </p:nvSpPr>
        <p:spPr>
          <a:xfrm xmlns:a="http://schemas.openxmlformats.org/drawingml/2006/main">
            <a:off x="2772270" y="2268788"/>
            <a:ext cx="5357603" cy="116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b">
            <a:noAutofit/>
          </a:bodyPr>
          <a:lstStyle xmlns:a="http://schemas.openxmlformats.org/drawingml/2006/main">
            <a:defPPr algn="r">
              <a:defRPr sz="1800" b="0" i="0">
                <a:solidFill>
                  <a:srgbClr val="FFFFFF"/>
                </a:solidFill>
                <a:latin typeface="Arial"/>
                <a:ea typeface="Arial"/>
                <a:cs typeface="Arial"/>
              </a:defRPr>
            </a:defPPr>
            <a:lvl1pPr algn="r">
              <a:defRPr sz="1800" b="0" i="0">
                <a:solidFill>
                  <a:srgbClr val="FFFFFF"/>
                </a:solidFill>
                <a:latin typeface="Arial"/>
                <a:ea typeface="Arial"/>
                <a:cs typeface="Arial"/>
              </a:defRPr>
            </a:lvl1pPr>
            <a:lvl2pPr algn="r">
              <a:defRPr sz="1800" b="0" i="0">
                <a:solidFill>
                  <a:srgbClr val="FFFFFF"/>
                </a:solidFill>
                <a:latin typeface="Arial"/>
                <a:ea typeface="Arial"/>
                <a:cs typeface="Arial"/>
              </a:defRPr>
            </a:lvl2pPr>
            <a:lvl3pPr algn="r">
              <a:defRPr sz="1800" b="0" i="0">
                <a:solidFill>
                  <a:srgbClr val="FFFFFF"/>
                </a:solidFill>
                <a:latin typeface="Arial"/>
                <a:ea typeface="Arial"/>
                <a:cs typeface="Arial"/>
              </a:defRPr>
            </a:lvl3pPr>
            <a:lvl4pPr algn="r">
              <a:defRPr sz="1800" b="0" i="0">
                <a:solidFill>
                  <a:srgbClr val="FFFFFF"/>
                </a:solidFill>
                <a:latin typeface="Arial"/>
                <a:ea typeface="Arial"/>
                <a:cs typeface="Arial"/>
              </a:defRPr>
            </a:lvl4pPr>
            <a:lvl5pPr algn="r">
              <a:defRPr sz="1800" b="0" i="0">
                <a:solidFill>
                  <a:srgbClr val="FFFFFF"/>
                </a:solidFill>
                <a:latin typeface="Arial"/>
                <a:ea typeface="Arial"/>
                <a:cs typeface="Arial"/>
              </a:defRPr>
            </a:lvl5pPr>
            <a:lvl6pPr algn="r">
              <a:defRPr sz="1800" b="0" i="0">
                <a:solidFill>
                  <a:srgbClr val="FFFFFF"/>
                </a:solidFill>
                <a:latin typeface="Arial"/>
                <a:ea typeface="Arial"/>
                <a:cs typeface="Arial"/>
              </a:defRPr>
            </a:lvl6pPr>
            <a:lvl7pPr algn="r">
              <a:defRPr sz="1800" b="0" i="0">
                <a:solidFill>
                  <a:srgbClr val="FFFFFF"/>
                </a:solidFill>
                <a:latin typeface="Arial"/>
                <a:ea typeface="Arial"/>
                <a:cs typeface="Arial"/>
              </a:defRPr>
            </a:lvl7pPr>
            <a:lvl8pPr algn="r">
              <a:defRPr sz="1800" b="0" i="0">
                <a:solidFill>
                  <a:srgbClr val="FFFFFF"/>
                </a:solidFill>
                <a:latin typeface="Arial"/>
                <a:ea typeface="Arial"/>
                <a:cs typeface="Arial"/>
              </a:defRPr>
            </a:lvl8pPr>
            <a:lvl9pPr algn="r">
              <a:defRPr sz="1800" b="0" i="0">
                <a:solidFill>
                  <a:srgbClr val="FFFFFF"/>
                </a:solidFill>
                <a:latin typeface="Arial"/>
                <a:ea typeface="Arial"/>
                <a:cs typeface="Arial"/>
              </a:defRPr>
            </a:lvl9pPr>
          </a:lstStyle>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CMSC 330: Programming Languages</a:t>
            </a:r>
          </a:p>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Millersville University</a:t>
            </a:r>
          </a:p>
        </p:txBody>
      </p:sp>
    </p:spTree>
    <p:extLst>
      <p:ext uri="{BB962C8B-B14F-4D97-AF65-F5344CB8AC3E}">
        <p14:creationId xmlns:p14="http://schemas.microsoft.com/office/powerpoint/2010/main" val="146640027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F193BA0E-4B68-40C3-A27A-8A00AB11839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Outline</a:t>
            </a:r>
          </a:p>
        </p:txBody>
      </p:sp>
      <p:sp>
        <p:nvSpPr>
          <p:cNvPr id="2" name="slide-number">
            <a:extLst xmlns:a="http://schemas.openxmlformats.org/drawingml/2006/main">
              <a:ext uri="{FF2B5EF4-FFF2-40B4-BE49-F238E27FC236}">
                <a16:creationId xmlns:a16="http://schemas.microsoft.com/office/drawing/2014/main" id="{8EB48984-98D2-4FC5-BF37-242EC71B21B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a:t>
            </a:r>
          </a:p>
        </p:txBody>
      </p:sp>
      <p:sp>
        <p:nvSpPr>
          <p:cNvPr id="3" name="outline">
            <a:extLst xmlns:a="http://schemas.openxmlformats.org/drawingml/2006/main">
              <a:ext uri="{FF2B5EF4-FFF2-40B4-BE49-F238E27FC236}">
                <a16:creationId xmlns:a16="http://schemas.microsoft.com/office/drawing/2014/main" id="{3C256B7F-2ADA-47FC-86B7-4F75A60B6302}"/>
              </a:ext>
            </a:extLst>
          </p:cNvPr>
          <p:cNvSpPr>
            <a:spLocks xmlns:a="http://schemas.openxmlformats.org/drawingml/2006/main" noGrp="1"/>
          </p:cNvSpPr>
          <p:nvPr/>
        </p:nvSpPr>
        <p:spPr>
          <a:xfrm xmlns:a="http://schemas.openxmlformats.org/drawingml/2006/main">
            <a:off x="2773594" y="1952625"/>
            <a:ext cx="7796536"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OCaml / F#</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Type Variables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Java</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Generics and Wildcards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Templates, SFINAE, and Concepts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Scripting Languages</a:t>
            </a:r>
          </a:p>
        </p:txBody>
      </p:sp>
    </p:spTree>
    <p:extLst>
      <p:ext uri="{BB962C8B-B14F-4D97-AF65-F5344CB8AC3E}">
        <p14:creationId xmlns:p14="http://schemas.microsoft.com/office/powerpoint/2010/main" val="157757261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D9111E2-874F-49DF-88F7-0487F2AE89C5}"/>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Generic Subprograms</a:t>
            </a:r>
          </a:p>
        </p:txBody>
      </p:sp>
      <p:sp>
        <p:nvSpPr>
          <p:cNvPr id="2" name="slide-number">
            <a:extLst xmlns:a="http://schemas.openxmlformats.org/drawingml/2006/main">
              <a:ext uri="{FF2B5EF4-FFF2-40B4-BE49-F238E27FC236}">
                <a16:creationId xmlns:a16="http://schemas.microsoft.com/office/drawing/2014/main" id="{2ADDD40F-B7FA-49B7-9EEB-D4679C9B1C2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a:t>
            </a:r>
          </a:p>
        </p:txBody>
      </p:sp>
      <p:sp>
        <p:nvSpPr>
          <p:cNvPr id="3" name="generic-definition">
            <a:extLst xmlns:a="http://schemas.openxmlformats.org/drawingml/2006/main">
              <a:ext uri="{FF2B5EF4-FFF2-40B4-BE49-F238E27FC236}">
                <a16:creationId xmlns:a16="http://schemas.microsoft.com/office/drawing/2014/main" id="{4091E201-CBBC-40C1-8082-FC782E595123}"/>
              </a:ext>
            </a:extLst>
          </p:cNvPr>
          <p:cNvSpPr>
            <a:spLocks xmlns:a="http://schemas.openxmlformats.org/drawingml/2006/main" noGrp="1"/>
          </p:cNvSpPr>
          <p:nvPr/>
        </p:nvSpPr>
        <p:spPr>
          <a:xfrm xmlns:a="http://schemas.openxmlformats.org/drawingml/2006/main">
            <a:off x="2773594" y="1905000"/>
            <a:ext cx="7796536"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generic (polymorphic) subprogram can work with</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different types in different calls.</a:t>
            </a:r>
          </a:p>
        </p:txBody>
      </p:sp>
      <p:sp>
        <p:nvSpPr>
          <p:cNvPr id="4" name="sort-overloads">
            <a:extLst xmlns:a="http://schemas.openxmlformats.org/drawingml/2006/main">
              <a:ext uri="{FF2B5EF4-FFF2-40B4-BE49-F238E27FC236}">
                <a16:creationId xmlns:a16="http://schemas.microsoft.com/office/drawing/2014/main" id="{701334AB-F65C-4B0D-96C8-FE2A496299DF}"/>
              </a:ext>
            </a:extLst>
          </p:cNvPr>
          <p:cNvSpPr>
            <a:spLocks xmlns:a="http://schemas.openxmlformats.org/drawingml/2006/main" noGrp="1"/>
          </p:cNvSpPr>
          <p:nvPr/>
        </p:nvSpPr>
        <p:spPr>
          <a:xfrm xmlns:a="http://schemas.openxmlformats.org/drawingml/2006/main">
            <a:off x="3118075" y="3067050"/>
            <a:ext cx="745205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sort(int[] A)</a:t>
            </a:r>
            <a:r>
              <a:rPr sz="2000">
                <a:solidFill>
                  <a:srgbClr val="FFFFFF"/>
                </a:solidFill>
                <a:latin typeface="Times New Roman"/>
                <a:ea typeface="Times New Roman"/>
                <a:cs typeface="Times New Roman"/>
              </a:rPr>
              <a:t> versus </a:t>
            </a:r>
            <a:r>
              <a:rPr sz="2000">
                <a:solidFill>
                  <a:srgbClr val="C5FAEB"/>
                </a:solidFill>
                <a:latin typeface="Courier New"/>
                <a:ea typeface="Courier New"/>
                <a:cs typeface="Courier New"/>
              </a:rPr>
              <a:t>sort(double[] A)</a:t>
            </a:r>
          </a:p>
        </p:txBody>
      </p:sp>
      <p:sp>
        <p:nvSpPr>
          <p:cNvPr id="5" name="ad-hoc-definition">
            <a:extLst xmlns:a="http://schemas.openxmlformats.org/drawingml/2006/main">
              <a:ext uri="{FF2B5EF4-FFF2-40B4-BE49-F238E27FC236}">
                <a16:creationId xmlns:a16="http://schemas.microsoft.com/office/drawing/2014/main" id="{CB489DC6-0F9B-4DFE-B6D0-2ED532F0A6F6}"/>
              </a:ext>
            </a:extLst>
          </p:cNvPr>
          <p:cNvSpPr>
            <a:spLocks xmlns:a="http://schemas.openxmlformats.org/drawingml/2006/main" noGrp="1"/>
          </p:cNvSpPr>
          <p:nvPr/>
        </p:nvSpPr>
        <p:spPr>
          <a:xfrm xmlns:a="http://schemas.openxmlformats.org/drawingml/2006/main">
            <a:off x="2773594" y="3524250"/>
            <a:ext cx="7796536"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Overloading provides </a:t>
            </a:r>
            <a:r>
              <a:rPr sz="2400" i="1">
                <a:solidFill>
                  <a:srgbClr val="C5FAEB"/>
                </a:solidFill>
                <a:latin typeface="Times New Roman"/>
                <a:ea typeface="Times New Roman"/>
                <a:cs typeface="Times New Roman"/>
              </a:rPr>
              <a:t>ad hoc polymorphism</a:t>
            </a:r>
            <a:r>
              <a:rPr sz="2400">
                <a:solidFill>
                  <a:srgbClr val="FFFFFF"/>
                </a:solidFill>
                <a:latin typeface="Times New Roman"/>
                <a:ea typeface="Times New Roman"/>
                <a:cs typeface="Times New Roman"/>
              </a:rPr>
              <a:t>.</a:t>
            </a:r>
          </a:p>
        </p:txBody>
      </p:sp>
      <p:sp>
        <p:nvSpPr>
          <p:cNvPr id="6" name="square-overloads">
            <a:extLst xmlns:a="http://schemas.openxmlformats.org/drawingml/2006/main">
              <a:ext uri="{FF2B5EF4-FFF2-40B4-BE49-F238E27FC236}">
                <a16:creationId xmlns:a16="http://schemas.microsoft.com/office/drawing/2014/main" id="{1B8EF0D1-0CC2-4750-8517-54F16AF1C23A}"/>
              </a:ext>
            </a:extLst>
          </p:cNvPr>
          <p:cNvSpPr>
            <a:spLocks xmlns:a="http://schemas.openxmlformats.org/drawingml/2006/main" noGrp="1"/>
          </p:cNvSpPr>
          <p:nvPr/>
        </p:nvSpPr>
        <p:spPr>
          <a:xfrm xmlns:a="http://schemas.openxmlformats.org/drawingml/2006/main">
            <a:off x="3118075" y="4171950"/>
            <a:ext cx="745205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square(int x)</a:t>
            </a:r>
            <a:r>
              <a:rPr sz="2000">
                <a:solidFill>
                  <a:srgbClr val="FFFFFF"/>
                </a:solidFill>
                <a:latin typeface="Times New Roman"/>
                <a:ea typeface="Times New Roman"/>
                <a:cs typeface="Times New Roman"/>
              </a:rPr>
              <a:t> versus </a:t>
            </a:r>
            <a:r>
              <a:rPr sz="2000">
                <a:solidFill>
                  <a:srgbClr val="C5FAEB"/>
                </a:solidFill>
                <a:latin typeface="Courier New"/>
                <a:ea typeface="Courier New"/>
                <a:cs typeface="Courier New"/>
              </a:rPr>
              <a:t>square(double x)</a:t>
            </a:r>
          </a:p>
        </p:txBody>
      </p:sp>
      <p:sp>
        <p:nvSpPr>
          <p:cNvPr id="7" name="overload-behavior">
            <a:extLst xmlns:a="http://schemas.openxmlformats.org/drawingml/2006/main">
              <a:ext uri="{FF2B5EF4-FFF2-40B4-BE49-F238E27FC236}">
                <a16:creationId xmlns:a16="http://schemas.microsoft.com/office/drawing/2014/main" id="{BE852852-87AF-429F-8AFA-BEC0A4140262}"/>
              </a:ext>
            </a:extLst>
          </p:cNvPr>
          <p:cNvSpPr>
            <a:spLocks xmlns:a="http://schemas.openxmlformats.org/drawingml/2006/main" noGrp="1"/>
          </p:cNvSpPr>
          <p:nvPr/>
        </p:nvSpPr>
        <p:spPr>
          <a:xfrm xmlns:a="http://schemas.openxmlformats.org/drawingml/2006/main">
            <a:off x="3118075" y="4581525"/>
            <a:ext cx="745205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Overloads can behave differently.</a:t>
            </a:r>
          </a:p>
        </p:txBody>
      </p:sp>
      <p:sp>
        <p:nvSpPr>
          <p:cNvPr id="8" name="parametric-definition">
            <a:extLst xmlns:a="http://schemas.openxmlformats.org/drawingml/2006/main">
              <a:ext uri="{FF2B5EF4-FFF2-40B4-BE49-F238E27FC236}">
                <a16:creationId xmlns:a16="http://schemas.microsoft.com/office/drawing/2014/main" id="{647F2242-A6DC-41FC-8BFC-B515C227DC19}"/>
              </a:ext>
            </a:extLst>
          </p:cNvPr>
          <p:cNvSpPr>
            <a:spLocks xmlns:a="http://schemas.openxmlformats.org/drawingml/2006/main" noGrp="1"/>
          </p:cNvSpPr>
          <p:nvPr/>
        </p:nvSpPr>
        <p:spPr>
          <a:xfrm xmlns:a="http://schemas.openxmlformats.org/drawingml/2006/main">
            <a:off x="2773594" y="5057775"/>
            <a:ext cx="7796536"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Type parameters support </a:t>
            </a:r>
            <a:r>
              <a:rPr sz="2400" i="1">
                <a:solidFill>
                  <a:srgbClr val="C5FAEB"/>
                </a:solidFill>
                <a:latin typeface="Times New Roman"/>
                <a:ea typeface="Times New Roman"/>
                <a:cs typeface="Times New Roman"/>
              </a:rPr>
              <a:t>parametric polymorphism</a:t>
            </a:r>
            <a:r>
              <a:rPr sz="2400">
                <a:solidFill>
                  <a:srgbClr val="FFFFFF"/>
                </a:solidFill>
                <a:latin typeface="Times New Roman"/>
                <a:ea typeface="Times New Roman"/>
                <a:cs typeface="Times New Roman"/>
              </a:rPr>
              <a:t>.</a:t>
            </a:r>
          </a:p>
        </p:txBody>
      </p:sp>
      <p:sp>
        <p:nvSpPr>
          <p:cNvPr id="9" name="generic-sort">
            <a:extLst xmlns:a="http://schemas.openxmlformats.org/drawingml/2006/main">
              <a:ext uri="{FF2B5EF4-FFF2-40B4-BE49-F238E27FC236}">
                <a16:creationId xmlns:a16="http://schemas.microsoft.com/office/drawing/2014/main" id="{B216509D-42F2-40A8-8665-0FE22BA1F632}"/>
              </a:ext>
            </a:extLst>
          </p:cNvPr>
          <p:cNvSpPr>
            <a:spLocks xmlns:a="http://schemas.openxmlformats.org/drawingml/2006/main" noGrp="1"/>
          </p:cNvSpPr>
          <p:nvPr/>
        </p:nvSpPr>
        <p:spPr>
          <a:xfrm xmlns:a="http://schemas.openxmlformats.org/drawingml/2006/main">
            <a:off x="3118075" y="5800725"/>
            <a:ext cx="745205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sort(T[] A)</a:t>
            </a:r>
          </a:p>
        </p:txBody>
      </p:sp>
    </p:spTree>
    <p:extLst>
      <p:ext uri="{BB962C8B-B14F-4D97-AF65-F5344CB8AC3E}">
        <p14:creationId xmlns:p14="http://schemas.microsoft.com/office/powerpoint/2010/main" val="17793066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2E4788D-7945-4FB4-98D6-3479251B8189}"/>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OCaml / F# Type Variables</a:t>
            </a:r>
          </a:p>
        </p:txBody>
      </p:sp>
      <p:sp>
        <p:nvSpPr>
          <p:cNvPr id="2" name="slide-number">
            <a:extLst xmlns:a="http://schemas.openxmlformats.org/drawingml/2006/main">
              <a:ext uri="{FF2B5EF4-FFF2-40B4-BE49-F238E27FC236}">
                <a16:creationId xmlns:a16="http://schemas.microsoft.com/office/drawing/2014/main" id="{03A0B020-68F6-4D83-B61E-813E59E3E10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4</a:t>
            </a:r>
          </a:p>
        </p:txBody>
      </p:sp>
      <p:sp>
        <p:nvSpPr>
          <p:cNvPr id="3" name="ocaml-label">
            <a:extLst xmlns:a="http://schemas.openxmlformats.org/drawingml/2006/main">
              <a:ext uri="{FF2B5EF4-FFF2-40B4-BE49-F238E27FC236}">
                <a16:creationId xmlns:a16="http://schemas.microsoft.com/office/drawing/2014/main" id="{2CB1835F-4C98-4F1F-BF3B-914924C0DAA5}"/>
              </a:ext>
            </a:extLst>
          </p:cNvPr>
          <p:cNvSpPr>
            <a:spLocks xmlns:a="http://schemas.openxmlformats.org/drawingml/2006/main" noGrp="1"/>
          </p:cNvSpPr>
          <p:nvPr/>
        </p:nvSpPr>
        <p:spPr>
          <a:xfrm xmlns:a="http://schemas.openxmlformats.org/drawingml/2006/main">
            <a:off x="2773594" y="1914525"/>
            <a:ext cx="7796536"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OCaml notation</a:t>
            </a:r>
          </a:p>
        </p:txBody>
      </p:sp>
      <p:sp>
        <p:nvSpPr>
          <p:cNvPr id="4" name="ocaml-types">
            <a:extLst xmlns:a="http://schemas.openxmlformats.org/drawingml/2006/main">
              <a:ext uri="{FF2B5EF4-FFF2-40B4-BE49-F238E27FC236}">
                <a16:creationId xmlns:a16="http://schemas.microsoft.com/office/drawing/2014/main" id="{C3B87660-07F5-4401-994E-D04357E8C380}"/>
              </a:ext>
            </a:extLst>
          </p:cNvPr>
          <p:cNvSpPr>
            <a:spLocks xmlns:a="http://schemas.openxmlformats.org/drawingml/2006/main" noGrp="1"/>
          </p:cNvSpPr>
          <p:nvPr/>
        </p:nvSpPr>
        <p:spPr>
          <a:xfrm xmlns:a="http://schemas.openxmlformats.org/drawingml/2006/main">
            <a:off x="2865025" y="2333625"/>
            <a:ext cx="7705106" cy="15811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type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option</a:t>
            </a:r>
            <a:r>
              <a:rPr sz="2400">
                <a:solidFill>
                  <a:srgbClr val="FFFFFF"/>
                </a:solidFill>
                <a:latin typeface="Courier New"/>
                <a:ea typeface="Courier New"/>
                <a:cs typeface="Courier New"/>
              </a:rPr>
              <a:t> = </a:t>
            </a:r>
            <a:r>
              <a:rPr sz="2400">
                <a:solidFill>
                  <a:srgbClr val="DCDCAA"/>
                </a:solidFill>
                <a:latin typeface="Courier New"/>
                <a:ea typeface="Courier New"/>
                <a:cs typeface="Courier New"/>
              </a:rPr>
              <a:t>Some</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of</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 </a:t>
            </a:r>
            <a:r>
              <a:rPr sz="2400">
                <a:solidFill>
                  <a:srgbClr val="DCDCAA"/>
                </a:solidFill>
                <a:latin typeface="Courier New"/>
                <a:ea typeface="Courier New"/>
                <a:cs typeface="Courier New"/>
              </a:rPr>
              <a:t>None</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type</a:t>
            </a:r>
            <a:r>
              <a:rPr sz="2400">
                <a:solidFill>
                  <a:srgbClr val="FFFFFF"/>
                </a:solidFill>
                <a:latin typeface="Courier New"/>
                <a:ea typeface="Courier New"/>
                <a:cs typeface="Courier New"/>
              </a:rPr>
              <a:t> int_option = </a:t>
            </a:r>
            <a:r>
              <a:rPr sz="2400">
                <a:solidFill>
                  <a:srgbClr val="C586C0"/>
                </a:solidFill>
                <a:latin typeface="Courier New"/>
                <a:ea typeface="Courier New"/>
                <a:cs typeface="Courier New"/>
              </a:rPr>
              <a:t>int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option</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DCDCAA"/>
                </a:solidFill>
                <a:latin typeface="Courier New"/>
                <a:ea typeface="Courier New"/>
                <a:cs typeface="Courier New"/>
              </a:rPr>
              <a:t>compare</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-&gt; </a:t>
            </a:r>
            <a:r>
              <a:rPr sz="2400">
                <a:solidFill>
                  <a:srgbClr val="C586C0"/>
                </a:solidFill>
                <a:latin typeface="Courier New"/>
                <a:ea typeface="Courier New"/>
                <a:cs typeface="Courier New"/>
              </a:rPr>
              <a:t>int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9DB890"/>
                </a:solidFill>
                <a:latin typeface="Courier New"/>
                <a:ea typeface="Courier New"/>
                <a:cs typeface="Courier New"/>
              </a:rPr>
              <a:t>(* polymorphic comparison *)</a:t>
            </a:r>
          </a:p>
        </p:txBody>
      </p:sp>
      <p:sp>
        <p:nvSpPr>
          <p:cNvPr id="5" name="type-variable-rules">
            <a:extLst xmlns:a="http://schemas.openxmlformats.org/drawingml/2006/main">
              <a:ext uri="{FF2B5EF4-FFF2-40B4-BE49-F238E27FC236}">
                <a16:creationId xmlns:a16="http://schemas.microsoft.com/office/drawing/2014/main" id="{E85EA478-D9CB-4BE6-924C-05F58889DAF3}"/>
              </a:ext>
            </a:extLst>
          </p:cNvPr>
          <p:cNvSpPr>
            <a:spLocks xmlns:a="http://schemas.openxmlformats.org/drawingml/2006/main" noGrp="1"/>
          </p:cNvSpPr>
          <p:nvPr/>
        </p:nvSpPr>
        <p:spPr>
          <a:xfrm xmlns:a="http://schemas.openxmlformats.org/drawingml/2006/main">
            <a:off x="2773594" y="4086225"/>
            <a:ext cx="7796536"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'a</a:t>
            </a:r>
            <a:r>
              <a:rPr sz="2400">
                <a:solidFill>
                  <a:srgbClr val="FFFFFF"/>
                </a:solidFill>
                <a:latin typeface="Times New Roman"/>
                <a:ea typeface="Times New Roman"/>
                <a:cs typeface="Times New Roman"/>
              </a:rPr>
              <a:t> is a type variable; </a:t>
            </a:r>
            <a:r>
              <a:rPr sz="2400">
                <a:solidFill>
                  <a:srgbClr val="C5FAEB"/>
                </a:solidFill>
                <a:latin typeface="Courier New"/>
                <a:ea typeface="Courier New"/>
                <a:cs typeface="Courier New"/>
              </a:rPr>
              <a:t>option</a:t>
            </a:r>
            <a:r>
              <a:rPr sz="2400">
                <a:solidFill>
                  <a:srgbClr val="FFFFFF"/>
                </a:solidFill>
                <a:latin typeface="Times New Roman"/>
                <a:ea typeface="Times New Roman"/>
                <a:cs typeface="Times New Roman"/>
              </a:rPr>
              <a:t> is a type constructor.</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Ordinary type variables use an apostrophe, as in </a:t>
            </a:r>
            <a:r>
              <a:rPr sz="2400">
                <a:solidFill>
                  <a:srgbClr val="C5FAEB"/>
                </a:solidFill>
                <a:latin typeface="Courier New"/>
                <a:ea typeface="Courier New"/>
                <a:cs typeface="Courier New"/>
              </a:rPr>
              <a:t>'a</a:t>
            </a:r>
            <a:r>
              <a:rPr sz="2400">
                <a:solidFill>
                  <a:srgbClr val="FFFFFF"/>
                </a:solidFill>
                <a:latin typeface="Times New Roman"/>
                <a:ea typeface="Times New Roman"/>
                <a:cs typeface="Times New Roman"/>
              </a:rPr>
              <a:t>.</a:t>
            </a:r>
          </a:p>
        </p:txBody>
      </p:sp>
      <p:sp>
        <p:nvSpPr>
          <p:cNvPr id="6" name="ocaml-scope">
            <a:extLst xmlns:a="http://schemas.openxmlformats.org/drawingml/2006/main">
              <a:ext uri="{FF2B5EF4-FFF2-40B4-BE49-F238E27FC236}">
                <a16:creationId xmlns:a16="http://schemas.microsoft.com/office/drawing/2014/main" id="{E3D75E2B-9456-4AAC-BA81-F09D3006F9D6}"/>
              </a:ext>
            </a:extLst>
          </p:cNvPr>
          <p:cNvSpPr>
            <a:spLocks xmlns:a="http://schemas.openxmlformats.org/drawingml/2006/main" noGrp="1"/>
          </p:cNvSpPr>
          <p:nvPr/>
        </p:nvSpPr>
        <p:spPr>
          <a:xfrm xmlns:a="http://schemas.openxmlformats.org/drawingml/2006/main">
            <a:off x="2773594" y="5905500"/>
            <a:ext cx="7796536"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Further details of the type system are outside this lecture.</a:t>
            </a:r>
          </a:p>
        </p:txBody>
      </p:sp>
    </p:spTree>
    <p:extLst>
      <p:ext uri="{BB962C8B-B14F-4D97-AF65-F5344CB8AC3E}">
        <p14:creationId xmlns:p14="http://schemas.microsoft.com/office/powerpoint/2010/main" val="136291527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40F0C82-A8DF-4C89-ADD4-742CB91C43F1}"/>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Java Generics</a:t>
            </a:r>
          </a:p>
        </p:txBody>
      </p:sp>
      <p:sp>
        <p:nvSpPr>
          <p:cNvPr id="2" name="slide-number">
            <a:extLst xmlns:a="http://schemas.openxmlformats.org/drawingml/2006/main">
              <a:ext uri="{FF2B5EF4-FFF2-40B4-BE49-F238E27FC236}">
                <a16:creationId xmlns:a16="http://schemas.microsoft.com/office/drawing/2014/main" id="{C6CEE6D2-3D87-44A7-9157-3992AE304065}"/>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5</a:t>
            </a:r>
          </a:p>
        </p:txBody>
      </p:sp>
      <p:sp>
        <p:nvSpPr>
          <p:cNvPr id="3" name="java-reference-types">
            <a:extLst xmlns:a="http://schemas.openxmlformats.org/drawingml/2006/main">
              <a:ext uri="{FF2B5EF4-FFF2-40B4-BE49-F238E27FC236}">
                <a16:creationId xmlns:a16="http://schemas.microsoft.com/office/drawing/2014/main" id="{A7A1198E-4539-409E-8FDC-ACB335465DE6}"/>
              </a:ext>
            </a:extLst>
          </p:cNvPr>
          <p:cNvSpPr>
            <a:spLocks xmlns:a="http://schemas.openxmlformats.org/drawingml/2006/main" noGrp="1"/>
          </p:cNvSpPr>
          <p:nvPr/>
        </p:nvSpPr>
        <p:spPr>
          <a:xfrm xmlns:a="http://schemas.openxmlformats.org/drawingml/2006/main">
            <a:off x="2773594" y="1952625"/>
            <a:ext cx="7796536"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Type parameters stand for reference types.</a:t>
            </a:r>
          </a:p>
        </p:txBody>
      </p:sp>
      <p:sp>
        <p:nvSpPr>
          <p:cNvPr id="4" name="arraylist-example">
            <a:extLst xmlns:a="http://schemas.openxmlformats.org/drawingml/2006/main">
              <a:ext uri="{FF2B5EF4-FFF2-40B4-BE49-F238E27FC236}">
                <a16:creationId xmlns:a16="http://schemas.microsoft.com/office/drawing/2014/main" id="{B3B52912-C01E-49F6-8063-D8CC12678D30}"/>
              </a:ext>
            </a:extLst>
          </p:cNvPr>
          <p:cNvSpPr>
            <a:spLocks xmlns:a="http://schemas.openxmlformats.org/drawingml/2006/main" noGrp="1"/>
          </p:cNvSpPr>
          <p:nvPr/>
        </p:nvSpPr>
        <p:spPr>
          <a:xfrm xmlns:a="http://schemas.openxmlformats.org/drawingml/2006/main">
            <a:off x="2865025" y="2733675"/>
            <a:ext cx="7705106" cy="5810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FAEB"/>
                </a:solidFill>
                <a:latin typeface="Courier New"/>
                <a:ea typeface="Courier New"/>
                <a:cs typeface="Courier New"/>
              </a:rPr>
              <a:t>ArrayList</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Number</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lst</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new</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ArrayList</a:t>
            </a:r>
            <a:r>
              <a:rPr sz="2000">
                <a:solidFill>
                  <a:srgbClr val="FFFFFF"/>
                </a:solidFill>
                <a:latin typeface="Courier New"/>
                <a:ea typeface="Courier New"/>
                <a:cs typeface="Courier New"/>
              </a:rPr>
              <a:t>&lt;&gt;();</a:t>
            </a:r>
          </a:p>
        </p:txBody>
      </p:sp>
      <p:sp>
        <p:nvSpPr>
          <p:cNvPr id="5" name="java-erasure">
            <a:extLst xmlns:a="http://schemas.openxmlformats.org/drawingml/2006/main">
              <a:ext uri="{FF2B5EF4-FFF2-40B4-BE49-F238E27FC236}">
                <a16:creationId xmlns:a16="http://schemas.microsoft.com/office/drawing/2014/main" id="{7BEE892B-D634-455E-915F-336063D968A8}"/>
              </a:ext>
            </a:extLst>
          </p:cNvPr>
          <p:cNvSpPr>
            <a:spLocks xmlns:a="http://schemas.openxmlformats.org/drawingml/2006/main" noGrp="1"/>
          </p:cNvSpPr>
          <p:nvPr/>
        </p:nvSpPr>
        <p:spPr>
          <a:xfrm xmlns:a="http://schemas.openxmlformats.org/drawingml/2006/main">
            <a:off x="2773594" y="3505200"/>
            <a:ext cx="7796536"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An unbounded type variable erases to </a:t>
            </a:r>
            <a:r>
              <a:rPr sz="2400">
                <a:solidFill>
                  <a:srgbClr val="C5FAEB"/>
                </a:solidFill>
                <a:latin typeface="Courier New"/>
                <a:ea typeface="Courier New"/>
                <a:cs typeface="Courier New"/>
              </a:rPr>
              <a:t>Object</a:t>
            </a:r>
            <a:r>
              <a:rPr sz="2400">
                <a:solidFill>
                  <a:srgbClr val="FFFFFF"/>
                </a:solidFill>
                <a:latin typeface="Times New Roman"/>
                <a:ea typeface="Times New Roman"/>
                <a:cs typeface="Times New Roman"/>
              </a:rPr>
              <a:t>.</a:t>
            </a:r>
          </a:p>
        </p:txBody>
      </p:sp>
      <p:sp>
        <p:nvSpPr>
          <p:cNvPr id="6" name="node-class">
            <a:extLst xmlns:a="http://schemas.openxmlformats.org/drawingml/2006/main">
              <a:ext uri="{FF2B5EF4-FFF2-40B4-BE49-F238E27FC236}">
                <a16:creationId xmlns:a16="http://schemas.microsoft.com/office/drawing/2014/main" id="{822E4473-4BFF-4BFF-99CF-93EA624CE784}"/>
              </a:ext>
            </a:extLst>
          </p:cNvPr>
          <p:cNvSpPr>
            <a:spLocks xmlns:a="http://schemas.openxmlformats.org/drawingml/2006/main" noGrp="1"/>
          </p:cNvSpPr>
          <p:nvPr/>
        </p:nvSpPr>
        <p:spPr>
          <a:xfrm xmlns:a="http://schemas.openxmlformats.org/drawingml/2006/main">
            <a:off x="2865025" y="4514850"/>
            <a:ext cx="7705106" cy="15811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public</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class</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Node</a:t>
            </a:r>
            <a:r>
              <a:rPr sz="2400">
                <a:solidFill>
                  <a:srgbClr val="FFFFFF"/>
                </a:solidFill>
                <a:latin typeface="Courier New"/>
                <a:ea typeface="Courier New"/>
                <a:cs typeface="Courier New"/>
              </a:rPr>
              <a:t>&lt;</a:t>
            </a:r>
            <a:r>
              <a:rPr sz="2400">
                <a:solidFill>
                  <a:srgbClr val="C5FAEB"/>
                </a:solidFill>
                <a:latin typeface="Courier New"/>
                <a:ea typeface="Courier New"/>
                <a:cs typeface="Courier New"/>
              </a:rPr>
              <a:t>E</a:t>
            </a:r>
            <a:r>
              <a:rPr sz="2400">
                <a:solidFill>
                  <a:srgbClr val="FFFFFF"/>
                </a:solidFill>
                <a:latin typeface="Courier New"/>
                <a:ea typeface="Courier New"/>
                <a:cs typeface="Courier New"/>
              </a:rPr>
              <a:t>&gt;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private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data</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private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Node</a:t>
            </a:r>
            <a:r>
              <a:rPr sz="2400">
                <a:solidFill>
                  <a:srgbClr val="FFFFFF"/>
                </a:solidFill>
                <a:latin typeface="Courier New"/>
                <a:ea typeface="Courier New"/>
                <a:cs typeface="Courier New"/>
              </a:rPr>
              <a:t>&lt;</a:t>
            </a:r>
            <a:r>
              <a:rPr sz="2400">
                <a:solidFill>
                  <a:srgbClr val="C5FAEB"/>
                </a:solidFill>
                <a:latin typeface="Courier New"/>
                <a:ea typeface="Courier New"/>
                <a:cs typeface="Courier New"/>
              </a:rPr>
              <a:t>E</a:t>
            </a:r>
            <a:r>
              <a:rPr sz="2400">
                <a:solidFill>
                  <a:srgbClr val="FFFFFF"/>
                </a:solidFill>
                <a:latin typeface="Courier New"/>
                <a:ea typeface="Courier New"/>
                <a:cs typeface="Courier New"/>
              </a:rPr>
              <a:t>&gt; </a:t>
            </a:r>
            <a:r>
              <a:rPr sz="2400">
                <a:solidFill>
                  <a:srgbClr val="C5FAEB"/>
                </a:solidFill>
                <a:latin typeface="Courier New"/>
                <a:ea typeface="Courier New"/>
                <a:cs typeface="Courier New"/>
              </a:rPr>
              <a:t>next</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p>
        </p:txBody>
      </p:sp>
    </p:spTree>
    <p:extLst>
      <p:ext uri="{BB962C8B-B14F-4D97-AF65-F5344CB8AC3E}">
        <p14:creationId xmlns:p14="http://schemas.microsoft.com/office/powerpoint/2010/main" val="2151547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39E9833-EFDB-48EE-9F45-F761D2352D88}"/>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Java Generics with Constraints</a:t>
            </a:r>
          </a:p>
        </p:txBody>
      </p:sp>
      <p:sp>
        <p:nvSpPr>
          <p:cNvPr id="2" name="slide-number">
            <a:extLst xmlns:a="http://schemas.openxmlformats.org/drawingml/2006/main">
              <a:ext uri="{FF2B5EF4-FFF2-40B4-BE49-F238E27FC236}">
                <a16:creationId xmlns:a16="http://schemas.microsoft.com/office/drawing/2014/main" id="{507050C3-A3A3-4134-AFA5-0F3BB289DE3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6</a:t>
            </a:r>
          </a:p>
        </p:txBody>
      </p:sp>
      <p:sp>
        <p:nvSpPr>
          <p:cNvPr id="3" name="java-upper-bound">
            <a:extLst xmlns:a="http://schemas.openxmlformats.org/drawingml/2006/main">
              <a:ext uri="{FF2B5EF4-FFF2-40B4-BE49-F238E27FC236}">
                <a16:creationId xmlns:a16="http://schemas.microsoft.com/office/drawing/2014/main" id="{DE643BA3-BB29-41B2-A1A9-4F34700EEBB1}"/>
              </a:ext>
            </a:extLst>
          </p:cNvPr>
          <p:cNvSpPr>
            <a:spLocks xmlns:a="http://schemas.openxmlformats.org/drawingml/2006/main" noGrp="1"/>
          </p:cNvSpPr>
          <p:nvPr/>
        </p:nvSpPr>
        <p:spPr>
          <a:xfrm xmlns:a="http://schemas.openxmlformats.org/drawingml/2006/main">
            <a:off x="2773594" y="1952625"/>
            <a:ext cx="7796536"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An upper bound restricts a type parameter.</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E</a:t>
            </a:r>
            <a:r>
              <a:rPr sz="2400">
                <a:solidFill>
                  <a:srgbClr val="FFFFFF"/>
                </a:solidFill>
                <a:latin typeface="Times New Roman"/>
                <a:ea typeface="Times New Roman"/>
                <a:cs typeface="Times New Roman"/>
              </a:rPr>
              <a:t> must implement </a:t>
            </a:r>
            <a:r>
              <a:rPr sz="2400">
                <a:solidFill>
                  <a:srgbClr val="C5FAEB"/>
                </a:solidFill>
                <a:latin typeface="Courier New"/>
                <a:ea typeface="Courier New"/>
                <a:cs typeface="Courier New"/>
              </a:rPr>
              <a:t>Comparable&lt;E&gt;</a:t>
            </a:r>
            <a:r>
              <a:rPr sz="2400">
                <a:solidFill>
                  <a:srgbClr val="FFFFFF"/>
                </a:solidFill>
                <a:latin typeface="Times New Roman"/>
                <a:ea typeface="Times New Roman"/>
                <a:cs typeface="Times New Roman"/>
              </a:rPr>
              <a:t>.</a:t>
            </a:r>
          </a:p>
        </p:txBody>
      </p:sp>
      <p:sp>
        <p:nvSpPr>
          <p:cNvPr id="4" name="bstnode-class">
            <a:extLst xmlns:a="http://schemas.openxmlformats.org/drawingml/2006/main">
              <a:ext uri="{FF2B5EF4-FFF2-40B4-BE49-F238E27FC236}">
                <a16:creationId xmlns:a16="http://schemas.microsoft.com/office/drawing/2014/main" id="{1E23EA11-9DEA-4E72-A0BE-915E3A53F359}"/>
              </a:ext>
            </a:extLst>
          </p:cNvPr>
          <p:cNvSpPr>
            <a:spLocks xmlns:a="http://schemas.openxmlformats.org/drawingml/2006/main" noGrp="1"/>
          </p:cNvSpPr>
          <p:nvPr/>
        </p:nvSpPr>
        <p:spPr>
          <a:xfrm xmlns:a="http://schemas.openxmlformats.org/drawingml/2006/main">
            <a:off x="2865025" y="3562350"/>
            <a:ext cx="7705106" cy="1628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BstNode</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E</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extends</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Comparable</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E</a:t>
            </a:r>
            <a:r>
              <a:rPr sz="2000">
                <a:solidFill>
                  <a:srgbClr val="FFFFFF"/>
                </a:solidFill>
                <a:latin typeface="Courier New"/>
                <a:ea typeface="Courier New"/>
                <a:cs typeface="Courier New"/>
              </a:rPr>
              <a:t>&gt;&gt;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private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data</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private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BstNode</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E</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left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private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BstNode</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E</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right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bounded-erasure">
            <a:extLst xmlns:a="http://schemas.openxmlformats.org/drawingml/2006/main">
              <a:ext uri="{FF2B5EF4-FFF2-40B4-BE49-F238E27FC236}">
                <a16:creationId xmlns:a16="http://schemas.microsoft.com/office/drawing/2014/main" id="{1500D936-5C68-41EC-8948-3197FA180A08}"/>
              </a:ext>
            </a:extLst>
          </p:cNvPr>
          <p:cNvSpPr>
            <a:spLocks xmlns:a="http://schemas.openxmlformats.org/drawingml/2006/main" noGrp="1"/>
          </p:cNvSpPr>
          <p:nvPr/>
        </p:nvSpPr>
        <p:spPr>
          <a:xfrm xmlns:a="http://schemas.openxmlformats.org/drawingml/2006/main">
            <a:off x="2773594" y="5581650"/>
            <a:ext cx="7796536"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Erasure replaces </a:t>
            </a:r>
            <a:r>
              <a:rPr sz="2000">
                <a:solidFill>
                  <a:srgbClr val="C5FAEB"/>
                </a:solidFill>
                <a:latin typeface="Courier New"/>
                <a:ea typeface="Courier New"/>
                <a:cs typeface="Courier New"/>
              </a:rPr>
              <a:t>E</a:t>
            </a:r>
            <a:r>
              <a:rPr sz="2000">
                <a:solidFill>
                  <a:srgbClr val="FFFFFF"/>
                </a:solidFill>
                <a:latin typeface="Times New Roman"/>
                <a:ea typeface="Times New Roman"/>
                <a:cs typeface="Times New Roman"/>
              </a:rPr>
              <a:t> with raw </a:t>
            </a:r>
            <a:r>
              <a:rPr sz="2000">
                <a:solidFill>
                  <a:srgbClr val="C5FAEB"/>
                </a:solidFill>
                <a:latin typeface="Courier New"/>
                <a:ea typeface="Courier New"/>
                <a:cs typeface="Courier New"/>
              </a:rPr>
              <a:t>Comparable</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77213181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FFBFBD5-64D0-47CA-BD87-EC6EEB42FFD5}"/>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Java Wildcards</a:t>
            </a:r>
          </a:p>
        </p:txBody>
      </p:sp>
      <p:sp>
        <p:nvSpPr>
          <p:cNvPr id="2" name="slide-number">
            <a:extLst xmlns:a="http://schemas.openxmlformats.org/drawingml/2006/main">
              <a:ext uri="{FF2B5EF4-FFF2-40B4-BE49-F238E27FC236}">
                <a16:creationId xmlns:a16="http://schemas.microsoft.com/office/drawing/2014/main" id="{192CFC92-CE72-4FD4-9DD4-1306351D25B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7</a:t>
            </a:r>
          </a:p>
        </p:txBody>
      </p:sp>
      <p:sp>
        <p:nvSpPr>
          <p:cNvPr id="3" name="wildcard-rules">
            <a:extLst xmlns:a="http://schemas.openxmlformats.org/drawingml/2006/main">
              <a:ext uri="{FF2B5EF4-FFF2-40B4-BE49-F238E27FC236}">
                <a16:creationId xmlns:a16="http://schemas.microsoft.com/office/drawing/2014/main" id="{23253AF3-A595-4225-9BCE-90E7CFE3960E}"/>
              </a:ext>
            </a:extLst>
          </p:cNvPr>
          <p:cNvSpPr>
            <a:spLocks xmlns:a="http://schemas.openxmlformats.org/drawingml/2006/main" noGrp="1"/>
          </p:cNvSpPr>
          <p:nvPr/>
        </p:nvSpPr>
        <p:spPr>
          <a:xfrm xmlns:a="http://schemas.openxmlformats.org/drawingml/2006/main">
            <a:off x="2773594" y="1952625"/>
            <a:ext cx="7796536"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a:t>
            </a:r>
            <a:r>
              <a:rPr sz="2400">
                <a:solidFill>
                  <a:srgbClr val="FFFFFF"/>
                </a:solidFill>
                <a:latin typeface="Times New Roman"/>
                <a:ea typeface="Times New Roman"/>
                <a:cs typeface="Times New Roman"/>
              </a:rPr>
              <a:t> denotes an unknown type argument.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&lt;T&gt;</a:t>
            </a:r>
            <a:r>
              <a:rPr sz="2400">
                <a:solidFill>
                  <a:srgbClr val="FFFFFF"/>
                </a:solidFill>
                <a:latin typeface="Times New Roman"/>
                <a:ea typeface="Times New Roman"/>
                <a:cs typeface="Times New Roman"/>
              </a:rPr>
              <a:t> gives a type a name for related uses.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Wildcards support upper and lower bounds.</a:t>
            </a:r>
          </a:p>
        </p:txBody>
      </p:sp>
      <p:sp>
        <p:nvSpPr>
          <p:cNvPr id="4" name="collection-size">
            <a:extLst xmlns:a="http://schemas.openxmlformats.org/drawingml/2006/main">
              <a:ext uri="{FF2B5EF4-FFF2-40B4-BE49-F238E27FC236}">
                <a16:creationId xmlns:a16="http://schemas.microsoft.com/office/drawing/2014/main" id="{DD896472-4F3F-4FDF-8B87-C2DEB500D8D8}"/>
              </a:ext>
            </a:extLst>
          </p:cNvPr>
          <p:cNvSpPr>
            <a:spLocks xmlns:a="http://schemas.openxmlformats.org/drawingml/2006/main" noGrp="1"/>
          </p:cNvSpPr>
          <p:nvPr/>
        </p:nvSpPr>
        <p:spPr>
          <a:xfrm xmlns:a="http://schemas.openxmlformats.org/drawingml/2006/main">
            <a:off x="2865025" y="4295775"/>
            <a:ext cx="7705106" cy="11144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static</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Collection</a:t>
            </a:r>
            <a:r>
              <a:rPr sz="2000">
                <a:solidFill>
                  <a:srgbClr val="FFFFFF"/>
                </a:solidFill>
                <a:latin typeface="Courier New"/>
                <a:ea typeface="Courier New"/>
                <a:cs typeface="Courier New"/>
              </a:rPr>
              <a:t>&lt;?&gt; </a:t>
            </a:r>
            <a:r>
              <a:rPr sz="2000">
                <a:solidFill>
                  <a:srgbClr val="C5FAEB"/>
                </a:solidFill>
                <a:latin typeface="Courier New"/>
                <a:ea typeface="Courier New"/>
                <a:cs typeface="Courier New"/>
              </a:rPr>
              <a:t>obj</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obj</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wildcard-reading">
            <a:extLst xmlns:a="http://schemas.openxmlformats.org/drawingml/2006/main">
              <a:ext uri="{FF2B5EF4-FFF2-40B4-BE49-F238E27FC236}">
                <a16:creationId xmlns:a16="http://schemas.microsoft.com/office/drawing/2014/main" id="{63B57A62-3E61-43F9-92C9-F5A4B435872A}"/>
              </a:ext>
            </a:extLst>
          </p:cNvPr>
          <p:cNvSpPr>
            <a:spLocks xmlns:a="http://schemas.openxmlformats.org/drawingml/2006/main" noGrp="1"/>
          </p:cNvSpPr>
          <p:nvPr/>
        </p:nvSpPr>
        <p:spPr>
          <a:xfrm xmlns:a="http://schemas.openxmlformats.org/drawingml/2006/main">
            <a:off x="2773594" y="5810250"/>
            <a:ext cx="7796536"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With </a:t>
            </a:r>
            <a:r>
              <a:rPr sz="2000">
                <a:solidFill>
                  <a:srgbClr val="C5FAEB"/>
                </a:solidFill>
                <a:latin typeface="Courier New"/>
                <a:ea typeface="Courier New"/>
                <a:cs typeface="Courier New"/>
              </a:rPr>
              <a:t>Collection&lt;?&gt;</a:t>
            </a:r>
            <a:r>
              <a:rPr sz="2000">
                <a:solidFill>
                  <a:srgbClr val="FFFFFF"/>
                </a:solidFill>
                <a:latin typeface="Times New Roman"/>
                <a:ea typeface="Times New Roman"/>
                <a:cs typeface="Times New Roman"/>
              </a:rPr>
              <a:t>, read elements as </a:t>
            </a:r>
            <a:r>
              <a:rPr sz="2000">
                <a:solidFill>
                  <a:srgbClr val="C5FAEB"/>
                </a:solidFill>
                <a:latin typeface="Courier New"/>
                <a:ea typeface="Courier New"/>
                <a:cs typeface="Courier New"/>
              </a:rPr>
              <a:t>Object</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15412474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FE158E5-7B05-4B39-9870-63913BBF6E12}"/>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Java Wildcards with Constraints</a:t>
            </a:r>
          </a:p>
        </p:txBody>
      </p:sp>
      <p:sp>
        <p:nvSpPr>
          <p:cNvPr id="2" name="slide-number">
            <a:extLst xmlns:a="http://schemas.openxmlformats.org/drawingml/2006/main">
              <a:ext uri="{FF2B5EF4-FFF2-40B4-BE49-F238E27FC236}">
                <a16:creationId xmlns:a16="http://schemas.microsoft.com/office/drawing/2014/main" id="{1D5D787B-5A7F-44CA-B515-C1D269F7136D}"/>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8</a:t>
            </a:r>
          </a:p>
        </p:txBody>
      </p:sp>
      <p:sp>
        <p:nvSpPr>
          <p:cNvPr id="3" name="upper-heading">
            <a:extLst xmlns:a="http://schemas.openxmlformats.org/drawingml/2006/main">
              <a:ext uri="{FF2B5EF4-FFF2-40B4-BE49-F238E27FC236}">
                <a16:creationId xmlns:a16="http://schemas.microsoft.com/office/drawing/2014/main" id="{332149BE-2D00-4667-89A6-ADE646533941}"/>
              </a:ext>
            </a:extLst>
          </p:cNvPr>
          <p:cNvSpPr>
            <a:spLocks xmlns:a="http://schemas.openxmlformats.org/drawingml/2006/main" noGrp="1"/>
          </p:cNvSpPr>
          <p:nvPr/>
        </p:nvSpPr>
        <p:spPr>
          <a:xfrm xmlns:a="http://schemas.openxmlformats.org/drawingml/2006/main">
            <a:off x="2773594" y="1952625"/>
            <a:ext cx="7796536"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FFFFFF"/>
                </a:solidFill>
                <a:latin typeface="Times New Roman"/>
                <a:ea typeface="Times New Roman"/>
                <a:cs typeface="Times New Roman"/>
              </a:defRPr>
            </a:pPr>
            <a:r>
              <a:rPr sz="2400">
                <a:solidFill>
                  <a:srgbClr val="8EC0C1"/>
                </a:solidFill>
                <a:latin typeface="Times New Roman"/>
                <a:ea typeface="Times New Roman"/>
                <a:cs typeface="Times New Roman"/>
              </a:rPr>
              <a:t>Upper bound: </a:t>
            </a:r>
            <a:r>
              <a:rPr sz="2400">
                <a:solidFill>
                  <a:srgbClr val="C5FAEB"/>
                </a:solidFill>
                <a:latin typeface="Courier New"/>
                <a:ea typeface="Courier New"/>
                <a:cs typeface="Courier New"/>
              </a:rPr>
              <a:t>? extends X</a:t>
            </a:r>
          </a:p>
        </p:txBody>
      </p:sp>
      <p:sp>
        <p:nvSpPr>
          <p:cNvPr id="4" name="upper-signature">
            <a:extLst xmlns:a="http://schemas.openxmlformats.org/drawingml/2006/main">
              <a:ext uri="{FF2B5EF4-FFF2-40B4-BE49-F238E27FC236}">
                <a16:creationId xmlns:a16="http://schemas.microsoft.com/office/drawing/2014/main" id="{1A5C752A-A51C-4F60-B0C0-68A1C975FE6A}"/>
              </a:ext>
            </a:extLst>
          </p:cNvPr>
          <p:cNvSpPr>
            <a:spLocks xmlns:a="http://schemas.openxmlformats.org/drawingml/2006/main" noGrp="1"/>
          </p:cNvSpPr>
          <p:nvPr/>
        </p:nvSpPr>
        <p:spPr>
          <a:xfrm xmlns:a="http://schemas.openxmlformats.org/drawingml/2006/main">
            <a:off x="2865025" y="2609850"/>
            <a:ext cx="7705106" cy="5810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void</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foo</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&lt;? </a:t>
            </a:r>
            <a:r>
              <a:rPr sz="2000">
                <a:solidFill>
                  <a:srgbClr val="C586C0"/>
                </a:solidFill>
                <a:latin typeface="Courier New"/>
                <a:ea typeface="Courier New"/>
                <a:cs typeface="Courier New"/>
              </a:rPr>
              <a:t>extends</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Number</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nums</a:t>
            </a:r>
            <a:r>
              <a:rPr sz="2000">
                <a:solidFill>
                  <a:srgbClr val="FFFFFF"/>
                </a:solidFill>
                <a:latin typeface="Courier New"/>
                <a:ea typeface="Courier New"/>
                <a:cs typeface="Courier New"/>
              </a:rPr>
              <a:t>)</a:t>
            </a:r>
          </a:p>
        </p:txBody>
      </p:sp>
      <p:sp>
        <p:nvSpPr>
          <p:cNvPr id="5" name="upper-explanation">
            <a:extLst xmlns:a="http://schemas.openxmlformats.org/drawingml/2006/main">
              <a:ext uri="{FF2B5EF4-FFF2-40B4-BE49-F238E27FC236}">
                <a16:creationId xmlns:a16="http://schemas.microsoft.com/office/drawing/2014/main" id="{92D711EA-6F95-4C81-BC99-574F78AA99BC}"/>
              </a:ext>
            </a:extLst>
          </p:cNvPr>
          <p:cNvSpPr>
            <a:spLocks xmlns:a="http://schemas.openxmlformats.org/drawingml/2006/main" noGrp="1"/>
          </p:cNvSpPr>
          <p:nvPr/>
        </p:nvSpPr>
        <p:spPr>
          <a:xfrm xmlns:a="http://schemas.openxmlformats.org/drawingml/2006/main">
            <a:off x="2773594" y="3305175"/>
            <a:ext cx="7796536"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Unknown subtype of </a:t>
            </a:r>
            <a:r>
              <a:rPr sz="2000">
                <a:solidFill>
                  <a:srgbClr val="C5FAEB"/>
                </a:solidFill>
                <a:latin typeface="Courier New"/>
                <a:ea typeface="Courier New"/>
                <a:cs typeface="Courier New"/>
              </a:rPr>
              <a:t>X</a:t>
            </a:r>
            <a:r>
              <a:rPr sz="2000">
                <a:solidFill>
                  <a:srgbClr val="FFFFFF"/>
                </a:solidFill>
                <a:latin typeface="Times New Roman"/>
                <a:ea typeface="Times New Roman"/>
                <a:cs typeface="Times New Roman"/>
              </a:rPr>
              <a:t>, possibly </a:t>
            </a:r>
            <a:r>
              <a:rPr sz="2000">
                <a:solidFill>
                  <a:srgbClr val="C5FAEB"/>
                </a:solidFill>
                <a:latin typeface="Courier New"/>
                <a:ea typeface="Courier New"/>
                <a:cs typeface="Courier New"/>
              </a:rPr>
              <a:t>X</a:t>
            </a:r>
            <a:r>
              <a:rPr sz="2000">
                <a:solidFill>
                  <a:srgbClr val="FFFFFF"/>
                </a:solidFill>
                <a:latin typeface="Times New Roman"/>
                <a:ea typeface="Times New Roman"/>
                <a:cs typeface="Times New Roman"/>
              </a:rPr>
              <a:t> itself.</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Read a </a:t>
            </a:r>
            <a:r>
              <a:rPr sz="2000">
                <a:solidFill>
                  <a:srgbClr val="C5FAEB"/>
                </a:solidFill>
                <a:latin typeface="Courier New"/>
                <a:ea typeface="Courier New"/>
                <a:cs typeface="Courier New"/>
              </a:rPr>
              <a:t>Number</a:t>
            </a:r>
            <a:r>
              <a:rPr sz="2000">
                <a:solidFill>
                  <a:srgbClr val="FFFFFF"/>
                </a:solidFill>
                <a:latin typeface="Times New Roman"/>
                <a:ea typeface="Times New Roman"/>
                <a:cs typeface="Times New Roman"/>
              </a:rPr>
              <a:t>; cannot add an arbitrary number.</a:t>
            </a:r>
          </a:p>
        </p:txBody>
      </p:sp>
      <p:sp>
        <p:nvSpPr>
          <p:cNvPr id="6" name="lower-heading">
            <a:extLst xmlns:a="http://schemas.openxmlformats.org/drawingml/2006/main">
              <a:ext uri="{FF2B5EF4-FFF2-40B4-BE49-F238E27FC236}">
                <a16:creationId xmlns:a16="http://schemas.microsoft.com/office/drawing/2014/main" id="{57DCD3BB-E53F-4394-B330-A9A36F35AC1B}"/>
              </a:ext>
            </a:extLst>
          </p:cNvPr>
          <p:cNvSpPr>
            <a:spLocks xmlns:a="http://schemas.openxmlformats.org/drawingml/2006/main" noGrp="1"/>
          </p:cNvSpPr>
          <p:nvPr/>
        </p:nvSpPr>
        <p:spPr>
          <a:xfrm xmlns:a="http://schemas.openxmlformats.org/drawingml/2006/main">
            <a:off x="2773594" y="4295775"/>
            <a:ext cx="7796536"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FFFFFF"/>
                </a:solidFill>
                <a:latin typeface="Times New Roman"/>
                <a:ea typeface="Times New Roman"/>
                <a:cs typeface="Times New Roman"/>
              </a:defRPr>
            </a:pPr>
            <a:r>
              <a:rPr sz="2400">
                <a:solidFill>
                  <a:srgbClr val="8EC0C1"/>
                </a:solidFill>
                <a:latin typeface="Times New Roman"/>
                <a:ea typeface="Times New Roman"/>
                <a:cs typeface="Times New Roman"/>
              </a:rPr>
              <a:t>Lower bound: </a:t>
            </a:r>
            <a:r>
              <a:rPr sz="2400">
                <a:solidFill>
                  <a:srgbClr val="C5FAEB"/>
                </a:solidFill>
                <a:latin typeface="Courier New"/>
                <a:ea typeface="Courier New"/>
                <a:cs typeface="Courier New"/>
              </a:rPr>
              <a:t>? super Y</a:t>
            </a:r>
          </a:p>
        </p:txBody>
      </p:sp>
      <p:sp>
        <p:nvSpPr>
          <p:cNvPr id="7" name="lower-signature">
            <a:extLst xmlns:a="http://schemas.openxmlformats.org/drawingml/2006/main">
              <a:ext uri="{FF2B5EF4-FFF2-40B4-BE49-F238E27FC236}">
                <a16:creationId xmlns:a16="http://schemas.microsoft.com/office/drawing/2014/main" id="{FA2A32A1-0EC7-4568-B28E-33D1904BFA7C}"/>
              </a:ext>
            </a:extLst>
          </p:cNvPr>
          <p:cNvSpPr>
            <a:spLocks xmlns:a="http://schemas.openxmlformats.org/drawingml/2006/main" noGrp="1"/>
          </p:cNvSpPr>
          <p:nvPr/>
        </p:nvSpPr>
        <p:spPr>
          <a:xfrm xmlns:a="http://schemas.openxmlformats.org/drawingml/2006/main">
            <a:off x="2865025" y="4886325"/>
            <a:ext cx="7705106" cy="5810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void</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bar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&lt;? </a:t>
            </a:r>
            <a:r>
              <a:rPr sz="2000">
                <a:solidFill>
                  <a:srgbClr val="C586C0"/>
                </a:solidFill>
                <a:latin typeface="Courier New"/>
                <a:ea typeface="Courier New"/>
                <a:cs typeface="Courier New"/>
              </a:rPr>
              <a:t>super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Integer</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a:t>
            </a:r>
          </a:p>
        </p:txBody>
      </p:sp>
      <p:sp>
        <p:nvSpPr>
          <p:cNvPr id="8" name="lower-explanation">
            <a:extLst xmlns:a="http://schemas.openxmlformats.org/drawingml/2006/main">
              <a:ext uri="{FF2B5EF4-FFF2-40B4-BE49-F238E27FC236}">
                <a16:creationId xmlns:a16="http://schemas.microsoft.com/office/drawing/2014/main" id="{75082666-AE7C-417B-98C1-1AED1A9D6D3E}"/>
              </a:ext>
            </a:extLst>
          </p:cNvPr>
          <p:cNvSpPr>
            <a:spLocks xmlns:a="http://schemas.openxmlformats.org/drawingml/2006/main" noGrp="1"/>
          </p:cNvSpPr>
          <p:nvPr/>
        </p:nvSpPr>
        <p:spPr>
          <a:xfrm xmlns:a="http://schemas.openxmlformats.org/drawingml/2006/main">
            <a:off x="2773594" y="5591175"/>
            <a:ext cx="7796536"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Unknown supertype of </a:t>
            </a:r>
            <a:r>
              <a:rPr sz="2000">
                <a:solidFill>
                  <a:srgbClr val="C5FAEB"/>
                </a:solidFill>
                <a:latin typeface="Courier New"/>
                <a:ea typeface="Courier New"/>
                <a:cs typeface="Courier New"/>
              </a:rPr>
              <a:t>Y</a:t>
            </a:r>
            <a:r>
              <a:rPr sz="2000">
                <a:solidFill>
                  <a:srgbClr val="FFFFFF"/>
                </a:solidFill>
                <a:latin typeface="Times New Roman"/>
                <a:ea typeface="Times New Roman"/>
                <a:cs typeface="Times New Roman"/>
              </a:rPr>
              <a:t>, possibly </a:t>
            </a:r>
            <a:r>
              <a:rPr sz="2000">
                <a:solidFill>
                  <a:srgbClr val="C5FAEB"/>
                </a:solidFill>
                <a:latin typeface="Courier New"/>
                <a:ea typeface="Courier New"/>
                <a:cs typeface="Courier New"/>
              </a:rPr>
              <a:t>Y</a:t>
            </a:r>
            <a:r>
              <a:rPr sz="2000">
                <a:solidFill>
                  <a:srgbClr val="FFFFFF"/>
                </a:solidFill>
                <a:latin typeface="Times New Roman"/>
                <a:ea typeface="Times New Roman"/>
                <a:cs typeface="Times New Roman"/>
              </a:rPr>
              <a:t> itself.</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Can add an </a:t>
            </a:r>
            <a:r>
              <a:rPr sz="2000">
                <a:solidFill>
                  <a:srgbClr val="C5FAEB"/>
                </a:solidFill>
                <a:latin typeface="Courier New"/>
                <a:ea typeface="Courier New"/>
                <a:cs typeface="Courier New"/>
              </a:rPr>
              <a:t>Integer</a:t>
            </a:r>
            <a:r>
              <a:rPr sz="2000">
                <a:solidFill>
                  <a:srgbClr val="FFFFFF"/>
                </a:solidFill>
                <a:latin typeface="Times New Roman"/>
                <a:ea typeface="Times New Roman"/>
                <a:cs typeface="Times New Roman"/>
              </a:rPr>
              <a:t>; read as </a:t>
            </a:r>
            <a:r>
              <a:rPr sz="2000">
                <a:solidFill>
                  <a:srgbClr val="C5FAEB"/>
                </a:solidFill>
                <a:latin typeface="Courier New"/>
                <a:ea typeface="Courier New"/>
                <a:cs typeface="Courier New"/>
              </a:rPr>
              <a:t>Object</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73685625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235950F-4B18-4E36-8ECE-7CD02D19C74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Java Generics + Wildcards</a:t>
            </a:r>
          </a:p>
        </p:txBody>
      </p:sp>
      <p:sp>
        <p:nvSpPr>
          <p:cNvPr id="2" name="slide-number">
            <a:extLst xmlns:a="http://schemas.openxmlformats.org/drawingml/2006/main">
              <a:ext uri="{FF2B5EF4-FFF2-40B4-BE49-F238E27FC236}">
                <a16:creationId xmlns:a16="http://schemas.microsoft.com/office/drawing/2014/main" id="{F2076310-1BC5-4BAE-9874-913468C5E0A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9</a:t>
            </a:r>
          </a:p>
        </p:txBody>
      </p:sp>
      <p:sp>
        <p:nvSpPr>
          <p:cNvPr id="3" name="combined-bounds">
            <a:extLst xmlns:a="http://schemas.openxmlformats.org/drawingml/2006/main">
              <a:ext uri="{FF2B5EF4-FFF2-40B4-BE49-F238E27FC236}">
                <a16:creationId xmlns:a16="http://schemas.microsoft.com/office/drawing/2014/main" id="{7BC2378F-C579-476B-8BB3-906A44B75201}"/>
              </a:ext>
            </a:extLst>
          </p:cNvPr>
          <p:cNvSpPr>
            <a:spLocks xmlns:a="http://schemas.openxmlformats.org/drawingml/2006/main" noGrp="1"/>
          </p:cNvSpPr>
          <p:nvPr/>
        </p:nvSpPr>
        <p:spPr>
          <a:xfrm xmlns:a="http://schemas.openxmlformats.org/drawingml/2006/main">
            <a:off x="2773594" y="1952625"/>
            <a:ext cx="7796536"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Both forms can impose an upper bound.</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Wildcards can also impose a lower bound.</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Compile-time checks make this insertion type-safe.</a:t>
            </a:r>
          </a:p>
        </p:txBody>
      </p:sp>
      <p:sp>
        <p:nvSpPr>
          <p:cNvPr id="4" name="adder-method">
            <a:extLst xmlns:a="http://schemas.openxmlformats.org/drawingml/2006/main">
              <a:ext uri="{FF2B5EF4-FFF2-40B4-BE49-F238E27FC236}">
                <a16:creationId xmlns:a16="http://schemas.microsoft.com/office/drawing/2014/main" id="{7A91E575-FADE-473C-889D-6F48BEEB9052}"/>
              </a:ext>
            </a:extLst>
          </p:cNvPr>
          <p:cNvSpPr>
            <a:spLocks xmlns:a="http://schemas.openxmlformats.org/drawingml/2006/main" noGrp="1"/>
          </p:cNvSpPr>
          <p:nvPr/>
        </p:nvSpPr>
        <p:spPr>
          <a:xfrm xmlns:a="http://schemas.openxmlformats.org/drawingml/2006/main">
            <a:off x="2865025" y="4191000"/>
            <a:ext cx="7705106" cy="19335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public</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static</a:t>
            </a:r>
            <a:r>
              <a:rPr sz="2400">
                <a:solidFill>
                  <a:srgbClr val="FFFFFF"/>
                </a:solidFill>
                <a:latin typeface="Courier New"/>
                <a:ea typeface="Courier New"/>
                <a:cs typeface="Courier New"/>
              </a:rPr>
              <a:t> &lt;</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extends</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Number</a:t>
            </a:r>
            <a:r>
              <a:rPr sz="24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void</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adder</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elem</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List</a:t>
            </a:r>
            <a:r>
              <a:rPr sz="2400">
                <a:solidFill>
                  <a:srgbClr val="FFFFFF"/>
                </a:solidFill>
                <a:latin typeface="Courier New"/>
                <a:ea typeface="Courier New"/>
                <a:cs typeface="Courier New"/>
              </a:rPr>
              <a:t>&lt;? </a:t>
            </a:r>
            <a:r>
              <a:rPr sz="2400">
                <a:solidFill>
                  <a:srgbClr val="C586C0"/>
                </a:solidFill>
                <a:latin typeface="Courier New"/>
                <a:ea typeface="Courier New"/>
                <a:cs typeface="Courier New"/>
              </a:rPr>
              <a:t>super</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Number</a:t>
            </a:r>
            <a:r>
              <a:rPr sz="2400">
                <a:solidFill>
                  <a:srgbClr val="FFFFFF"/>
                </a:solidFill>
                <a:latin typeface="Courier New"/>
                <a:ea typeface="Courier New"/>
                <a:cs typeface="Courier New"/>
              </a:rPr>
              <a:t>&gt; </a:t>
            </a:r>
            <a:r>
              <a:rPr sz="2400">
                <a:solidFill>
                  <a:srgbClr val="C5FAEB"/>
                </a:solidFill>
                <a:latin typeface="Courier New"/>
                <a:ea typeface="Courier New"/>
                <a:cs typeface="Courier New"/>
              </a:rPr>
              <a:t>list</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list</a:t>
            </a:r>
            <a:r>
              <a:rPr sz="2400">
                <a:solidFill>
                  <a:srgbClr val="FFFFFF"/>
                </a:solidFill>
                <a:latin typeface="Courier New"/>
                <a:ea typeface="Courier New"/>
                <a:cs typeface="Courier New"/>
              </a:rPr>
              <a:t>.</a:t>
            </a:r>
            <a:r>
              <a:rPr sz="2400">
                <a:solidFill>
                  <a:srgbClr val="DCDCAA"/>
                </a:solidFill>
                <a:latin typeface="Courier New"/>
                <a:ea typeface="Courier New"/>
                <a:cs typeface="Courier New"/>
              </a:rPr>
              <a:t>add</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elem</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p>
        </p:txBody>
      </p:sp>
    </p:spTree>
    <p:extLst>
      <p:ext uri="{BB962C8B-B14F-4D97-AF65-F5344CB8AC3E}">
        <p14:creationId xmlns:p14="http://schemas.microsoft.com/office/powerpoint/2010/main" val="6053194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A0CB39F-2C95-4A65-B862-A6D2B969890D}"/>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Templates</a:t>
            </a:r>
          </a:p>
        </p:txBody>
      </p:sp>
      <p:sp>
        <p:nvSpPr>
          <p:cNvPr id="2" name="slide-number">
            <a:extLst xmlns:a="http://schemas.openxmlformats.org/drawingml/2006/main">
              <a:ext uri="{FF2B5EF4-FFF2-40B4-BE49-F238E27FC236}">
                <a16:creationId xmlns:a16="http://schemas.microsoft.com/office/drawing/2014/main" id="{6B7BD92D-EA9F-4358-8E72-A9DC9987DB2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10</a:t>
            </a:r>
          </a:p>
        </p:txBody>
      </p:sp>
      <p:sp>
        <p:nvSpPr>
          <p:cNvPr id="3" name="templates-overview">
            <a:extLst xmlns:a="http://schemas.openxmlformats.org/drawingml/2006/main">
              <a:ext uri="{FF2B5EF4-FFF2-40B4-BE49-F238E27FC236}">
                <a16:creationId xmlns:a16="http://schemas.microsoft.com/office/drawing/2014/main" id="{A50DFC46-0892-4C23-95D0-A7DA0D4E9108}"/>
              </a:ext>
            </a:extLst>
          </p:cNvPr>
          <p:cNvSpPr>
            <a:spLocks xmlns:a="http://schemas.openxmlformats.org/drawingml/2006/main" noGrp="1"/>
          </p:cNvSpPr>
          <p:nvPr/>
        </p:nvSpPr>
        <p:spPr>
          <a:xfrm xmlns:a="http://schemas.openxmlformats.org/drawingml/2006/main">
            <a:off x="2773594" y="1885950"/>
            <a:ext cx="7796536"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Templates support generic classes and functions.</a:t>
            </a:r>
          </a:p>
        </p:txBody>
      </p:sp>
      <p:sp>
        <p:nvSpPr>
          <p:cNvPr id="4" name="specialization-comparison">
            <a:extLst xmlns:a="http://schemas.openxmlformats.org/drawingml/2006/main">
              <a:ext uri="{FF2B5EF4-FFF2-40B4-BE49-F238E27FC236}">
                <a16:creationId xmlns:a16="http://schemas.microsoft.com/office/drawing/2014/main" id="{AF205A82-21B1-430D-B2BF-17B6CC2BE61F}"/>
              </a:ext>
            </a:extLst>
          </p:cNvPr>
          <p:cNvSpPr>
            <a:spLocks xmlns:a="http://schemas.openxmlformats.org/drawingml/2006/main" noGrp="1"/>
          </p:cNvSpPr>
          <p:nvPr/>
        </p:nvSpPr>
        <p:spPr>
          <a:xfrm xmlns:a="http://schemas.openxmlformats.org/drawingml/2006/main">
            <a:off x="2773594" y="2609850"/>
            <a:ext cx="7796536"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add&lt;int&gt;</a:t>
            </a:r>
            <a:r>
              <a:rPr sz="2000">
                <a:solidFill>
                  <a:srgbClr val="FFFFFF"/>
                </a:solidFill>
                <a:latin typeface="Times New Roman"/>
                <a:ea typeface="Times New Roman"/>
                <a:cs typeface="Times New Roman"/>
              </a:rPr>
              <a:t> and </a:t>
            </a:r>
            <a:r>
              <a:rPr sz="2000">
                <a:solidFill>
                  <a:srgbClr val="C5FAEB"/>
                </a:solidFill>
                <a:latin typeface="Courier New"/>
                <a:ea typeface="Courier New"/>
                <a:cs typeface="Courier New"/>
              </a:rPr>
              <a:t>add&lt;double&gt;</a:t>
            </a:r>
            <a:r>
              <a:rPr sz="2000">
                <a:solidFill>
                  <a:srgbClr val="FFFFFF"/>
                </a:solidFill>
                <a:latin typeface="Times New Roman"/>
                <a:ea typeface="Times New Roman"/>
                <a:cs typeface="Times New Roman"/>
              </a:rPr>
              <a:t> are distinct specializations.</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Java generally shares an erased implementation.</a:t>
            </a:r>
          </a:p>
        </p:txBody>
      </p:sp>
      <p:sp>
        <p:nvSpPr>
          <p:cNvPr id="5" name="template-categories">
            <a:extLst xmlns:a="http://schemas.openxmlformats.org/drawingml/2006/main">
              <a:ext uri="{FF2B5EF4-FFF2-40B4-BE49-F238E27FC236}">
                <a16:creationId xmlns:a16="http://schemas.microsoft.com/office/drawing/2014/main" id="{9BB9BE64-EF10-491C-B089-20B7A69090BF}"/>
              </a:ext>
            </a:extLst>
          </p:cNvPr>
          <p:cNvSpPr>
            <a:spLocks xmlns:a="http://schemas.openxmlformats.org/drawingml/2006/main" noGrp="1"/>
          </p:cNvSpPr>
          <p:nvPr/>
        </p:nvSpPr>
        <p:spPr>
          <a:xfrm xmlns:a="http://schemas.openxmlformats.org/drawingml/2006/main">
            <a:off x="2773594" y="3419475"/>
            <a:ext cx="7796536"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Parameters can be types, values, or templates.</a:t>
            </a:r>
          </a:p>
        </p:txBody>
      </p:sp>
      <p:sp>
        <p:nvSpPr>
          <p:cNvPr id="6" name="parameter-examples">
            <a:extLst xmlns:a="http://schemas.openxmlformats.org/drawingml/2006/main">
              <a:ext uri="{FF2B5EF4-FFF2-40B4-BE49-F238E27FC236}">
                <a16:creationId xmlns:a16="http://schemas.microsoft.com/office/drawing/2014/main" id="{7AFE73AB-0ECF-45EE-B601-075DDC1BB3BE}"/>
              </a:ext>
            </a:extLst>
          </p:cNvPr>
          <p:cNvSpPr>
            <a:spLocks xmlns:a="http://schemas.openxmlformats.org/drawingml/2006/main" noGrp="1"/>
          </p:cNvSpPr>
          <p:nvPr/>
        </p:nvSpPr>
        <p:spPr>
          <a:xfrm xmlns:a="http://schemas.openxmlformats.org/drawingml/2006/main">
            <a:off x="2773594" y="4076700"/>
            <a:ext cx="7796536"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Type arguments include enumeration types.</a:t>
            </a:r>
          </a:p>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Value arguments include enumerators and integers.</a:t>
            </a:r>
          </a:p>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Floating-point value arguments require C++20.</a:t>
            </a:r>
          </a:p>
        </p:txBody>
      </p:sp>
      <p:sp>
        <p:nvSpPr>
          <p:cNvPr id="7" name="template-declaration">
            <a:extLst xmlns:a="http://schemas.openxmlformats.org/drawingml/2006/main">
              <a:ext uri="{FF2B5EF4-FFF2-40B4-BE49-F238E27FC236}">
                <a16:creationId xmlns:a16="http://schemas.microsoft.com/office/drawing/2014/main" id="{A2336D73-4066-41D0-B522-63A9B0B40106}"/>
              </a:ext>
            </a:extLst>
          </p:cNvPr>
          <p:cNvSpPr>
            <a:spLocks xmlns:a="http://schemas.openxmlformats.org/drawingml/2006/main" noGrp="1"/>
          </p:cNvSpPr>
          <p:nvPr/>
        </p:nvSpPr>
        <p:spPr>
          <a:xfrm xmlns:a="http://schemas.openxmlformats.org/drawingml/2006/main">
            <a:off x="2773594" y="5248275"/>
            <a:ext cx="7796536"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Use </a:t>
            </a:r>
            <a:r>
              <a:rPr sz="2400">
                <a:solidFill>
                  <a:srgbClr val="C5FAEB"/>
                </a:solidFill>
                <a:latin typeface="Courier New"/>
                <a:ea typeface="Courier New"/>
                <a:cs typeface="Courier New"/>
              </a:rPr>
              <a:t>template&lt;...&gt;</a:t>
            </a:r>
            <a:r>
              <a:rPr sz="2400">
                <a:solidFill>
                  <a:srgbClr val="FFFFFF"/>
                </a:solidFill>
                <a:latin typeface="Times New Roman"/>
                <a:ea typeface="Times New Roman"/>
                <a:cs typeface="Times New Roman"/>
              </a:rPr>
              <a:t> to declare parameters.</a:t>
            </a:r>
          </a:p>
        </p:txBody>
      </p:sp>
      <p:sp>
        <p:nvSpPr>
          <p:cNvPr id="8" name="template-arguments">
            <a:extLst xmlns:a="http://schemas.openxmlformats.org/drawingml/2006/main">
              <a:ext uri="{FF2B5EF4-FFF2-40B4-BE49-F238E27FC236}">
                <a16:creationId xmlns:a16="http://schemas.microsoft.com/office/drawing/2014/main" id="{B6F453AE-79C0-41C8-B2B2-0C79F16EF158}"/>
              </a:ext>
            </a:extLst>
          </p:cNvPr>
          <p:cNvSpPr>
            <a:spLocks xmlns:a="http://schemas.openxmlformats.org/drawingml/2006/main" noGrp="1"/>
          </p:cNvSpPr>
          <p:nvPr/>
        </p:nvSpPr>
        <p:spPr>
          <a:xfrm xmlns:a="http://schemas.openxmlformats.org/drawingml/2006/main">
            <a:off x="2773594" y="5934075"/>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Supply arguments in </a:t>
            </a:r>
            <a:r>
              <a:rPr sz="2000">
                <a:solidFill>
                  <a:srgbClr val="C5FAEB"/>
                </a:solidFill>
                <a:latin typeface="Courier New"/>
                <a:ea typeface="Courier New"/>
                <a:cs typeface="Courier New"/>
              </a:rPr>
              <a:t>&lt;&gt;</a:t>
            </a:r>
            <a:r>
              <a:rPr sz="2000">
                <a:solidFill>
                  <a:srgbClr val="FFFFFF"/>
                </a:solidFill>
                <a:latin typeface="Times New Roman"/>
                <a:ea typeface="Times New Roman"/>
                <a:cs typeface="Times New Roman"/>
              </a:rPr>
              <a:t>, or use deduction.</a:t>
            </a:r>
          </a:p>
        </p:txBody>
      </p:sp>
    </p:spTree>
    <p:extLst>
      <p:ext uri="{BB962C8B-B14F-4D97-AF65-F5344CB8AC3E}">
        <p14:creationId xmlns:p14="http://schemas.microsoft.com/office/powerpoint/2010/main" val="152615984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08307C1-78CA-4013-B80C-C5404653414B}"/>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Class Templates</a:t>
            </a:r>
          </a:p>
        </p:txBody>
      </p:sp>
      <p:sp>
        <p:nvSpPr>
          <p:cNvPr id="2" name="slide-number">
            <a:extLst xmlns:a="http://schemas.openxmlformats.org/drawingml/2006/main">
              <a:ext uri="{FF2B5EF4-FFF2-40B4-BE49-F238E27FC236}">
                <a16:creationId xmlns:a16="http://schemas.microsoft.com/office/drawing/2014/main" id="{E41FE32C-6B23-42F3-8B6F-E54A66B1FAB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11</a:t>
            </a:r>
          </a:p>
        </p:txBody>
      </p:sp>
      <p:sp>
        <p:nvSpPr>
          <p:cNvPr id="3" name="vector-class">
            <a:extLst xmlns:a="http://schemas.openxmlformats.org/drawingml/2006/main">
              <a:ext uri="{FF2B5EF4-FFF2-40B4-BE49-F238E27FC236}">
                <a16:creationId xmlns:a16="http://schemas.microsoft.com/office/drawing/2014/main" id="{C11FBE21-26C7-463E-92D6-BFED8C28BE3B}"/>
              </a:ext>
            </a:extLst>
          </p:cNvPr>
          <p:cNvSpPr>
            <a:spLocks xmlns:a="http://schemas.openxmlformats.org/drawingml/2006/main" noGrp="1"/>
          </p:cNvSpPr>
          <p:nvPr/>
        </p:nvSpPr>
        <p:spPr>
          <a:xfrm xmlns:a="http://schemas.openxmlformats.org/drawingml/2006/main">
            <a:off x="2865025" y="2124075"/>
            <a:ext cx="5095875" cy="28956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template</a:t>
            </a:r>
            <a:r>
              <a:rPr sz="2400">
                <a:solidFill>
                  <a:srgbClr val="FFFFFF"/>
                </a:solidFill>
                <a:latin typeface="Courier New"/>
                <a:ea typeface="Courier New"/>
                <a:cs typeface="Courier New"/>
              </a:rPr>
              <a:t>&lt;</a:t>
            </a:r>
            <a:r>
              <a:rPr sz="2400">
                <a:solidFill>
                  <a:srgbClr val="C586C0"/>
                </a:solidFill>
                <a:latin typeface="Courier New"/>
                <a:ea typeface="Courier New"/>
                <a:cs typeface="Courier New"/>
              </a:rPr>
              <a:t>typename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class</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vector</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data</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int</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size</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int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capacity</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public</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9DB890"/>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p>
        </p:txBody>
      </p:sp>
      <p:sp>
        <p:nvSpPr>
          <p:cNvPr id="4" name="class-substitution">
            <a:extLst xmlns:a="http://schemas.openxmlformats.org/drawingml/2006/main">
              <a:ext uri="{FF2B5EF4-FFF2-40B4-BE49-F238E27FC236}">
                <a16:creationId xmlns:a16="http://schemas.microsoft.com/office/drawing/2014/main" id="{7040EE1B-6090-4BA2-B78B-BBE86AF3710B}"/>
              </a:ext>
            </a:extLst>
          </p:cNvPr>
          <p:cNvSpPr>
            <a:spLocks xmlns:a="http://schemas.openxmlformats.org/drawingml/2006/main" noGrp="1"/>
          </p:cNvSpPr>
          <p:nvPr/>
        </p:nvSpPr>
        <p:spPr>
          <a:xfrm xmlns:a="http://schemas.openxmlformats.org/drawingml/2006/main">
            <a:off x="8134350" y="2362200"/>
            <a:ext cx="2435781"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Each occurrence of T</a:t>
            </a:r>
          </a:p>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uses the selected type.</a:t>
            </a:r>
          </a:p>
        </p:txBody>
      </p:sp>
      <p:sp>
        <p:nvSpPr>
          <p:cNvPr id="5" name="class-example">
            <a:extLst xmlns:a="http://schemas.openxmlformats.org/drawingml/2006/main">
              <a:ext uri="{FF2B5EF4-FFF2-40B4-BE49-F238E27FC236}">
                <a16:creationId xmlns:a16="http://schemas.microsoft.com/office/drawing/2014/main" id="{140E6B43-6F50-47BD-B7D4-AA13576E84DA}"/>
              </a:ext>
            </a:extLst>
          </p:cNvPr>
          <p:cNvSpPr>
            <a:spLocks xmlns:a="http://schemas.openxmlformats.org/drawingml/2006/main" noGrp="1"/>
          </p:cNvSpPr>
          <p:nvPr/>
        </p:nvSpPr>
        <p:spPr>
          <a:xfrm xmlns:a="http://schemas.openxmlformats.org/drawingml/2006/main">
            <a:off x="8134350" y="3552825"/>
            <a:ext cx="2435781"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vector&lt;int&gt;</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has </a:t>
            </a:r>
            <a:r>
              <a:rPr sz="2000">
                <a:solidFill>
                  <a:srgbClr val="C5FAEB"/>
                </a:solidFill>
                <a:latin typeface="Courier New"/>
                <a:ea typeface="Courier New"/>
                <a:cs typeface="Courier New"/>
              </a:rPr>
              <a:t>int* data</a:t>
            </a:r>
            <a:r>
              <a:rPr sz="2000">
                <a:solidFill>
                  <a:srgbClr val="FFFFFF"/>
                </a:solidFill>
                <a:latin typeface="Times New Roman"/>
                <a:ea typeface="Times New Roman"/>
                <a:cs typeface="Times New Roman"/>
              </a:rPr>
              <a:t>.</a:t>
            </a:r>
            <a:br>
              <a:rPr sz="2000">
                <a:solidFill>
                  <a:srgbClr val="FFFFFF"/>
                </a:solidFill>
                <a:latin typeface="Times New Roman"/>
                <a:ea typeface="Times New Roman"/>
                <a:cs typeface="Times New Roman"/>
              </a:rPr>
            </a:br>
            <a:br>
              <a:rPr sz="2000">
                <a:solidFill>
                  <a:srgbClr val="FFFFFF"/>
                </a:solidFill>
                <a:latin typeface="Times New Roman"/>
                <a:ea typeface="Times New Roman"/>
                <a:cs typeface="Times New Roman"/>
              </a:rPr>
            </a:br>
            <a:r>
              <a:rPr sz="2000">
                <a:solidFill>
                  <a:srgbClr val="C5FAEB"/>
                </a:solidFill>
                <a:latin typeface="Courier New"/>
                <a:ea typeface="Courier New"/>
                <a:cs typeface="Courier New"/>
              </a:rPr>
              <a:t>size</a:t>
            </a:r>
            <a:r>
              <a:rPr sz="2000">
                <a:solidFill>
                  <a:srgbClr val="FFFFFF"/>
                </a:solidFill>
                <a:latin typeface="Times New Roman"/>
                <a:ea typeface="Times New Roman"/>
                <a:cs typeface="Times New Roman"/>
              </a:rPr>
              <a:t> and </a:t>
            </a:r>
            <a:r>
              <a:rPr sz="2000">
                <a:solidFill>
                  <a:srgbClr val="C5FAEB"/>
                </a:solidFill>
                <a:latin typeface="Courier New"/>
                <a:ea typeface="Courier New"/>
                <a:cs typeface="Courier New"/>
              </a:rPr>
              <a:t>capacity</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remain </a:t>
            </a:r>
            <a:r>
              <a:rPr sz="2000">
                <a:solidFill>
                  <a:srgbClr val="C5FAEB"/>
                </a:solidFill>
                <a:latin typeface="Courier New"/>
                <a:ea typeface="Courier New"/>
                <a:cs typeface="Courier New"/>
              </a:rPr>
              <a:t>int</a:t>
            </a:r>
            <a:r>
              <a:rPr sz="2000">
                <a:solidFill>
                  <a:srgbClr val="FFFFFF"/>
                </a:solidFill>
                <a:latin typeface="Times New Roman"/>
                <a:ea typeface="Times New Roman"/>
                <a:cs typeface="Times New Roman"/>
              </a:rPr>
              <a:t>.</a:t>
            </a:r>
          </a:p>
        </p:txBody>
      </p:sp>
      <p:sp>
        <p:nvSpPr>
          <p:cNvPr id="6" name="class-outline-label">
            <a:extLst xmlns:a="http://schemas.openxmlformats.org/drawingml/2006/main">
              <a:ext uri="{FF2B5EF4-FFF2-40B4-BE49-F238E27FC236}">
                <a16:creationId xmlns:a16="http://schemas.microsoft.com/office/drawing/2014/main" id="{6A04DE95-2C96-45BC-A599-22F2BEE9558B}"/>
              </a:ext>
            </a:extLst>
          </p:cNvPr>
          <p:cNvSpPr>
            <a:spLocks xmlns:a="http://schemas.openxmlformats.org/drawingml/2006/main" noGrp="1"/>
          </p:cNvSpPr>
          <p:nvPr/>
        </p:nvSpPr>
        <p:spPr>
          <a:xfrm xmlns:a="http://schemas.openxmlformats.org/drawingml/2006/main">
            <a:off x="2773594" y="5781675"/>
            <a:ext cx="7796536"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Illustrative class outline; member implementations are omitted.</a:t>
            </a:r>
          </a:p>
        </p:txBody>
      </p:sp>
    </p:spTree>
    <p:extLst>
      <p:ext uri="{BB962C8B-B14F-4D97-AF65-F5344CB8AC3E}">
        <p14:creationId xmlns:p14="http://schemas.microsoft.com/office/powerpoint/2010/main" val="149958399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94CBCDD-E970-4FAE-8FA9-8194F40980F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Class Templates:</a:t>
            </a:r>
          </a:p>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Default Type Parameters</a:t>
            </a:r>
          </a:p>
        </p:txBody>
      </p:sp>
      <p:sp>
        <p:nvSpPr>
          <p:cNvPr id="2" name="slide-number">
            <a:extLst xmlns:a="http://schemas.openxmlformats.org/drawingml/2006/main">
              <a:ext uri="{FF2B5EF4-FFF2-40B4-BE49-F238E27FC236}">
                <a16:creationId xmlns:a16="http://schemas.microsoft.com/office/drawing/2014/main" id="{51A6BF0D-DE08-4D4D-96C8-FD04BBC3F2E6}"/>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12</a:t>
            </a:r>
          </a:p>
        </p:txBody>
      </p:sp>
      <p:sp>
        <p:nvSpPr>
          <p:cNvPr id="3" name="default-allocator">
            <a:extLst xmlns:a="http://schemas.openxmlformats.org/drawingml/2006/main">
              <a:ext uri="{FF2B5EF4-FFF2-40B4-BE49-F238E27FC236}">
                <a16:creationId xmlns:a16="http://schemas.microsoft.com/office/drawing/2014/main" id="{8E8B1771-6487-4113-A8F5-7623E398F606}"/>
              </a:ext>
            </a:extLst>
          </p:cNvPr>
          <p:cNvSpPr>
            <a:spLocks xmlns:a="http://schemas.openxmlformats.org/drawingml/2006/main" noGrp="1"/>
          </p:cNvSpPr>
          <p:nvPr/>
        </p:nvSpPr>
        <p:spPr>
          <a:xfrm xmlns:a="http://schemas.openxmlformats.org/drawingml/2006/main">
            <a:off x="2865025" y="2095500"/>
            <a:ext cx="7705106" cy="29337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#include</a:t>
            </a: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&lt;memory&gt;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Alloc</a:t>
            </a:r>
            <a:r>
              <a:rPr sz="2000">
                <a:solidFill>
                  <a:srgbClr val="FFFFFF"/>
                </a:solidFill>
                <a:latin typeface="Courier New"/>
                <a:ea typeface="Courier New"/>
                <a:cs typeface="Courier New"/>
              </a:rPr>
              <a:t> = std::</a:t>
            </a:r>
            <a:r>
              <a:rPr sz="2000">
                <a:solidFill>
                  <a:srgbClr val="C5FAEB"/>
                </a:solidFill>
                <a:latin typeface="Courier New"/>
                <a:ea typeface="Courier New"/>
                <a:cs typeface="Courier New"/>
              </a:rPr>
              <a:t>allocator</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&gt;&gt;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data</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capacity</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4" name="allocator-default">
            <a:extLst xmlns:a="http://schemas.openxmlformats.org/drawingml/2006/main">
              <a:ext uri="{FF2B5EF4-FFF2-40B4-BE49-F238E27FC236}">
                <a16:creationId xmlns:a16="http://schemas.microsoft.com/office/drawing/2014/main" id="{F30D2197-8BA5-41A8-B95F-27BEC8E4C8C3}"/>
              </a:ext>
            </a:extLst>
          </p:cNvPr>
          <p:cNvSpPr>
            <a:spLocks xmlns:a="http://schemas.openxmlformats.org/drawingml/2006/main" noGrp="1"/>
          </p:cNvSpPr>
          <p:nvPr/>
        </p:nvSpPr>
        <p:spPr>
          <a:xfrm xmlns:a="http://schemas.openxmlformats.org/drawingml/2006/main">
            <a:off x="2773594" y="5372100"/>
            <a:ext cx="7796536"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Without a second argument, </a:t>
            </a:r>
            <a:r>
              <a:rPr sz="2400">
                <a:solidFill>
                  <a:srgbClr val="C5FAEB"/>
                </a:solidFill>
                <a:latin typeface="Courier New"/>
                <a:ea typeface="Courier New"/>
                <a:cs typeface="Courier New"/>
              </a:rPr>
              <a:t>Alloc</a:t>
            </a:r>
            <a:r>
              <a:rPr sz="2400">
                <a:solidFill>
                  <a:srgbClr val="FFFFFF"/>
                </a:solidFill>
                <a:latin typeface="Times New Roman"/>
                <a:ea typeface="Times New Roman"/>
                <a:cs typeface="Times New Roman"/>
              </a:rPr>
              <a:t> defaults to</a:t>
            </a:r>
            <a:br>
              <a:rPr sz="2400">
                <a:solidFill>
                  <a:srgbClr val="FFFFFF"/>
                </a:solidFill>
                <a:latin typeface="Times New Roman"/>
                <a:ea typeface="Times New Roman"/>
                <a:cs typeface="Times New Roman"/>
              </a:rPr>
            </a:br>
            <a:r>
              <a:rPr sz="2400">
                <a:solidFill>
                  <a:srgbClr val="C5FAEB"/>
                </a:solidFill>
                <a:latin typeface="Courier New"/>
                <a:ea typeface="Courier New"/>
                <a:cs typeface="Courier New"/>
              </a:rPr>
              <a:t>std::allocator&lt;T&gt;</a:t>
            </a:r>
            <a:r>
              <a:rPr sz="24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182552905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F54E0F4-D6F8-48F1-91A3-69CB935CAD0F}"/>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Function Templates</a:t>
            </a:r>
          </a:p>
        </p:txBody>
      </p:sp>
      <p:sp>
        <p:nvSpPr>
          <p:cNvPr id="2" name="slide-number">
            <a:extLst xmlns:a="http://schemas.openxmlformats.org/drawingml/2006/main">
              <a:ext uri="{FF2B5EF4-FFF2-40B4-BE49-F238E27FC236}">
                <a16:creationId xmlns:a16="http://schemas.microsoft.com/office/drawing/2014/main" id="{AA8BDCC5-880B-43D0-8F89-12293C38B6F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13</a:t>
            </a:r>
          </a:p>
        </p:txBody>
      </p:sp>
      <p:sp>
        <p:nvSpPr>
          <p:cNvPr id="3" name="max-value">
            <a:extLst xmlns:a="http://schemas.openxmlformats.org/drawingml/2006/main">
              <a:ext uri="{FF2B5EF4-FFF2-40B4-BE49-F238E27FC236}">
                <a16:creationId xmlns:a16="http://schemas.microsoft.com/office/drawing/2014/main" id="{6AAB1D02-7D75-4FA8-90E3-F0951B865F59}"/>
              </a:ext>
            </a:extLst>
          </p:cNvPr>
          <p:cNvSpPr>
            <a:spLocks xmlns:a="http://schemas.openxmlformats.org/drawingml/2006/main" noGrp="1"/>
          </p:cNvSpPr>
          <p:nvPr/>
        </p:nvSpPr>
        <p:spPr>
          <a:xfrm xmlns:a="http://schemas.openxmlformats.org/drawingml/2006/main">
            <a:off x="2865025" y="2114550"/>
            <a:ext cx="7705106" cy="22574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template</a:t>
            </a:r>
            <a:r>
              <a:rPr sz="2400">
                <a:solidFill>
                  <a:srgbClr val="FFFFFF"/>
                </a:solidFill>
                <a:latin typeface="Courier New"/>
                <a:ea typeface="Courier New"/>
                <a:cs typeface="Courier New"/>
              </a:rPr>
              <a:t>&lt;</a:t>
            </a:r>
            <a:r>
              <a:rPr sz="2400">
                <a:solidFill>
                  <a:srgbClr val="C586C0"/>
                </a:solidFill>
                <a:latin typeface="Courier New"/>
                <a:ea typeface="Courier New"/>
                <a:cs typeface="Courier New"/>
              </a:rPr>
              <a:t>typename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max</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if</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p>
        </p:txBody>
      </p:sp>
      <p:sp>
        <p:nvSpPr>
          <p:cNvPr id="4" name="max-value-passing">
            <a:extLst xmlns:a="http://schemas.openxmlformats.org/drawingml/2006/main">
              <a:ext uri="{FF2B5EF4-FFF2-40B4-BE49-F238E27FC236}">
                <a16:creationId xmlns:a16="http://schemas.microsoft.com/office/drawing/2014/main" id="{377B2E58-8AF7-4B98-A4B9-CD7E2A913446}"/>
              </a:ext>
            </a:extLst>
          </p:cNvPr>
          <p:cNvSpPr>
            <a:spLocks xmlns:a="http://schemas.openxmlformats.org/drawingml/2006/main" noGrp="1"/>
          </p:cNvSpPr>
          <p:nvPr/>
        </p:nvSpPr>
        <p:spPr>
          <a:xfrm xmlns:a="http://schemas.openxmlformats.org/drawingml/2006/main">
            <a:off x="2773594" y="4638675"/>
            <a:ext cx="7796536"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Both parameters are passed by value.</a:t>
            </a:r>
          </a:p>
        </p:txBody>
      </p:sp>
      <p:sp>
        <p:nvSpPr>
          <p:cNvPr id="5" name="vector-comparison">
            <a:extLst xmlns:a="http://schemas.openxmlformats.org/drawingml/2006/main">
              <a:ext uri="{FF2B5EF4-FFF2-40B4-BE49-F238E27FC236}">
                <a16:creationId xmlns:a16="http://schemas.microsoft.com/office/drawing/2014/main" id="{C99F0760-ECE8-455F-BE4D-289830BF4030}"/>
              </a:ext>
            </a:extLst>
          </p:cNvPr>
          <p:cNvSpPr>
            <a:spLocks xmlns:a="http://schemas.openxmlformats.org/drawingml/2006/main" noGrp="1"/>
          </p:cNvSpPr>
          <p:nvPr/>
        </p:nvSpPr>
        <p:spPr>
          <a:xfrm xmlns:a="http://schemas.openxmlformats.org/drawingml/2006/main">
            <a:off x="2773594" y="5562600"/>
            <a:ext cx="7796536"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std::vector</a:t>
            </a:r>
            <a:r>
              <a:rPr sz="2000">
                <a:solidFill>
                  <a:srgbClr val="FFFFFF"/>
                </a:solidFill>
                <a:latin typeface="Times New Roman"/>
                <a:ea typeface="Times New Roman"/>
                <a:cs typeface="Times New Roman"/>
              </a:rPr>
              <a:t> compares lexicographically when its element</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type supports the comparison.</a:t>
            </a:r>
          </a:p>
        </p:txBody>
      </p:sp>
    </p:spTree>
    <p:extLst>
      <p:ext uri="{BB962C8B-B14F-4D97-AF65-F5344CB8AC3E}">
        <p14:creationId xmlns:p14="http://schemas.microsoft.com/office/powerpoint/2010/main" val="15855884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EA8456E-10BC-4A08-9147-A84A47F3156B}"/>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Function Templates</a:t>
            </a:r>
          </a:p>
        </p:txBody>
      </p:sp>
      <p:sp>
        <p:nvSpPr>
          <p:cNvPr id="2" name="slide-number">
            <a:extLst xmlns:a="http://schemas.openxmlformats.org/drawingml/2006/main">
              <a:ext uri="{FF2B5EF4-FFF2-40B4-BE49-F238E27FC236}">
                <a16:creationId xmlns:a16="http://schemas.microsoft.com/office/drawing/2014/main" id="{7201CB6B-59BE-45BD-9DAE-05EF27D836A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14</a:t>
            </a:r>
          </a:p>
        </p:txBody>
      </p:sp>
      <p:sp>
        <p:nvSpPr>
          <p:cNvPr id="3" name="max-reference-input">
            <a:extLst xmlns:a="http://schemas.openxmlformats.org/drawingml/2006/main">
              <a:ext uri="{FF2B5EF4-FFF2-40B4-BE49-F238E27FC236}">
                <a16:creationId xmlns:a16="http://schemas.microsoft.com/office/drawing/2014/main" id="{567EE867-2083-4731-9779-B66FE23E3394}"/>
              </a:ext>
            </a:extLst>
          </p:cNvPr>
          <p:cNvSpPr>
            <a:spLocks xmlns:a="http://schemas.openxmlformats.org/drawingml/2006/main" noGrp="1"/>
          </p:cNvSpPr>
          <p:nvPr/>
        </p:nvSpPr>
        <p:spPr>
          <a:xfrm xmlns:a="http://schemas.openxmlformats.org/drawingml/2006/main">
            <a:off x="2865025" y="2114550"/>
            <a:ext cx="7705106" cy="22574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template</a:t>
            </a:r>
            <a:r>
              <a:rPr sz="2400">
                <a:solidFill>
                  <a:srgbClr val="FFFFFF"/>
                </a:solidFill>
                <a:latin typeface="Courier New"/>
                <a:ea typeface="Courier New"/>
                <a:cs typeface="Courier New"/>
              </a:rPr>
              <a:t>&lt;</a:t>
            </a:r>
            <a:r>
              <a:rPr sz="2400">
                <a:solidFill>
                  <a:srgbClr val="C586C0"/>
                </a:solidFill>
                <a:latin typeface="Courier New"/>
                <a:ea typeface="Courier New"/>
                <a:cs typeface="Courier New"/>
              </a:rPr>
              <a:t>typename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max</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const</a:t>
            </a:r>
            <a:r>
              <a:rPr sz="2400">
                <a:solidFill>
                  <a:srgbClr val="FFFFFF"/>
                </a:solidFill>
                <a:latin typeface="Courier New"/>
                <a:ea typeface="Courier New"/>
                <a:cs typeface="Courier New"/>
              </a:rPr>
              <a:t>&amp;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const</a:t>
            </a:r>
            <a:r>
              <a:rPr sz="2400">
                <a:solidFill>
                  <a:srgbClr val="FFFFFF"/>
                </a:solidFill>
                <a:latin typeface="Courier New"/>
                <a:ea typeface="Courier New"/>
                <a:cs typeface="Courier New"/>
              </a:rPr>
              <a:t>&amp;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if</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p>
        </p:txBody>
      </p:sp>
      <p:sp>
        <p:nvSpPr>
          <p:cNvPr id="4" name="max-value-result">
            <a:extLst xmlns:a="http://schemas.openxmlformats.org/drawingml/2006/main">
              <a:ext uri="{FF2B5EF4-FFF2-40B4-BE49-F238E27FC236}">
                <a16:creationId xmlns:a16="http://schemas.microsoft.com/office/drawing/2014/main" id="{C9F2ABF0-D46B-4886-9459-08EE23AACCA1}"/>
              </a:ext>
            </a:extLst>
          </p:cNvPr>
          <p:cNvSpPr>
            <a:spLocks xmlns:a="http://schemas.openxmlformats.org/drawingml/2006/main" noGrp="1"/>
          </p:cNvSpPr>
          <p:nvPr/>
        </p:nvSpPr>
        <p:spPr>
          <a:xfrm xmlns:a="http://schemas.openxmlformats.org/drawingml/2006/main">
            <a:off x="2773594" y="4657725"/>
            <a:ext cx="7796536"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Inputs bind through const references.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selected object is still returned by value.</a:t>
            </a:r>
          </a:p>
        </p:txBody>
      </p:sp>
    </p:spTree>
    <p:extLst>
      <p:ext uri="{BB962C8B-B14F-4D97-AF65-F5344CB8AC3E}">
        <p14:creationId xmlns:p14="http://schemas.microsoft.com/office/powerpoint/2010/main" val="14042397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9C5B1E8-721E-49F6-B98F-D2632CEE5D9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Function Templates</a:t>
            </a:r>
          </a:p>
        </p:txBody>
      </p:sp>
      <p:sp>
        <p:nvSpPr>
          <p:cNvPr id="2" name="slide-number">
            <a:extLst xmlns:a="http://schemas.openxmlformats.org/drawingml/2006/main">
              <a:ext uri="{FF2B5EF4-FFF2-40B4-BE49-F238E27FC236}">
                <a16:creationId xmlns:a16="http://schemas.microsoft.com/office/drawing/2014/main" id="{04745A46-E171-4EB6-98C8-F636171C6CF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15</a:t>
            </a:r>
          </a:p>
        </p:txBody>
      </p:sp>
      <p:sp>
        <p:nvSpPr>
          <p:cNvPr id="3" name="max-reference-result">
            <a:extLst xmlns:a="http://schemas.openxmlformats.org/drawingml/2006/main">
              <a:ext uri="{FF2B5EF4-FFF2-40B4-BE49-F238E27FC236}">
                <a16:creationId xmlns:a16="http://schemas.microsoft.com/office/drawing/2014/main" id="{CE46A6B9-615A-4797-A5E5-72D363C0C925}"/>
              </a:ext>
            </a:extLst>
          </p:cNvPr>
          <p:cNvSpPr>
            <a:spLocks xmlns:a="http://schemas.openxmlformats.org/drawingml/2006/main" noGrp="1"/>
          </p:cNvSpPr>
          <p:nvPr/>
        </p:nvSpPr>
        <p:spPr>
          <a:xfrm xmlns:a="http://schemas.openxmlformats.org/drawingml/2006/main">
            <a:off x="2865025" y="2114550"/>
            <a:ext cx="7705106" cy="22574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template</a:t>
            </a:r>
            <a:r>
              <a:rPr sz="2400">
                <a:solidFill>
                  <a:srgbClr val="FFFFFF"/>
                </a:solidFill>
                <a:latin typeface="Courier New"/>
                <a:ea typeface="Courier New"/>
                <a:cs typeface="Courier New"/>
              </a:rPr>
              <a:t>&lt;</a:t>
            </a:r>
            <a:r>
              <a:rPr sz="2400">
                <a:solidFill>
                  <a:srgbClr val="C586C0"/>
                </a:solidFill>
                <a:latin typeface="Courier New"/>
                <a:ea typeface="Courier New"/>
                <a:cs typeface="Courier New"/>
              </a:rPr>
              <a:t>typename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const</a:t>
            </a:r>
            <a:r>
              <a:rPr sz="2400">
                <a:solidFill>
                  <a:srgbClr val="FFFFFF"/>
                </a:solidFill>
                <a:latin typeface="Courier New"/>
                <a:ea typeface="Courier New"/>
                <a:cs typeface="Courier New"/>
              </a:rPr>
              <a:t>&amp; </a:t>
            </a:r>
            <a:r>
              <a:rPr sz="2400">
                <a:solidFill>
                  <a:srgbClr val="DCDCAA"/>
                </a:solidFill>
                <a:latin typeface="Courier New"/>
                <a:ea typeface="Courier New"/>
                <a:cs typeface="Courier New"/>
              </a:rPr>
              <a:t>max</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const</a:t>
            </a:r>
            <a:r>
              <a:rPr sz="2400">
                <a:solidFill>
                  <a:srgbClr val="FFFFFF"/>
                </a:solidFill>
                <a:latin typeface="Courier New"/>
                <a:ea typeface="Courier New"/>
                <a:cs typeface="Courier New"/>
              </a:rPr>
              <a:t>&amp;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const</a:t>
            </a:r>
            <a:r>
              <a:rPr sz="2400">
                <a:solidFill>
                  <a:srgbClr val="FFFFFF"/>
                </a:solidFill>
                <a:latin typeface="Courier New"/>
                <a:ea typeface="Courier New"/>
                <a:cs typeface="Courier New"/>
              </a:rPr>
              <a:t>&amp;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if</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p>
        </p:txBody>
      </p:sp>
      <p:sp>
        <p:nvSpPr>
          <p:cNvPr id="4" name="max-reference-semantics">
            <a:extLst xmlns:a="http://schemas.openxmlformats.org/drawingml/2006/main">
              <a:ext uri="{FF2B5EF4-FFF2-40B4-BE49-F238E27FC236}">
                <a16:creationId xmlns:a16="http://schemas.microsoft.com/office/drawing/2014/main" id="{95264687-1A97-426F-BB22-B4BD27417A5A}"/>
              </a:ext>
            </a:extLst>
          </p:cNvPr>
          <p:cNvSpPr>
            <a:spLocks xmlns:a="http://schemas.openxmlformats.org/drawingml/2006/main" noGrp="1"/>
          </p:cNvSpPr>
          <p:nvPr/>
        </p:nvSpPr>
        <p:spPr>
          <a:xfrm xmlns:a="http://schemas.openxmlformats.org/drawingml/2006/main">
            <a:off x="2773594" y="4543425"/>
            <a:ext cx="7796536"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parameters and result are references.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function makes no parameter or result copy.</a:t>
            </a:r>
          </a:p>
        </p:txBody>
      </p:sp>
      <p:sp>
        <p:nvSpPr>
          <p:cNvPr id="5" name="reference-lifetime">
            <a:extLst xmlns:a="http://schemas.openxmlformats.org/drawingml/2006/main">
              <a:ext uri="{FF2B5EF4-FFF2-40B4-BE49-F238E27FC236}">
                <a16:creationId xmlns:a16="http://schemas.microsoft.com/office/drawing/2014/main" id="{E29C3A96-3110-438D-84A4-D30803A51EAE}"/>
              </a:ext>
            </a:extLst>
          </p:cNvPr>
          <p:cNvSpPr>
            <a:spLocks xmlns:a="http://schemas.openxmlformats.org/drawingml/2006/main" noGrp="1"/>
          </p:cNvSpPr>
          <p:nvPr/>
        </p:nvSpPr>
        <p:spPr>
          <a:xfrm xmlns:a="http://schemas.openxmlformats.org/drawingml/2006/main">
            <a:off x="2773594" y="5972175"/>
            <a:ext cx="7796536"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Keep the selected argument alive while using the reference.</a:t>
            </a:r>
          </a:p>
        </p:txBody>
      </p:sp>
    </p:spTree>
    <p:extLst>
      <p:ext uri="{BB962C8B-B14F-4D97-AF65-F5344CB8AC3E}">
        <p14:creationId xmlns:p14="http://schemas.microsoft.com/office/powerpoint/2010/main" val="26922152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2E0F591-41AE-403D-8B05-1795A5849C6D}"/>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Templates: Type Constraints</a:t>
            </a:r>
          </a:p>
        </p:txBody>
      </p:sp>
      <p:sp>
        <p:nvSpPr>
          <p:cNvPr id="2" name="slide-number">
            <a:extLst xmlns:a="http://schemas.openxmlformats.org/drawingml/2006/main">
              <a:ext uri="{FF2B5EF4-FFF2-40B4-BE49-F238E27FC236}">
                <a16:creationId xmlns:a16="http://schemas.microsoft.com/office/drawing/2014/main" id="{598B65D1-9442-44C1-AEAD-FF4B4E98FF1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16</a:t>
            </a:r>
          </a:p>
        </p:txBody>
      </p:sp>
      <p:sp>
        <p:nvSpPr>
          <p:cNvPr id="3" name="constructors-unconstrained">
            <a:extLst xmlns:a="http://schemas.openxmlformats.org/drawingml/2006/main">
              <a:ext uri="{FF2B5EF4-FFF2-40B4-BE49-F238E27FC236}">
                <a16:creationId xmlns:a16="http://schemas.microsoft.com/office/drawing/2014/main" id="{FCE20DCD-E199-4624-BC77-E3103FAB57F8}"/>
              </a:ext>
            </a:extLst>
          </p:cNvPr>
          <p:cNvSpPr>
            <a:spLocks xmlns:a="http://schemas.openxmlformats.org/drawingml/2006/main" noGrp="1"/>
          </p:cNvSpPr>
          <p:nvPr/>
        </p:nvSpPr>
        <p:spPr>
          <a:xfrm xmlns:a="http://schemas.openxmlformats.org/drawingml/2006/main">
            <a:off x="2865025" y="2095500"/>
            <a:ext cx="7705106" cy="2390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first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last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(std::</a:t>
            </a:r>
            <a:r>
              <a:rPr sz="2000">
                <a:solidFill>
                  <a:srgbClr val="C5FAEB"/>
                </a:solidFill>
                <a:latin typeface="Courier New"/>
                <a:ea typeface="Courier New"/>
                <a:cs typeface="Courier New"/>
              </a:rPr>
              <a:t>size_t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const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4" name="constructor-question">
            <a:extLst xmlns:a="http://schemas.openxmlformats.org/drawingml/2006/main">
              <a:ext uri="{FF2B5EF4-FFF2-40B4-BE49-F238E27FC236}">
                <a16:creationId xmlns:a16="http://schemas.microsoft.com/office/drawing/2014/main" id="{9A4E2782-9FFD-4001-B110-DE1D90DFAC24}"/>
              </a:ext>
            </a:extLst>
          </p:cNvPr>
          <p:cNvSpPr>
            <a:spLocks xmlns:a="http://schemas.openxmlformats.org/drawingml/2006/main" noGrp="1"/>
          </p:cNvSpPr>
          <p:nvPr/>
        </p:nvSpPr>
        <p:spPr>
          <a:xfrm xmlns:a="http://schemas.openxmlformats.org/drawingml/2006/main">
            <a:off x="2773594" y="4914900"/>
            <a:ext cx="7796536"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8EC0C1"/>
                </a:solidFill>
                <a:latin typeface="Times New Roman"/>
                <a:ea typeface="Times New Roman"/>
                <a:cs typeface="Times New Roman"/>
              </a:defRPr>
            </a:pPr>
            <a:r>
              <a:rPr sz="2400">
                <a:solidFill>
                  <a:srgbClr val="FFFFFF"/>
                </a:solidFill>
                <a:latin typeface="Times New Roman"/>
                <a:ea typeface="Times New Roman"/>
                <a:cs typeface="Times New Roman"/>
              </a:rPr>
              <a:t>What happens when </a:t>
            </a:r>
            <a:r>
              <a:rPr sz="2400">
                <a:solidFill>
                  <a:srgbClr val="C5FAEB"/>
                </a:solidFill>
                <a:latin typeface="Courier New"/>
                <a:ea typeface="Courier New"/>
                <a:cs typeface="Courier New"/>
              </a:rPr>
              <a:t>T</a:t>
            </a:r>
            <a:r>
              <a:rPr sz="2400">
                <a:solidFill>
                  <a:srgbClr val="FFFFFF"/>
                </a:solidFill>
                <a:latin typeface="Times New Roman"/>
                <a:ea typeface="Times New Roman"/>
                <a:cs typeface="Times New Roman"/>
              </a:rPr>
              <a:t> is </a:t>
            </a:r>
            <a:r>
              <a:rPr sz="2400">
                <a:solidFill>
                  <a:srgbClr val="C5FAEB"/>
                </a:solidFill>
                <a:latin typeface="Courier New"/>
                <a:ea typeface="Courier New"/>
                <a:cs typeface="Courier New"/>
              </a:rPr>
              <a:t>std::size_t</a:t>
            </a:r>
            <a:r>
              <a:rPr sz="2400">
                <a:solidFill>
                  <a:srgbClr val="FFFFFF"/>
                </a:solidFill>
                <a:latin typeface="Times New Roman"/>
                <a:ea typeface="Times New Roman"/>
                <a:cs typeface="Times New Roman"/>
              </a:rPr>
              <a:t>?</a:t>
            </a:r>
          </a:p>
        </p:txBody>
      </p:sp>
      <p:sp>
        <p:nvSpPr>
          <p:cNvPr id="5" name="constructor-call">
            <a:extLst xmlns:a="http://schemas.openxmlformats.org/drawingml/2006/main">
              <a:ext uri="{FF2B5EF4-FFF2-40B4-BE49-F238E27FC236}">
                <a16:creationId xmlns:a16="http://schemas.microsoft.com/office/drawing/2014/main" id="{C108F328-631F-45D4-A1C8-244D5E248AE5}"/>
              </a:ext>
            </a:extLst>
          </p:cNvPr>
          <p:cNvSpPr>
            <a:spLocks xmlns:a="http://schemas.openxmlformats.org/drawingml/2006/main" noGrp="1"/>
          </p:cNvSpPr>
          <p:nvPr/>
        </p:nvSpPr>
        <p:spPr>
          <a:xfrm xmlns:a="http://schemas.openxmlformats.org/drawingml/2006/main">
            <a:off x="2865025" y="5743575"/>
            <a:ext cx="7705106" cy="5810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&lt;std::</a:t>
            </a:r>
            <a:r>
              <a:rPr sz="2000">
                <a:solidFill>
                  <a:srgbClr val="C5FAEB"/>
                </a:solidFill>
                <a:latin typeface="Courier New"/>
                <a:ea typeface="Courier New"/>
                <a:cs typeface="Courier New"/>
              </a:rPr>
              <a:t>size_t</a:t>
            </a:r>
            <a:r>
              <a:rPr sz="2000">
                <a:solidFill>
                  <a:srgbClr val="FFFFFF"/>
                </a:solidFill>
                <a:latin typeface="Courier New"/>
                <a:ea typeface="Courier New"/>
                <a:cs typeface="Courier New"/>
              </a:rPr>
              <a:t>&gt; v(</a:t>
            </a:r>
            <a:r>
              <a:rPr sz="2000">
                <a:solidFill>
                  <a:srgbClr val="D7BA7D"/>
                </a:solidFill>
                <a:latin typeface="Courier New"/>
                <a:ea typeface="Courier New"/>
                <a:cs typeface="Courier New"/>
              </a:rPr>
              <a:t>3</a:t>
            </a: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7</a:t>
            </a:r>
            <a:r>
              <a:rPr sz="2000">
                <a:solidFill>
                  <a:srgbClr val="FFFFFF"/>
                </a:solidFill>
                <a:latin typeface="Courier New"/>
                <a:ea typeface="Courier New"/>
                <a:cs typeface="Courier New"/>
              </a:rPr>
              <a:t>);</a:t>
            </a:r>
          </a:p>
        </p:txBody>
      </p:sp>
    </p:spTree>
    <p:extLst>
      <p:ext uri="{BB962C8B-B14F-4D97-AF65-F5344CB8AC3E}">
        <p14:creationId xmlns:p14="http://schemas.microsoft.com/office/powerpoint/2010/main" val="175712110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A200C7C-CEB8-4D10-96AB-A2758AD08538}"/>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Templates: Type Constraints</a:t>
            </a:r>
          </a:p>
        </p:txBody>
      </p:sp>
      <p:sp>
        <p:nvSpPr>
          <p:cNvPr id="2" name="slide-number">
            <a:extLst xmlns:a="http://schemas.openxmlformats.org/drawingml/2006/main">
              <a:ext uri="{FF2B5EF4-FFF2-40B4-BE49-F238E27FC236}">
                <a16:creationId xmlns:a16="http://schemas.microsoft.com/office/drawing/2014/main" id="{EC967447-92E2-40D9-8022-A246E7BF02B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17</a:t>
            </a:r>
          </a:p>
        </p:txBody>
      </p:sp>
      <p:sp>
        <p:nvSpPr>
          <p:cNvPr id="3" name="constructor-instantiation">
            <a:extLst xmlns:a="http://schemas.openxmlformats.org/drawingml/2006/main">
              <a:ext uri="{FF2B5EF4-FFF2-40B4-BE49-F238E27FC236}">
                <a16:creationId xmlns:a16="http://schemas.microsoft.com/office/drawing/2014/main" id="{A2C8B237-63BD-42B5-BFB0-C4E1F6C874ED}"/>
              </a:ext>
            </a:extLst>
          </p:cNvPr>
          <p:cNvSpPr>
            <a:spLocks xmlns:a="http://schemas.openxmlformats.org/drawingml/2006/main" noGrp="1"/>
          </p:cNvSpPr>
          <p:nvPr/>
        </p:nvSpPr>
        <p:spPr>
          <a:xfrm xmlns:a="http://schemas.openxmlformats.org/drawingml/2006/main">
            <a:off x="2773594" y="1933575"/>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For </a:t>
            </a:r>
            <a:r>
              <a:rPr sz="2000">
                <a:solidFill>
                  <a:srgbClr val="C5FAEB"/>
                </a:solidFill>
                <a:latin typeface="Courier New"/>
                <a:ea typeface="Courier New"/>
                <a:cs typeface="Courier New"/>
              </a:rPr>
              <a:t>vector&lt;std::size_t&gt;</a:t>
            </a:r>
            <a:r>
              <a:rPr sz="2000">
                <a:solidFill>
                  <a:srgbClr val="FFFFFF"/>
                </a:solidFill>
                <a:latin typeface="Times New Roman"/>
                <a:ea typeface="Times New Roman"/>
                <a:cs typeface="Times New Roman"/>
              </a:rPr>
              <a:t>, compare the two candidates.</a:t>
            </a:r>
          </a:p>
        </p:txBody>
      </p:sp>
      <p:sp>
        <p:nvSpPr>
          <p:cNvPr id="4" name="constructors-substituted">
            <a:extLst xmlns:a="http://schemas.openxmlformats.org/drawingml/2006/main">
              <a:ext uri="{FF2B5EF4-FFF2-40B4-BE49-F238E27FC236}">
                <a16:creationId xmlns:a16="http://schemas.microsoft.com/office/drawing/2014/main" id="{8CA2CCC7-CC61-4358-B3E4-6DCCE5A2682E}"/>
              </a:ext>
            </a:extLst>
          </p:cNvPr>
          <p:cNvSpPr>
            <a:spLocks xmlns:a="http://schemas.openxmlformats.org/drawingml/2006/main" noGrp="1"/>
          </p:cNvSpPr>
          <p:nvPr/>
        </p:nvSpPr>
        <p:spPr>
          <a:xfrm xmlns:a="http://schemas.openxmlformats.org/drawingml/2006/main">
            <a:off x="2865025" y="2400300"/>
            <a:ext cx="7705106" cy="2390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&gt; </a:t>
            </a: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first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last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(std::</a:t>
            </a:r>
            <a:r>
              <a:rPr sz="2000">
                <a:solidFill>
                  <a:srgbClr val="C5FAEB"/>
                </a:solidFill>
                <a:latin typeface="Courier New"/>
                <a:ea typeface="Courier New"/>
                <a:cs typeface="Courier New"/>
              </a:rPr>
              <a:t>size_t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const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T const&amp; becomes std::size_t const&amp;</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graphicFrame>
        <p:nvGraphicFramePr>
          <p:cNvPr id="5" name="">
            <a:extLst xmlns:a="http://schemas.openxmlformats.org/drawingml/2006/main">
              <a:ext uri="{FF2B5EF4-FFF2-40B4-BE49-F238E27FC236}">
                <a16:creationId xmlns:a16="http://schemas.microsoft.com/office/drawing/2014/main" id="{140E1F73-22EF-4D7F-91D8-EF6BA342EF24}"/>
              </a:ext>
            </a:extLst>
          </p:cNvPr>
          <p:cNvGraphicFramePr/>
          <p:nvPr/>
        </p:nvGraphicFramePr>
        <p:xfrm>
          <a:off xmlns:a="http://schemas.openxmlformats.org/drawingml/2006/main" x="2865025" y="4933950"/>
          <a:ext xmlns:a="http://schemas.openxmlformats.org/drawingml/2006/main" cx="7705106" cy="1371600"/>
        </p:xfrm>
        <a:graphic xmlns:a="http://schemas.openxmlformats.org/drawingml/2006/main">
          <a:graphicData uri="http://schemas.openxmlformats.org/drawingml/2006/table">
            <a:tbl>
              <a:tblPr firstRow="0" firstCol="0" bandRow="0"/>
              <a:tblGrid>
                <a:gridCol w="3619500"/>
                <a:gridCol w="4085606"/>
              </a:tblGrid>
              <a:tr h="419100">
                <a:tc>
                  <a:txBody>
                    <a:bodyPr lIns="95250" tIns="95250" rIns="95250" bIns="95250">
                      <a:noAutofit/>
                    </a:bodyPr>
                    <a:lstStyle/>
                    <a:p>
                      <a:pPr algn="l">
                        <a:lnSpc>
                          <a:spcPct val="100000"/>
                        </a:lnSpc>
                        <a:buNone/>
                      </a:pPr>
                      <a:r>
                        <a:rPr sz="2000" b="1">
                          <a:solidFill>
                            <a:srgbClr val="FFFFFF"/>
                          </a:solidFill>
                          <a:latin typeface="Times New Roman"/>
                          <a:ea typeface="Times New Roman"/>
                          <a:cs typeface="Times New Roman"/>
                        </a:rPr>
                        <a:t>Arguments</a:t>
                      </a:r>
                    </a:p>
                  </a:txBody>
                  <a:tcPr marL="91440" marR="91440" marT="45720" marB="45720" anchor="ctr">
                    <a:lnL w="9525">
                      <a:solidFill>
                        <a:srgbClr val="8EC0C1"/>
                      </a:solidFill>
                      <a:prstDash val="solid"/>
                    </a:lnL>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95250" tIns="95250" rIns="95250" bIns="95250">
                      <a:noAutofit/>
                    </a:bodyPr>
                    <a:lstStyle/>
                    <a:p>
                      <a:pPr algn="l">
                        <a:lnSpc>
                          <a:spcPct val="100000"/>
                        </a:lnSpc>
                        <a:buNone/>
                      </a:pPr>
                      <a:r>
                        <a:rPr sz="2000" b="1">
                          <a:solidFill>
                            <a:srgbClr val="FFFFFF"/>
                          </a:solidFill>
                          <a:latin typeface="Times New Roman"/>
                          <a:ea typeface="Times New Roman"/>
                          <a:cs typeface="Times New Roman"/>
                        </a:rPr>
                        <a:t>Unconstrained choice</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r>
              <a:tr h="476250">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int literals: (3, 7)</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Range: Iter = int</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r h="476250">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std::size_t variables</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Fill constructor</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bl>
          </a:graphicData>
        </a:graphic>
      </p:graphicFrame>
    </p:spTree>
    <p:extLst>
      <p:ext uri="{BB962C8B-B14F-4D97-AF65-F5344CB8AC3E}">
        <p14:creationId xmlns:p14="http://schemas.microsoft.com/office/powerpoint/2010/main" val="187883242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E0B7AB3-7AAA-4120-8B63-338FEEBA21D4}"/>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Templates: Type Constraints</a:t>
            </a:r>
          </a:p>
        </p:txBody>
      </p:sp>
      <p:sp>
        <p:nvSpPr>
          <p:cNvPr id="2" name="slide-number">
            <a:extLst xmlns:a="http://schemas.openxmlformats.org/drawingml/2006/main">
              <a:ext uri="{FF2B5EF4-FFF2-40B4-BE49-F238E27FC236}">
                <a16:creationId xmlns:a16="http://schemas.microsoft.com/office/drawing/2014/main" id="{705E9413-AED6-4912-9853-5F87220198DD}"/>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18</a:t>
            </a:r>
          </a:p>
        </p:txBody>
      </p:sp>
      <p:sp>
        <p:nvSpPr>
          <p:cNvPr id="3" name="constraint-scenario">
            <a:extLst xmlns:a="http://schemas.openxmlformats.org/drawingml/2006/main">
              <a:ext uri="{FF2B5EF4-FFF2-40B4-BE49-F238E27FC236}">
                <a16:creationId xmlns:a16="http://schemas.microsoft.com/office/drawing/2014/main" id="{E4F0CCA1-3DD2-497D-BFC3-9B5D4D2128DC}"/>
              </a:ext>
            </a:extLst>
          </p:cNvPr>
          <p:cNvSpPr>
            <a:spLocks xmlns:a="http://schemas.openxmlformats.org/drawingml/2006/main" noGrp="1"/>
          </p:cNvSpPr>
          <p:nvPr/>
        </p:nvSpPr>
        <p:spPr>
          <a:xfrm xmlns:a="http://schemas.openxmlformats.org/drawingml/2006/main">
            <a:off x="2773594" y="1924050"/>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Consider </a:t>
            </a:r>
            <a:r>
              <a:rPr sz="2000">
                <a:solidFill>
                  <a:srgbClr val="C5FAEB"/>
                </a:solidFill>
                <a:latin typeface="Courier New"/>
                <a:ea typeface="Courier New"/>
                <a:cs typeface="Courier New"/>
              </a:rPr>
              <a:t>T = std::size_t</a:t>
            </a:r>
            <a:r>
              <a:rPr sz="2000">
                <a:solidFill>
                  <a:srgbClr val="FFFFFF"/>
                </a:solidFill>
                <a:latin typeface="Times New Roman"/>
                <a:ea typeface="Times New Roman"/>
                <a:cs typeface="Times New Roman"/>
              </a:rPr>
              <a:t>.</a:t>
            </a:r>
          </a:p>
        </p:txBody>
      </p:sp>
      <p:sp>
        <p:nvSpPr>
          <p:cNvPr id="4" name="constructors-before-constraint">
            <a:extLst xmlns:a="http://schemas.openxmlformats.org/drawingml/2006/main">
              <a:ext uri="{FF2B5EF4-FFF2-40B4-BE49-F238E27FC236}">
                <a16:creationId xmlns:a16="http://schemas.microsoft.com/office/drawing/2014/main" id="{7B14EB6B-6821-4881-BA9B-A62C0F8E8FB8}"/>
              </a:ext>
            </a:extLst>
          </p:cNvPr>
          <p:cNvSpPr>
            <a:spLocks xmlns:a="http://schemas.openxmlformats.org/drawingml/2006/main" noGrp="1"/>
          </p:cNvSpPr>
          <p:nvPr/>
        </p:nvSpPr>
        <p:spPr>
          <a:xfrm xmlns:a="http://schemas.openxmlformats.org/drawingml/2006/main">
            <a:off x="2865025" y="2400300"/>
            <a:ext cx="7705106" cy="2390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first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last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(std::</a:t>
            </a:r>
            <a:r>
              <a:rPr sz="2000">
                <a:solidFill>
                  <a:srgbClr val="C5FAEB"/>
                </a:solidFill>
                <a:latin typeface="Courier New"/>
                <a:ea typeface="Courier New"/>
                <a:cs typeface="Courier New"/>
              </a:rPr>
              <a:t>size_t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const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constraint-solution">
            <a:extLst xmlns:a="http://schemas.openxmlformats.org/drawingml/2006/main">
              <a:ext uri="{FF2B5EF4-FFF2-40B4-BE49-F238E27FC236}">
                <a16:creationId xmlns:a16="http://schemas.microsoft.com/office/drawing/2014/main" id="{1115C36A-7577-4CAB-9CA9-3E0226379569}"/>
              </a:ext>
            </a:extLst>
          </p:cNvPr>
          <p:cNvSpPr>
            <a:spLocks xmlns:a="http://schemas.openxmlformats.org/drawingml/2006/main" noGrp="1"/>
          </p:cNvSpPr>
          <p:nvPr/>
        </p:nvSpPr>
        <p:spPr>
          <a:xfrm xmlns:a="http://schemas.openxmlformats.org/drawingml/2006/main">
            <a:off x="2773594" y="5105400"/>
            <a:ext cx="7796536"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Constrain the range constructor</a:t>
            </a:r>
          </a:p>
        </p:txBody>
      </p:sp>
      <p:sp>
        <p:nvSpPr>
          <p:cNvPr id="6" name="constraint-goal">
            <a:extLst xmlns:a="http://schemas.openxmlformats.org/drawingml/2006/main">
              <a:ext uri="{FF2B5EF4-FFF2-40B4-BE49-F238E27FC236}">
                <a16:creationId xmlns:a16="http://schemas.microsoft.com/office/drawing/2014/main" id="{85CB7CA5-324B-4715-B085-71B1DCC2A542}"/>
              </a:ext>
            </a:extLst>
          </p:cNvPr>
          <p:cNvSpPr>
            <a:spLocks xmlns:a="http://schemas.openxmlformats.org/drawingml/2006/main" noGrp="1"/>
          </p:cNvSpPr>
          <p:nvPr/>
        </p:nvSpPr>
        <p:spPr>
          <a:xfrm xmlns:a="http://schemas.openxmlformats.org/drawingml/2006/main">
            <a:off x="2773594" y="5591175"/>
            <a:ext cx="7796536"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Let suitable iterators use the range overload.</a:t>
            </a:r>
          </a:p>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Let integer count/value arguments use the fill overload.</a:t>
            </a:r>
          </a:p>
        </p:txBody>
      </p:sp>
    </p:spTree>
    <p:extLst>
      <p:ext uri="{BB962C8B-B14F-4D97-AF65-F5344CB8AC3E}">
        <p14:creationId xmlns:p14="http://schemas.microsoft.com/office/powerpoint/2010/main" val="118083929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EAB7FAC-986F-4B92-9A4A-F33336D6F71B}"/>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Templates: Type Constraints</a:t>
            </a:r>
          </a:p>
        </p:txBody>
      </p:sp>
      <p:sp>
        <p:nvSpPr>
          <p:cNvPr id="2" name="slide-number">
            <a:extLst xmlns:a="http://schemas.openxmlformats.org/drawingml/2006/main">
              <a:ext uri="{FF2B5EF4-FFF2-40B4-BE49-F238E27FC236}">
                <a16:creationId xmlns:a16="http://schemas.microsoft.com/office/drawing/2014/main" id="{0C215FBF-8A5C-4884-B3F3-02C2CD80964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19</a:t>
            </a:r>
          </a:p>
        </p:txBody>
      </p:sp>
      <p:sp>
        <p:nvSpPr>
          <p:cNvPr id="3" name="iterator-operations">
            <a:extLst xmlns:a="http://schemas.openxmlformats.org/drawingml/2006/main">
              <a:ext uri="{FF2B5EF4-FFF2-40B4-BE49-F238E27FC236}">
                <a16:creationId xmlns:a16="http://schemas.microsoft.com/office/drawing/2014/main" id="{838A27AA-A719-4046-AAC5-80BC1FB7FEA7}"/>
              </a:ext>
            </a:extLst>
          </p:cNvPr>
          <p:cNvSpPr>
            <a:spLocks xmlns:a="http://schemas.openxmlformats.org/drawingml/2006/main" noGrp="1"/>
          </p:cNvSpPr>
          <p:nvPr/>
        </p:nvSpPr>
        <p:spPr>
          <a:xfrm xmlns:a="http://schemas.openxmlformats.org/drawingml/2006/main">
            <a:off x="2773594" y="1905000"/>
            <a:ext cx="7796536"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Input iterators support dereference and increment.</a:t>
            </a:r>
          </a:p>
        </p:txBody>
      </p:sp>
      <p:sp>
        <p:nvSpPr>
          <p:cNvPr id="4" name="expression-check-label">
            <a:extLst xmlns:a="http://schemas.openxmlformats.org/drawingml/2006/main">
              <a:ext uri="{FF2B5EF4-FFF2-40B4-BE49-F238E27FC236}">
                <a16:creationId xmlns:a16="http://schemas.microsoft.com/office/drawing/2014/main" id="{A658B295-72D5-459C-A0D2-4623E2E85433}"/>
              </a:ext>
            </a:extLst>
          </p:cNvPr>
          <p:cNvSpPr>
            <a:spLocks xmlns:a="http://schemas.openxmlformats.org/drawingml/2006/main" noGrp="1"/>
          </p:cNvSpPr>
          <p:nvPr/>
        </p:nvSpPr>
        <p:spPr>
          <a:xfrm xmlns:a="http://schemas.openxmlformats.org/drawingml/2006/main">
            <a:off x="2773594" y="2667000"/>
            <a:ext cx="7796536"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Type check</a:t>
            </a:r>
          </a:p>
        </p:txBody>
      </p:sp>
      <p:sp>
        <p:nvSpPr>
          <p:cNvPr id="5" name="iterator-expression-probe">
            <a:extLst xmlns:a="http://schemas.openxmlformats.org/drawingml/2006/main">
              <a:ext uri="{FF2B5EF4-FFF2-40B4-BE49-F238E27FC236}">
                <a16:creationId xmlns:a16="http://schemas.microsoft.com/office/drawing/2014/main" id="{ECE7D8B9-205E-4125-94B4-48F2B8473B4E}"/>
              </a:ext>
            </a:extLst>
          </p:cNvPr>
          <p:cNvSpPr>
            <a:spLocks xmlns:a="http://schemas.openxmlformats.org/drawingml/2006/main" noGrp="1"/>
          </p:cNvSpPr>
          <p:nvPr/>
        </p:nvSpPr>
        <p:spPr>
          <a:xfrm xmlns:a="http://schemas.openxmlformats.org/drawingml/2006/main">
            <a:off x="2865025" y="3105150"/>
            <a:ext cx="7705106" cy="13906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decltype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void</a:t>
            </a:r>
            <a:r>
              <a:rPr sz="2000">
                <a:solidFill>
                  <a:srgbClr val="FFFFFF"/>
                </a:solidFill>
                <a:latin typeface="Courier New"/>
                <a:ea typeface="Courier New"/>
                <a:cs typeface="Courier New"/>
              </a:rPr>
              <a:t>)*std::</a:t>
            </a:r>
            <a:r>
              <a:rPr sz="2000">
                <a:solidFill>
                  <a:srgbClr val="DCDCAA"/>
                </a:solidFill>
                <a:latin typeface="Courier New"/>
                <a:ea typeface="Courier New"/>
                <a:cs typeface="Courier New"/>
              </a:rPr>
              <a:t>declval</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&amp;&gt;(),  </a:t>
            </a:r>
            <a:r>
              <a:rPr sz="2000">
                <a:solidFill>
                  <a:srgbClr val="9DB890"/>
                </a:solidFill>
                <a:latin typeface="Courier New"/>
                <a:ea typeface="Courier New"/>
                <a:cs typeface="Courier New"/>
              </a:rPr>
              <a:t>// *iter</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++std::</a:t>
            </a:r>
            <a:r>
              <a:rPr sz="2000">
                <a:solidFill>
                  <a:srgbClr val="DCDCAA"/>
                </a:solidFill>
                <a:latin typeface="Courier New"/>
                <a:ea typeface="Courier New"/>
                <a:cs typeface="Courier New"/>
              </a:rPr>
              <a:t>declval</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&amp;&gt;()       </a:t>
            </a:r>
            <a:r>
              <a:rPr sz="2000">
                <a:solidFill>
                  <a:srgbClr val="9DB890"/>
                </a:solidFill>
                <a:latin typeface="Courier New"/>
                <a:ea typeface="Courier New"/>
                <a:cs typeface="Courier New"/>
              </a:rPr>
              <a:t>// ++iter</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6" name="decltype-definition">
            <a:extLst xmlns:a="http://schemas.openxmlformats.org/drawingml/2006/main">
              <a:ext uri="{FF2B5EF4-FFF2-40B4-BE49-F238E27FC236}">
                <a16:creationId xmlns:a16="http://schemas.microsoft.com/office/drawing/2014/main" id="{99D64A89-955B-441A-8B38-11DAAA1FEFC1}"/>
              </a:ext>
            </a:extLst>
          </p:cNvPr>
          <p:cNvSpPr>
            <a:spLocks xmlns:a="http://schemas.openxmlformats.org/drawingml/2006/main" noGrp="1"/>
          </p:cNvSpPr>
          <p:nvPr/>
        </p:nvSpPr>
        <p:spPr>
          <a:xfrm xmlns:a="http://schemas.openxmlformats.org/drawingml/2006/main">
            <a:off x="2773594" y="4714875"/>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decltype(e)</a:t>
            </a:r>
            <a:r>
              <a:rPr sz="2000">
                <a:solidFill>
                  <a:srgbClr val="FFFFFF"/>
                </a:solidFill>
                <a:latin typeface="Times New Roman"/>
                <a:ea typeface="Times New Roman"/>
                <a:cs typeface="Times New Roman"/>
              </a:rPr>
              <a:t>: type of an unevaluated expression.</a:t>
            </a:r>
          </a:p>
        </p:txBody>
      </p:sp>
      <p:sp>
        <p:nvSpPr>
          <p:cNvPr id="7" name="declval-definition">
            <a:extLst xmlns:a="http://schemas.openxmlformats.org/drawingml/2006/main">
              <a:ext uri="{FF2B5EF4-FFF2-40B4-BE49-F238E27FC236}">
                <a16:creationId xmlns:a16="http://schemas.microsoft.com/office/drawing/2014/main" id="{7081498A-5CA6-472A-AA81-F927540BC628}"/>
              </a:ext>
            </a:extLst>
          </p:cNvPr>
          <p:cNvSpPr>
            <a:spLocks xmlns:a="http://schemas.openxmlformats.org/drawingml/2006/main" noGrp="1"/>
          </p:cNvSpPr>
          <p:nvPr/>
        </p:nvSpPr>
        <p:spPr>
          <a:xfrm xmlns:a="http://schemas.openxmlformats.org/drawingml/2006/main">
            <a:off x="2773594" y="5181600"/>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declval&lt;Iter&amp;&gt;()</a:t>
            </a:r>
            <a:r>
              <a:rPr sz="2000">
                <a:solidFill>
                  <a:srgbClr val="FFFFFF"/>
                </a:solidFill>
                <a:latin typeface="Times New Roman"/>
                <a:ea typeface="Times New Roman"/>
                <a:cs typeface="Times New Roman"/>
              </a:rPr>
              <a:t>: an lvalue expression for a type check.</a:t>
            </a:r>
          </a:p>
        </p:txBody>
      </p:sp>
      <p:sp>
        <p:nvSpPr>
          <p:cNvPr id="8" name="substitution-context">
            <a:extLst xmlns:a="http://schemas.openxmlformats.org/drawingml/2006/main">
              <a:ext uri="{FF2B5EF4-FFF2-40B4-BE49-F238E27FC236}">
                <a16:creationId xmlns:a16="http://schemas.microsoft.com/office/drawing/2014/main" id="{FE0BB266-2556-4A58-B3E3-12D1B5280B55}"/>
              </a:ext>
            </a:extLst>
          </p:cNvPr>
          <p:cNvSpPr>
            <a:spLocks xmlns:a="http://schemas.openxmlformats.org/drawingml/2006/main" noGrp="1"/>
          </p:cNvSpPr>
          <p:nvPr/>
        </p:nvSpPr>
        <p:spPr>
          <a:xfrm xmlns:a="http://schemas.openxmlformats.org/drawingml/2006/main">
            <a:off x="2773594" y="5591175"/>
            <a:ext cx="7796536"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In a template parameter list, substitution failure</a:t>
            </a:r>
          </a:p>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can remove the candidate.</a:t>
            </a:r>
          </a:p>
        </p:txBody>
      </p:sp>
    </p:spTree>
    <p:extLst>
      <p:ext uri="{BB962C8B-B14F-4D97-AF65-F5344CB8AC3E}">
        <p14:creationId xmlns:p14="http://schemas.microsoft.com/office/powerpoint/2010/main" val="21440331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5639104-E9EF-41D4-B891-F87F811FB9CF}"/>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Templates: Type Constraints</a:t>
            </a:r>
          </a:p>
        </p:txBody>
      </p:sp>
      <p:sp>
        <p:nvSpPr>
          <p:cNvPr id="2" name="slide-number">
            <a:extLst xmlns:a="http://schemas.openxmlformats.org/drawingml/2006/main">
              <a:ext uri="{FF2B5EF4-FFF2-40B4-BE49-F238E27FC236}">
                <a16:creationId xmlns:a16="http://schemas.microsoft.com/office/drawing/2014/main" id="{126FEA4D-D5DC-46D7-98E8-E0386E04F72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20</a:t>
            </a:r>
          </a:p>
        </p:txBody>
      </p:sp>
      <p:sp>
        <p:nvSpPr>
          <p:cNvPr id="3" name="sfinae-expansion">
            <a:extLst xmlns:a="http://schemas.openxmlformats.org/drawingml/2006/main">
              <a:ext uri="{FF2B5EF4-FFF2-40B4-BE49-F238E27FC236}">
                <a16:creationId xmlns:a16="http://schemas.microsoft.com/office/drawing/2014/main" id="{0B55BEFF-1FCC-4035-A004-688DAB327AFA}"/>
              </a:ext>
            </a:extLst>
          </p:cNvPr>
          <p:cNvSpPr>
            <a:spLocks xmlns:a="http://schemas.openxmlformats.org/drawingml/2006/main" noGrp="1"/>
          </p:cNvSpPr>
          <p:nvPr/>
        </p:nvSpPr>
        <p:spPr>
          <a:xfrm xmlns:a="http://schemas.openxmlformats.org/drawingml/2006/main">
            <a:off x="2773594" y="1914525"/>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SFINAE: Substitution Failure Is Not An Error</a:t>
            </a:r>
          </a:p>
        </p:txBody>
      </p:sp>
      <p:sp>
        <p:nvSpPr>
          <p:cNvPr id="4" name="sfinae-constructors">
            <a:extLst xmlns:a="http://schemas.openxmlformats.org/drawingml/2006/main">
              <a:ext uri="{FF2B5EF4-FFF2-40B4-BE49-F238E27FC236}">
                <a16:creationId xmlns:a16="http://schemas.microsoft.com/office/drawing/2014/main" id="{6AFB8876-FA7B-4AC7-8D1C-9A245B20C4E5}"/>
              </a:ext>
            </a:extLst>
          </p:cNvPr>
          <p:cNvSpPr>
            <a:spLocks xmlns:a="http://schemas.openxmlformats.org/drawingml/2006/main" noGrp="1"/>
          </p:cNvSpPr>
          <p:nvPr/>
        </p:nvSpPr>
        <p:spPr>
          <a:xfrm xmlns:a="http://schemas.openxmlformats.org/drawingml/2006/main">
            <a:off x="2865025" y="2409825"/>
            <a:ext cx="7705106" cy="29241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&gt; </a:t>
            </a: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decltype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void</a:t>
            </a:r>
            <a:r>
              <a:rPr sz="2000">
                <a:solidFill>
                  <a:srgbClr val="FFFFFF"/>
                </a:solidFill>
                <a:latin typeface="Courier New"/>
                <a:ea typeface="Courier New"/>
                <a:cs typeface="Courier New"/>
              </a:rPr>
              <a:t>)*std::</a:t>
            </a:r>
            <a:r>
              <a:rPr sz="2000">
                <a:solidFill>
                  <a:srgbClr val="DCDCAA"/>
                </a:solidFill>
                <a:latin typeface="Courier New"/>
                <a:ea typeface="Courier New"/>
                <a:cs typeface="Courier New"/>
              </a:rPr>
              <a:t>declval</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&amp;&gt;(),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++std::</a:t>
            </a:r>
            <a:r>
              <a:rPr sz="2000">
                <a:solidFill>
                  <a:srgbClr val="DCDCAA"/>
                </a:solidFill>
                <a:latin typeface="Courier New"/>
                <a:ea typeface="Courier New"/>
                <a:cs typeface="Courier New"/>
              </a:rPr>
              <a:t>declval</a:t>
            </a:r>
            <a:r>
              <a:rPr sz="2000">
                <a:solidFill>
                  <a:srgbClr val="FFFFFF"/>
                </a:solidFill>
                <a:latin typeface="Courier New"/>
                <a:ea typeface="Courier New"/>
                <a:cs typeface="Courier New"/>
              </a:rPr>
              <a:t>&lt;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&amp;&gt;())&gt;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first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last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(std::</a:t>
            </a:r>
            <a:r>
              <a:rPr sz="2000">
                <a:solidFill>
                  <a:srgbClr val="C5FAEB"/>
                </a:solidFill>
                <a:latin typeface="Courier New"/>
                <a:ea typeface="Courier New"/>
                <a:cs typeface="Courier New"/>
              </a:rPr>
              <a:t>size_t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const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sfinae-result">
            <a:extLst xmlns:a="http://schemas.openxmlformats.org/drawingml/2006/main">
              <a:ext uri="{FF2B5EF4-FFF2-40B4-BE49-F238E27FC236}">
                <a16:creationId xmlns:a16="http://schemas.microsoft.com/office/drawing/2014/main" id="{D18C3060-6B2F-4698-8155-B0E7D5586E96}"/>
              </a:ext>
            </a:extLst>
          </p:cNvPr>
          <p:cNvSpPr>
            <a:spLocks xmlns:a="http://schemas.openxmlformats.org/drawingml/2006/main" noGrp="1"/>
          </p:cNvSpPr>
          <p:nvPr/>
        </p:nvSpPr>
        <p:spPr>
          <a:xfrm xmlns:a="http://schemas.openxmlformats.org/drawingml/2006/main">
            <a:off x="2773594" y="5524500"/>
            <a:ext cx="7796536"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For </a:t>
            </a:r>
            <a:r>
              <a:rPr sz="2000">
                <a:solidFill>
                  <a:srgbClr val="C5FAEB"/>
                </a:solidFill>
                <a:latin typeface="Courier New"/>
                <a:ea typeface="Courier New"/>
                <a:cs typeface="Courier New"/>
              </a:rPr>
              <a:t>Iter = std::size_t</a:t>
            </a:r>
            <a:r>
              <a:rPr sz="2000">
                <a:solidFill>
                  <a:srgbClr val="FFFFFF"/>
                </a:solidFill>
                <a:latin typeface="Times New Roman"/>
                <a:ea typeface="Times New Roman"/>
                <a:cs typeface="Times New Roman"/>
              </a:rPr>
              <a:t>, </a:t>
            </a:r>
            <a:r>
              <a:rPr sz="2000">
                <a:solidFill>
                  <a:srgbClr val="C5FAEB"/>
                </a:solidFill>
                <a:latin typeface="Courier New"/>
                <a:ea typeface="Courier New"/>
                <a:cs typeface="Courier New"/>
              </a:rPr>
              <a:t>++iter</a:t>
            </a:r>
            <a:r>
              <a:rPr sz="2000">
                <a:solidFill>
                  <a:srgbClr val="FFFFFF"/>
                </a:solidFill>
                <a:latin typeface="Times New Roman"/>
                <a:ea typeface="Times New Roman"/>
                <a:cs typeface="Times New Roman"/>
              </a:rPr>
              <a:t> works; </a:t>
            </a:r>
            <a:r>
              <a:rPr sz="2000">
                <a:solidFill>
                  <a:srgbClr val="C5FAEB"/>
                </a:solidFill>
                <a:latin typeface="Courier New"/>
                <a:ea typeface="Courier New"/>
                <a:cs typeface="Courier New"/>
              </a:rPr>
              <a:t>*iter</a:t>
            </a:r>
            <a:r>
              <a:rPr sz="2000">
                <a:solidFill>
                  <a:srgbClr val="FFFFFF"/>
                </a:solidFill>
                <a:latin typeface="Times New Roman"/>
                <a:ea typeface="Times New Roman"/>
                <a:cs typeface="Times New Roman"/>
              </a:rPr>
              <a:t> is invalid.</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Substitution removes the range candidate; fill remains.</a:t>
            </a:r>
          </a:p>
        </p:txBody>
      </p:sp>
    </p:spTree>
    <p:extLst>
      <p:ext uri="{BB962C8B-B14F-4D97-AF65-F5344CB8AC3E}">
        <p14:creationId xmlns:p14="http://schemas.microsoft.com/office/powerpoint/2010/main" val="72754742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04E607B-32EF-467F-B4E0-5D5BAD14C3AC}"/>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Templates: Concepts</a:t>
            </a:r>
          </a:p>
        </p:txBody>
      </p:sp>
      <p:sp>
        <p:nvSpPr>
          <p:cNvPr id="2" name="slide-number">
            <a:extLst xmlns:a="http://schemas.openxmlformats.org/drawingml/2006/main">
              <a:ext uri="{FF2B5EF4-FFF2-40B4-BE49-F238E27FC236}">
                <a16:creationId xmlns:a16="http://schemas.microsoft.com/office/drawing/2014/main" id="{4F7BABB5-60BB-492E-9C79-B44C322D25B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21</a:t>
            </a:r>
          </a:p>
        </p:txBody>
      </p:sp>
      <p:sp>
        <p:nvSpPr>
          <p:cNvPr id="3" name="concepts-introduction">
            <a:extLst xmlns:a="http://schemas.openxmlformats.org/drawingml/2006/main">
              <a:ext uri="{FF2B5EF4-FFF2-40B4-BE49-F238E27FC236}">
                <a16:creationId xmlns:a16="http://schemas.microsoft.com/office/drawing/2014/main" id="{A230E30C-2C3C-4653-B3DB-543C1F355EDC}"/>
              </a:ext>
            </a:extLst>
          </p:cNvPr>
          <p:cNvSpPr>
            <a:spLocks xmlns:a="http://schemas.openxmlformats.org/drawingml/2006/main" noGrp="1"/>
          </p:cNvSpPr>
          <p:nvPr/>
        </p:nvSpPr>
        <p:spPr>
          <a:xfrm xmlns:a="http://schemas.openxmlformats.org/drawingml/2006/main">
            <a:off x="2773594" y="1952625"/>
            <a:ext cx="7796536"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Concepts were introduced in C++20.</a:t>
            </a:r>
          </a:p>
        </p:txBody>
      </p:sp>
      <p:sp>
        <p:nvSpPr>
          <p:cNvPr id="4" name="concept-constructors">
            <a:extLst xmlns:a="http://schemas.openxmlformats.org/drawingml/2006/main">
              <a:ext uri="{FF2B5EF4-FFF2-40B4-BE49-F238E27FC236}">
                <a16:creationId xmlns:a16="http://schemas.microsoft.com/office/drawing/2014/main" id="{9F16E03B-1ABE-4630-B5ED-555F29752EC4}"/>
              </a:ext>
            </a:extLst>
          </p:cNvPr>
          <p:cNvSpPr>
            <a:spLocks xmlns:a="http://schemas.openxmlformats.org/drawingml/2006/main" noGrp="1"/>
          </p:cNvSpPr>
          <p:nvPr/>
        </p:nvSpPr>
        <p:spPr>
          <a:xfrm xmlns:a="http://schemas.openxmlformats.org/drawingml/2006/main">
            <a:off x="2865025" y="2895600"/>
            <a:ext cx="7705106" cy="2390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a:t>
            </a:r>
            <a:r>
              <a:rPr sz="2000">
                <a:solidFill>
                  <a:srgbClr val="C586C0"/>
                </a:solidFill>
                <a:latin typeface="Courier New"/>
                <a:ea typeface="Courier New"/>
                <a:cs typeface="Courier New"/>
              </a:rPr>
              <a:t>typename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template</a:t>
            </a:r>
            <a:r>
              <a:rPr sz="2000">
                <a:solidFill>
                  <a:srgbClr val="FFFFFF"/>
                </a:solidFill>
                <a:latin typeface="Courier New"/>
                <a:ea typeface="Courier New"/>
                <a:cs typeface="Courier New"/>
              </a:rPr>
              <a:t>&lt;std::</a:t>
            </a:r>
            <a:r>
              <a:rPr sz="2000">
                <a:solidFill>
                  <a:srgbClr val="C5FAEB"/>
                </a:solidFill>
                <a:latin typeface="Courier New"/>
                <a:ea typeface="Courier New"/>
                <a:cs typeface="Courier New"/>
              </a:rPr>
              <a:t>input_iterator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first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Iter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last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vector</a:t>
            </a:r>
            <a:r>
              <a:rPr sz="2000">
                <a:solidFill>
                  <a:srgbClr val="FFFFFF"/>
                </a:solidFill>
                <a:latin typeface="Courier New"/>
                <a:ea typeface="Courier New"/>
                <a:cs typeface="Courier New"/>
              </a:rPr>
              <a:t>(std::</a:t>
            </a:r>
            <a:r>
              <a:rPr sz="2000">
                <a:solidFill>
                  <a:srgbClr val="C5FAEB"/>
                </a:solidFill>
                <a:latin typeface="Courier New"/>
                <a:ea typeface="Courier New"/>
                <a:cs typeface="Courier New"/>
              </a:rPr>
              <a:t>size_t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size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const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concept-effect">
            <a:extLst xmlns:a="http://schemas.openxmlformats.org/drawingml/2006/main">
              <a:ext uri="{FF2B5EF4-FFF2-40B4-BE49-F238E27FC236}">
                <a16:creationId xmlns:a16="http://schemas.microsoft.com/office/drawing/2014/main" id="{95AD1B4E-027B-4FB3-AD0C-07CE61C677D8}"/>
              </a:ext>
            </a:extLst>
          </p:cNvPr>
          <p:cNvSpPr>
            <a:spLocks xmlns:a="http://schemas.openxmlformats.org/drawingml/2006/main" noGrp="1"/>
          </p:cNvSpPr>
          <p:nvPr/>
        </p:nvSpPr>
        <p:spPr>
          <a:xfrm xmlns:a="http://schemas.openxmlformats.org/drawingml/2006/main">
            <a:off x="2773594" y="5591175"/>
            <a:ext cx="7796536"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std::input_iterator</a:t>
            </a:r>
            <a:r>
              <a:rPr sz="2000">
                <a:solidFill>
                  <a:srgbClr val="FFFFFF"/>
                </a:solidFill>
                <a:latin typeface="Times New Roman"/>
                <a:ea typeface="Times New Roman"/>
                <a:cs typeface="Times New Roman"/>
              </a:rPr>
              <a:t> excludes integers from the range overload.</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A pointer range such as </a:t>
            </a:r>
            <a:r>
              <a:rPr sz="2000">
                <a:solidFill>
                  <a:srgbClr val="C5FAEB"/>
                </a:solidFill>
                <a:latin typeface="Courier New"/>
                <a:ea typeface="Courier New"/>
                <a:cs typeface="Courier New"/>
              </a:rPr>
              <a:t>(a, a + 3)</a:t>
            </a:r>
            <a:r>
              <a:rPr sz="2000">
                <a:solidFill>
                  <a:srgbClr val="FFFFFF"/>
                </a:solidFill>
                <a:latin typeface="Times New Roman"/>
                <a:ea typeface="Times New Roman"/>
                <a:cs typeface="Times New Roman"/>
              </a:rPr>
              <a:t> remains eligible.</a:t>
            </a:r>
          </a:p>
        </p:txBody>
      </p:sp>
    </p:spTree>
    <p:extLst>
      <p:ext uri="{BB962C8B-B14F-4D97-AF65-F5344CB8AC3E}">
        <p14:creationId xmlns:p14="http://schemas.microsoft.com/office/powerpoint/2010/main" val="133711954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4A0CD30-9C10-4330-8257-1FC4826E6A66}"/>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Scripting Languages</a:t>
            </a:r>
          </a:p>
        </p:txBody>
      </p:sp>
      <p:sp>
        <p:nvSpPr>
          <p:cNvPr id="2" name="slide-number">
            <a:extLst xmlns:a="http://schemas.openxmlformats.org/drawingml/2006/main">
              <a:ext uri="{FF2B5EF4-FFF2-40B4-BE49-F238E27FC236}">
                <a16:creationId xmlns:a16="http://schemas.microsoft.com/office/drawing/2014/main" id="{DE6EDAF8-6F04-46A5-9B8B-A232301092FA}"/>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22</a:t>
            </a:r>
          </a:p>
        </p:txBody>
      </p:sp>
      <p:sp>
        <p:nvSpPr>
          <p:cNvPr id="3" name="dynamic-typing">
            <a:extLst xmlns:a="http://schemas.openxmlformats.org/drawingml/2006/main">
              <a:ext uri="{FF2B5EF4-FFF2-40B4-BE49-F238E27FC236}">
                <a16:creationId xmlns:a16="http://schemas.microsoft.com/office/drawing/2014/main" id="{07D1C46B-6136-4A21-86E6-6C20A894EFD3}"/>
              </a:ext>
            </a:extLst>
          </p:cNvPr>
          <p:cNvSpPr>
            <a:spLocks xmlns:a="http://schemas.openxmlformats.org/drawingml/2006/main" noGrp="1"/>
          </p:cNvSpPr>
          <p:nvPr/>
        </p:nvSpPr>
        <p:spPr>
          <a:xfrm xmlns:a="http://schemas.openxmlformats.org/drawingml/2006/main">
            <a:off x="2773594" y="1952625"/>
            <a:ext cx="7796536"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Many scripting languages use dynamic typing.</a:t>
            </a:r>
          </a:p>
        </p:txBody>
      </p:sp>
      <p:sp>
        <p:nvSpPr>
          <p:cNvPr id="4" name="dynamic-question">
            <a:extLst xmlns:a="http://schemas.openxmlformats.org/drawingml/2006/main">
              <a:ext uri="{FF2B5EF4-FFF2-40B4-BE49-F238E27FC236}">
                <a16:creationId xmlns:a16="http://schemas.microsoft.com/office/drawing/2014/main" id="{393DB48F-A608-4FAB-A185-9FE566511E82}"/>
              </a:ext>
            </a:extLst>
          </p:cNvPr>
          <p:cNvSpPr>
            <a:spLocks xmlns:a="http://schemas.openxmlformats.org/drawingml/2006/main" noGrp="1"/>
          </p:cNvSpPr>
          <p:nvPr/>
        </p:nvSpPr>
        <p:spPr>
          <a:xfrm xmlns:a="http://schemas.openxmlformats.org/drawingml/2006/main">
            <a:off x="2773594" y="2790825"/>
            <a:ext cx="7796536"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1">
                <a:solidFill>
                  <a:srgbClr val="8EC0C1"/>
                </a:solidFill>
                <a:latin typeface="Times New Roman"/>
                <a:ea typeface="Times New Roman"/>
                <a:cs typeface="Times New Roman"/>
              </a:defRPr>
            </a:defPPr>
            <a:lvl1pPr algn="l">
              <a:defRPr sz="2400" b="0" i="1">
                <a:solidFill>
                  <a:srgbClr val="8EC0C1"/>
                </a:solidFill>
                <a:latin typeface="Times New Roman"/>
                <a:ea typeface="Times New Roman"/>
                <a:cs typeface="Times New Roman"/>
              </a:defRPr>
            </a:lvl1pPr>
            <a:lvl2pPr algn="l">
              <a:defRPr sz="2400" b="0" i="1">
                <a:solidFill>
                  <a:srgbClr val="8EC0C1"/>
                </a:solidFill>
                <a:latin typeface="Times New Roman"/>
                <a:ea typeface="Times New Roman"/>
                <a:cs typeface="Times New Roman"/>
              </a:defRPr>
            </a:lvl2pPr>
            <a:lvl3pPr algn="l">
              <a:defRPr sz="2400" b="0" i="1">
                <a:solidFill>
                  <a:srgbClr val="8EC0C1"/>
                </a:solidFill>
                <a:latin typeface="Times New Roman"/>
                <a:ea typeface="Times New Roman"/>
                <a:cs typeface="Times New Roman"/>
              </a:defRPr>
            </a:lvl3pPr>
            <a:lvl4pPr algn="l">
              <a:defRPr sz="2400" b="0" i="1">
                <a:solidFill>
                  <a:srgbClr val="8EC0C1"/>
                </a:solidFill>
                <a:latin typeface="Times New Roman"/>
                <a:ea typeface="Times New Roman"/>
                <a:cs typeface="Times New Roman"/>
              </a:defRPr>
            </a:lvl4pPr>
            <a:lvl5pPr algn="l">
              <a:defRPr sz="2400" b="0" i="1">
                <a:solidFill>
                  <a:srgbClr val="8EC0C1"/>
                </a:solidFill>
                <a:latin typeface="Times New Roman"/>
                <a:ea typeface="Times New Roman"/>
                <a:cs typeface="Times New Roman"/>
              </a:defRPr>
            </a:lvl5pPr>
            <a:lvl6pPr algn="l">
              <a:defRPr sz="2400" b="0" i="1">
                <a:solidFill>
                  <a:srgbClr val="8EC0C1"/>
                </a:solidFill>
                <a:latin typeface="Times New Roman"/>
                <a:ea typeface="Times New Roman"/>
                <a:cs typeface="Times New Roman"/>
              </a:defRPr>
            </a:lvl6pPr>
            <a:lvl7pPr algn="l">
              <a:defRPr sz="2400" b="0" i="1">
                <a:solidFill>
                  <a:srgbClr val="8EC0C1"/>
                </a:solidFill>
                <a:latin typeface="Times New Roman"/>
                <a:ea typeface="Times New Roman"/>
                <a:cs typeface="Times New Roman"/>
              </a:defRPr>
            </a:lvl7pPr>
            <a:lvl8pPr algn="l">
              <a:defRPr sz="2400" b="0" i="1">
                <a:solidFill>
                  <a:srgbClr val="8EC0C1"/>
                </a:solidFill>
                <a:latin typeface="Times New Roman"/>
                <a:ea typeface="Times New Roman"/>
                <a:cs typeface="Times New Roman"/>
              </a:defRPr>
            </a:lvl8pPr>
            <a:lvl9pPr algn="l">
              <a:defRPr sz="2400" b="0" i="1">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1">
                <a:solidFill>
                  <a:srgbClr val="8EC0C1"/>
                </a:solidFill>
                <a:latin typeface="Times New Roman"/>
                <a:ea typeface="Times New Roman"/>
                <a:cs typeface="Times New Roman"/>
              </a:defRPr>
            </a:pPr>
            <a:r>
              <a:rPr sz="2400" b="0" i="1">
                <a:solidFill>
                  <a:srgbClr val="8EC0C1"/>
                </a:solidFill>
                <a:latin typeface="Times New Roman"/>
                <a:ea typeface="Times New Roman"/>
                <a:cs typeface="Times New Roman"/>
              </a:rPr>
              <a:t>Why can one function work with many types?</a:t>
            </a:r>
          </a:p>
        </p:txBody>
      </p:sp>
      <p:sp>
        <p:nvSpPr>
          <p:cNvPr id="5" name="dynamic-reasons">
            <a:extLst xmlns:a="http://schemas.openxmlformats.org/drawingml/2006/main">
              <a:ext uri="{FF2B5EF4-FFF2-40B4-BE49-F238E27FC236}">
                <a16:creationId xmlns:a16="http://schemas.microsoft.com/office/drawing/2014/main" id="{D37D5FAE-41DC-48F1-AF89-E1692F7EC9E2}"/>
              </a:ext>
            </a:extLst>
          </p:cNvPr>
          <p:cNvSpPr>
            <a:spLocks xmlns:a="http://schemas.openxmlformats.org/drawingml/2006/main" noGrp="1"/>
          </p:cNvSpPr>
          <p:nvPr/>
        </p:nvSpPr>
        <p:spPr>
          <a:xfrm xmlns:a="http://schemas.openxmlformats.org/drawingml/2006/main">
            <a:off x="2773594" y="3362325"/>
            <a:ext cx="7796536" cy="1266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Explicit parameter type declarations are often optional.</a:t>
            </a:r>
          </a:p>
          <a:p xmlns:a="http://schemas.openxmlformats.org/drawingml/2006/main">
            <a:pPr marL="344488" indent="-344488" algn="l">
              <a:lnSpc>
                <a:spcPct val="120000"/>
              </a:lnSpc>
              <a:spcBef>
                <a:spcPts val="1000"/>
              </a:spcBef>
              <a:spcAft>
                <a:spcPts val="600"/>
              </a:spcAft>
              <a:buClr>
                <a:srgbClr val="8EC0C1"/>
              </a:buClr>
              <a:buFont typeface="Arial"/>
              <a:buChar char="▪"/>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Operations are checked when they execute.</a:t>
            </a:r>
          </a:p>
        </p:txBody>
      </p:sp>
      <p:sp>
        <p:nvSpPr>
          <p:cNvPr id="6" name="dynamic-parsing">
            <a:extLst xmlns:a="http://schemas.openxmlformats.org/drawingml/2006/main">
              <a:ext uri="{FF2B5EF4-FFF2-40B4-BE49-F238E27FC236}">
                <a16:creationId xmlns:a16="http://schemas.microsoft.com/office/drawing/2014/main" id="{FB524679-B0ED-4BC0-9B20-1149438422FC}"/>
              </a:ext>
            </a:extLst>
          </p:cNvPr>
          <p:cNvSpPr>
            <a:spLocks xmlns:a="http://schemas.openxmlformats.org/drawingml/2006/main" noGrp="1"/>
          </p:cNvSpPr>
          <p:nvPr/>
        </p:nvSpPr>
        <p:spPr>
          <a:xfrm xmlns:a="http://schemas.openxmlformats.org/drawingml/2006/main">
            <a:off x="2773594" y="4752975"/>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Untaken code still has to parse.</a:t>
            </a:r>
          </a:p>
        </p:txBody>
      </p:sp>
      <p:sp>
        <p:nvSpPr>
          <p:cNvPr id="7" name="dynamic-example">
            <a:extLst xmlns:a="http://schemas.openxmlformats.org/drawingml/2006/main">
              <a:ext uri="{FF2B5EF4-FFF2-40B4-BE49-F238E27FC236}">
                <a16:creationId xmlns:a16="http://schemas.microsoft.com/office/drawing/2014/main" id="{0D2596EF-2145-42A2-9211-A9836DE05DF6}"/>
              </a:ext>
            </a:extLst>
          </p:cNvPr>
          <p:cNvSpPr>
            <a:spLocks xmlns:a="http://schemas.openxmlformats.org/drawingml/2006/main" noGrp="1"/>
          </p:cNvSpPr>
          <p:nvPr/>
        </p:nvSpPr>
        <p:spPr>
          <a:xfrm xmlns:a="http://schemas.openxmlformats.org/drawingml/2006/main">
            <a:off x="2865025" y="5248275"/>
            <a:ext cx="7705106" cy="10763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twice</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x</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twice</a:t>
            </a:r>
            <a:r>
              <a:rPr sz="2000">
                <a:solidFill>
                  <a:srgbClr val="FFFFFF"/>
                </a:solidFill>
                <a:latin typeface="Courier New"/>
                <a:ea typeface="Courier New"/>
                <a:cs typeface="Courier New"/>
              </a:rPr>
              <a:t>(</a:t>
            </a:r>
            <a:r>
              <a:rPr sz="2000">
                <a:solidFill>
                  <a:srgbClr val="D7BA7D"/>
                </a:solidFill>
                <a:latin typeface="Courier New"/>
                <a:ea typeface="Courier New"/>
                <a:cs typeface="Courier New"/>
              </a:rPr>
              <a:t>3</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6</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twice</a:t>
            </a:r>
            <a:r>
              <a:rPr sz="2000">
                <a:solidFill>
                  <a:srgbClr val="FFFFFF"/>
                </a:solidFill>
                <a:latin typeface="Courier New"/>
                <a:ea typeface="Courier New"/>
                <a:cs typeface="Courier New"/>
              </a:rPr>
              <a:t>(</a:t>
            </a:r>
            <a:r>
              <a:rPr sz="2000">
                <a:solidFill>
                  <a:srgbClr val="D7BA7D"/>
                </a:solidFill>
                <a:latin typeface="Courier New"/>
                <a:ea typeface="Courier New"/>
                <a:cs typeface="Courier New"/>
              </a:rPr>
              <a:t>"ha"</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"haha"</a:t>
            </a:r>
          </a:p>
        </p:txBody>
      </p:sp>
    </p:spTree>
    <p:extLst>
      <p:ext uri="{BB962C8B-B14F-4D97-AF65-F5344CB8AC3E}">
        <p14:creationId xmlns:p14="http://schemas.microsoft.com/office/powerpoint/2010/main" val="55832783"/>
      </p:ext>
    </p:extLst>
  </p:cSld>
</p:sld>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2026-10-26T16:11:51.9570000Z</dcterms:created>
  <dcterms:modified xsi:type="dcterms:W3CDTF">2026-10-26T16:11:51.9570000Z</dcterms:modified>
</coreProperties>
</file>