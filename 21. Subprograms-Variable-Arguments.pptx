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nativeTemplate/slideLayouts/slideLayout3.xml" ContentType="application/vnd.openxmlformats-officedocument.presentationml.slideLayout+xml"/>
  <Override PartName="/ppt/nativeTemplate/slideLayouts/slideLayout7.xml" ContentType="application/vnd.openxmlformats-officedocument.presentationml.slideLayout+xml"/>
  <Override PartName="/ppt/nativeTemplate/slideMasters/slideMaster1.xml" ContentType="application/vnd.openxmlformats-officedocument.presentationml.slideMaster+xml"/>
  <Override PartName="/ppt/nativeTemplate/slideLayouts/slideLayout9.xml" ContentType="application/vnd.openxmlformats-officedocument.presentationml.slideLayout+xml"/>
  <Override PartName="/ppt/nativeTemplate/slideLayouts/slideLayout4.xml" ContentType="application/vnd.openxmlformats-officedocument.presentationml.slideLayout+xml"/>
  <Override PartName="/ppt/nativeTemplate/slideLayouts/slideLayout5.xml" ContentType="application/vnd.openxmlformats-officedocument.presentationml.slideLayout+xml"/>
  <Default Extension="jpeg" ContentType="image/jpeg"/>
  <Override PartName="/ppt/nativeTemplate/slideLayouts/slideLayout6.xml" ContentType="application/vnd.openxmlformats-officedocument.presentationml.slideLayout+xml"/>
  <Override PartName="/ppt/nativeTemplate/slideLayouts/slideLayout8.xml" ContentType="application/vnd.openxmlformats-officedocument.presentationml.slideLayout+xml"/>
  <Override PartName="/ppt/nativeTemplate/slideLayouts/slideLayout1.xml" ContentType="application/vnd.openxmlformats-officedocument.presentationml.slideLayout+xml"/>
  <Override PartName="/ppt/nativeTemplate/slideLayouts/slideLayout11.xml" ContentType="application/vnd.openxmlformats-officedocument.presentationml.slideLayout+xml"/>
  <Override PartName="/ppt/nativeTemplate/slideLayouts/slideLayout2.xml" ContentType="application/vnd.openxmlformats-officedocument.presentationml.slideLayout+xml"/>
  <Override PartName="/ppt/nativeTemplate/slideLayouts/slideLayout10.xml" ContentType="application/vnd.openxmlformats-officedocument.presentationml.slideLayout+xml"/>
  <Override PartName="/ppt/nativeTemplate/theme/theme1.xml" ContentType="application/vnd.openxmlformats-officedocument.theme+xml"/>
</Types>
</file>

<file path=_rels/.rels>&#65279;<?xml version="1.0" encoding="utf-8"?><Relationships xmlns="http://schemas.openxmlformats.org/package/2006/relationships"><Relationship Type="http://schemas.openxmlformats.org/package/2006/relationships/metadata/core-properties" Target="/docProps/core.xml" Id="R81257b2b2a884b52" /><Relationship Type="http://schemas.openxmlformats.org/officeDocument/2006/relationships/extended-properties" Target="/docProps/app.xml" Id="R368ccb50494843a4" /><Relationship Type="http://schemas.openxmlformats.org/officeDocument/2006/relationships/officeDocument" Target="/ppt/presentation.xml" Id="R33a222f4852941dd" /></Relationships>
</file>

<file path=ppt/presentation.xml><?xml version="1.0" encoding="utf-8"?>
<p:presentation xmlns:p="http://schemas.openxmlformats.org/presentationml/2006/main">
  <p:sldMasterIdLst>
    <p:sldMasterId xmlns:ns0="http://schemas.openxmlformats.org/officeDocument/2006/relationships" id="2147483648" ns0:id="rIdNativeTemplateMaster"/>
  </p:sldMasterIdLst>
  <p:notesMasterIdLst>
    <p:notesMasterId xmlns:r="http://schemas.openxmlformats.org/officeDocument/2006/relationships" r:id="R3c1c8b8919b1490b"/>
  </p:notesMasterIdLst>
  <p:sldIdLst>
    <p:sldId xmlns:r="http://schemas.openxmlformats.org/officeDocument/2006/relationships" id="256" r:id="R486eeb7c9fa2400a"/>
    <p:sldId xmlns:r="http://schemas.openxmlformats.org/officeDocument/2006/relationships" id="257" r:id="R6da23a59b73742b2"/>
    <p:sldId xmlns:r="http://schemas.openxmlformats.org/officeDocument/2006/relationships" id="258" r:id="Recf2b361301a41ab"/>
    <p:sldId xmlns:r="http://schemas.openxmlformats.org/officeDocument/2006/relationships" id="259" r:id="R5a13407143a3418a"/>
    <p:sldId xmlns:r="http://schemas.openxmlformats.org/officeDocument/2006/relationships" id="260" r:id="R3604cf32f9804520"/>
    <p:sldId xmlns:r="http://schemas.openxmlformats.org/officeDocument/2006/relationships" id="261" r:id="R2a65d86160e14175"/>
    <p:sldId xmlns:r="http://schemas.openxmlformats.org/officeDocument/2006/relationships" id="262" r:id="Rcd5362f801bf44ea"/>
    <p:sldId xmlns:r="http://schemas.openxmlformats.org/officeDocument/2006/relationships" id="263" r:id="Rb3daf0d40b154fa6"/>
    <p:sldId xmlns:r="http://schemas.openxmlformats.org/officeDocument/2006/relationships" id="264" r:id="R45ae571712784e1d"/>
    <p:sldId xmlns:r="http://schemas.openxmlformats.org/officeDocument/2006/relationships" id="265" r:id="R1f5a49672d45419a"/>
  </p:sldIdLst>
  <p:sldSz cx="12192000" cy="6858000"/>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Type="http://schemas.openxmlformats.org/officeDocument/2006/relationships/notesMaster" Target="/ppt/notesMasters/notesMaster1.xml" Id="R3c1c8b8919b1490b"/><Relationship Type="http://schemas.openxmlformats.org/officeDocument/2006/relationships/presProps" Target="/ppt/presProps.xml" Id="R261b6a03f319481a"/><Relationship Type="http://schemas.openxmlformats.org/officeDocument/2006/relationships/viewProps" Target="/ppt/viewProps.xml" Id="R9ef507a3c9174324"/><Relationship Type="http://schemas.openxmlformats.org/officeDocument/2006/relationships/tableStyles" Target="/ppt/tableStyles.xml" Id="R5df031b189a743cf"/><Relationship Type="http://schemas.openxmlformats.org/officeDocument/2006/relationships/slide" Target="/ppt/slides/slide1.xml" Id="R486eeb7c9fa2400a"/><Relationship Type="http://schemas.openxmlformats.org/officeDocument/2006/relationships/slide" Target="/ppt/slides/slide2.xml" Id="R6da23a59b73742b2"/><Relationship Type="http://schemas.openxmlformats.org/officeDocument/2006/relationships/slide" Target="/ppt/slides/slide3.xml" Id="Recf2b361301a41ab"/><Relationship Type="http://schemas.openxmlformats.org/officeDocument/2006/relationships/slide" Target="/ppt/slides/slide4.xml" Id="R5a13407143a3418a"/><Relationship Type="http://schemas.openxmlformats.org/officeDocument/2006/relationships/slide" Target="/ppt/slides/slide5.xml" Id="R3604cf32f9804520"/><Relationship Type="http://schemas.openxmlformats.org/officeDocument/2006/relationships/slide" Target="/ppt/slides/slide6.xml" Id="R2a65d86160e14175"/><Relationship Type="http://schemas.openxmlformats.org/officeDocument/2006/relationships/slide" Target="/ppt/slides/slide7.xml" Id="Rcd5362f801bf44ea"/><Relationship Type="http://schemas.openxmlformats.org/officeDocument/2006/relationships/slide" Target="/ppt/slides/slide8.xml" Id="Rb3daf0d40b154fa6"/><Relationship Type="http://schemas.openxmlformats.org/officeDocument/2006/relationships/slide" Target="/ppt/slides/slide9.xml" Id="R45ae571712784e1d"/><Relationship Type="http://schemas.openxmlformats.org/officeDocument/2006/relationships/slide" Target="/ppt/slides/slide10.xml" Id="R1f5a49672d45419a"/><Relationship Id="rIdNativeTemplateMaster" Type="http://schemas.openxmlformats.org/officeDocument/2006/relationships/slideMaster" Target="nativeTemplate/slideMasters/slideMaster1.xml"/><Relationship Id="rIdNativeTemplateTheme" Type="http://schemas.openxmlformats.org/officeDocument/2006/relationships/theme" Target="nativeTemplate/theme/theme1.xml"/></Relationships>
</file>

<file path=ppt/nativeTemplate/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nativeTemplate/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dirty="0"/>
              <a:t>3/3/26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Arial"/>
              </a:rPr>
              <a:t>◤</a:t>
            </a:r>
            <a:endParaRPr lang="en-US" sz="2400" dirty="0">
              <a:solidFill>
                <a:schemeClr val="accent6"/>
              </a:solidFill>
              <a:latin typeface="MS Shell Dlg 2" panose="020B0604030504040204" pitchFamily="34" charset="0"/>
            </a:endParaRPr>
          </a:p>
        </p:txBody>
      </p:sp>
    </p:spTree>
  </p:cSld>
  <p:clrMapOvr>
    <a:masterClrMapping/>
  </p:clrMapOvr>
</p:sldLayout>
</file>

<file path=ppt/nativeTemplate/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p:txBody>
          <a:bodyPr anchor="ctr"/>
          <a:lstStyle>
            <a:lvl1pPr>
              <a:defRPr sz="2400">
                <a:latin typeface="Times New Roman" panose="02020603050405020304" pitchFamily="18" charset="0"/>
                <a:cs typeface="Times New Roman" panose="02020603050405020304" pitchFamily="18" charset="0"/>
              </a:defRPr>
            </a:lvl1pPr>
            <a:lvl2pPr>
              <a:defRPr sz="2000">
                <a:latin typeface="Times New Roman" panose="02020603050405020304" pitchFamily="18" charset="0"/>
                <a:cs typeface="Times New Roman" panose="02020603050405020304" pitchFamily="18" charset="0"/>
              </a:defRPr>
            </a:lvl2pPr>
            <a:lvl3pPr>
              <a:defRPr sz="1800">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7D162C4-EDD9-4389-A98B-B87ECEA2A816}" type="datetimeFigureOut">
              <a:rPr lang="en-US" dirty="0"/>
              <a:t>3/3/26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Tree>
  </p:cSld>
  <p:clrMapOvr>
    <a:masterClrMapping/>
  </p:clrMapOvr>
</p:sldLayout>
</file>

<file path=ppt/nativeTemplate/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dirty="0"/>
              <a:t>3/3/26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nativeTemplate/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dirty="0"/>
              <a:t>3/3/26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Tree>
  </p:cSld>
  <p:clrMapOvr>
    <a:masterClrMapping/>
  </p:clrMapOvr>
</p:sldLayout>
</file>

<file path=ppt/nativeTemplate/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dirty="0"/>
              <a:t>3/3/26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nativeTemplate/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dirty="0"/>
              <a:t>3/3/26</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Tree>
  </p:cSld>
  <p:clrMapOvr>
    <a:masterClrMapping/>
  </p:clrMapOvr>
</p:sldLayout>
</file>

<file path=ppt/nativeTemplate/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3/3/26</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nativeTemplate/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dirty="0"/>
              <a:t>3/3/26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nativeTemplate/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dirty="0"/>
              <a:t>3/3/26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nativeTemplate/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dirty="0"/>
              <a:t>3/3/26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nativeTemplate/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Arial"/>
              </a:rPr>
              <a:t>◤</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dirty="0"/>
              <a:t>3/3/26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nativeTemplate/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nativeTemplate/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3/3/26</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nativeTemplate/theme/_rels/theme1.xml.rels><?xml version='1.0' encoding='UTF-8' standalone='yes'?>
<Relationships xmlns="http://schemas.openxmlformats.org/package/2006/relationships"><Relationship Id="rId1" Type="http://schemas.openxmlformats.org/officeDocument/2006/relationships/image" Target="../media/image1.jpeg"/></Relationships>
</file>

<file path=ppt/nativeTemplate/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ppt/notesMasters/_rels/notesMaster1.xml.rels>&#65279;<?xml version="1.0" encoding="utf-8"?><Relationships xmlns="http://schemas.openxmlformats.org/package/2006/relationships"><Relationship Type="http://schemas.openxmlformats.org/officeDocument/2006/relationships/theme" Target="/ppt/notesMasters/theme/theme3.xml" Id="Rf180be2394314dc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lumMod val="110000"/>
                <a:satMod val="105000"/>
                <a:alpha val="88000"/>
              </a:schemeClr>
            </a:gs>
            <a:gs pos="100000">
              <a:schemeClr val="phClr">
                <a:tint val="78000"/>
                <a:lumMod val="100000"/>
                <a:satMod val="109000"/>
                <a:alpha val="92000"/>
              </a:schemeClr>
            </a:gs>
          </a:gsLst>
          <a:lin ang="5400000" scaled="0"/>
        </a:gradFill>
        <a:gradFill rotWithShape="1">
          <a:gsLst>
            <a:gs pos="0">
              <a:schemeClr val="phClr">
                <a:tint val="98000"/>
                <a:lumMod val="104000"/>
                <a:satMod val="110000"/>
              </a:schemeClr>
            </a:gs>
            <a:gs pos="69000">
              <a:schemeClr val="phClr">
                <a:shade val="84000"/>
                <a:lumMod val="92000"/>
                <a:satMod val="130000"/>
              </a:schemeClr>
            </a:gs>
            <a:gs pos="100000">
              <a:schemeClr val="phClr">
                <a:shade val="76000"/>
                <a:lumMod val="88000"/>
                <a:satMod val="130000"/>
              </a:schemeClr>
            </a:gs>
          </a:gsLst>
          <a:lin ang="5400000" scaled="0"/>
        </a:gradFill>
      </a:fillStyleLst>
      <a:lnStyleLst>
        <a:ln w="9525">
          <a:solidFill>
            <a:schemeClr val="phClr"/>
          </a:solidFill>
          <a:prstDash val="solid"/>
        </a:ln>
        <a:ln w="15875">
          <a:solidFill>
            <a:schemeClr val="phClr"/>
          </a:solidFill>
          <a:prstDash val="solid"/>
        </a:ln>
        <a:ln w="222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lt2"/>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c9f38f48a0e49f1" /><Relationship Type="http://schemas.openxmlformats.org/officeDocument/2006/relationships/notesMaster" Target="/ppt/notesMasters/notesMaster1.xml" Id="Re89006c6f9b3401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cc691852bcc45f8" /><Relationship Type="http://schemas.openxmlformats.org/officeDocument/2006/relationships/notesMaster" Target="/ppt/notesMasters/notesMaster1.xml" Id="Rb1c4352a4749496f" /></Relationships>
</file>

<file path=ppt/notesSlides/_rels/notesSlide3.xml.rels>&#65279;<?xml version="1.0" encoding="utf-8"?><Relationships xmlns="http://schemas.openxmlformats.org/package/2006/relationships"><Relationship Type="http://schemas.openxmlformats.org/officeDocument/2006/relationships/slide" Target="/ppt/slides/slide3.xml" Id="R0597ae1f0b1e422f" /><Relationship Type="http://schemas.openxmlformats.org/officeDocument/2006/relationships/notesMaster" Target="/ppt/notesMasters/notesMaster1.xml" Id="R5461e559bb114f0e" /></Relationships>
</file>

<file path=ppt/notesSlides/_rels/notesSlide4.xml.rels>&#65279;<?xml version="1.0" encoding="utf-8"?><Relationships xmlns="http://schemas.openxmlformats.org/package/2006/relationships"><Relationship Type="http://schemas.openxmlformats.org/officeDocument/2006/relationships/slide" Target="/ppt/slides/slide4.xml" Id="R2be57c9c33eb4460" /><Relationship Type="http://schemas.openxmlformats.org/officeDocument/2006/relationships/notesMaster" Target="/ppt/notesMasters/notesMaster1.xml" Id="Rec7014244a994e96" /></Relationships>
</file>

<file path=ppt/notesSlides/_rels/notesSlide5.xml.rels>&#65279;<?xml version="1.0" encoding="utf-8"?><Relationships xmlns="http://schemas.openxmlformats.org/package/2006/relationships"><Relationship Type="http://schemas.openxmlformats.org/officeDocument/2006/relationships/slide" Target="/ppt/slides/slide5.xml" Id="R11a0415022f346f0" /><Relationship Type="http://schemas.openxmlformats.org/officeDocument/2006/relationships/notesMaster" Target="/ppt/notesMasters/notesMaster1.xml" Id="R175da636e5b845ba" /></Relationships>
</file>

<file path=ppt/notesSlides/_rels/notesSlide6.xml.rels>&#65279;<?xml version="1.0" encoding="utf-8"?><Relationships xmlns="http://schemas.openxmlformats.org/package/2006/relationships"><Relationship Type="http://schemas.openxmlformats.org/officeDocument/2006/relationships/slide" Target="/ppt/slides/slide6.xml" Id="R57887ccad159435b" /><Relationship Type="http://schemas.openxmlformats.org/officeDocument/2006/relationships/notesMaster" Target="/ppt/notesMasters/notesMaster1.xml" Id="Rbf3dc578686a4f93" /></Relationships>
</file>

<file path=ppt/notesSlides/_rels/notesSlide7.xml.rels>&#65279;<?xml version="1.0" encoding="utf-8"?><Relationships xmlns="http://schemas.openxmlformats.org/package/2006/relationships"><Relationship Type="http://schemas.openxmlformats.org/officeDocument/2006/relationships/slide" Target="/ppt/slides/slide7.xml" Id="Rd7ab315fede64ee2" /><Relationship Type="http://schemas.openxmlformats.org/officeDocument/2006/relationships/notesMaster" Target="/ppt/notesMasters/notesMaster1.xml" Id="Rbcab9f82cdd94a67" /></Relationships>
</file>

<file path=ppt/notesSlides/_rels/notesSlide8.xml.rels>&#65279;<?xml version="1.0" encoding="utf-8"?><Relationships xmlns="http://schemas.openxmlformats.org/package/2006/relationships"><Relationship Type="http://schemas.openxmlformats.org/officeDocument/2006/relationships/slide" Target="/ppt/slides/slide8.xml" Id="R6841f3fc4dfe4af7" /><Relationship Type="http://schemas.openxmlformats.org/officeDocument/2006/relationships/notesMaster" Target="/ppt/notesMasters/notesMaster1.xml" Id="Rb3d5f6b8cd464b8b" /></Relationships>
</file>

<file path=ppt/notesSlides/_rels/notesSlide9.xml.rels>&#65279;<?xml version="1.0" encoding="utf-8"?><Relationships xmlns="http://schemas.openxmlformats.org/package/2006/relationships"><Relationship Type="http://schemas.openxmlformats.org/officeDocument/2006/relationships/slide" Target="/ppt/slides/slide9.xml" Id="Rfe6dea88483a481c" /><Relationship Type="http://schemas.openxmlformats.org/officeDocument/2006/relationships/notesMaster" Target="/ppt/notesMasters/notesMaster1.xml" Id="R7580280e5ecd4df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92900eaf9474982" /><Relationship Type="http://schemas.openxmlformats.org/officeDocument/2006/relationships/notesMaster" Target="/ppt/notesMasters/notesMaster1.xml" Id="R3479daa36b704f0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OVERVIEW</a:t>
            </a:r>
          </a:p>
          <a:p xmlns:a="http://schemas.openxmlformats.org/drawingml/2006/main">
            <a:r>
              <a:t>This lecture compares mechanisms for accepting a variable number of arguments in C, C++, Java, JavaScript, Python, and Ruby. Follow the examples by identifying which arguments are collected, what representation the language uses, how the function processes them, and what happens when no extra arguments are supplied.</a:t>
            </a:r>
          </a:p>
          <a:p xmlns:a="http://schemas.openxmlformats.org/drawingml/2006/main">
            <a:r>
              <a:t/>
            </a:r>
          </a:p>
          <a:p xmlns:a="http://schemas.openxmlformats.org/drawingml/2006/main">
            <a:r>
              <a:t>Source provenance</a:t>
            </a:r>
          </a:p>
          <a:p xmlns:a="http://schemas.openxmlformats.org/drawingml/2006/main">
            <a:r>
              <a:t>Slides originally developed by William Killian and modified by Stephanie Schwartz, Gary Zoppetti, and Jingnan Xie. Sources include Robert Sebesta’s Concepts of Programming Languages.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PLAN</a:t>
            </a:r>
          </a:p>
          <a:p xmlns:a="http://schemas.openxmlformats.org/drawingml/2006/main">
            <a:r>
              <a:t>Begin with the definition and motivation. Then use the same summing operation to compare C’s manual argument access, C++ parameter packs, Java arrays, JavaScript rest parameters, and Python/Ruby positional collections. Finish with keyword arguments and the Python dictionary example.</a:t>
            </a:r>
          </a:p>
          <a:p xmlns:a="http://schemas.openxmlformats.org/drawingml/2006/main">
            <a:r>
              <a:t/>
            </a:r>
          </a:p>
          <a:p xmlns:a="http://schemas.openxmlformats.org/drawingml/2006/main">
            <a:r>
              <a:t>At each stage ask: How are the extra arguments collected? Is their number supplied explicitly? Which types can the function process? What happens for an empty collection?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DISCUSSION</a:t>
            </a:r>
          </a:p>
          <a:p xmlns:a="http://schemas.openxmlformats.org/drawingml/2006/main">
            <a:r>
              <a:t>Ask students to suggest functions whose useful input count changes from one call to another. Start with sum: summing three scores and summing ten scores are the same operation on different amounts of data. Other examples include formatted output, logging, and building a collection from several values.</a:t>
            </a:r>
          </a:p>
          <a:p xmlns:a="http://schemas.openxmlformats.org/drawingml/2006/main">
            <a:r>
              <a:t/>
            </a:r>
          </a:p>
          <a:p xmlns:a="http://schemas.openxmlformats.org/drawingml/2006/main">
            <a:r>
              <a:t>For formatted output, the format string determines what additional values the function needs. For an aggregation such as sum, the operation combines a sequence of inputs. A minimum or maximum function also needs a policy for the case when no values are supplied.</a:t>
            </a:r>
          </a:p>
          <a:p xmlns:a="http://schemas.openxmlformats.org/drawingml/2006/main">
            <a:r>
              <a:t/>
            </a:r>
          </a:p>
          <a:p xmlns:a="http://schemas.openxmlformats.org/drawingml/2006/main">
            <a:r>
              <a:t>Relate this to overloading. A small set of overloads can support a few chosen parameter lists. A variable-argument mechanism lets one function definition support varying argument counts. Each language still imposes rules on the types of arguments and on how the function accesses them.</a:t>
            </a:r>
          </a:p>
          <a:p xmlns:a="http://schemas.openxmlformats.org/drawingml/2006/main">
            <a:r>
              <a:t/>
            </a:r>
          </a:p>
          <a:p xmlns:a="http://schemas.openxmlformats.org/drawingml/2006/main">
            <a:r>
              <a:t>Ask: How will the function know how many values were supplied? Keep students' suggestions for comparison with the next slides. The C example uses a count supplied by the caller. C++ deduces a parameter pack at compile time. Java presents the trailing values as an array.</a:t>
            </a:r>
          </a:p>
          <a:p xmlns:a="http://schemas.openxmlformats.org/drawingml/2006/main">
            <a:r>
              <a:t/>
            </a:r>
          </a:p>
          <a:p xmlns:a="http://schemas.openxmlformats.org/drawingml/2006/main">
            <a:r>
              <a:t>References</a:t>
            </a:r>
          </a:p>
          <a:p xmlns:a="http://schemas.openxmlformats.org/drawingml/2006/main">
            <a:r>
              <a:t>https://sourceware.org/glibc/manual/latest/html_node/Calling-Variadics.html</a:t>
            </a:r>
          </a:p>
          <a:p xmlns:a="http://schemas.openxmlformats.org/drawingml/2006/main">
            <a:r>
              <a:t>https://eel.is/c++draft/temp.variadic</a:t>
            </a:r>
          </a:p>
          <a:p xmlns:a="http://schemas.openxmlformats.org/drawingml/2006/main">
            <a:r>
              <a:t>https://docs.oracle.com/javase/specs/jls/se25/html/jls-8.html#jls-8.4.1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HOW THE C EXAMPLE WORKS</a:t>
            </a:r>
          </a:p>
          <a:p xmlns:a="http://schemas.openxmlformats.org/drawingml/2006/main">
            <a:r>
              <a:t>The ellipsis marks the trailing variable arguments. The function needs a separate agreement with its callers about their count and types. In this example, n is an ordinary parameter chosen by the programmer; C does not automatically fill it with the number of arguments. The intended contract is a nonnegative n followed by n values whose promoted type is int. Assume the total fits in int.</a:t>
            </a:r>
          </a:p>
          <a:p xmlns:a="http://schemas.openxmlformats.org/drawingml/2006/main">
            <a:r>
              <a:t/>
            </a:r>
          </a:p>
          <a:p xmlns:a="http://schemas.openxmlformats.org/drawingml/2006/main">
            <a:r>
              <a:t>WORKED CALL: sum(3, 10, 20, 30)</a:t>
            </a:r>
          </a:p>
          <a:p xmlns:a="http://schemas.openxmlformats.org/drawingml/2006/main">
            <a:r>
              <a:t>1. n receives 3. The three values to add are 10, 20, and 30; the count parameter itself is not included in the sum.</a:t>
            </a:r>
          </a:p>
          <a:p xmlns:a="http://schemas.openxmlformats.org/drawingml/2006/main">
            <a:r>
              <a:t>2. va_list args declares the state used to traverse the unnamed arguments. va_start(args, n) initializes that state. This is the traditional form used in the example.</a:t>
            </a:r>
          </a:p>
          <a:p xmlns:a="http://schemas.openxmlformats.org/drawingml/2006/main">
            <a:r>
              <a:t>3. s starts at 0.</a:t>
            </a:r>
          </a:p>
          <a:p xmlns:a="http://schemas.openxmlformats.org/drawingml/2006/main">
            <a:r>
              <a:t>4. At i = 0, va_arg(args, int) retrieves 10 and advances the traversal state. s becomes 10.</a:t>
            </a:r>
          </a:p>
          <a:p xmlns:a="http://schemas.openxmlformats.org/drawingml/2006/main">
            <a:r>
              <a:t>5. At i = 1, the next call retrieves 20. s becomes 30.</a:t>
            </a:r>
          </a:p>
          <a:p xmlns:a="http://schemas.openxmlformats.org/drawingml/2006/main">
            <a:r>
              <a:t>6. At i = 2, the next call retrieves 30. s becomes 60.</a:t>
            </a:r>
          </a:p>
          <a:p xmlns:a="http://schemas.openxmlformats.org/drawingml/2006/main">
            <a:r>
              <a:t>7. When i reaches 3, the loop stops. va_end(args) finishes use of the traversal state, and the function returns 60.</a:t>
            </a:r>
          </a:p>
          <a:p xmlns:a="http://schemas.openxmlformats.org/drawingml/2006/main">
            <a:r>
              <a:t/>
            </a:r>
          </a:p>
          <a:p xmlns:a="http://schemas.openxmlformats.org/drawingml/2006/main">
            <a:r>
              <a:t>EMPTY CASE</a:t>
            </a:r>
          </a:p>
          <a:p xmlns:a="http://schemas.openxmlformats.org/drawingml/2006/main">
            <a:r>
              <a:t>sum(0) performs no va_arg calls and returns 0. The call still supplies the fixed parameter n.</a:t>
            </a:r>
          </a:p>
          <a:p xmlns:a="http://schemas.openxmlformats.org/drawingml/2006/main">
            <a:r>
              <a:t/>
            </a:r>
          </a:p>
          <a:p xmlns:a="http://schemas.openxmlformats.org/drawingml/2006/main">
            <a:r>
              <a:t>CALLER RESPONSIBILITIES</a:t>
            </a:r>
          </a:p>
          <a:p xmlns:a="http://schemas.openxmlformats.org/drawingml/2006/main">
            <a:r>
              <a:t>sum(3, 10, 20) is invalid for this function's contract: the loop attempts to read a nonexistent third value. sum(1, 2.5) is also invalid because va_arg requests int while the caller supplied double. These errors can cause undefined behavior; do not demonstrate them by expecting a particular printed result. If n is too small, the loop simply does not process all supplied values.</a:t>
            </a:r>
          </a:p>
          <a:p xmlns:a="http://schemas.openxmlformats.org/drawingml/2006/main">
            <a:r>
              <a:t/>
            </a:r>
          </a:p>
          <a:p xmlns:a="http://schemas.openxmlformats.org/drawingml/2006/main">
            <a:r>
              <a:t>DEFAULT ARGUMENT PROMOTIONS</a:t>
            </a:r>
          </a:p>
          <a:p xmlns:a="http://schemas.openxmlformats.org/drawingml/2006/main">
            <a:r>
              <a:t>Before passing values through ..., small integer types undergo integer promotions and float becomes double. Thus a variadic function that expects a floating-point argument normally retrieves it with va_arg(args, double), not float. The current sum retrieves int and does not accept floating-point values.</a:t>
            </a:r>
          </a:p>
          <a:p xmlns:a="http://schemas.openxmlformats.org/drawingml/2006/main">
            <a:r>
              <a:t/>
            </a:r>
          </a:p>
          <a:p xmlns:a="http://schemas.openxmlformats.org/drawingml/2006/main">
            <a:r>
              <a:t>The facilities are part of standard C. va_list is a type. The three other names shown are argument-access macros. The slide lists the tools used by this example, rather than every facility in &lt;stdarg.h&gt;.</a:t>
            </a:r>
          </a:p>
          <a:p xmlns:a="http://schemas.openxmlformats.org/drawingml/2006/main">
            <a:r>
              <a:t/>
            </a:r>
          </a:p>
          <a:p xmlns:a="http://schemas.openxmlformats.org/drawingml/2006/main">
            <a:r>
              <a:t>References</a:t>
            </a:r>
          </a:p>
          <a:p xmlns:a="http://schemas.openxmlformats.org/drawingml/2006/main">
            <a:r>
              <a:t>https://www.open-std.org/jtc1/sc22/wg14/www/docs/n1570.pdf</a:t>
            </a:r>
          </a:p>
          <a:p xmlns:a="http://schemas.openxmlformats.org/drawingml/2006/main">
            <a:r>
              <a:t>https://sourceware.org/glibc/manual/latest/html_node/Argument-Macros.html</a:t>
            </a:r>
          </a:p>
          <a:p xmlns:a="http://schemas.openxmlformats.org/drawingml/2006/main">
            <a:r>
              <a:t>https://sourceware.org/glibc/manual/latest/html_node/Calling-Variadics.html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READING THE DECLARATION</a:t>
            </a:r>
          </a:p>
          <a:p xmlns:a="http://schemas.openxmlformats.org/drawingml/2006/main">
            <a:r>
              <a:t>Ts names a pack of types, and ts names the corresponding function parameter pack. In sum(1, 2.5, 3), the compiler deduces three types in order: int, double, int. The arguments become separate typed parameters with values 1, 2.5, and 3. Pack expansion generates the additions for those parameters.</a:t>
            </a:r>
          </a:p>
          <a:p xmlns:a="http://schemas.openxmlformats.org/drawingml/2006/main">
            <a:r>
              <a:t/>
            </a:r>
          </a:p>
          <a:p xmlns:a="http://schemas.openxmlformats.org/drawingml/2006/main">
            <a:r>
              <a:t>WORKED FOLD: sum(1, 2.5, 3)</a:t>
            </a:r>
          </a:p>
          <a:p xmlns:a="http://schemas.openxmlformats.org/drawingml/2006/main">
            <a:r>
              <a:t>The expression (0 + ... + ts) groups the additions as:</a:t>
            </a:r>
          </a:p>
          <a:p xmlns:a="http://schemas.openxmlformats.org/drawingml/2006/main">
            <a:r>
              <a:t>  (((0 + 1) + 2.5) + 3)</a:t>
            </a:r>
          </a:p>
          <a:p xmlns:a="http://schemas.openxmlformats.org/drawingml/2006/main">
            <a:r>
              <a:t>1. 0 + 1 gives the int value 1.</a:t>
            </a:r>
          </a:p>
          <a:p xmlns:a="http://schemas.openxmlformats.org/drawingml/2006/main">
            <a:r>
              <a:t>2. Adding 2.5 converts that intermediate value to double and gives 3.5.</a:t>
            </a:r>
          </a:p>
          <a:p xmlns:a="http://schemas.openxmlformats.org/drawingml/2006/main">
            <a:r>
              <a:t>3. Adding 3 gives 6.5.</a:t>
            </a:r>
          </a:p>
          <a:p xmlns:a="http://schemas.openxmlformats.org/drawingml/2006/main">
            <a:r>
              <a:t>4. auto therefore deduces double as the return type for this instantiation.</a:t>
            </a:r>
          </a:p>
          <a:p xmlns:a="http://schemas.openxmlformats.org/drawingml/2006/main">
            <a:r>
              <a:t/>
            </a:r>
          </a:p>
          <a:p xmlns:a="http://schemas.openxmlformats.org/drawingml/2006/main">
            <a:r>
              <a:t>It is a binary left fold because the expression has an initial value, 0, and the expanded pack is on the right. Left describes the grouping of the operators. It does not itself promise a left-to-right order for evaluating arbitrary operand expressions.</a:t>
            </a:r>
          </a:p>
          <a:p xmlns:a="http://schemas.openxmlformats.org/drawingml/2006/main">
            <a:r>
              <a:t/>
            </a:r>
          </a:p>
          <a:p xmlns:a="http://schemas.openxmlformats.org/drawingml/2006/main">
            <a:r>
              <a:t>EMPTY PACK</a:t>
            </a:r>
          </a:p>
          <a:p xmlns:a="http://schemas.openxmlformats.org/drawingml/2006/main">
            <a:r>
              <a:t>sum() is valid. With no arguments, the fold reduces to its initial value 0, so this instantiation returns an int. The initial value therefore provides a useful result for the empty case.</a:t>
            </a:r>
          </a:p>
          <a:p xmlns:a="http://schemas.openxmlformats.org/drawingml/2006/main">
            <a:r>
              <a:t/>
            </a:r>
          </a:p>
          <a:p xmlns:a="http://schemas.openxmlformats.org/drawingml/2006/main">
            <a:r>
              <a:t>CONSTRAINTS</a:t>
            </a:r>
          </a:p>
          <a:p xmlns:a="http://schemas.openxmlformats.org/drawingml/2006/main">
            <a:r>
              <a:t>The code needs C++17 or later because it uses a fold expression. A call is valid only if the resulting sequence of + operations is valid for the deduced types, beginning with the int value 0. The compiler checks these operations when it instantiates the template. This particular function is a compact arithmetic example; it is not an implementation of addition for every possible type.</a:t>
            </a:r>
          </a:p>
          <a:p xmlns:a="http://schemas.openxmlformats.org/drawingml/2006/main">
            <a:r>
              <a:t/>
            </a:r>
          </a:p>
          <a:p xmlns:a="http://schemas.openxmlformats.org/drawingml/2006/main">
            <a:r>
              <a:t>COMPARISON WITH THE C EXAMPLE</a:t>
            </a:r>
          </a:p>
          <a:p xmlns:a="http://schemas.openxmlformats.org/drawingml/2006/main">
            <a:r>
              <a:t>The caller does not supply a count or manually state the type to retrieve at each step. The compiler deduces the number and types of the arguments. sum(10, 20, 30) returns 60, and sum() returns 0.</a:t>
            </a:r>
          </a:p>
          <a:p xmlns:a="http://schemas.openxmlformats.org/drawingml/2006/main">
            <a:r>
              <a:t/>
            </a:r>
          </a:p>
          <a:p xmlns:a="http://schemas.openxmlformats.org/drawingml/2006/main">
            <a:r>
              <a:t>References</a:t>
            </a:r>
          </a:p>
          <a:p xmlns:a="http://schemas.openxmlformats.org/drawingml/2006/main">
            <a:r>
              <a:t>https://eel.is/c++draft/temp.variadic</a:t>
            </a:r>
          </a:p>
          <a:p xmlns:a="http://schemas.openxmlformats.org/drawingml/2006/main">
            <a:r>
              <a:t>https://eel.is/c++draft/expr.prim.fold</a:t>
            </a:r>
          </a:p>
          <a:p xmlns:a="http://schemas.openxmlformats.org/drawingml/2006/main">
            <a:r>
              <a:t>https://gcc.gnu.org/projects/cxx-status.html</a:t>
            </a:r>
          </a:p>
          <a:p xmlns:a="http://schemas.openxmlformats.org/drawingml/2006/main">
            <a:r>
              <a:t>https://eel.is/c++draft/intro.execution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CALL: sum(10, 20, 30)</a:t>
            </a:r>
          </a:p>
          <a:p xmlns:a="http://schemas.openxmlformats.org/drawingml/2006/main">
            <a:r>
              <a:t>Place this instance method inside a class. Invoke it on an instance, or from another instance method of that class.</a:t>
            </a:r>
          </a:p>
          <a:p xmlns:a="http://schemas.openxmlformats.org/drawingml/2006/main">
            <a:r>
              <a:t/>
            </a:r>
          </a:p>
          <a:p xmlns:a="http://schemas.openxmlformats.org/drawingml/2006/main">
            <a:r>
              <a:t>1. The call supplies three int values. Java passes them as an int array to the values parameter, as if the call used new int[] {10, 20, 30}.</a:t>
            </a:r>
          </a:p>
          <a:p xmlns:a="http://schemas.openxmlformats.org/drawingml/2006/main">
            <a:r>
              <a:t>2. s starts at 0.</a:t>
            </a:r>
          </a:p>
          <a:p xmlns:a="http://schemas.openxmlformats.org/drawingml/2006/main">
            <a:r>
              <a:t>3. The enhanced for loop visits 10, then 20, then 30. The running totals are 10, 30, and 60.</a:t>
            </a:r>
          </a:p>
          <a:p xmlns:a="http://schemas.openxmlformats.org/drawingml/2006/main">
            <a:r>
              <a:t>4. The method returns 60.</a:t>
            </a:r>
          </a:p>
          <a:p xmlns:a="http://schemas.openxmlformats.org/drawingml/2006/main">
            <a:r>
              <a:t/>
            </a:r>
          </a:p>
          <a:p xmlns:a="http://schemas.openxmlformats.org/drawingml/2006/main">
            <a:r>
              <a:t>ZERO ARGUMENTS</a:t>
            </a:r>
          </a:p>
          <a:p xmlns:a="http://schemas.openxmlformats.org/drawingml/2006/main">
            <a:r>
              <a:t>sum() supplies an empty array. The loop has no iterations, so the result is 0.</a:t>
            </a:r>
          </a:p>
          <a:p xmlns:a="http://schemas.openxmlformats.org/drawingml/2006/main">
            <a:r>
              <a:t/>
            </a:r>
          </a:p>
          <a:p xmlns:a="http://schemas.openxmlformats.org/drawingml/2006/main">
            <a:r>
              <a:t>PASSING AN EXISTING ARRAY</a:t>
            </a:r>
          </a:p>
          <a:p xmlns:a="http://schemas.openxmlformats.org/drawingml/2006/main">
            <a:r>
              <a:t>  int[] numbers = {10, 20, 30};</a:t>
            </a:r>
          </a:p>
          <a:p xmlns:a="http://schemas.openxmlformats.org/drawingml/2006/main">
            <a:r>
              <a:t>  sum(numbers);</a:t>
            </a:r>
          </a:p>
          <a:p xmlns:a="http://schemas.openxmlformats.org/drawingml/2006/main">
            <a:r>
              <a:t>This also returns 60. In this form, the method receives the existing array reference. The parameter really has type int[]; it does not merely resemble an array.</a:t>
            </a:r>
          </a:p>
          <a:p xmlns:a="http://schemas.openxmlformats.org/drawingml/2006/main">
            <a:r>
              <a:t/>
            </a:r>
          </a:p>
          <a:p xmlns:a="http://schemas.openxmlformats.org/drawingml/2006/main">
            <a:r>
              <a:t>TYPE AND POSITION RULES</a:t>
            </a:r>
          </a:p>
          <a:p xmlns:a="http://schemas.openxmlformats.org/drawingml/2006/main">
            <a:r>
              <a:t>A method can have at most one variable-arity parameter, and it must appear last. For example, a label parameter could precede int... values. A call such as sum(1, 2.5, 3) does not compile for this method because double cannot implicitly narrow to int.</a:t>
            </a:r>
          </a:p>
          <a:p xmlns:a="http://schemas.openxmlformats.org/drawingml/2006/main">
            <a:r>
              <a:t/>
            </a:r>
          </a:p>
          <a:p xmlns:a="http://schemas.openxmlformats.org/drawingml/2006/main">
            <a:r>
              <a:t>A null array is different from an empty array. Passing (int[]) null causes this method's enhanced for loop to throw NullPointerException. The ordinary zero-argument call supplies an empty array and works correctly.</a:t>
            </a:r>
          </a:p>
          <a:p xmlns:a="http://schemas.openxmlformats.org/drawingml/2006/main">
            <a:r>
              <a:t/>
            </a:r>
          </a:p>
          <a:p xmlns:a="http://schemas.openxmlformats.org/drawingml/2006/main">
            <a:r>
              <a:t>COMPARISON</a:t>
            </a:r>
          </a:p>
          <a:p xmlns:a="http://schemas.openxmlformats.org/drawingml/2006/main">
            <a:r>
              <a:t>Unlike the C example, the Java caller need not pass a separate count. values.length gives the array length, and the declared element type lets the compiler check the values supplied at the call.</a:t>
            </a:r>
          </a:p>
          <a:p xmlns:a="http://schemas.openxmlformats.org/drawingml/2006/main">
            <a:r>
              <a:t/>
            </a:r>
          </a:p>
          <a:p xmlns:a="http://schemas.openxmlformats.org/drawingml/2006/main">
            <a:r>
              <a:t>References</a:t>
            </a:r>
          </a:p>
          <a:p xmlns:a="http://schemas.openxmlformats.org/drawingml/2006/main">
            <a:r>
              <a:t>https://docs.oracle.com/javase/specs/jls/se25/html/jls-8.html#jls-8.4.1</a:t>
            </a:r>
          </a:p>
          <a:p xmlns:a="http://schemas.openxmlformats.org/drawingml/2006/main">
            <a:r>
              <a:t>https://docs.oracle.com/javase/specs/jls/se25/html/jls-15.html#jls-15.12.4.2</a:t>
            </a:r>
          </a:p>
          <a:p xmlns:a="http://schemas.openxmlformats.org/drawingml/2006/main">
            <a:r>
              <a:t>https://docs.oracle.com/javase/specs/jls/se25/html/jls-14.html#jls-14.14.2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EXAMPLE: sum(10, 20, 30)</a:t>
            </a:r>
          </a:p>
          <a:p xmlns:a="http://schemas.openxmlformats.org/drawingml/2006/main">
            <a:r>
              <a:t/>
            </a:r>
          </a:p>
          <a:p xmlns:a="http://schemas.openxmlformats.org/drawingml/2006/main">
            <a:r>
              <a:t>1. The rest parameter collects the arguments into values = [10, 20, 30].</a:t>
            </a:r>
          </a:p>
          <a:p xmlns:a="http://schemas.openxmlformats.org/drawingml/2006/main">
            <a:r>
              <a:t>2. reduce begins with the supplied initial value 0. In the callback, s is the accumulated total and v is the next element.</a:t>
            </a:r>
          </a:p>
          <a:p xmlns:a="http://schemas.openxmlformats.org/drawingml/2006/main">
            <a:r>
              <a:t>3. First element: s = 0 and v = 10, so the callback returns 10.</a:t>
            </a:r>
          </a:p>
          <a:p xmlns:a="http://schemas.openxmlformats.org/drawingml/2006/main">
            <a:r>
              <a:t>4. Second element: s = 10 and v = 20, so it returns 30.</a:t>
            </a:r>
          </a:p>
          <a:p xmlns:a="http://schemas.openxmlformats.org/drawingml/2006/main">
            <a:r>
              <a:t>5. Third element: s = 30 and v = 30, so it returns 60.</a:t>
            </a:r>
          </a:p>
          <a:p xmlns:a="http://schemas.openxmlformats.org/drawingml/2006/main">
            <a:r>
              <a:t>6. reduce returns 60, and sum returns that value to its caller.</a:t>
            </a:r>
          </a:p>
          <a:p xmlns:a="http://schemas.openxmlformats.org/drawingml/2006/main">
            <a:r>
              <a:t/>
            </a:r>
          </a:p>
          <a:p xmlns:a="http://schemas.openxmlformats.org/drawingml/2006/main">
            <a:r>
              <a:t>EMPTY CALL</a:t>
            </a:r>
          </a:p>
          <a:p xmlns:a="http://schemas.openxmlformats.org/drawingml/2006/main">
            <a:r>
              <a:t>sum() creates an empty array. Because reduce has the initial value 0, it performs no additions and returns 0. The 0 is what makes this empty call work. Removing the initial value would make reduce on this empty array throw a TypeError.</a:t>
            </a:r>
          </a:p>
          <a:p xmlns:a="http://schemas.openxmlformats.org/drawingml/2006/main">
            <a:r>
              <a:t/>
            </a:r>
          </a:p>
          <a:p xmlns:a="http://schemas.openxmlformats.org/drawingml/2006/main">
            <a:r>
              <a:t>REST AND SPREAD</a:t>
            </a:r>
          </a:p>
          <a:p xmlns:a="http://schemas.openxmlformats.org/drawingml/2006/main">
            <a:r>
              <a:t>The dots in the parameter list collect arguments. In a call, the dots have the complementary role of expanding an iterable into separate arguments:</a:t>
            </a:r>
          </a:p>
          <a:p xmlns:a="http://schemas.openxmlformats.org/drawingml/2006/main">
            <a:r>
              <a:t>  const numbers = [10, 20, 30];</a:t>
            </a:r>
          </a:p>
          <a:p xmlns:a="http://schemas.openxmlformats.org/drawingml/2006/main">
            <a:r>
              <a:t>  sum(...numbers); // 60</a:t>
            </a:r>
          </a:p>
          <a:p xmlns:a="http://schemas.openxmlformats.org/drawingml/2006/main">
            <a:r>
              <a:t>Here numbers supplies the same three arguments as sum(10, 20, 30). Passing numbers without ... would supply one array argument, which is a different call.</a:t>
            </a:r>
          </a:p>
          <a:p xmlns:a="http://schemas.openxmlformats.org/drawingml/2006/main">
            <a:r>
              <a:t/>
            </a:r>
          </a:p>
          <a:p xmlns:a="http://schemas.openxmlformats.org/drawingml/2006/main">
            <a:r>
              <a:t>INPUT TYPES</a:t>
            </a:r>
          </a:p>
          <a:p xmlns:a="http://schemas.openxmlformats.org/drawingml/2006/main">
            <a:r>
              <a:t>This short sum assumes ordinary numeric Number arguments. It does not check them. For example, sum("1", 2) returns the string "012": 0 + "1" becomes "01", then adding 2 concatenates another character. Ask students why that result differs from 3. This is a type-conversion issue, not an error in the rest parameter.</a:t>
            </a:r>
          </a:p>
          <a:p xmlns:a="http://schemas.openxmlformats.org/drawingml/2006/main">
            <a:r>
              <a:t/>
            </a:r>
          </a:p>
          <a:p xmlns:a="http://schemas.openxmlformats.org/drawingml/2006/main">
            <a:r>
              <a:t>Ordinary parameters may appear before the rest parameter. For example, function report(label, ...values) takes one label followed by the collected values. A parameter after ...values is a syntax error.</a:t>
            </a:r>
          </a:p>
          <a:p xmlns:a="http://schemas.openxmlformats.org/drawingml/2006/main">
            <a:r>
              <a:t/>
            </a:r>
          </a:p>
          <a:p xmlns:a="http://schemas.openxmlformats.org/drawingml/2006/main">
            <a:r>
              <a:t>References</a:t>
            </a:r>
          </a:p>
          <a:p xmlns:a="http://schemas.openxmlformats.org/drawingml/2006/main">
            <a:r>
              <a:t>https://tc39.es/ecma262/multipage/ecmascript-language-functions-and-classes.html#sec-function-definitions</a:t>
            </a:r>
          </a:p>
          <a:p xmlns:a="http://schemas.openxmlformats.org/drawingml/2006/main">
            <a:r>
              <a:t>https://tc39.es/ecma262/multipage/ecmascript-language-statements-and-declarations.html#sec-destructuring-binding-patterns-runtime-semantics-iteratorbindinginitialization</a:t>
            </a:r>
          </a:p>
          <a:p xmlns:a="http://schemas.openxmlformats.org/drawingml/2006/main">
            <a:r>
              <a:t>https://tc39.es/ecma262/multipage/indexed-collections.html#sec-array.prototype.reduce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PARAMETER NAMES AND COLLECTION TYPES</a:t>
            </a:r>
          </a:p>
          <a:p xmlns:a="http://schemas.openxmlformats.org/drawingml/2006/main">
            <a:r>
              <a:t>The stars determine the behavior. args, nums, and kwargs are ordinary parameter names chosen by the programmer. A parameter named *nums has the same collection role as *args. A parameter named **args still collects keyword arguments even though the name args is commonly used for positional arguments.</a:t>
            </a:r>
          </a:p>
          <a:p xmlns:a="http://schemas.openxmlformats.org/drawingml/2006/main">
            <a:r>
              <a:t/>
            </a:r>
          </a:p>
          <a:p xmlns:a="http://schemas.openxmlformats.org/drawingml/2006/main">
            <a:r>
              <a:t>The runtime collections differ:</a:t>
            </a:r>
          </a:p>
          <a:p xmlns:a="http://schemas.openxmlformats.org/drawingml/2006/main">
            <a:r>
              <a:t>- Python: *args receives a tuple; **kwargs receives a dict.</a:t>
            </a:r>
          </a:p>
          <a:p xmlns:a="http://schemas.openxmlformats.org/drawingml/2006/main">
            <a:r>
              <a:t>- Ruby: *args receives an Array; **kwargs receives a Hash.</a:t>
            </a:r>
          </a:p>
          <a:p xmlns:a="http://schemas.openxmlformats.org/drawingml/2006/main">
            <a:r>
              <a:t/>
            </a:r>
          </a:p>
          <a:p xmlns:a="http://schemas.openxmlformats.org/drawingml/2006/main">
            <a:r>
              <a:t>In these forms, a collection can be empty. Ordinary parameters consume the arguments that match them, and the starred parameters collect the applicable extras.</a:t>
            </a:r>
          </a:p>
          <a:p xmlns:a="http://schemas.openxmlformats.org/drawingml/2006/main">
            <a:r>
              <a:t/>
            </a:r>
          </a:p>
          <a:p xmlns:a="http://schemas.openxmlformats.org/drawingml/2006/main">
            <a:r>
              <a:t>WORKED PYTHON BINDING EXAMPLE</a:t>
            </a:r>
          </a:p>
          <a:p xmlns:a="http://schemas.openxmlformats.org/drawingml/2006/main">
            <a:r>
              <a:t>Consider:</a:t>
            </a:r>
          </a:p>
          <a:p xmlns:a="http://schemas.openxmlformats.org/drawingml/2006/main">
            <a:r>
              <a:t>  def collect(first, *args, flag=False, **kwargs):</a:t>
            </a:r>
          </a:p>
          <a:p xmlns:a="http://schemas.openxmlformats.org/drawingml/2006/main">
            <a:r>
              <a:t>      return first, args, flag, kwargs</a:t>
            </a:r>
          </a:p>
          <a:p xmlns:a="http://schemas.openxmlformats.org/drawingml/2006/main">
            <a:r>
              <a:t/>
            </a:r>
          </a:p>
          <a:p xmlns:a="http://schemas.openxmlformats.org/drawingml/2006/main">
            <a:r>
              <a:t>For collect(1, 2, 3, flag=True, magic=42):</a:t>
            </a:r>
          </a:p>
          <a:p xmlns:a="http://schemas.openxmlformats.org/drawingml/2006/main">
            <a:r>
              <a:t>1. first receives 1.</a:t>
            </a:r>
          </a:p>
          <a:p xmlns:a="http://schemas.openxmlformats.org/drawingml/2006/main">
            <a:r>
              <a:t>2. args receives the tuple (2, 3).</a:t>
            </a:r>
          </a:p>
          <a:p xmlns:a="http://schemas.openxmlformats.org/drawingml/2006/main">
            <a:r>
              <a:t>3. flag receives True through its explicit keyword parameter.</a:t>
            </a:r>
          </a:p>
          <a:p xmlns:a="http://schemas.openxmlformats.org/drawingml/2006/main">
            <a:r>
              <a:t>4. kwargs receives {"magic": 42}.</a:t>
            </a:r>
          </a:p>
          <a:p xmlns:a="http://schemas.openxmlformats.org/drawingml/2006/main">
            <a:r>
              <a:t>The key flag is not also placed in kwargs because flag has its own parameter.</a:t>
            </a:r>
          </a:p>
          <a:p xmlns:a="http://schemas.openxmlformats.org/drawingml/2006/main">
            <a:r>
              <a:t/>
            </a:r>
          </a:p>
          <a:p xmlns:a="http://schemas.openxmlformats.org/drawingml/2006/main">
            <a:r>
              <a:t>ORDERING QUALIFICATION</a:t>
            </a:r>
          </a:p>
          <a:p xmlns:a="http://schemas.openxmlformats.org/drawingml/2006/main">
            <a:r>
              <a:t>The basic sequence on the slide is useful, but it is not the entire grammar of either language. In Python, parameters after *args are keyword-only; flag in the example illustrates this. **kwargs is last.</a:t>
            </a:r>
          </a:p>
          <a:p xmlns:a="http://schemas.openxmlformats.org/drawingml/2006/main">
            <a:r>
              <a:t/>
            </a:r>
          </a:p>
          <a:p xmlns:a="http://schemas.openxmlformats.org/drawingml/2006/main">
            <a:r>
              <a:t>Ruby also allows required positional parameters after its rest parameter. For example:</a:t>
            </a:r>
          </a:p>
          <a:p xmlns:a="http://schemas.openxmlformats.org/drawingml/2006/main">
            <a:r>
              <a:t>  def collect(first, *middle, last)</a:t>
            </a:r>
          </a:p>
          <a:p xmlns:a="http://schemas.openxmlformats.org/drawingml/2006/main">
            <a:r>
              <a:t>    [first, middle, last]</a:t>
            </a:r>
          </a:p>
          <a:p xmlns:a="http://schemas.openxmlformats.org/drawingml/2006/main">
            <a:r>
              <a:t>  end</a:t>
            </a:r>
          </a:p>
          <a:p xmlns:a="http://schemas.openxmlformats.org/drawingml/2006/main">
            <a:r>
              <a:t>For collect(1, 2, 3, 4), first receives 1, middle receives [2, 3], and last receives 4.</a:t>
            </a:r>
          </a:p>
          <a:p xmlns:a="http://schemas.openxmlformats.org/drawingml/2006/main">
            <a:r>
              <a:t/>
            </a:r>
          </a:p>
          <a:p xmlns:a="http://schemas.openxmlformats.org/drawingml/2006/main">
            <a:r>
              <a:t>Do not treat the two languages as having identical syntax rules. Keep this discussion focused on how each call binds to the parameters.</a:t>
            </a:r>
          </a:p>
          <a:p xmlns:a="http://schemas.openxmlformats.org/drawingml/2006/main">
            <a:r>
              <a:t/>
            </a:r>
          </a:p>
          <a:p xmlns:a="http://schemas.openxmlformats.org/drawingml/2006/main">
            <a:r>
              <a:t>References</a:t>
            </a:r>
          </a:p>
          <a:p xmlns:a="http://schemas.openxmlformats.org/drawingml/2006/main">
            <a:r>
              <a:t>https://docs.python.org/3/tutorial/controlflow.html#arbitrary-argument-lists</a:t>
            </a:r>
          </a:p>
          <a:p xmlns:a="http://schemas.openxmlformats.org/drawingml/2006/main">
            <a:r>
              <a:t>https://docs.python.org/3/reference/compound_stmts.html#function-definitions</a:t>
            </a:r>
          </a:p>
          <a:p xmlns:a="http://schemas.openxmlformats.org/drawingml/2006/main">
            <a:r>
              <a:t>https://docs.ruby-lang.org/en/master/syntax/methods_rdoc.html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EXAMPLE: mysum(3, 4, 5)</a:t>
            </a:r>
          </a:p>
          <a:p xmlns:a="http://schemas.openxmlformats.org/drawingml/2006/main">
            <a:r>
              <a:t/>
            </a:r>
          </a:p>
          <a:p xmlns:a="http://schemas.openxmlformats.org/drawingml/2006/main">
            <a:r>
              <a:t>The two implementations perform the same accumulation.</a:t>
            </a:r>
          </a:p>
          <a:p xmlns:a="http://schemas.openxmlformats.org/drawingml/2006/main">
            <a:r>
              <a:t/>
            </a:r>
          </a:p>
          <a:p xmlns:a="http://schemas.openxmlformats.org/drawingml/2006/main">
            <a:r>
              <a:t>1. Python binds nums to (3, 4, 5), a tuple. Ruby binds nums to [3, 4, 5], an Array.</a:t>
            </a:r>
          </a:p>
          <a:p xmlns:a="http://schemas.openxmlformats.org/drawingml/2006/main">
            <a:r>
              <a:t>2. Set s to 0.</a:t>
            </a:r>
          </a:p>
          <a:p xmlns:a="http://schemas.openxmlformats.org/drawingml/2006/main">
            <a:r>
              <a:t>3. Read v = 3, then assign s = 0 + 3 = 3.</a:t>
            </a:r>
          </a:p>
          <a:p xmlns:a="http://schemas.openxmlformats.org/drawingml/2006/main">
            <a:r>
              <a:t>4. Read v = 4, then assign s = 3 + 4 = 7.</a:t>
            </a:r>
          </a:p>
          <a:p xmlns:a="http://schemas.openxmlformats.org/drawingml/2006/main">
            <a:r>
              <a:t>5. Read v = 5, then assign s = 7 + 5 = 12.</a:t>
            </a:r>
          </a:p>
          <a:p xmlns:a="http://schemas.openxmlformats.org/drawingml/2006/main">
            <a:r>
              <a:t>6. After the iteration finishes, return 12.</a:t>
            </a:r>
          </a:p>
          <a:p xmlns:a="http://schemas.openxmlformats.org/drawingml/2006/main">
            <a:r>
              <a:t/>
            </a:r>
          </a:p>
          <a:p xmlns:a="http://schemas.openxmlformats.org/drawingml/2006/main">
            <a:r>
              <a:t>Ask students to predict the sequence of values of s before showing the answer: 0, 3, 7, 12. The parameter collection holds the arguments. The local variable s holds the running result.</a:t>
            </a:r>
          </a:p>
          <a:p xmlns:a="http://schemas.openxmlformats.org/drawingml/2006/main">
            <a:r>
              <a:t/>
            </a:r>
          </a:p>
          <a:p xmlns:a="http://schemas.openxmlformats.org/drawingml/2006/main">
            <a:r>
              <a:t>EMPTY CALL</a:t>
            </a:r>
          </a:p>
          <a:p xmlns:a="http://schemas.openxmlformats.org/drawingml/2006/main">
            <a:r>
              <a:t>mysum() gives Python an empty tuple and Ruby an empty Array. The loop body never runs. Since s began at 0, the return value is 0.</a:t>
            </a:r>
          </a:p>
          <a:p xmlns:a="http://schemas.openxmlformats.org/drawingml/2006/main">
            <a:r>
              <a:t/>
            </a:r>
          </a:p>
          <a:p xmlns:a="http://schemas.openxmlformats.org/drawingml/2006/main">
            <a:r>
              <a:t>PASSING AN EXISTING COLLECTION</a:t>
            </a:r>
          </a:p>
          <a:p xmlns:a="http://schemas.openxmlformats.org/drawingml/2006/main">
            <a:r>
              <a:t>In Python:</a:t>
            </a:r>
          </a:p>
          <a:p xmlns:a="http://schemas.openxmlformats.org/drawingml/2006/main">
            <a:r>
              <a:t>  values = [3, 4, 5]</a:t>
            </a:r>
          </a:p>
          <a:p xmlns:a="http://schemas.openxmlformats.org/drawingml/2006/main">
            <a:r>
              <a:t>  mysum(*values)  # 12</a:t>
            </a:r>
          </a:p>
          <a:p xmlns:a="http://schemas.openxmlformats.org/drawingml/2006/main">
            <a:r>
              <a:t>At the call, * expands values into three arguments. The function's *nums then collects those arguments into a tuple. The collection supplied by the caller and the tuple constructed for the parameter need not be the same object or even the same collection type.</a:t>
            </a:r>
          </a:p>
          <a:p xmlns:a="http://schemas.openxmlformats.org/drawingml/2006/main">
            <a:r>
              <a:t/>
            </a:r>
          </a:p>
          <a:p xmlns:a="http://schemas.openxmlformats.org/drawingml/2006/main">
            <a:r>
              <a:t>Ruby also supports a splat at the call:</a:t>
            </a:r>
          </a:p>
          <a:p xmlns:a="http://schemas.openxmlformats.org/drawingml/2006/main">
            <a:r>
              <a:t>  values = [3, 4, 5]</a:t>
            </a:r>
          </a:p>
          <a:p xmlns:a="http://schemas.openxmlformats.org/drawingml/2006/main">
            <a:r>
              <a:t>  mysum(*values)  # 12</a:t>
            </a:r>
          </a:p>
          <a:p xmlns:a="http://schemas.openxmlformats.org/drawingml/2006/main">
            <a:r>
              <a:t/>
            </a:r>
          </a:p>
          <a:p xmlns:a="http://schemas.openxmlformats.org/drawingml/2006/main">
            <a:r>
              <a:t>The Python loop uses indentation to delimit the body. Ruby's do |v| ... end block receives each element as v. The final end closes the Ruby method. The explicit return s is retained in both examples.</a:t>
            </a:r>
          </a:p>
          <a:p xmlns:a="http://schemas.openxmlformats.org/drawingml/2006/main">
            <a:r>
              <a:t/>
            </a:r>
          </a:p>
          <a:p xmlns:a="http://schemas.openxmlformats.org/drawingml/2006/main">
            <a:r>
              <a:t>These examples assume values that can be added to the initial integer 0. Accepting a variable number of arguments does not mean every type is meaningful for the computation.</a:t>
            </a:r>
          </a:p>
          <a:p xmlns:a="http://schemas.openxmlformats.org/drawingml/2006/main">
            <a:r>
              <a:t/>
            </a:r>
          </a:p>
          <a:p xmlns:a="http://schemas.openxmlformats.org/drawingml/2006/main">
            <a:r>
              <a:t>References</a:t>
            </a:r>
          </a:p>
          <a:p xmlns:a="http://schemas.openxmlformats.org/drawingml/2006/main">
            <a:r>
              <a:t>https://docs.python.org/3/tutorial/controlflow.html#arbitrary-argument-lists</a:t>
            </a:r>
          </a:p>
          <a:p xmlns:a="http://schemas.openxmlformats.org/drawingml/2006/main">
            <a:r>
              <a:t>https://docs.ruby-lang.org/en/master/syntax/methods_rdoc.html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HOW TO SOLVE THE EXAMPLE</a:t>
            </a:r>
          </a:p>
          <a:p xmlns:a="http://schemas.openxmlformats.org/drawingml/2006/main">
            <a:r>
              <a:t>For each call, first form the dictionary, then evaluate the condition, then follow the selected path. Track printed output separately from the value returned to the caller.</a:t>
            </a:r>
          </a:p>
          <a:p xmlns:a="http://schemas.openxmlformats.org/drawingml/2006/main">
            <a:r>
              <a:t/>
            </a:r>
          </a:p>
          <a:p xmlns:a="http://schemas.openxmlformats.org/drawingml/2006/main">
            <a:r>
              <a:t>FIRST CALL: my_arg_checker(a=4)</a:t>
            </a:r>
          </a:p>
          <a:p xmlns:a="http://schemas.openxmlformats.org/drawingml/2006/main">
            <a:r>
              <a:t>1. The parameter args becomes {"a": 4}.</a:t>
            </a:r>
          </a:p>
          <a:p xmlns:a="http://schemas.openxmlformats.org/drawingml/2006/main">
            <a:r>
              <a:t>2. The expression "magic" in args checks whether "magic" is a key in that dictionary.</a:t>
            </a:r>
          </a:p>
          <a:p xmlns:a="http://schemas.openxmlformats.org/drawingml/2006/main">
            <a:r>
              <a:t>3. The key is absent, so skip the two statements inside the if.</a:t>
            </a:r>
          </a:p>
          <a:p xmlns:a="http://schemas.openxmlformats.org/drawingml/2006/main">
            <a:r>
              <a:t>4. Execute return False.</a:t>
            </a:r>
          </a:p>
          <a:p xmlns:a="http://schemas.openxmlformats.org/drawingml/2006/main">
            <a:r>
              <a:t>Result: the function prints nothing and returns False.</a:t>
            </a:r>
          </a:p>
          <a:p xmlns:a="http://schemas.openxmlformats.org/drawingml/2006/main">
            <a:r>
              <a:t/>
            </a:r>
          </a:p>
          <a:p xmlns:a="http://schemas.openxmlformats.org/drawingml/2006/main">
            <a:r>
              <a:t>SECOND CALL: my_arg_checker(b=3, magic=42)</a:t>
            </a:r>
          </a:p>
          <a:p xmlns:a="http://schemas.openxmlformats.org/drawingml/2006/main">
            <a:r>
              <a:t>1. The parameter args becomes {"b": 3, "magic": 42}.</a:t>
            </a:r>
          </a:p>
          <a:p xmlns:a="http://schemas.openxmlformats.org/drawingml/2006/main">
            <a:r>
              <a:t>2. The key "magic" is present, so enter the if block.</a:t>
            </a:r>
          </a:p>
          <a:p xmlns:a="http://schemas.openxmlformats.org/drawingml/2006/main">
            <a:r>
              <a:t>3. args["magic"] evaluates to 42.</a:t>
            </a:r>
          </a:p>
          <a:p xmlns:a="http://schemas.openxmlformats.org/drawingml/2006/main">
            <a:r>
              <a:t>4. The f-string inserts that value into the text, producing magic=42.</a:t>
            </a:r>
          </a:p>
          <a:p xmlns:a="http://schemas.openxmlformats.org/drawingml/2006/main">
            <a:r>
              <a:t>5. print writes that text followed by a newline.</a:t>
            </a:r>
          </a:p>
          <a:p xmlns:a="http://schemas.openxmlformats.org/drawingml/2006/main">
            <a:r>
              <a:t>6. return True immediately ends the function, so return False is not executed.</a:t>
            </a:r>
          </a:p>
          <a:p xmlns:a="http://schemas.openxmlformats.org/drawingml/2006/main">
            <a:r>
              <a:t>Result: the function prints magic=42 and returns True.</a:t>
            </a:r>
          </a:p>
          <a:p xmlns:a="http://schemas.openxmlformats.org/drawingml/2006/main">
            <a:r>
              <a:t/>
            </a:r>
          </a:p>
          <a:p xmlns:a="http://schemas.openxmlformats.org/drawingml/2006/main">
            <a:r>
              <a:t>PRINTED OUTPUT VERSUS RETURN VALUE</a:t>
            </a:r>
          </a:p>
          <a:p xmlns:a="http://schemas.openxmlformats.org/drawingml/2006/main">
            <a:r>
              <a:t>In a script, a bare function call does not automatically display its return value. To display the Boolean too:</a:t>
            </a:r>
          </a:p>
          <a:p xmlns:a="http://schemas.openxmlformats.org/drawingml/2006/main">
            <a:r>
              <a:t>  result = my_arg_checker(b=3, magic=42)</a:t>
            </a:r>
          </a:p>
          <a:p xmlns:a="http://schemas.openxmlformats.org/drawingml/2006/main">
            <a:r>
              <a:t>  print(result)</a:t>
            </a:r>
          </a:p>
          <a:p xmlns:a="http://schemas.openxmlformats.org/drawingml/2006/main">
            <a:r>
              <a:t>The output is:</a:t>
            </a:r>
          </a:p>
          <a:p xmlns:a="http://schemas.openxmlformats.org/drawingml/2006/main">
            <a:r>
              <a:t>  magic=42</a:t>
            </a:r>
          </a:p>
          <a:p xmlns:a="http://schemas.openxmlformats.org/drawingml/2006/main">
            <a:r>
              <a:t>  True</a:t>
            </a:r>
          </a:p>
          <a:p xmlns:a="http://schemas.openxmlformats.org/drawingml/2006/main">
            <a:r>
              <a:t/>
            </a:r>
          </a:p>
          <a:p xmlns:a="http://schemas.openxmlformats.org/drawingml/2006/main">
            <a:r>
              <a:t>FOLLOW-UP EXERCISE</a:t>
            </a:r>
          </a:p>
          <a:p xmlns:a="http://schemas.openxmlformats.org/drawingml/2006/main">
            <a:r>
              <a:t>What happens for my_arg_checker(magic=0)?</a:t>
            </a:r>
          </a:p>
          <a:p xmlns:a="http://schemas.openxmlformats.org/drawingml/2006/main">
            <a:r>
              <a:t>The dictionary contains the key even though its value is zero. The condition is therefore true. The function prints magic=0 and returns True. It tests whether a key exists, not whether the stored value is truthy.</a:t>
            </a:r>
          </a:p>
          <a:p xmlns:a="http://schemas.openxmlformats.org/drawingml/2006/main">
            <a:r>
              <a:t/>
            </a:r>
          </a:p>
          <a:p xmlns:a="http://schemas.openxmlformats.org/drawingml/2006/main">
            <a:r>
              <a:t>What happens for my_arg_checker()?</a:t>
            </a:r>
          </a:p>
          <a:p xmlns:a="http://schemas.openxmlformats.org/drawingml/2006/main">
            <a:r>
              <a:t>args is {}, so the function prints nothing and returns False.</a:t>
            </a:r>
          </a:p>
          <a:p xmlns:a="http://schemas.openxmlformats.org/drawingml/2006/main">
            <a:r>
              <a:t/>
            </a:r>
          </a:p>
          <a:p xmlns:a="http://schemas.openxmlformats.org/drawingml/2006/main">
            <a:r>
              <a:t>USING AN EXISTING DICTIONARY</a:t>
            </a:r>
          </a:p>
          <a:p xmlns:a="http://schemas.openxmlformats.org/drawingml/2006/main">
            <a:r>
              <a:t>  data = {"b": 3, "magic": 42}</a:t>
            </a:r>
          </a:p>
          <a:p xmlns:a="http://schemas.openxmlformats.org/drawingml/2006/main">
            <a:r>
              <a:t>  my_arg_checker(**data)</a:t>
            </a:r>
          </a:p>
          <a:p xmlns:a="http://schemas.openxmlformats.org/drawingml/2006/main">
            <a:r>
              <a:t>At the call, ** expands the mapping into keyword arguments. In the definition, **args collects those arguments into the function's dictionary. A single positional dictionary argument, my_arg_checker(data), does not match this function's parameter list.</a:t>
            </a:r>
          </a:p>
          <a:p xmlns:a="http://schemas.openxmlformats.org/drawingml/2006/main">
            <a:r>
              <a:t/>
            </a:r>
          </a:p>
          <a:p xmlns:a="http://schemas.openxmlformats.org/drawingml/2006/main">
            <a:r>
              <a:t>READING THE CODE</a:t>
            </a:r>
          </a:p>
          <a:p xmlns:a="http://schemas.openxmlformats.org/drawingml/2006/main">
            <a:r>
              <a:t>The name args is legal here; the double asterisk is what gives it the keyword-collection role. print and return True belong inside the if block. return False is aligned with if, still inside the function. Python comments use #.</a:t>
            </a:r>
          </a:p>
          <a:p xmlns:a="http://schemas.openxmlformats.org/drawingml/2006/main">
            <a:r>
              <a:t/>
            </a:r>
          </a:p>
          <a:p xmlns:a="http://schemas.openxmlformats.org/drawingml/2006/main">
            <a:r>
              <a:t>References</a:t>
            </a:r>
          </a:p>
          <a:p xmlns:a="http://schemas.openxmlformats.org/drawingml/2006/main">
            <a:r>
              <a:t>https://docs.python.org/3/tutorial/controlflow.html#keyword-arguments</a:t>
            </a:r>
          </a:p>
          <a:p xmlns:a="http://schemas.openxmlformats.org/drawingml/2006/main">
            <a:r>
              <a:t>https://docs.python.org/3/reference/compound_stmts.html#function-definitions</a:t>
            </a:r>
          </a:p>
          <a:p xmlns:a="http://schemas.openxmlformats.org/drawingml/2006/main">
            <a:r>
              <a:t>https://docs.python.org/3/reference/lexical_analysis.html#comments</a:t>
            </a:r>
          </a:p>
          <a:p xmlns:a="http://schemas.openxmlformats.org/drawingml/2006/main">
            <a:r>
              <a:t>https://docs.python.org/3/reference/lexical_analysis.html#f-strings</a:t>
            </a:r>
          </a:p>
          <a:p xmlns:a="http://schemas.openxmlformats.org/drawingml/2006/main">
            <a:r>
              <a:t>https://docs.python.org/3/reference/simple_stmts.html#the-return-statement</a:t>
            </a:r>
          </a:p>
          <a:p xmlns:a="http://schemas.openxmlformats.org/drawingml/2006/main">
            <a:r>
              <a:t>https://docs.python.org/3/library/stdtypes.html#mapping-types-dict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s/_rels/slide1.xml.rels><?xml version='1.0' encoding='UTF-8' standalone='yes'?>
<Relationships xmlns="http://schemas.openxmlformats.org/package/2006/relationships"><Relationship Type="http://schemas.openxmlformats.org/officeDocument/2006/relationships/slideLayout" Target="../nativeTemplate/slideLayouts/slideLayout1.xml" Id="Rcba133aa914d4a54"/><Relationship Type="http://schemas.openxmlformats.org/officeDocument/2006/relationships/notesSlide" Target="/ppt/notesSlides/notesSlide1.xml" Id="R960244b55b2142f1"/></Relationships>
</file>

<file path=ppt/slides/_rels/slide2.xml.rels><?xml version='1.0' encoding='UTF-8' standalone='yes'?>
<Relationships xmlns="http://schemas.openxmlformats.org/package/2006/relationships"><Relationship Type="http://schemas.openxmlformats.org/officeDocument/2006/relationships/slideLayout" Target="../nativeTemplate/slideLayouts/slideLayout2.xml" Id="R63e22a02710b4db2"/><Relationship Type="http://schemas.openxmlformats.org/officeDocument/2006/relationships/notesSlide" Target="/ppt/notesSlides/notesSlide2.xml" Id="R367849b0db3e4f06"/></Relationships>
</file>

<file path=ppt/slides/_rels/slide3.xml.rels><?xml version='1.0' encoding='UTF-8' standalone='yes'?>
<Relationships xmlns="http://schemas.openxmlformats.org/package/2006/relationships"><Relationship Type="http://schemas.openxmlformats.org/officeDocument/2006/relationships/slideLayout" Target="../nativeTemplate/slideLayouts/slideLayout2.xml" Id="R4ec2ee9f311b4bce"/><Relationship Type="http://schemas.openxmlformats.org/officeDocument/2006/relationships/notesSlide" Target="/ppt/notesSlides/notesSlide3.xml" Id="R587f3f63c5fe424c"/></Relationships>
</file>

<file path=ppt/slides/_rels/slide4.xml.rels><?xml version='1.0' encoding='UTF-8' standalone='yes'?>
<Relationships xmlns="http://schemas.openxmlformats.org/package/2006/relationships"><Relationship Type="http://schemas.openxmlformats.org/officeDocument/2006/relationships/slideLayout" Target="../nativeTemplate/slideLayouts/slideLayout2.xml" Id="R44cb565d2aa343d6"/><Relationship Type="http://schemas.openxmlformats.org/officeDocument/2006/relationships/notesSlide" Target="/ppt/notesSlides/notesSlide4.xml" Id="R88333f3769af4990"/></Relationships>
</file>

<file path=ppt/slides/_rels/slide5.xml.rels><?xml version='1.0' encoding='UTF-8' standalone='yes'?>
<Relationships xmlns="http://schemas.openxmlformats.org/package/2006/relationships"><Relationship Type="http://schemas.openxmlformats.org/officeDocument/2006/relationships/slideLayout" Target="../nativeTemplate/slideLayouts/slideLayout2.xml" Id="R69f7efa833a24e33"/><Relationship Type="http://schemas.openxmlformats.org/officeDocument/2006/relationships/notesSlide" Target="/ppt/notesSlides/notesSlide5.xml" Id="R75d606ee419b4792"/></Relationships>
</file>

<file path=ppt/slides/_rels/slide6.xml.rels><?xml version='1.0' encoding='UTF-8' standalone='yes'?>
<Relationships xmlns="http://schemas.openxmlformats.org/package/2006/relationships"><Relationship Type="http://schemas.openxmlformats.org/officeDocument/2006/relationships/slideLayout" Target="../nativeTemplate/slideLayouts/slideLayout2.xml" Id="Rb5cf1a5c5d56489a"/><Relationship Type="http://schemas.openxmlformats.org/officeDocument/2006/relationships/notesSlide" Target="/ppt/notesSlides/notesSlide6.xml" Id="R72adb75a2c2f40cc"/></Relationships>
</file>

<file path=ppt/slides/_rels/slide7.xml.rels><?xml version='1.0' encoding='UTF-8' standalone='yes'?>
<Relationships xmlns="http://schemas.openxmlformats.org/package/2006/relationships"><Relationship Type="http://schemas.openxmlformats.org/officeDocument/2006/relationships/slideLayout" Target="../nativeTemplate/slideLayouts/slideLayout2.xml" Id="Rf733cda9325f4fa7"/><Relationship Type="http://schemas.openxmlformats.org/officeDocument/2006/relationships/notesSlide" Target="/ppt/notesSlides/notesSlide7.xml" Id="R135443f17b52460a"/></Relationships>
</file>

<file path=ppt/slides/_rels/slide8.xml.rels><?xml version='1.0' encoding='UTF-8' standalone='yes'?>
<Relationships xmlns="http://schemas.openxmlformats.org/package/2006/relationships"><Relationship Type="http://schemas.openxmlformats.org/officeDocument/2006/relationships/slideLayout" Target="../nativeTemplate/slideLayouts/slideLayout2.xml" Id="R537ae94883db4b5b"/><Relationship Type="http://schemas.openxmlformats.org/officeDocument/2006/relationships/notesSlide" Target="/ppt/notesSlides/notesSlide8.xml" Id="R44b3de52b28e486c"/></Relationships>
</file>

<file path=ppt/slides/_rels/slide9.xml.rels><?xml version='1.0' encoding='UTF-8' standalone='yes'?>
<Relationships xmlns="http://schemas.openxmlformats.org/package/2006/relationships"><Relationship Type="http://schemas.openxmlformats.org/officeDocument/2006/relationships/slideLayout" Target="../nativeTemplate/slideLayouts/slideLayout2.xml" Id="Re9faa40c0fae4696"/><Relationship Type="http://schemas.openxmlformats.org/officeDocument/2006/relationships/notesSlide" Target="/ppt/notesSlides/notesSlide9.xml" Id="Rebb0bb427b884717"/></Relationships>
</file>

<file path=ppt/slides/_rels/slide10.xml.rels><?xml version='1.0' encoding='UTF-8' standalone='yes'?>
<Relationships xmlns="http://schemas.openxmlformats.org/package/2006/relationships"><Relationship Type="http://schemas.openxmlformats.org/officeDocument/2006/relationships/slideLayout" Target="../nativeTemplate/slideLayouts/slideLayout2.xml" Id="Reac86799bf79426b"/><Relationship Type="http://schemas.openxmlformats.org/officeDocument/2006/relationships/notesSlide" Target="/ppt/notesSlides/notesSlide10.xml" Id="Rb9752d80bf1b4d93"/></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3" name="cover-title">
            <a:extLst xmlns:a="http://schemas.openxmlformats.org/drawingml/2006/main">
              <a:ext uri="{FF2B5EF4-FFF2-40B4-BE49-F238E27FC236}">
                <a16:creationId xmlns:a16="http://schemas.microsoft.com/office/drawing/2014/main" id="{B4918003-3E7F-4750-8866-049B6CD4700B}"/>
              </a:ext>
            </a:extLst>
          </p:cNvPr>
          <p:cNvSpPr>
            <a:spLocks xmlns:a="http://schemas.openxmlformats.org/drawingml/2006/main" noGrp="1"/>
          </p:cNvSpPr>
          <p:nvPr/>
        </p:nvSpPr>
        <p:spPr>
          <a:xfrm xmlns:a="http://schemas.openxmlformats.org/drawingml/2006/main">
            <a:off x="2611812" y="3429000"/>
            <a:ext cx="5518071"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6000" b="0" i="0">
                <a:solidFill>
                  <a:srgbClr val="FFFFFF"/>
                </a:solidFill>
                <a:latin typeface="Arial"/>
                <a:ea typeface="Arial"/>
                <a:cs typeface="Arial"/>
              </a:defRPr>
            </a:defPPr>
            <a:lvl1pPr algn="r">
              <a:defRPr sz="6000" b="0" i="0">
                <a:solidFill>
                  <a:srgbClr val="FFFFFF"/>
                </a:solidFill>
                <a:latin typeface="Arial"/>
                <a:ea typeface="Arial"/>
                <a:cs typeface="Arial"/>
              </a:defRPr>
            </a:lvl1pPr>
            <a:lvl2pPr algn="r">
              <a:defRPr sz="6000" b="0" i="0">
                <a:solidFill>
                  <a:srgbClr val="FFFFFF"/>
                </a:solidFill>
                <a:latin typeface="Arial"/>
                <a:ea typeface="Arial"/>
                <a:cs typeface="Arial"/>
              </a:defRPr>
            </a:lvl2pPr>
            <a:lvl3pPr algn="r">
              <a:defRPr sz="6000" b="0" i="0">
                <a:solidFill>
                  <a:srgbClr val="FFFFFF"/>
                </a:solidFill>
                <a:latin typeface="Arial"/>
                <a:ea typeface="Arial"/>
                <a:cs typeface="Arial"/>
              </a:defRPr>
            </a:lvl3pPr>
            <a:lvl4pPr algn="r">
              <a:defRPr sz="6000" b="0" i="0">
                <a:solidFill>
                  <a:srgbClr val="FFFFFF"/>
                </a:solidFill>
                <a:latin typeface="Arial"/>
                <a:ea typeface="Arial"/>
                <a:cs typeface="Arial"/>
              </a:defRPr>
            </a:lvl4pPr>
            <a:lvl5pPr algn="r">
              <a:defRPr sz="6000" b="0" i="0">
                <a:solidFill>
                  <a:srgbClr val="FFFFFF"/>
                </a:solidFill>
                <a:latin typeface="Arial"/>
                <a:ea typeface="Arial"/>
                <a:cs typeface="Arial"/>
              </a:defRPr>
            </a:lvl5pPr>
            <a:lvl6pPr algn="r">
              <a:defRPr sz="6000" b="0" i="0">
                <a:solidFill>
                  <a:srgbClr val="FFFFFF"/>
                </a:solidFill>
                <a:latin typeface="Arial"/>
                <a:ea typeface="Arial"/>
                <a:cs typeface="Arial"/>
              </a:defRPr>
            </a:lvl6pPr>
            <a:lvl7pPr algn="r">
              <a:defRPr sz="6000" b="0" i="0">
                <a:solidFill>
                  <a:srgbClr val="FFFFFF"/>
                </a:solidFill>
                <a:latin typeface="Arial"/>
                <a:ea typeface="Arial"/>
                <a:cs typeface="Arial"/>
              </a:defRPr>
            </a:lvl7pPr>
            <a:lvl8pPr algn="r">
              <a:defRPr sz="6000" b="0" i="0">
                <a:solidFill>
                  <a:srgbClr val="FFFFFF"/>
                </a:solidFill>
                <a:latin typeface="Arial"/>
                <a:ea typeface="Arial"/>
                <a:cs typeface="Arial"/>
              </a:defRPr>
            </a:lvl8pPr>
            <a:lvl9pPr algn="r">
              <a:defRPr sz="6000" b="0" i="0">
                <a:solidFill>
                  <a:srgbClr val="FFFFFF"/>
                </a:solidFill>
                <a:latin typeface="Arial"/>
                <a:ea typeface="Arial"/>
                <a:cs typeface="Arial"/>
              </a:defRPr>
            </a:lvl9pPr>
          </a:lstStyle>
          <a:p xmlns:a="http://schemas.openxmlformats.org/drawingml/2006/main">
            <a:pPr algn="r">
              <a:lnSpc>
                <a:spcPct val="100000"/>
              </a:lnSpc>
              <a:buNone/>
              <a:defRPr sz="6000" b="0" i="0">
                <a:solidFill>
                  <a:srgbClr val="FFFFFF"/>
                </a:solidFill>
                <a:latin typeface="Arial"/>
                <a:ea typeface="Arial"/>
                <a:cs typeface="Arial"/>
              </a:defRPr>
            </a:pPr>
            <a:r>
              <a:rPr sz="6000" b="0" i="0">
                <a:solidFill>
                  <a:srgbClr val="FFFFFF"/>
                </a:solidFill>
                <a:latin typeface="Arial"/>
                <a:ea typeface="Arial"/>
                <a:cs typeface="Arial"/>
              </a:rPr>
              <a:t>Subprograms:</a:t>
            </a:r>
          </a:p>
          <a:p xmlns:a="http://schemas.openxmlformats.org/drawingml/2006/main">
            <a:pPr algn="r">
              <a:lnSpc>
                <a:spcPct val="100000"/>
              </a:lnSpc>
              <a:buNone/>
              <a:defRPr sz="6000" b="0" i="0">
                <a:solidFill>
                  <a:srgbClr val="FFFFFF"/>
                </a:solidFill>
                <a:latin typeface="Arial"/>
                <a:ea typeface="Arial"/>
                <a:cs typeface="Arial"/>
              </a:defRPr>
            </a:pPr>
            <a:r>
              <a:rPr sz="6000" b="0" i="0">
                <a:solidFill>
                  <a:srgbClr val="FFFFFF"/>
                </a:solidFill>
                <a:latin typeface="Arial"/>
                <a:ea typeface="Arial"/>
                <a:cs typeface="Arial"/>
              </a:rPr>
              <a:t>Variable</a:t>
            </a:r>
          </a:p>
          <a:p xmlns:a="http://schemas.openxmlformats.org/drawingml/2006/main">
            <a:pPr algn="r">
              <a:lnSpc>
                <a:spcPct val="100000"/>
              </a:lnSpc>
              <a:buNone/>
              <a:defRPr sz="6000" b="0" i="0">
                <a:solidFill>
                  <a:srgbClr val="FFFFFF"/>
                </a:solidFill>
                <a:latin typeface="Arial"/>
                <a:ea typeface="Arial"/>
                <a:cs typeface="Arial"/>
              </a:defRPr>
            </a:pPr>
            <a:r>
              <a:rPr sz="6000" b="0" i="0">
                <a:solidFill>
                  <a:srgbClr val="FFFFFF"/>
                </a:solidFill>
                <a:latin typeface="Arial"/>
                <a:ea typeface="Arial"/>
                <a:cs typeface="Arial"/>
              </a:rPr>
              <a:t>Arguments</a:t>
            </a:r>
          </a:p>
        </p:txBody>
      </p:sp>
      <p:sp>
        <p:nvSpPr>
          <p:cNvPr id="2" name="cover-subtitle">
            <a:extLst xmlns:a="http://schemas.openxmlformats.org/drawingml/2006/main">
              <a:ext uri="{FF2B5EF4-FFF2-40B4-BE49-F238E27FC236}">
                <a16:creationId xmlns:a16="http://schemas.microsoft.com/office/drawing/2014/main" id="{027CE164-CD10-4C41-94BD-ACDEB14E479C}"/>
              </a:ext>
            </a:extLst>
          </p:cNvPr>
          <p:cNvSpPr>
            <a:spLocks xmlns:a="http://schemas.openxmlformats.org/drawingml/2006/main" noGrp="1"/>
          </p:cNvSpPr>
          <p:nvPr/>
        </p:nvSpPr>
        <p:spPr>
          <a:xfrm xmlns:a="http://schemas.openxmlformats.org/drawingml/2006/main">
            <a:off x="2772270" y="2268788"/>
            <a:ext cx="5357603" cy="11602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b">
            <a:noAutofit/>
          </a:bodyPr>
          <a:lstStyle xmlns:a="http://schemas.openxmlformats.org/drawingml/2006/main">
            <a:defPPr algn="r">
              <a:defRPr sz="1800" b="0" i="0">
                <a:solidFill>
                  <a:srgbClr val="FFFFFF"/>
                </a:solidFill>
                <a:latin typeface="Arial"/>
                <a:ea typeface="Arial"/>
                <a:cs typeface="Arial"/>
              </a:defRPr>
            </a:defPPr>
            <a:lvl1pPr algn="r">
              <a:defRPr sz="1800" b="0" i="0">
                <a:solidFill>
                  <a:srgbClr val="FFFFFF"/>
                </a:solidFill>
                <a:latin typeface="Arial"/>
                <a:ea typeface="Arial"/>
                <a:cs typeface="Arial"/>
              </a:defRPr>
            </a:lvl1pPr>
            <a:lvl2pPr algn="r">
              <a:defRPr sz="1800" b="0" i="0">
                <a:solidFill>
                  <a:srgbClr val="FFFFFF"/>
                </a:solidFill>
                <a:latin typeface="Arial"/>
                <a:ea typeface="Arial"/>
                <a:cs typeface="Arial"/>
              </a:defRPr>
            </a:lvl2pPr>
            <a:lvl3pPr algn="r">
              <a:defRPr sz="1800" b="0" i="0">
                <a:solidFill>
                  <a:srgbClr val="FFFFFF"/>
                </a:solidFill>
                <a:latin typeface="Arial"/>
                <a:ea typeface="Arial"/>
                <a:cs typeface="Arial"/>
              </a:defRPr>
            </a:lvl3pPr>
            <a:lvl4pPr algn="r">
              <a:defRPr sz="1800" b="0" i="0">
                <a:solidFill>
                  <a:srgbClr val="FFFFFF"/>
                </a:solidFill>
                <a:latin typeface="Arial"/>
                <a:ea typeface="Arial"/>
                <a:cs typeface="Arial"/>
              </a:defRPr>
            </a:lvl4pPr>
            <a:lvl5pPr algn="r">
              <a:defRPr sz="1800" b="0" i="0">
                <a:solidFill>
                  <a:srgbClr val="FFFFFF"/>
                </a:solidFill>
                <a:latin typeface="Arial"/>
                <a:ea typeface="Arial"/>
                <a:cs typeface="Arial"/>
              </a:defRPr>
            </a:lvl5pPr>
            <a:lvl6pPr algn="r">
              <a:defRPr sz="1800" b="0" i="0">
                <a:solidFill>
                  <a:srgbClr val="FFFFFF"/>
                </a:solidFill>
                <a:latin typeface="Arial"/>
                <a:ea typeface="Arial"/>
                <a:cs typeface="Arial"/>
              </a:defRPr>
            </a:lvl6pPr>
            <a:lvl7pPr algn="r">
              <a:defRPr sz="1800" b="0" i="0">
                <a:solidFill>
                  <a:srgbClr val="FFFFFF"/>
                </a:solidFill>
                <a:latin typeface="Arial"/>
                <a:ea typeface="Arial"/>
                <a:cs typeface="Arial"/>
              </a:defRPr>
            </a:lvl7pPr>
            <a:lvl8pPr algn="r">
              <a:defRPr sz="1800" b="0" i="0">
                <a:solidFill>
                  <a:srgbClr val="FFFFFF"/>
                </a:solidFill>
                <a:latin typeface="Arial"/>
                <a:ea typeface="Arial"/>
                <a:cs typeface="Arial"/>
              </a:defRPr>
            </a:lvl8pPr>
            <a:lvl9pPr algn="r">
              <a:defRPr sz="1800" b="0" i="0">
                <a:solidFill>
                  <a:srgbClr val="FFFFFF"/>
                </a:solidFill>
                <a:latin typeface="Arial"/>
                <a:ea typeface="Arial"/>
                <a:cs typeface="Arial"/>
              </a:defRPr>
            </a:lvl9pPr>
          </a:lstStyle>
          <a:p xmlns:a="http://schemas.openxmlformats.org/drawingml/2006/main">
            <a:pPr algn="r">
              <a:lnSpc>
                <a:spcPct val="120000"/>
              </a:lnSpc>
              <a:buNone/>
              <a:defRPr sz="1800" b="0" i="0">
                <a:solidFill>
                  <a:srgbClr val="FFFFFF"/>
                </a:solidFill>
                <a:latin typeface="Arial"/>
                <a:ea typeface="Arial"/>
                <a:cs typeface="Arial"/>
              </a:defRPr>
            </a:pPr>
            <a:r>
              <a:rPr sz="1800" b="0" i="0">
                <a:solidFill>
                  <a:srgbClr val="FFFFFF"/>
                </a:solidFill>
                <a:latin typeface="Arial"/>
                <a:ea typeface="Arial"/>
                <a:cs typeface="Arial"/>
              </a:rPr>
              <a:t>CMSC 330: Programming Languages</a:t>
            </a:r>
          </a:p>
          <a:p xmlns:a="http://schemas.openxmlformats.org/drawingml/2006/main">
            <a:pPr algn="r">
              <a:lnSpc>
                <a:spcPct val="120000"/>
              </a:lnSpc>
              <a:buNone/>
              <a:defRPr sz="1800" b="0" i="0">
                <a:solidFill>
                  <a:srgbClr val="FFFFFF"/>
                </a:solidFill>
                <a:latin typeface="Arial"/>
                <a:ea typeface="Arial"/>
                <a:cs typeface="Arial"/>
              </a:defRPr>
            </a:pPr>
            <a:r>
              <a:rPr sz="1800" b="0" i="0">
                <a:solidFill>
                  <a:srgbClr val="FFFFFF"/>
                </a:solidFill>
                <a:latin typeface="Arial"/>
                <a:ea typeface="Arial"/>
                <a:cs typeface="Arial"/>
              </a:rPr>
              <a:t>Millersville University</a:t>
            </a:r>
          </a:p>
        </p:txBody>
      </p:sp>
    </p:spTree>
    <p:extLst>
      <p:ext uri="{BB962C8B-B14F-4D97-AF65-F5344CB8AC3E}">
        <p14:creationId xmlns:p14="http://schemas.microsoft.com/office/powerpoint/2010/main" val="102606208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F34B5B8A-2751-4234-981D-821697A2F7E0}"/>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Outline</a:t>
            </a:r>
          </a:p>
        </p:txBody>
      </p:sp>
      <p:sp>
        <p:nvSpPr>
          <p:cNvPr id="2" name="slide-number">
            <a:extLst xmlns:a="http://schemas.openxmlformats.org/drawingml/2006/main">
              <a:ext uri="{FF2B5EF4-FFF2-40B4-BE49-F238E27FC236}">
                <a16:creationId xmlns:a16="http://schemas.microsoft.com/office/drawing/2014/main" id="{F69CE8B6-FA58-4B92-90AD-17D99F352F10}"/>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2</a:t>
            </a:r>
          </a:p>
        </p:txBody>
      </p:sp>
      <p:sp>
        <p:nvSpPr>
          <p:cNvPr id="3" name="outline">
            <a:extLst xmlns:a="http://schemas.openxmlformats.org/drawingml/2006/main">
              <a:ext uri="{FF2B5EF4-FFF2-40B4-BE49-F238E27FC236}">
                <a16:creationId xmlns:a16="http://schemas.microsoft.com/office/drawing/2014/main" id="{63FFA618-FEB5-4B73-BF79-F8A87B5093AD}"/>
              </a:ext>
            </a:extLst>
          </p:cNvPr>
          <p:cNvSpPr>
            <a:spLocks xmlns:a="http://schemas.openxmlformats.org/drawingml/2006/main" noGrp="1"/>
          </p:cNvSpPr>
          <p:nvPr/>
        </p:nvSpPr>
        <p:spPr>
          <a:xfrm xmlns:a="http://schemas.openxmlformats.org/drawingml/2006/main">
            <a:off x="2773594" y="2052114"/>
            <a:ext cx="7796536" cy="399782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Definition</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Case Studies</a:t>
            </a:r>
          </a:p>
          <a:p xmlns:a="http://schemas.openxmlformats.org/drawingml/2006/main">
            <a:pPr marL="688976" indent="-344488" algn="l">
              <a:lnSpc>
                <a:spcPct val="120000"/>
              </a:lnSpc>
              <a:spcBef>
                <a:spcPts val="600"/>
              </a:spcBef>
              <a:spcAft>
                <a:spcPts val="400"/>
              </a:spcAft>
              <a:buClr>
                <a:srgbClr val="8EC0C1"/>
              </a:buClr>
              <a:buFont typeface="Arial"/>
              <a:buChar char="▪"/>
              <a:defRPr sz="24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C</a:t>
            </a:r>
          </a:p>
          <a:p xmlns:a="http://schemas.openxmlformats.org/drawingml/2006/main">
            <a:pPr marL="688976" indent="-344488" algn="l">
              <a:lnSpc>
                <a:spcPct val="120000"/>
              </a:lnSpc>
              <a:spcBef>
                <a:spcPts val="600"/>
              </a:spcBef>
              <a:spcAft>
                <a:spcPts val="400"/>
              </a:spcAft>
              <a:buClr>
                <a:srgbClr val="8EC0C1"/>
              </a:buClr>
              <a:buFont typeface="Arial"/>
              <a:buChar char="▪"/>
              <a:defRPr sz="24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C++</a:t>
            </a:r>
          </a:p>
          <a:p xmlns:a="http://schemas.openxmlformats.org/drawingml/2006/main">
            <a:pPr marL="688976" indent="-344488" algn="l">
              <a:lnSpc>
                <a:spcPct val="120000"/>
              </a:lnSpc>
              <a:spcBef>
                <a:spcPts val="600"/>
              </a:spcBef>
              <a:spcAft>
                <a:spcPts val="400"/>
              </a:spcAft>
              <a:buClr>
                <a:srgbClr val="8EC0C1"/>
              </a:buClr>
              <a:buFont typeface="Arial"/>
              <a:buChar char="▪"/>
              <a:defRPr sz="24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Java</a:t>
            </a:r>
          </a:p>
          <a:p xmlns:a="http://schemas.openxmlformats.org/drawingml/2006/main">
            <a:pPr marL="688976" indent="-344488" algn="l">
              <a:lnSpc>
                <a:spcPct val="120000"/>
              </a:lnSpc>
              <a:spcBef>
                <a:spcPts val="600"/>
              </a:spcBef>
              <a:spcAft>
                <a:spcPts val="400"/>
              </a:spcAft>
              <a:buClr>
                <a:srgbClr val="8EC0C1"/>
              </a:buClr>
              <a:buFont typeface="Arial"/>
              <a:buChar char="▪"/>
              <a:defRPr sz="24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JavaScript</a:t>
            </a:r>
          </a:p>
          <a:p xmlns:a="http://schemas.openxmlformats.org/drawingml/2006/main">
            <a:pPr marL="688976" indent="-344488" algn="l">
              <a:lnSpc>
                <a:spcPct val="120000"/>
              </a:lnSpc>
              <a:spcBef>
                <a:spcPts val="600"/>
              </a:spcBef>
              <a:spcAft>
                <a:spcPts val="400"/>
              </a:spcAft>
              <a:buClr>
                <a:srgbClr val="8EC0C1"/>
              </a:buClr>
              <a:buFont typeface="Arial"/>
              <a:buChar char="▪"/>
              <a:defRPr sz="24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Python/Ruby</a:t>
            </a:r>
          </a:p>
        </p:txBody>
      </p:sp>
    </p:spTree>
    <p:extLst>
      <p:ext uri="{BB962C8B-B14F-4D97-AF65-F5344CB8AC3E}">
        <p14:creationId xmlns:p14="http://schemas.microsoft.com/office/powerpoint/2010/main" val="55671722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12EED2E0-791E-42E6-898D-4D4CC7FB8260}"/>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Variable Number of Arguments</a:t>
            </a:r>
          </a:p>
        </p:txBody>
      </p:sp>
      <p:sp>
        <p:nvSpPr>
          <p:cNvPr id="2" name="slide-number">
            <a:extLst xmlns:a="http://schemas.openxmlformats.org/drawingml/2006/main">
              <a:ext uri="{FF2B5EF4-FFF2-40B4-BE49-F238E27FC236}">
                <a16:creationId xmlns:a16="http://schemas.microsoft.com/office/drawing/2014/main" id="{2C19686B-C0CB-4FF8-9B68-D9581F6762C7}"/>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3</a:t>
            </a:r>
          </a:p>
        </p:txBody>
      </p:sp>
      <p:sp>
        <p:nvSpPr>
          <p:cNvPr id="3" name="definition">
            <a:extLst xmlns:a="http://schemas.openxmlformats.org/drawingml/2006/main">
              <a:ext uri="{FF2B5EF4-FFF2-40B4-BE49-F238E27FC236}">
                <a16:creationId xmlns:a16="http://schemas.microsoft.com/office/drawing/2014/main" id="{BB72EFAE-2314-444B-9EA4-449EE3834410}"/>
              </a:ext>
            </a:extLst>
          </p:cNvPr>
          <p:cNvSpPr>
            <a:spLocks xmlns:a="http://schemas.openxmlformats.org/drawingml/2006/main" noGrp="1"/>
          </p:cNvSpPr>
          <p:nvPr/>
        </p:nvSpPr>
        <p:spPr>
          <a:xfrm xmlns:a="http://schemas.openxmlformats.org/drawingml/2006/main">
            <a:off x="2773594" y="2052114"/>
            <a:ext cx="7796536"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Some functions need to accept a variable number of arguments rather than one fixed number.</a:t>
            </a:r>
          </a:p>
        </p:txBody>
      </p:sp>
      <p:sp>
        <p:nvSpPr>
          <p:cNvPr id="4" name="discussion-question">
            <a:extLst xmlns:a="http://schemas.openxmlformats.org/drawingml/2006/main">
              <a:ext uri="{FF2B5EF4-FFF2-40B4-BE49-F238E27FC236}">
                <a16:creationId xmlns:a16="http://schemas.microsoft.com/office/drawing/2014/main" id="{EE566C55-8CA1-40E8-B971-BE9515080D41}"/>
              </a:ext>
            </a:extLst>
          </p:cNvPr>
          <p:cNvSpPr>
            <a:spLocks xmlns:a="http://schemas.openxmlformats.org/drawingml/2006/main" noGrp="1"/>
          </p:cNvSpPr>
          <p:nvPr/>
        </p:nvSpPr>
        <p:spPr>
          <a:xfrm xmlns:a="http://schemas.openxmlformats.org/drawingml/2006/main">
            <a:off x="2773594" y="4010025"/>
            <a:ext cx="7796536"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1">
                <a:solidFill>
                  <a:srgbClr val="8EC0C1"/>
                </a:solidFill>
                <a:latin typeface="Times New Roman"/>
                <a:ea typeface="Times New Roman"/>
                <a:cs typeface="Times New Roman"/>
              </a:defRPr>
            </a:defPPr>
            <a:lvl1pPr algn="l">
              <a:defRPr sz="2400" b="0" i="1">
                <a:solidFill>
                  <a:srgbClr val="8EC0C1"/>
                </a:solidFill>
                <a:latin typeface="Times New Roman"/>
                <a:ea typeface="Times New Roman"/>
                <a:cs typeface="Times New Roman"/>
              </a:defRPr>
            </a:lvl1pPr>
            <a:lvl2pPr algn="l">
              <a:defRPr sz="2400" b="0" i="1">
                <a:solidFill>
                  <a:srgbClr val="8EC0C1"/>
                </a:solidFill>
                <a:latin typeface="Times New Roman"/>
                <a:ea typeface="Times New Roman"/>
                <a:cs typeface="Times New Roman"/>
              </a:defRPr>
            </a:lvl2pPr>
            <a:lvl3pPr algn="l">
              <a:defRPr sz="2400" b="0" i="1">
                <a:solidFill>
                  <a:srgbClr val="8EC0C1"/>
                </a:solidFill>
                <a:latin typeface="Times New Roman"/>
                <a:ea typeface="Times New Roman"/>
                <a:cs typeface="Times New Roman"/>
              </a:defRPr>
            </a:lvl3pPr>
            <a:lvl4pPr algn="l">
              <a:defRPr sz="2400" b="0" i="1">
                <a:solidFill>
                  <a:srgbClr val="8EC0C1"/>
                </a:solidFill>
                <a:latin typeface="Times New Roman"/>
                <a:ea typeface="Times New Roman"/>
                <a:cs typeface="Times New Roman"/>
              </a:defRPr>
            </a:lvl4pPr>
            <a:lvl5pPr algn="l">
              <a:defRPr sz="2400" b="0" i="1">
                <a:solidFill>
                  <a:srgbClr val="8EC0C1"/>
                </a:solidFill>
                <a:latin typeface="Times New Roman"/>
                <a:ea typeface="Times New Roman"/>
                <a:cs typeface="Times New Roman"/>
              </a:defRPr>
            </a:lvl5pPr>
            <a:lvl6pPr algn="l">
              <a:defRPr sz="2400" b="0" i="1">
                <a:solidFill>
                  <a:srgbClr val="8EC0C1"/>
                </a:solidFill>
                <a:latin typeface="Times New Roman"/>
                <a:ea typeface="Times New Roman"/>
                <a:cs typeface="Times New Roman"/>
              </a:defRPr>
            </a:lvl6pPr>
            <a:lvl7pPr algn="l">
              <a:defRPr sz="2400" b="0" i="1">
                <a:solidFill>
                  <a:srgbClr val="8EC0C1"/>
                </a:solidFill>
                <a:latin typeface="Times New Roman"/>
                <a:ea typeface="Times New Roman"/>
                <a:cs typeface="Times New Roman"/>
              </a:defRPr>
            </a:lvl7pPr>
            <a:lvl8pPr algn="l">
              <a:defRPr sz="2400" b="0" i="1">
                <a:solidFill>
                  <a:srgbClr val="8EC0C1"/>
                </a:solidFill>
                <a:latin typeface="Times New Roman"/>
                <a:ea typeface="Times New Roman"/>
                <a:cs typeface="Times New Roman"/>
              </a:defRPr>
            </a:lvl8pPr>
            <a:lvl9pPr algn="l">
              <a:defRPr sz="2400" b="0" i="1">
                <a:solidFill>
                  <a:srgbClr val="8EC0C1"/>
                </a:solidFill>
                <a:latin typeface="Times New Roman"/>
                <a:ea typeface="Times New Roman"/>
                <a:cs typeface="Times New Roman"/>
              </a:defRPr>
            </a:lvl9pPr>
          </a:lstStyle>
          <a:p xmlns:a="http://schemas.openxmlformats.org/drawingml/2006/main">
            <a:pPr algn="l">
              <a:lnSpc>
                <a:spcPct val="120000"/>
              </a:lnSpc>
              <a:buNone/>
              <a:defRPr sz="2400" b="0" i="1">
                <a:solidFill>
                  <a:srgbClr val="8EC0C1"/>
                </a:solidFill>
                <a:latin typeface="Times New Roman"/>
                <a:ea typeface="Times New Roman"/>
                <a:cs typeface="Times New Roman"/>
              </a:defRPr>
            </a:pPr>
            <a:r>
              <a:rPr sz="2400" b="0" i="1">
                <a:solidFill>
                  <a:srgbClr val="8EC0C1"/>
                </a:solidFill>
                <a:latin typeface="Times New Roman"/>
                <a:ea typeface="Times New Roman"/>
                <a:cs typeface="Times New Roman"/>
              </a:rPr>
              <a:t>What kinds of functions benefit from this?</a:t>
            </a:r>
          </a:p>
        </p:txBody>
      </p:sp>
    </p:spTree>
    <p:extLst>
      <p:ext uri="{BB962C8B-B14F-4D97-AF65-F5344CB8AC3E}">
        <p14:creationId xmlns:p14="http://schemas.microsoft.com/office/powerpoint/2010/main" val="7738219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BA1BD536-D6FF-4C4F-83BF-B3BFA7D541F8}"/>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Variable Arguments: C</a:t>
            </a:r>
          </a:p>
        </p:txBody>
      </p:sp>
      <p:sp>
        <p:nvSpPr>
          <p:cNvPr id="2" name="slide-number">
            <a:extLst xmlns:a="http://schemas.openxmlformats.org/drawingml/2006/main">
              <a:ext uri="{FF2B5EF4-FFF2-40B4-BE49-F238E27FC236}">
                <a16:creationId xmlns:a16="http://schemas.microsoft.com/office/drawing/2014/main" id="{18EC0062-0A26-485B-9A31-BAC6AA666948}"/>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4</a:t>
            </a:r>
          </a:p>
        </p:txBody>
      </p:sp>
      <p:sp>
        <p:nvSpPr>
          <p:cNvPr id="3" name="c-introduction">
            <a:extLst xmlns:a="http://schemas.openxmlformats.org/drawingml/2006/main">
              <a:ext uri="{FF2B5EF4-FFF2-40B4-BE49-F238E27FC236}">
                <a16:creationId xmlns:a16="http://schemas.microsoft.com/office/drawing/2014/main" id="{EAB2D52F-A426-4115-BC67-F7AE8E62AD14}"/>
              </a:ext>
            </a:extLst>
          </p:cNvPr>
          <p:cNvSpPr>
            <a:spLocks xmlns:a="http://schemas.openxmlformats.org/drawingml/2006/main" noGrp="1"/>
          </p:cNvSpPr>
          <p:nvPr/>
        </p:nvSpPr>
        <p:spPr>
          <a:xfrm xmlns:a="http://schemas.openxmlformats.org/drawingml/2006/main">
            <a:off x="2773594" y="1895475"/>
            <a:ext cx="7796536"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C5FAEB"/>
                </a:solidFill>
                <a:latin typeface="Courier New"/>
                <a:ea typeface="Courier New"/>
                <a:cs typeface="Courier New"/>
              </a:rPr>
              <a:t>&lt;stdarg.h&gt;</a:t>
            </a:r>
            <a:r>
              <a:rPr sz="2400">
                <a:solidFill>
                  <a:srgbClr val="FFFFFF"/>
                </a:solidFill>
                <a:latin typeface="Times New Roman"/>
                <a:ea typeface="Times New Roman"/>
                <a:cs typeface="Times New Roman"/>
              </a:rPr>
              <a:t> provides manual access to extra arguments.</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Extra arguments come last; </a:t>
            </a:r>
            <a:r>
              <a:rPr sz="2400">
                <a:solidFill>
                  <a:srgbClr val="C5FAEB"/>
                </a:solidFill>
                <a:latin typeface="Courier New"/>
                <a:ea typeface="Courier New"/>
                <a:cs typeface="Courier New"/>
              </a:rPr>
              <a:t>n</a:t>
            </a:r>
            <a:r>
              <a:rPr sz="2400">
                <a:solidFill>
                  <a:srgbClr val="FFFFFF"/>
                </a:solidFill>
                <a:latin typeface="Times New Roman"/>
                <a:ea typeface="Times New Roman"/>
                <a:cs typeface="Times New Roman"/>
              </a:rPr>
              <a:t> gives their count.</a:t>
            </a:r>
          </a:p>
        </p:txBody>
      </p:sp>
      <p:sp>
        <p:nvSpPr>
          <p:cNvPr id="4" name="c-sum">
            <a:extLst xmlns:a="http://schemas.openxmlformats.org/drawingml/2006/main">
              <a:ext uri="{FF2B5EF4-FFF2-40B4-BE49-F238E27FC236}">
                <a16:creationId xmlns:a16="http://schemas.microsoft.com/office/drawing/2014/main" id="{9E7EE7BF-D8CE-4091-AA08-6F327ACBC37E}"/>
              </a:ext>
            </a:extLst>
          </p:cNvPr>
          <p:cNvSpPr>
            <a:spLocks xmlns:a="http://schemas.openxmlformats.org/drawingml/2006/main" noGrp="1"/>
          </p:cNvSpPr>
          <p:nvPr/>
        </p:nvSpPr>
        <p:spPr>
          <a:xfrm xmlns:a="http://schemas.openxmlformats.org/drawingml/2006/main">
            <a:off x="2865025" y="3171825"/>
            <a:ext cx="5905500" cy="3181350"/>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#include</a:t>
            </a:r>
            <a:r>
              <a:rPr sz="2000">
                <a:solidFill>
                  <a:srgbClr val="FFFFFF"/>
                </a:solidFill>
                <a:latin typeface="Courier New"/>
                <a:ea typeface="Courier New"/>
                <a:cs typeface="Courier New"/>
              </a:rPr>
              <a:t> </a:t>
            </a:r>
            <a:r>
              <a:rPr sz="2000">
                <a:solidFill>
                  <a:srgbClr val="D7BA7D"/>
                </a:solidFill>
                <a:latin typeface="Courier New"/>
                <a:ea typeface="Courier New"/>
                <a:cs typeface="Courier New"/>
              </a:rPr>
              <a:t>&lt;stdarg.h&gt;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int</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sum</a:t>
            </a:r>
            <a:r>
              <a:rPr sz="2000">
                <a:solidFill>
                  <a:srgbClr val="FFFFFF"/>
                </a:solidFill>
                <a:latin typeface="Courier New"/>
                <a:ea typeface="Courier New"/>
                <a:cs typeface="Courier New"/>
              </a:rPr>
              <a:t>(</a:t>
            </a:r>
            <a:r>
              <a:rPr sz="2000">
                <a:solidFill>
                  <a:srgbClr val="C586C0"/>
                </a:solidFill>
                <a:latin typeface="Courier New"/>
                <a:ea typeface="Courier New"/>
                <a:cs typeface="Courier New"/>
              </a:rPr>
              <a:t>int</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n</a:t>
            </a: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a:t>
            </a:r>
            <a:r>
              <a:rPr sz="20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va_list</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args</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va_start</a:t>
            </a:r>
            <a:r>
              <a:rPr sz="2000">
                <a:solidFill>
                  <a:srgbClr val="FFFFFF"/>
                </a:solidFill>
                <a:latin typeface="Courier New"/>
                <a:ea typeface="Courier New"/>
                <a:cs typeface="Courier New"/>
              </a:rPr>
              <a:t>(</a:t>
            </a:r>
            <a:r>
              <a:rPr sz="2000">
                <a:solidFill>
                  <a:srgbClr val="C5FAEB"/>
                </a:solidFill>
                <a:latin typeface="Courier New"/>
                <a:ea typeface="Courier New"/>
                <a:cs typeface="Courier New"/>
              </a:rPr>
              <a:t>args</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n</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int</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s</a:t>
            </a:r>
            <a:r>
              <a:rPr sz="2000">
                <a:solidFill>
                  <a:srgbClr val="FFFFFF"/>
                </a:solidFill>
                <a:latin typeface="Courier New"/>
                <a:ea typeface="Courier New"/>
                <a:cs typeface="Courier New"/>
              </a:rPr>
              <a:t> = </a:t>
            </a:r>
            <a:r>
              <a:rPr sz="2000">
                <a:solidFill>
                  <a:srgbClr val="D7BA7D"/>
                </a:solidFill>
                <a:latin typeface="Courier New"/>
                <a:ea typeface="Courier New"/>
                <a:cs typeface="Courier New"/>
              </a:rPr>
              <a:t>0</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for</a:t>
            </a: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int</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i</a:t>
            </a:r>
            <a:r>
              <a:rPr sz="2000">
                <a:solidFill>
                  <a:srgbClr val="FFFFFF"/>
                </a:solidFill>
                <a:latin typeface="Courier New"/>
                <a:ea typeface="Courier New"/>
                <a:cs typeface="Courier New"/>
              </a:rPr>
              <a:t> = </a:t>
            </a:r>
            <a:r>
              <a:rPr sz="2000">
                <a:solidFill>
                  <a:srgbClr val="D7BA7D"/>
                </a:solidFill>
                <a:latin typeface="Courier New"/>
                <a:ea typeface="Courier New"/>
                <a:cs typeface="Courier New"/>
              </a:rPr>
              <a:t>0</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i</a:t>
            </a:r>
            <a:r>
              <a:rPr sz="2000">
                <a:solidFill>
                  <a:srgbClr val="FFFFFF"/>
                </a:solidFill>
                <a:latin typeface="Courier New"/>
                <a:ea typeface="Courier New"/>
                <a:cs typeface="Courier New"/>
              </a:rPr>
              <a:t> &lt; </a:t>
            </a:r>
            <a:r>
              <a:rPr sz="2000">
                <a:solidFill>
                  <a:srgbClr val="C5FAEB"/>
                </a:solidFill>
                <a:latin typeface="Courier New"/>
                <a:ea typeface="Courier New"/>
                <a:cs typeface="Courier New"/>
              </a:rPr>
              <a:t>n</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i</a:t>
            </a:r>
            <a:r>
              <a:rPr sz="20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s</a:t>
            </a:r>
            <a:r>
              <a:rPr sz="2000">
                <a:solidFill>
                  <a:srgbClr val="FFFFFF"/>
                </a:solidFill>
                <a:latin typeface="Courier New"/>
                <a:ea typeface="Courier New"/>
                <a:cs typeface="Courier New"/>
              </a:rPr>
              <a:t> += </a:t>
            </a:r>
            <a:r>
              <a:rPr sz="2000">
                <a:solidFill>
                  <a:srgbClr val="DCDCAA"/>
                </a:solidFill>
                <a:latin typeface="Courier New"/>
                <a:ea typeface="Courier New"/>
                <a:cs typeface="Courier New"/>
              </a:rPr>
              <a:t>va_arg</a:t>
            </a:r>
            <a:r>
              <a:rPr sz="2000">
                <a:solidFill>
                  <a:srgbClr val="FFFFFF"/>
                </a:solidFill>
                <a:latin typeface="Courier New"/>
                <a:ea typeface="Courier New"/>
                <a:cs typeface="Courier New"/>
              </a:rPr>
              <a:t>(</a:t>
            </a:r>
            <a:r>
              <a:rPr sz="2000">
                <a:solidFill>
                  <a:srgbClr val="C5FAEB"/>
                </a:solidFill>
                <a:latin typeface="Courier New"/>
                <a:ea typeface="Courier New"/>
                <a:cs typeface="Courier New"/>
              </a:rPr>
              <a:t>args</a:t>
            </a: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int</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va_end</a:t>
            </a:r>
            <a:r>
              <a:rPr sz="2000">
                <a:solidFill>
                  <a:srgbClr val="FFFFFF"/>
                </a:solidFill>
                <a:latin typeface="Courier New"/>
                <a:ea typeface="Courier New"/>
                <a:cs typeface="Courier New"/>
              </a:rPr>
              <a:t>(</a:t>
            </a:r>
            <a:r>
              <a:rPr sz="2000">
                <a:solidFill>
                  <a:srgbClr val="C5FAEB"/>
                </a:solidFill>
                <a:latin typeface="Courier New"/>
                <a:ea typeface="Courier New"/>
                <a:cs typeface="Courier New"/>
              </a:rPr>
              <a:t>args</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return</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s</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a:t>
            </a:r>
          </a:p>
        </p:txBody>
      </p:sp>
      <p:sp>
        <p:nvSpPr>
          <p:cNvPr id="5" name="c-helper-heading">
            <a:extLst xmlns:a="http://schemas.openxmlformats.org/drawingml/2006/main">
              <a:ext uri="{FF2B5EF4-FFF2-40B4-BE49-F238E27FC236}">
                <a16:creationId xmlns:a16="http://schemas.microsoft.com/office/drawing/2014/main" id="{D49EC9A4-5FC5-40DE-8456-2DBA9E612836}"/>
              </a:ext>
            </a:extLst>
          </p:cNvPr>
          <p:cNvSpPr>
            <a:spLocks xmlns:a="http://schemas.openxmlformats.org/drawingml/2006/main" noGrp="1"/>
          </p:cNvSpPr>
          <p:nvPr/>
        </p:nvSpPr>
        <p:spPr>
          <a:xfrm xmlns:a="http://schemas.openxmlformats.org/drawingml/2006/main">
            <a:off x="8924925" y="3162300"/>
            <a:ext cx="1645206"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8EC0C1"/>
                </a:solidFill>
                <a:latin typeface="Times New Roman"/>
                <a:ea typeface="Times New Roman"/>
                <a:cs typeface="Times New Roman"/>
              </a:defRPr>
            </a:defPPr>
            <a:lvl1pPr algn="l">
              <a:defRPr sz="2000" b="0" i="0">
                <a:solidFill>
                  <a:srgbClr val="8EC0C1"/>
                </a:solidFill>
                <a:latin typeface="Times New Roman"/>
                <a:ea typeface="Times New Roman"/>
                <a:cs typeface="Times New Roman"/>
              </a:defRPr>
            </a:lvl1pPr>
            <a:lvl2pPr algn="l">
              <a:defRPr sz="2000" b="0" i="0">
                <a:solidFill>
                  <a:srgbClr val="8EC0C1"/>
                </a:solidFill>
                <a:latin typeface="Times New Roman"/>
                <a:ea typeface="Times New Roman"/>
                <a:cs typeface="Times New Roman"/>
              </a:defRPr>
            </a:lvl2pPr>
            <a:lvl3pPr algn="l">
              <a:defRPr sz="2000" b="0" i="0">
                <a:solidFill>
                  <a:srgbClr val="8EC0C1"/>
                </a:solidFill>
                <a:latin typeface="Times New Roman"/>
                <a:ea typeface="Times New Roman"/>
                <a:cs typeface="Times New Roman"/>
              </a:defRPr>
            </a:lvl3pPr>
            <a:lvl4pPr algn="l">
              <a:defRPr sz="2000" b="0" i="0">
                <a:solidFill>
                  <a:srgbClr val="8EC0C1"/>
                </a:solidFill>
                <a:latin typeface="Times New Roman"/>
                <a:ea typeface="Times New Roman"/>
                <a:cs typeface="Times New Roman"/>
              </a:defRPr>
            </a:lvl4pPr>
            <a:lvl5pPr algn="l">
              <a:defRPr sz="2000" b="0" i="0">
                <a:solidFill>
                  <a:srgbClr val="8EC0C1"/>
                </a:solidFill>
                <a:latin typeface="Times New Roman"/>
                <a:ea typeface="Times New Roman"/>
                <a:cs typeface="Times New Roman"/>
              </a:defRPr>
            </a:lvl5pPr>
            <a:lvl6pPr algn="l">
              <a:defRPr sz="2000" b="0" i="0">
                <a:solidFill>
                  <a:srgbClr val="8EC0C1"/>
                </a:solidFill>
                <a:latin typeface="Times New Roman"/>
                <a:ea typeface="Times New Roman"/>
                <a:cs typeface="Times New Roman"/>
              </a:defRPr>
            </a:lvl6pPr>
            <a:lvl7pPr algn="l">
              <a:defRPr sz="2000" b="0" i="0">
                <a:solidFill>
                  <a:srgbClr val="8EC0C1"/>
                </a:solidFill>
                <a:latin typeface="Times New Roman"/>
                <a:ea typeface="Times New Roman"/>
                <a:cs typeface="Times New Roman"/>
              </a:defRPr>
            </a:lvl7pPr>
            <a:lvl8pPr algn="l">
              <a:defRPr sz="2000" b="0" i="0">
                <a:solidFill>
                  <a:srgbClr val="8EC0C1"/>
                </a:solidFill>
                <a:latin typeface="Times New Roman"/>
                <a:ea typeface="Times New Roman"/>
                <a:cs typeface="Times New Roman"/>
              </a:defRPr>
            </a:lvl8pPr>
            <a:lvl9pPr algn="l">
              <a:defRPr sz="2000" b="0" i="0">
                <a:solidFill>
                  <a:srgbClr val="8EC0C1"/>
                </a:solidFill>
                <a:latin typeface="Times New Roman"/>
                <a:ea typeface="Times New Roman"/>
                <a:cs typeface="Times New Roman"/>
              </a:defRPr>
            </a:lvl9pPr>
          </a:lstStyle>
          <a:p xmlns:a="http://schemas.openxmlformats.org/drawingml/2006/main">
            <a:pPr algn="l">
              <a:lnSpc>
                <a:spcPct val="120000"/>
              </a:lnSpc>
              <a:buNone/>
              <a:defRPr sz="2000" b="0" i="0">
                <a:solidFill>
                  <a:srgbClr val="8EC0C1"/>
                </a:solidFill>
                <a:latin typeface="Times New Roman"/>
                <a:ea typeface="Times New Roman"/>
                <a:cs typeface="Times New Roman"/>
              </a:defRPr>
            </a:pPr>
            <a:r>
              <a:rPr sz="2000" b="0" i="0">
                <a:solidFill>
                  <a:srgbClr val="8EC0C1"/>
                </a:solidFill>
                <a:latin typeface="Times New Roman"/>
                <a:ea typeface="Times New Roman"/>
                <a:cs typeface="Times New Roman"/>
              </a:rPr>
              <a:t>Access tools</a:t>
            </a:r>
          </a:p>
        </p:txBody>
      </p:sp>
      <p:sp>
        <p:nvSpPr>
          <p:cNvPr id="6" name="c-helper-0">
            <a:extLst xmlns:a="http://schemas.openxmlformats.org/drawingml/2006/main">
              <a:ext uri="{FF2B5EF4-FFF2-40B4-BE49-F238E27FC236}">
                <a16:creationId xmlns:a16="http://schemas.microsoft.com/office/drawing/2014/main" id="{8128534B-D96B-4010-B4F2-4B3293C38C79}"/>
              </a:ext>
            </a:extLst>
          </p:cNvPr>
          <p:cNvSpPr>
            <a:spLocks xmlns:a="http://schemas.openxmlformats.org/drawingml/2006/main" noGrp="1"/>
          </p:cNvSpPr>
          <p:nvPr/>
        </p:nvSpPr>
        <p:spPr>
          <a:xfrm xmlns:a="http://schemas.openxmlformats.org/drawingml/2006/main">
            <a:off x="8924925" y="3781425"/>
            <a:ext cx="1645206"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spcBef>
                <a:spcPts val="0"/>
              </a:spcBef>
              <a:spcAft>
                <a:spcPts val="0"/>
              </a:spcAft>
              <a:defRPr sz="2000" b="0" i="0">
                <a:solidFill>
                  <a:srgbClr val="FFFFFF"/>
                </a:solidFill>
                <a:latin typeface="Times New Roman"/>
                <a:ea typeface="Times New Roman"/>
                <a:cs typeface="Times New Roman"/>
              </a:defRPr>
            </a:pPr>
            <a:r>
              <a:rPr sz="2000">
                <a:solidFill>
                  <a:srgbClr val="C5FAEB"/>
                </a:solidFill>
                <a:latin typeface="Courier New"/>
                <a:ea typeface="Courier New"/>
                <a:cs typeface="Courier New"/>
              </a:rPr>
              <a:t>va_list</a:t>
            </a:r>
          </a:p>
          <a:p xmlns:a="http://schemas.openxmlformats.org/drawingml/2006/main">
            <a:pPr algn="l">
              <a:spcBef>
                <a:spcPts val="0"/>
              </a:spcBef>
              <a:spcAft>
                <a:spcPts val="0"/>
              </a:spcAft>
              <a:defRPr sz="2000" b="0" i="0">
                <a:solidFill>
                  <a:srgbClr val="FFFFFF"/>
                </a:solidFill>
                <a:latin typeface="Times New Roman"/>
                <a:ea typeface="Times New Roman"/>
                <a:cs typeface="Times New Roman"/>
              </a:defRPr>
            </a:pPr>
            <a:r>
              <a:rPr sz="1800">
                <a:solidFill>
                  <a:srgbClr val="FFFFFF"/>
                </a:solidFill>
                <a:latin typeface="Times New Roman"/>
                <a:ea typeface="Times New Roman"/>
                <a:cs typeface="Times New Roman"/>
              </a:rPr>
              <a:t>type</a:t>
            </a:r>
          </a:p>
        </p:txBody>
      </p:sp>
      <p:sp>
        <p:nvSpPr>
          <p:cNvPr id="7" name="c-helper-1">
            <a:extLst xmlns:a="http://schemas.openxmlformats.org/drawingml/2006/main">
              <a:ext uri="{FF2B5EF4-FFF2-40B4-BE49-F238E27FC236}">
                <a16:creationId xmlns:a16="http://schemas.microsoft.com/office/drawing/2014/main" id="{55A9D4F0-30CE-4DEC-BD5E-ED8459388745}"/>
              </a:ext>
            </a:extLst>
          </p:cNvPr>
          <p:cNvSpPr>
            <a:spLocks xmlns:a="http://schemas.openxmlformats.org/drawingml/2006/main" noGrp="1"/>
          </p:cNvSpPr>
          <p:nvPr/>
        </p:nvSpPr>
        <p:spPr>
          <a:xfrm xmlns:a="http://schemas.openxmlformats.org/drawingml/2006/main">
            <a:off x="8924925" y="4410075"/>
            <a:ext cx="1645206"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spcBef>
                <a:spcPts val="0"/>
              </a:spcBef>
              <a:spcAft>
                <a:spcPts val="0"/>
              </a:spcAft>
              <a:defRPr sz="2000" b="0" i="0">
                <a:solidFill>
                  <a:srgbClr val="FFFFFF"/>
                </a:solidFill>
                <a:latin typeface="Times New Roman"/>
                <a:ea typeface="Times New Roman"/>
                <a:cs typeface="Times New Roman"/>
              </a:defRPr>
            </a:pPr>
            <a:r>
              <a:rPr sz="2000">
                <a:solidFill>
                  <a:srgbClr val="C5FAEB"/>
                </a:solidFill>
                <a:latin typeface="Courier New"/>
                <a:ea typeface="Courier New"/>
                <a:cs typeface="Courier New"/>
              </a:rPr>
              <a:t>va_start</a:t>
            </a:r>
          </a:p>
          <a:p xmlns:a="http://schemas.openxmlformats.org/drawingml/2006/main">
            <a:pPr algn="l">
              <a:spcBef>
                <a:spcPts val="0"/>
              </a:spcBef>
              <a:spcAft>
                <a:spcPts val="0"/>
              </a:spcAft>
              <a:defRPr sz="2000" b="0" i="0">
                <a:solidFill>
                  <a:srgbClr val="FFFFFF"/>
                </a:solidFill>
                <a:latin typeface="Times New Roman"/>
                <a:ea typeface="Times New Roman"/>
                <a:cs typeface="Times New Roman"/>
              </a:defRPr>
            </a:pPr>
            <a:r>
              <a:rPr sz="1800">
                <a:solidFill>
                  <a:srgbClr val="FFFFFF"/>
                </a:solidFill>
                <a:latin typeface="Times New Roman"/>
                <a:ea typeface="Times New Roman"/>
                <a:cs typeface="Times New Roman"/>
              </a:rPr>
              <a:t>macro</a:t>
            </a:r>
          </a:p>
        </p:txBody>
      </p:sp>
      <p:sp>
        <p:nvSpPr>
          <p:cNvPr id="8" name="c-helper-2">
            <a:extLst xmlns:a="http://schemas.openxmlformats.org/drawingml/2006/main">
              <a:ext uri="{FF2B5EF4-FFF2-40B4-BE49-F238E27FC236}">
                <a16:creationId xmlns:a16="http://schemas.microsoft.com/office/drawing/2014/main" id="{AFB8B53E-C3DF-4DD0-82C6-A3C69C89AB40}"/>
              </a:ext>
            </a:extLst>
          </p:cNvPr>
          <p:cNvSpPr>
            <a:spLocks xmlns:a="http://schemas.openxmlformats.org/drawingml/2006/main" noGrp="1"/>
          </p:cNvSpPr>
          <p:nvPr/>
        </p:nvSpPr>
        <p:spPr>
          <a:xfrm xmlns:a="http://schemas.openxmlformats.org/drawingml/2006/main">
            <a:off x="8924925" y="5038725"/>
            <a:ext cx="1645206"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spcBef>
                <a:spcPts val="0"/>
              </a:spcBef>
              <a:spcAft>
                <a:spcPts val="0"/>
              </a:spcAft>
              <a:defRPr sz="2000" b="0" i="0">
                <a:solidFill>
                  <a:srgbClr val="FFFFFF"/>
                </a:solidFill>
                <a:latin typeface="Times New Roman"/>
                <a:ea typeface="Times New Roman"/>
                <a:cs typeface="Times New Roman"/>
              </a:defRPr>
            </a:pPr>
            <a:r>
              <a:rPr sz="2000">
                <a:solidFill>
                  <a:srgbClr val="C5FAEB"/>
                </a:solidFill>
                <a:latin typeface="Courier New"/>
                <a:ea typeface="Courier New"/>
                <a:cs typeface="Courier New"/>
              </a:rPr>
              <a:t>va_arg</a:t>
            </a:r>
          </a:p>
          <a:p xmlns:a="http://schemas.openxmlformats.org/drawingml/2006/main">
            <a:pPr algn="l">
              <a:spcBef>
                <a:spcPts val="0"/>
              </a:spcBef>
              <a:spcAft>
                <a:spcPts val="0"/>
              </a:spcAft>
              <a:defRPr sz="2000" b="0" i="0">
                <a:solidFill>
                  <a:srgbClr val="FFFFFF"/>
                </a:solidFill>
                <a:latin typeface="Times New Roman"/>
                <a:ea typeface="Times New Roman"/>
                <a:cs typeface="Times New Roman"/>
              </a:defRPr>
            </a:pPr>
            <a:r>
              <a:rPr sz="1800">
                <a:solidFill>
                  <a:srgbClr val="FFFFFF"/>
                </a:solidFill>
                <a:latin typeface="Times New Roman"/>
                <a:ea typeface="Times New Roman"/>
                <a:cs typeface="Times New Roman"/>
              </a:rPr>
              <a:t>macro</a:t>
            </a:r>
          </a:p>
        </p:txBody>
      </p:sp>
      <p:sp>
        <p:nvSpPr>
          <p:cNvPr id="9" name="c-helper-3">
            <a:extLst xmlns:a="http://schemas.openxmlformats.org/drawingml/2006/main">
              <a:ext uri="{FF2B5EF4-FFF2-40B4-BE49-F238E27FC236}">
                <a16:creationId xmlns:a16="http://schemas.microsoft.com/office/drawing/2014/main" id="{12E41EBC-536B-47A7-9541-A04907044774}"/>
              </a:ext>
            </a:extLst>
          </p:cNvPr>
          <p:cNvSpPr>
            <a:spLocks xmlns:a="http://schemas.openxmlformats.org/drawingml/2006/main" noGrp="1"/>
          </p:cNvSpPr>
          <p:nvPr/>
        </p:nvSpPr>
        <p:spPr>
          <a:xfrm xmlns:a="http://schemas.openxmlformats.org/drawingml/2006/main">
            <a:off x="8924925" y="5667375"/>
            <a:ext cx="1645206"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spcBef>
                <a:spcPts val="0"/>
              </a:spcBef>
              <a:spcAft>
                <a:spcPts val="0"/>
              </a:spcAft>
              <a:defRPr sz="2000" b="0" i="0">
                <a:solidFill>
                  <a:srgbClr val="FFFFFF"/>
                </a:solidFill>
                <a:latin typeface="Times New Roman"/>
                <a:ea typeface="Times New Roman"/>
                <a:cs typeface="Times New Roman"/>
              </a:defRPr>
            </a:pPr>
            <a:r>
              <a:rPr sz="2000">
                <a:solidFill>
                  <a:srgbClr val="C5FAEB"/>
                </a:solidFill>
                <a:latin typeface="Courier New"/>
                <a:ea typeface="Courier New"/>
                <a:cs typeface="Courier New"/>
              </a:rPr>
              <a:t>va_end</a:t>
            </a:r>
          </a:p>
          <a:p xmlns:a="http://schemas.openxmlformats.org/drawingml/2006/main">
            <a:pPr algn="l">
              <a:spcBef>
                <a:spcPts val="0"/>
              </a:spcBef>
              <a:spcAft>
                <a:spcPts val="0"/>
              </a:spcAft>
              <a:defRPr sz="2000" b="0" i="0">
                <a:solidFill>
                  <a:srgbClr val="FFFFFF"/>
                </a:solidFill>
                <a:latin typeface="Times New Roman"/>
                <a:ea typeface="Times New Roman"/>
                <a:cs typeface="Times New Roman"/>
              </a:defRPr>
            </a:pPr>
            <a:r>
              <a:rPr sz="1800">
                <a:solidFill>
                  <a:srgbClr val="FFFFFF"/>
                </a:solidFill>
                <a:latin typeface="Times New Roman"/>
                <a:ea typeface="Times New Roman"/>
                <a:cs typeface="Times New Roman"/>
              </a:rPr>
              <a:t>macro</a:t>
            </a:r>
          </a:p>
        </p:txBody>
      </p:sp>
    </p:spTree>
    <p:extLst>
      <p:ext uri="{BB962C8B-B14F-4D97-AF65-F5344CB8AC3E}">
        <p14:creationId xmlns:p14="http://schemas.microsoft.com/office/powerpoint/2010/main" val="25853397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437996C6-63F8-47C8-9904-406298A251CE}"/>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Variable Arguments: C++</a:t>
            </a:r>
          </a:p>
        </p:txBody>
      </p:sp>
      <p:sp>
        <p:nvSpPr>
          <p:cNvPr id="2" name="slide-number">
            <a:extLst xmlns:a="http://schemas.openxmlformats.org/drawingml/2006/main">
              <a:ext uri="{FF2B5EF4-FFF2-40B4-BE49-F238E27FC236}">
                <a16:creationId xmlns:a16="http://schemas.microsoft.com/office/drawing/2014/main" id="{C78ED422-8CC6-4201-A62C-EA0B69DFB424}"/>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5</a:t>
            </a:r>
          </a:p>
        </p:txBody>
      </p:sp>
      <p:sp>
        <p:nvSpPr>
          <p:cNvPr id="3" name="cpp-packs">
            <a:extLst xmlns:a="http://schemas.openxmlformats.org/drawingml/2006/main">
              <a:ext uri="{FF2B5EF4-FFF2-40B4-BE49-F238E27FC236}">
                <a16:creationId xmlns:a16="http://schemas.microsoft.com/office/drawing/2014/main" id="{71CC8457-ABD4-48BE-9903-9E13E9F38F74}"/>
              </a:ext>
            </a:extLst>
          </p:cNvPr>
          <p:cNvSpPr>
            <a:spLocks xmlns:a="http://schemas.openxmlformats.org/drawingml/2006/main" noGrp="1"/>
          </p:cNvSpPr>
          <p:nvPr/>
        </p:nvSpPr>
        <p:spPr>
          <a:xfrm xmlns:a="http://schemas.openxmlformats.org/drawingml/2006/main">
            <a:off x="2773594" y="1847850"/>
            <a:ext cx="7796536"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C5FAEB"/>
                </a:solidFill>
                <a:latin typeface="Courier New"/>
                <a:ea typeface="Courier New"/>
                <a:cs typeface="Courier New"/>
              </a:rPr>
              <a:t>typename... Ts</a:t>
            </a:r>
            <a:r>
              <a:rPr sz="2400">
                <a:solidFill>
                  <a:srgbClr val="FFFFFF"/>
                </a:solidFill>
                <a:latin typeface="Times New Roman"/>
                <a:ea typeface="Times New Roman"/>
                <a:cs typeface="Times New Roman"/>
              </a:rPr>
              <a:t> declares a template parameter pack.</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C5FAEB"/>
                </a:solidFill>
                <a:latin typeface="Courier New"/>
                <a:ea typeface="Courier New"/>
                <a:cs typeface="Courier New"/>
              </a:rPr>
              <a:t>Ts... ts</a:t>
            </a:r>
            <a:r>
              <a:rPr sz="2400">
                <a:solidFill>
                  <a:srgbClr val="FFFFFF"/>
                </a:solidFill>
                <a:latin typeface="Times New Roman"/>
                <a:ea typeface="Times New Roman"/>
                <a:cs typeface="Times New Roman"/>
              </a:rPr>
              <a:t> declares a function parameter pack.</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C5FAEB"/>
                </a:solidFill>
                <a:latin typeface="Courier New"/>
                <a:ea typeface="Courier New"/>
                <a:cs typeface="Courier New"/>
              </a:rPr>
              <a:t>(0 + ... + ts)</a:t>
            </a:r>
            <a:r>
              <a:rPr sz="2400">
                <a:solidFill>
                  <a:srgbClr val="FFFFFF"/>
                </a:solidFill>
                <a:latin typeface="Times New Roman"/>
                <a:ea typeface="Times New Roman"/>
                <a:cs typeface="Times New Roman"/>
              </a:rPr>
              <a:t> is a binary left fold (C++17).</a:t>
            </a:r>
          </a:p>
        </p:txBody>
      </p:sp>
      <p:sp>
        <p:nvSpPr>
          <p:cNvPr id="4" name="cpp-example">
            <a:extLst xmlns:a="http://schemas.openxmlformats.org/drawingml/2006/main">
              <a:ext uri="{FF2B5EF4-FFF2-40B4-BE49-F238E27FC236}">
                <a16:creationId xmlns:a16="http://schemas.microsoft.com/office/drawing/2014/main" id="{30B1FAF9-1429-401B-A22D-696842FFBB9B}"/>
              </a:ext>
            </a:extLst>
          </p:cNvPr>
          <p:cNvSpPr>
            <a:spLocks xmlns:a="http://schemas.openxmlformats.org/drawingml/2006/main" noGrp="1"/>
          </p:cNvSpPr>
          <p:nvPr/>
        </p:nvSpPr>
        <p:spPr>
          <a:xfrm xmlns:a="http://schemas.openxmlformats.org/drawingml/2006/main">
            <a:off x="2773594" y="3914775"/>
            <a:ext cx="7796536"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000" b="0" i="0">
                <a:solidFill>
                  <a:srgbClr val="FFFFFF"/>
                </a:solidFill>
                <a:latin typeface="Times New Roman"/>
                <a:ea typeface="Times New Roman"/>
                <a:cs typeface="Times New Roman"/>
              </a:defRPr>
            </a:pPr>
            <a:r>
              <a:rPr sz="2000">
                <a:solidFill>
                  <a:srgbClr val="C5FAEB"/>
                </a:solidFill>
                <a:latin typeface="Courier New"/>
                <a:ea typeface="Courier New"/>
                <a:cs typeface="Courier New"/>
              </a:rPr>
              <a:t>sum(1, 2.5, 3)</a:t>
            </a:r>
            <a:r>
              <a:rPr sz="2000">
                <a:solidFill>
                  <a:srgbClr val="FFFFFF"/>
                </a:solidFill>
                <a:latin typeface="Times New Roman"/>
                <a:ea typeface="Times New Roman"/>
                <a:cs typeface="Times New Roman"/>
              </a:rPr>
              <a:t> deduces </a:t>
            </a:r>
            <a:r>
              <a:rPr sz="2000">
                <a:solidFill>
                  <a:srgbClr val="C5FAEB"/>
                </a:solidFill>
                <a:latin typeface="Courier New"/>
                <a:ea typeface="Courier New"/>
                <a:cs typeface="Courier New"/>
              </a:rPr>
              <a:t>Ts = {int, double, int}</a:t>
            </a:r>
            <a:r>
              <a:rPr sz="2000">
                <a:solidFill>
                  <a:srgbClr val="FFFFFF"/>
                </a:solidFill>
                <a:latin typeface="Times New Roman"/>
                <a:ea typeface="Times New Roman"/>
                <a:cs typeface="Times New Roman"/>
              </a:rPr>
              <a:t>.</a:t>
            </a:r>
            <a:br>
              <a:rPr sz="2000">
                <a:solidFill>
                  <a:srgbClr val="FFFFFF"/>
                </a:solidFill>
                <a:latin typeface="Times New Roman"/>
                <a:ea typeface="Times New Roman"/>
                <a:cs typeface="Times New Roman"/>
              </a:rPr>
            </a:br>
            <a:r>
              <a:rPr sz="2000">
                <a:solidFill>
                  <a:srgbClr val="C5FAEB"/>
                </a:solidFill>
                <a:latin typeface="Courier New"/>
                <a:ea typeface="Courier New"/>
                <a:cs typeface="Courier New"/>
              </a:rPr>
              <a:t>ts</a:t>
            </a:r>
            <a:r>
              <a:rPr sz="2000">
                <a:solidFill>
                  <a:srgbClr val="FFFFFF"/>
                </a:solidFill>
                <a:latin typeface="Times New Roman"/>
                <a:ea typeface="Times New Roman"/>
                <a:cs typeface="Times New Roman"/>
              </a:rPr>
              <a:t> contains the values </a:t>
            </a:r>
            <a:r>
              <a:rPr sz="2000">
                <a:solidFill>
                  <a:srgbClr val="C5FAEB"/>
                </a:solidFill>
                <a:latin typeface="Courier New"/>
                <a:ea typeface="Courier New"/>
                <a:cs typeface="Courier New"/>
              </a:rPr>
              <a:t>1, 2.5, 3</a:t>
            </a:r>
            <a:r>
              <a:rPr sz="2000">
                <a:solidFill>
                  <a:srgbClr val="FFFFFF"/>
                </a:solidFill>
                <a:latin typeface="Times New Roman"/>
                <a:ea typeface="Times New Roman"/>
                <a:cs typeface="Times New Roman"/>
              </a:rPr>
              <a:t>.</a:t>
            </a:r>
          </a:p>
        </p:txBody>
      </p:sp>
      <p:sp>
        <p:nvSpPr>
          <p:cNvPr id="5" name="cpp-sum">
            <a:extLst xmlns:a="http://schemas.openxmlformats.org/drawingml/2006/main">
              <a:ext uri="{FF2B5EF4-FFF2-40B4-BE49-F238E27FC236}">
                <a16:creationId xmlns:a16="http://schemas.microsoft.com/office/drawing/2014/main" id="{0D32B056-7339-47A2-B2C7-1CB6858D0DE7}"/>
              </a:ext>
            </a:extLst>
          </p:cNvPr>
          <p:cNvSpPr>
            <a:spLocks xmlns:a="http://schemas.openxmlformats.org/drawingml/2006/main" noGrp="1"/>
          </p:cNvSpPr>
          <p:nvPr/>
        </p:nvSpPr>
        <p:spPr>
          <a:xfrm xmlns:a="http://schemas.openxmlformats.org/drawingml/2006/main">
            <a:off x="2865025" y="4800600"/>
            <a:ext cx="7705106" cy="1524000"/>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400" b="0" i="0">
                <a:solidFill>
                  <a:srgbClr val="FFFFFF"/>
                </a:solidFill>
                <a:latin typeface="Courier New"/>
                <a:ea typeface="Courier New"/>
                <a:cs typeface="Courier New"/>
              </a:defRPr>
            </a:defPPr>
            <a:lvl1pPr algn="l">
              <a:defRPr sz="2400" b="0" i="0">
                <a:solidFill>
                  <a:srgbClr val="FFFFFF"/>
                </a:solidFill>
                <a:latin typeface="Courier New"/>
                <a:ea typeface="Courier New"/>
                <a:cs typeface="Courier New"/>
              </a:defRPr>
            </a:lvl1pPr>
            <a:lvl2pPr algn="l">
              <a:defRPr sz="2400" b="0" i="0">
                <a:solidFill>
                  <a:srgbClr val="FFFFFF"/>
                </a:solidFill>
                <a:latin typeface="Courier New"/>
                <a:ea typeface="Courier New"/>
                <a:cs typeface="Courier New"/>
              </a:defRPr>
            </a:lvl2pPr>
            <a:lvl3pPr algn="l">
              <a:defRPr sz="2400" b="0" i="0">
                <a:solidFill>
                  <a:srgbClr val="FFFFFF"/>
                </a:solidFill>
                <a:latin typeface="Courier New"/>
                <a:ea typeface="Courier New"/>
                <a:cs typeface="Courier New"/>
              </a:defRPr>
            </a:lvl3pPr>
            <a:lvl4pPr algn="l">
              <a:defRPr sz="2400" b="0" i="0">
                <a:solidFill>
                  <a:srgbClr val="FFFFFF"/>
                </a:solidFill>
                <a:latin typeface="Courier New"/>
                <a:ea typeface="Courier New"/>
                <a:cs typeface="Courier New"/>
              </a:defRPr>
            </a:lvl4pPr>
            <a:lvl5pPr algn="l">
              <a:defRPr sz="2400" b="0" i="0">
                <a:solidFill>
                  <a:srgbClr val="FFFFFF"/>
                </a:solidFill>
                <a:latin typeface="Courier New"/>
                <a:ea typeface="Courier New"/>
                <a:cs typeface="Courier New"/>
              </a:defRPr>
            </a:lvl5pPr>
            <a:lvl6pPr algn="l">
              <a:defRPr sz="2400" b="0" i="0">
                <a:solidFill>
                  <a:srgbClr val="FFFFFF"/>
                </a:solidFill>
                <a:latin typeface="Courier New"/>
                <a:ea typeface="Courier New"/>
                <a:cs typeface="Courier New"/>
              </a:defRPr>
            </a:lvl6pPr>
            <a:lvl7pPr algn="l">
              <a:defRPr sz="2400" b="0" i="0">
                <a:solidFill>
                  <a:srgbClr val="FFFFFF"/>
                </a:solidFill>
                <a:latin typeface="Courier New"/>
                <a:ea typeface="Courier New"/>
                <a:cs typeface="Courier New"/>
              </a:defRPr>
            </a:lvl7pPr>
            <a:lvl8pPr algn="l">
              <a:defRPr sz="2400" b="0" i="0">
                <a:solidFill>
                  <a:srgbClr val="FFFFFF"/>
                </a:solidFill>
                <a:latin typeface="Courier New"/>
                <a:ea typeface="Courier New"/>
                <a:cs typeface="Courier New"/>
              </a:defRPr>
            </a:lvl8pPr>
            <a:lvl9pPr algn="l">
              <a:defRPr sz="24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C586C0"/>
                </a:solidFill>
                <a:latin typeface="Courier New"/>
                <a:ea typeface="Courier New"/>
                <a:cs typeface="Courier New"/>
              </a:rPr>
              <a:t>template</a:t>
            </a:r>
            <a:r>
              <a:rPr sz="2400">
                <a:solidFill>
                  <a:srgbClr val="FFFFFF"/>
                </a:solidFill>
                <a:latin typeface="Courier New"/>
                <a:ea typeface="Courier New"/>
                <a:cs typeface="Courier New"/>
              </a:rPr>
              <a:t>&lt;</a:t>
            </a:r>
            <a:r>
              <a:rPr sz="2400">
                <a:solidFill>
                  <a:srgbClr val="C586C0"/>
                </a:solidFill>
                <a:latin typeface="Courier New"/>
                <a:ea typeface="Courier New"/>
                <a:cs typeface="Courier New"/>
              </a:rPr>
              <a:t>typename</a:t>
            </a:r>
            <a:r>
              <a:rPr sz="2400">
                <a:solidFill>
                  <a:srgbClr val="C586C0"/>
                </a:solidFill>
                <a:latin typeface="Courier New"/>
                <a:ea typeface="Courier New"/>
                <a:cs typeface="Courier New"/>
              </a:rPr>
              <a:t>...</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Ts</a:t>
            </a:r>
            <a:r>
              <a:rPr sz="2400">
                <a:solidFill>
                  <a:srgbClr val="FFFFFF"/>
                </a:solidFill>
                <a:latin typeface="Courier New"/>
                <a:ea typeface="Courier New"/>
                <a:cs typeface="Courier New"/>
              </a:rPr>
              <a:t>&gt;</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C586C0"/>
                </a:solidFill>
                <a:latin typeface="Courier New"/>
                <a:ea typeface="Courier New"/>
                <a:cs typeface="Courier New"/>
              </a:rPr>
              <a:t>auto</a:t>
            </a:r>
            <a:r>
              <a:rPr sz="2400">
                <a:solidFill>
                  <a:srgbClr val="FFFFFF"/>
                </a:solidFill>
                <a:latin typeface="Courier New"/>
                <a:ea typeface="Courier New"/>
                <a:cs typeface="Courier New"/>
              </a:rPr>
              <a:t> </a:t>
            </a:r>
            <a:r>
              <a:rPr sz="2400">
                <a:solidFill>
                  <a:srgbClr val="DCDCAA"/>
                </a:solidFill>
                <a:latin typeface="Courier New"/>
                <a:ea typeface="Courier New"/>
                <a:cs typeface="Courier New"/>
              </a:rPr>
              <a:t>sum</a:t>
            </a:r>
            <a:r>
              <a:rPr sz="2400">
                <a:solidFill>
                  <a:srgbClr val="FFFFFF"/>
                </a:solidFill>
                <a:latin typeface="Courier New"/>
                <a:ea typeface="Courier New"/>
                <a:cs typeface="Courier New"/>
              </a:rPr>
              <a:t>(</a:t>
            </a:r>
            <a:r>
              <a:rPr sz="2400">
                <a:solidFill>
                  <a:srgbClr val="C5FAEB"/>
                </a:solidFill>
                <a:latin typeface="Courier New"/>
                <a:ea typeface="Courier New"/>
                <a:cs typeface="Courier New"/>
              </a:rPr>
              <a:t>Ts</a:t>
            </a:r>
            <a:r>
              <a:rPr sz="2400">
                <a:solidFill>
                  <a:srgbClr val="C586C0"/>
                </a:solidFill>
                <a:latin typeface="Courier New"/>
                <a:ea typeface="Courier New"/>
                <a:cs typeface="Courier New"/>
              </a:rPr>
              <a:t>...</a:t>
            </a:r>
            <a:r>
              <a:rPr sz="2400">
                <a:solidFill>
                  <a:srgbClr val="FFFFFF"/>
                </a:solidFill>
                <a:latin typeface="Courier New"/>
                <a:ea typeface="Courier New"/>
                <a:cs typeface="Courier New"/>
              </a:rPr>
              <a:t> </a:t>
            </a:r>
            <a:r>
              <a:rPr sz="2400">
                <a:solidFill>
                  <a:srgbClr val="C5FAEB"/>
                </a:solidFill>
                <a:latin typeface="Courier New"/>
                <a:ea typeface="Courier New"/>
                <a:cs typeface="Courier New"/>
              </a:rPr>
              <a:t>ts</a:t>
            </a:r>
            <a:r>
              <a:rPr sz="24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  </a:t>
            </a:r>
            <a:r>
              <a:rPr sz="2400">
                <a:solidFill>
                  <a:srgbClr val="C586C0"/>
                </a:solidFill>
                <a:latin typeface="Courier New"/>
                <a:ea typeface="Courier New"/>
                <a:cs typeface="Courier New"/>
              </a:rPr>
              <a:t>return</a:t>
            </a:r>
            <a:r>
              <a:rPr sz="2400">
                <a:solidFill>
                  <a:srgbClr val="FFFFFF"/>
                </a:solidFill>
                <a:latin typeface="Courier New"/>
                <a:ea typeface="Courier New"/>
                <a:cs typeface="Courier New"/>
              </a:rPr>
              <a:t> (</a:t>
            </a:r>
            <a:r>
              <a:rPr sz="2400">
                <a:solidFill>
                  <a:srgbClr val="D7BA7D"/>
                </a:solidFill>
                <a:latin typeface="Courier New"/>
                <a:ea typeface="Courier New"/>
                <a:cs typeface="Courier New"/>
              </a:rPr>
              <a:t>0</a:t>
            </a:r>
            <a:r>
              <a:rPr sz="2400">
                <a:solidFill>
                  <a:srgbClr val="FFFFFF"/>
                </a:solidFill>
                <a:latin typeface="Courier New"/>
                <a:ea typeface="Courier New"/>
                <a:cs typeface="Courier New"/>
              </a:rPr>
              <a:t> + </a:t>
            </a:r>
            <a:r>
              <a:rPr sz="2400">
                <a:solidFill>
                  <a:srgbClr val="C586C0"/>
                </a:solidFill>
                <a:latin typeface="Courier New"/>
                <a:ea typeface="Courier New"/>
                <a:cs typeface="Courier New"/>
              </a:rPr>
              <a:t>...</a:t>
            </a:r>
            <a:r>
              <a:rPr sz="2400">
                <a:solidFill>
                  <a:srgbClr val="FFFFFF"/>
                </a:solidFill>
                <a:latin typeface="Courier New"/>
                <a:ea typeface="Courier New"/>
                <a:cs typeface="Courier New"/>
              </a:rPr>
              <a:t> + </a:t>
            </a:r>
            <a:r>
              <a:rPr sz="2400">
                <a:solidFill>
                  <a:srgbClr val="C5FAEB"/>
                </a:solidFill>
                <a:latin typeface="Courier New"/>
                <a:ea typeface="Courier New"/>
                <a:cs typeface="Courier New"/>
              </a:rPr>
              <a:t>ts</a:t>
            </a:r>
            <a:r>
              <a:rPr sz="24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400" b="0" i="0">
                <a:solidFill>
                  <a:srgbClr val="FFFFFF"/>
                </a:solidFill>
                <a:latin typeface="Courier New"/>
                <a:ea typeface="Courier New"/>
                <a:cs typeface="Courier New"/>
              </a:defRPr>
            </a:pPr>
            <a:r>
              <a:rPr sz="2400">
                <a:solidFill>
                  <a:srgbClr val="FFFFFF"/>
                </a:solidFill>
                <a:latin typeface="Courier New"/>
                <a:ea typeface="Courier New"/>
                <a:cs typeface="Courier New"/>
              </a:rPr>
              <a:t>}</a:t>
            </a:r>
          </a:p>
        </p:txBody>
      </p:sp>
    </p:spTree>
    <p:extLst>
      <p:ext uri="{BB962C8B-B14F-4D97-AF65-F5344CB8AC3E}">
        <p14:creationId xmlns:p14="http://schemas.microsoft.com/office/powerpoint/2010/main" val="2437012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C24014FD-D3DA-4EFF-9109-6516B14B6E03}"/>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Variable Arguments: Java</a:t>
            </a:r>
          </a:p>
        </p:txBody>
      </p:sp>
      <p:sp>
        <p:nvSpPr>
          <p:cNvPr id="2" name="slide-number">
            <a:extLst xmlns:a="http://schemas.openxmlformats.org/drawingml/2006/main">
              <a:ext uri="{FF2B5EF4-FFF2-40B4-BE49-F238E27FC236}">
                <a16:creationId xmlns:a16="http://schemas.microsoft.com/office/drawing/2014/main" id="{B58998F1-C520-455E-A4A9-EBEC0EE040F6}"/>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6</a:t>
            </a:r>
          </a:p>
        </p:txBody>
      </p:sp>
      <p:sp>
        <p:nvSpPr>
          <p:cNvPr id="3" name="java-rules">
            <a:extLst xmlns:a="http://schemas.openxmlformats.org/drawingml/2006/main">
              <a:ext uri="{FF2B5EF4-FFF2-40B4-BE49-F238E27FC236}">
                <a16:creationId xmlns:a16="http://schemas.microsoft.com/office/drawing/2014/main" id="{6AEE69E2-6D32-45C7-BB47-6DCB8366A9D2}"/>
              </a:ext>
            </a:extLst>
          </p:cNvPr>
          <p:cNvSpPr>
            <a:spLocks xmlns:a="http://schemas.openxmlformats.org/drawingml/2006/main" noGrp="1"/>
          </p:cNvSpPr>
          <p:nvPr/>
        </p:nvSpPr>
        <p:spPr>
          <a:xfrm xmlns:a="http://schemas.openxmlformats.org/drawingml/2006/main">
            <a:off x="2773594" y="1924050"/>
            <a:ext cx="7796536" cy="2047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C5FAEB"/>
                </a:solidFill>
                <a:latin typeface="Courier New"/>
                <a:ea typeface="Courier New"/>
                <a:cs typeface="Courier New"/>
              </a:rPr>
              <a:t>int... values</a:t>
            </a:r>
            <a:r>
              <a:rPr sz="2400">
                <a:solidFill>
                  <a:srgbClr val="FFFFFF"/>
                </a:solidFill>
                <a:latin typeface="Times New Roman"/>
                <a:ea typeface="Times New Roman"/>
                <a:cs typeface="Times New Roman"/>
              </a:rPr>
              <a:t> accepts zero or more </a:t>
            </a:r>
            <a:r>
              <a:rPr sz="2400">
                <a:solidFill>
                  <a:srgbClr val="C5FAEB"/>
                </a:solidFill>
                <a:latin typeface="Courier New"/>
                <a:ea typeface="Courier New"/>
                <a:cs typeface="Courier New"/>
              </a:rPr>
              <a:t>int</a:t>
            </a:r>
            <a:r>
              <a:rPr sz="2400">
                <a:solidFill>
                  <a:srgbClr val="FFFFFF"/>
                </a:solidFill>
                <a:latin typeface="Times New Roman"/>
                <a:ea typeface="Times New Roman"/>
                <a:cs typeface="Times New Roman"/>
              </a:rPr>
              <a:t> values.</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Inside the method, </a:t>
            </a:r>
            <a:r>
              <a:rPr sz="2400">
                <a:solidFill>
                  <a:srgbClr val="C5FAEB"/>
                </a:solidFill>
                <a:latin typeface="Courier New"/>
                <a:ea typeface="Courier New"/>
                <a:cs typeface="Courier New"/>
              </a:rPr>
              <a:t>values</a:t>
            </a:r>
            <a:r>
              <a:rPr sz="2400">
                <a:solidFill>
                  <a:srgbClr val="FFFFFF"/>
                </a:solidFill>
                <a:latin typeface="Times New Roman"/>
                <a:ea typeface="Times New Roman"/>
                <a:cs typeface="Times New Roman"/>
              </a:rPr>
              <a:t> has type </a:t>
            </a:r>
            <a:r>
              <a:rPr sz="2400">
                <a:solidFill>
                  <a:srgbClr val="C5FAEB"/>
                </a:solidFill>
                <a:latin typeface="Courier New"/>
                <a:ea typeface="Courier New"/>
                <a:cs typeface="Courier New"/>
              </a:rPr>
              <a:t>int[]</a:t>
            </a:r>
            <a:r>
              <a:rPr sz="2400">
                <a:solidFill>
                  <a:srgbClr val="FFFFFF"/>
                </a:solidFill>
                <a:latin typeface="Times New Roman"/>
                <a:ea typeface="Times New Roman"/>
                <a:cs typeface="Times New Roman"/>
              </a:rPr>
              <a:t>.</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The variable-arity parameter must be last.</a:t>
            </a:r>
          </a:p>
        </p:txBody>
      </p:sp>
      <p:sp>
        <p:nvSpPr>
          <p:cNvPr id="4" name="java-sum">
            <a:extLst xmlns:a="http://schemas.openxmlformats.org/drawingml/2006/main">
              <a:ext uri="{FF2B5EF4-FFF2-40B4-BE49-F238E27FC236}">
                <a16:creationId xmlns:a16="http://schemas.microsoft.com/office/drawing/2014/main" id="{9F8EADE1-86A7-4272-825E-BAAAA53C0A30}"/>
              </a:ext>
            </a:extLst>
          </p:cNvPr>
          <p:cNvSpPr>
            <a:spLocks xmlns:a="http://schemas.openxmlformats.org/drawingml/2006/main" noGrp="1"/>
          </p:cNvSpPr>
          <p:nvPr/>
        </p:nvSpPr>
        <p:spPr>
          <a:xfrm xmlns:a="http://schemas.openxmlformats.org/drawingml/2006/main">
            <a:off x="2865025" y="4038600"/>
            <a:ext cx="7705106" cy="2286000"/>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200" b="0" i="0">
                <a:solidFill>
                  <a:srgbClr val="FFFFFF"/>
                </a:solidFill>
                <a:latin typeface="Courier New"/>
                <a:ea typeface="Courier New"/>
                <a:cs typeface="Courier New"/>
              </a:defRPr>
            </a:defPPr>
            <a:lvl1pPr algn="l">
              <a:defRPr sz="2200" b="0" i="0">
                <a:solidFill>
                  <a:srgbClr val="FFFFFF"/>
                </a:solidFill>
                <a:latin typeface="Courier New"/>
                <a:ea typeface="Courier New"/>
                <a:cs typeface="Courier New"/>
              </a:defRPr>
            </a:lvl1pPr>
            <a:lvl2pPr algn="l">
              <a:defRPr sz="2200" b="0" i="0">
                <a:solidFill>
                  <a:srgbClr val="FFFFFF"/>
                </a:solidFill>
                <a:latin typeface="Courier New"/>
                <a:ea typeface="Courier New"/>
                <a:cs typeface="Courier New"/>
              </a:defRPr>
            </a:lvl2pPr>
            <a:lvl3pPr algn="l">
              <a:defRPr sz="2200" b="0" i="0">
                <a:solidFill>
                  <a:srgbClr val="FFFFFF"/>
                </a:solidFill>
                <a:latin typeface="Courier New"/>
                <a:ea typeface="Courier New"/>
                <a:cs typeface="Courier New"/>
              </a:defRPr>
            </a:lvl3pPr>
            <a:lvl4pPr algn="l">
              <a:defRPr sz="2200" b="0" i="0">
                <a:solidFill>
                  <a:srgbClr val="FFFFFF"/>
                </a:solidFill>
                <a:latin typeface="Courier New"/>
                <a:ea typeface="Courier New"/>
                <a:cs typeface="Courier New"/>
              </a:defRPr>
            </a:lvl4pPr>
            <a:lvl5pPr algn="l">
              <a:defRPr sz="2200" b="0" i="0">
                <a:solidFill>
                  <a:srgbClr val="FFFFFF"/>
                </a:solidFill>
                <a:latin typeface="Courier New"/>
                <a:ea typeface="Courier New"/>
                <a:cs typeface="Courier New"/>
              </a:defRPr>
            </a:lvl5pPr>
            <a:lvl6pPr algn="l">
              <a:defRPr sz="2200" b="0" i="0">
                <a:solidFill>
                  <a:srgbClr val="FFFFFF"/>
                </a:solidFill>
                <a:latin typeface="Courier New"/>
                <a:ea typeface="Courier New"/>
                <a:cs typeface="Courier New"/>
              </a:defRPr>
            </a:lvl6pPr>
            <a:lvl7pPr algn="l">
              <a:defRPr sz="2200" b="0" i="0">
                <a:solidFill>
                  <a:srgbClr val="FFFFFF"/>
                </a:solidFill>
                <a:latin typeface="Courier New"/>
                <a:ea typeface="Courier New"/>
                <a:cs typeface="Courier New"/>
              </a:defRPr>
            </a:lvl7pPr>
            <a:lvl8pPr algn="l">
              <a:defRPr sz="2200" b="0" i="0">
                <a:solidFill>
                  <a:srgbClr val="FFFFFF"/>
                </a:solidFill>
                <a:latin typeface="Courier New"/>
                <a:ea typeface="Courier New"/>
                <a:cs typeface="Courier New"/>
              </a:defRPr>
            </a:lvl8pPr>
            <a:lvl9pPr algn="l">
              <a:defRPr sz="22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200" b="0" i="0">
                <a:solidFill>
                  <a:srgbClr val="FFFFFF"/>
                </a:solidFill>
                <a:latin typeface="Courier New"/>
                <a:ea typeface="Courier New"/>
                <a:cs typeface="Courier New"/>
              </a:defRPr>
            </a:pPr>
            <a:r>
              <a:rPr sz="2200">
                <a:solidFill>
                  <a:srgbClr val="C586C0"/>
                </a:solidFill>
                <a:latin typeface="Courier New"/>
                <a:ea typeface="Courier New"/>
                <a:cs typeface="Courier New"/>
              </a:rPr>
              <a:t>int</a:t>
            </a:r>
            <a:r>
              <a:rPr sz="2200">
                <a:solidFill>
                  <a:srgbClr val="FFFFFF"/>
                </a:solidFill>
                <a:latin typeface="Courier New"/>
                <a:ea typeface="Courier New"/>
                <a:cs typeface="Courier New"/>
              </a:rPr>
              <a:t> </a:t>
            </a:r>
            <a:r>
              <a:rPr sz="2200">
                <a:solidFill>
                  <a:srgbClr val="DCDCAA"/>
                </a:solidFill>
                <a:latin typeface="Courier New"/>
                <a:ea typeface="Courier New"/>
                <a:cs typeface="Courier New"/>
              </a:rPr>
              <a:t>sum</a:t>
            </a:r>
            <a:r>
              <a:rPr sz="2200">
                <a:solidFill>
                  <a:srgbClr val="FFFFFF"/>
                </a:solidFill>
                <a:latin typeface="Courier New"/>
                <a:ea typeface="Courier New"/>
                <a:cs typeface="Courier New"/>
              </a:rPr>
              <a:t>(</a:t>
            </a:r>
            <a:r>
              <a:rPr sz="2200">
                <a:solidFill>
                  <a:srgbClr val="C586C0"/>
                </a:solidFill>
                <a:latin typeface="Courier New"/>
                <a:ea typeface="Courier New"/>
                <a:cs typeface="Courier New"/>
              </a:rPr>
              <a:t>int</a:t>
            </a:r>
            <a:r>
              <a:rPr sz="2200">
                <a:solidFill>
                  <a:srgbClr val="C586C0"/>
                </a:solidFill>
                <a:latin typeface="Courier New"/>
                <a:ea typeface="Courier New"/>
                <a:cs typeface="Courier New"/>
              </a:rPr>
              <a:t>...</a:t>
            </a:r>
            <a:r>
              <a:rPr sz="2200">
                <a:solidFill>
                  <a:srgbClr val="FFFFFF"/>
                </a:solidFill>
                <a:latin typeface="Courier New"/>
                <a:ea typeface="Courier New"/>
                <a:cs typeface="Courier New"/>
              </a:rPr>
              <a:t> </a:t>
            </a:r>
            <a:r>
              <a:rPr sz="2200">
                <a:solidFill>
                  <a:srgbClr val="C5FAEB"/>
                </a:solidFill>
                <a:latin typeface="Courier New"/>
                <a:ea typeface="Courier New"/>
                <a:cs typeface="Courier New"/>
              </a:rPr>
              <a:t>values</a:t>
            </a:r>
            <a:r>
              <a:rPr sz="22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200" b="0" i="0">
                <a:solidFill>
                  <a:srgbClr val="FFFFFF"/>
                </a:solidFill>
                <a:latin typeface="Courier New"/>
                <a:ea typeface="Courier New"/>
                <a:cs typeface="Courier New"/>
              </a:defRPr>
            </a:pPr>
            <a:r>
              <a:rPr sz="2200">
                <a:solidFill>
                  <a:srgbClr val="FFFFFF"/>
                </a:solidFill>
                <a:latin typeface="Courier New"/>
                <a:ea typeface="Courier New"/>
                <a:cs typeface="Courier New"/>
              </a:rPr>
              <a:t>  </a:t>
            </a:r>
            <a:r>
              <a:rPr sz="2200">
                <a:solidFill>
                  <a:srgbClr val="C586C0"/>
                </a:solidFill>
                <a:latin typeface="Courier New"/>
                <a:ea typeface="Courier New"/>
                <a:cs typeface="Courier New"/>
              </a:rPr>
              <a:t>int</a:t>
            </a:r>
            <a:r>
              <a:rPr sz="2200">
                <a:solidFill>
                  <a:srgbClr val="FFFFFF"/>
                </a:solidFill>
                <a:latin typeface="Courier New"/>
                <a:ea typeface="Courier New"/>
                <a:cs typeface="Courier New"/>
              </a:rPr>
              <a:t> </a:t>
            </a:r>
            <a:r>
              <a:rPr sz="2200">
                <a:solidFill>
                  <a:srgbClr val="C5FAEB"/>
                </a:solidFill>
                <a:latin typeface="Courier New"/>
                <a:ea typeface="Courier New"/>
                <a:cs typeface="Courier New"/>
              </a:rPr>
              <a:t>s</a:t>
            </a:r>
            <a:r>
              <a:rPr sz="2200">
                <a:solidFill>
                  <a:srgbClr val="FFFFFF"/>
                </a:solidFill>
                <a:latin typeface="Courier New"/>
                <a:ea typeface="Courier New"/>
                <a:cs typeface="Courier New"/>
              </a:rPr>
              <a:t> = </a:t>
            </a:r>
            <a:r>
              <a:rPr sz="2200">
                <a:solidFill>
                  <a:srgbClr val="D7BA7D"/>
                </a:solidFill>
                <a:latin typeface="Courier New"/>
                <a:ea typeface="Courier New"/>
                <a:cs typeface="Courier New"/>
              </a:rPr>
              <a:t>0</a:t>
            </a:r>
            <a:r>
              <a:rPr sz="22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200" b="0" i="0">
                <a:solidFill>
                  <a:srgbClr val="FFFFFF"/>
                </a:solidFill>
                <a:latin typeface="Courier New"/>
                <a:ea typeface="Courier New"/>
                <a:cs typeface="Courier New"/>
              </a:defRPr>
            </a:pPr>
            <a:r>
              <a:rPr sz="2200">
                <a:solidFill>
                  <a:srgbClr val="FFFFFF"/>
                </a:solidFill>
                <a:latin typeface="Courier New"/>
                <a:ea typeface="Courier New"/>
                <a:cs typeface="Courier New"/>
              </a:rPr>
              <a:t>  </a:t>
            </a:r>
            <a:r>
              <a:rPr sz="2200">
                <a:solidFill>
                  <a:srgbClr val="C586C0"/>
                </a:solidFill>
                <a:latin typeface="Courier New"/>
                <a:ea typeface="Courier New"/>
                <a:cs typeface="Courier New"/>
              </a:rPr>
              <a:t>for</a:t>
            </a:r>
            <a:r>
              <a:rPr sz="2200">
                <a:solidFill>
                  <a:srgbClr val="FFFFFF"/>
                </a:solidFill>
                <a:latin typeface="Courier New"/>
                <a:ea typeface="Courier New"/>
                <a:cs typeface="Courier New"/>
              </a:rPr>
              <a:t> (</a:t>
            </a:r>
            <a:r>
              <a:rPr sz="2200">
                <a:solidFill>
                  <a:srgbClr val="C586C0"/>
                </a:solidFill>
                <a:latin typeface="Courier New"/>
                <a:ea typeface="Courier New"/>
                <a:cs typeface="Courier New"/>
              </a:rPr>
              <a:t>int</a:t>
            </a:r>
            <a:r>
              <a:rPr sz="2200">
                <a:solidFill>
                  <a:srgbClr val="FFFFFF"/>
                </a:solidFill>
                <a:latin typeface="Courier New"/>
                <a:ea typeface="Courier New"/>
                <a:cs typeface="Courier New"/>
              </a:rPr>
              <a:t> </a:t>
            </a:r>
            <a:r>
              <a:rPr sz="2200">
                <a:solidFill>
                  <a:srgbClr val="C5FAEB"/>
                </a:solidFill>
                <a:latin typeface="Courier New"/>
                <a:ea typeface="Courier New"/>
                <a:cs typeface="Courier New"/>
              </a:rPr>
              <a:t>v</a:t>
            </a:r>
            <a:r>
              <a:rPr sz="2200">
                <a:solidFill>
                  <a:srgbClr val="FFFFFF"/>
                </a:solidFill>
                <a:latin typeface="Courier New"/>
                <a:ea typeface="Courier New"/>
                <a:cs typeface="Courier New"/>
              </a:rPr>
              <a:t> : </a:t>
            </a:r>
            <a:r>
              <a:rPr sz="2200">
                <a:solidFill>
                  <a:srgbClr val="C5FAEB"/>
                </a:solidFill>
                <a:latin typeface="Courier New"/>
                <a:ea typeface="Courier New"/>
                <a:cs typeface="Courier New"/>
              </a:rPr>
              <a:t>values</a:t>
            </a:r>
            <a:r>
              <a:rPr sz="22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200" b="0" i="0">
                <a:solidFill>
                  <a:srgbClr val="FFFFFF"/>
                </a:solidFill>
                <a:latin typeface="Courier New"/>
                <a:ea typeface="Courier New"/>
                <a:cs typeface="Courier New"/>
              </a:defRPr>
            </a:pPr>
            <a:r>
              <a:rPr sz="2200">
                <a:solidFill>
                  <a:srgbClr val="FFFFFF"/>
                </a:solidFill>
                <a:latin typeface="Courier New"/>
                <a:ea typeface="Courier New"/>
                <a:cs typeface="Courier New"/>
              </a:rPr>
              <a:t>    </a:t>
            </a:r>
            <a:r>
              <a:rPr sz="2200">
                <a:solidFill>
                  <a:srgbClr val="C5FAEB"/>
                </a:solidFill>
                <a:latin typeface="Courier New"/>
                <a:ea typeface="Courier New"/>
                <a:cs typeface="Courier New"/>
              </a:rPr>
              <a:t>s</a:t>
            </a:r>
            <a:r>
              <a:rPr sz="2200">
                <a:solidFill>
                  <a:srgbClr val="FFFFFF"/>
                </a:solidFill>
                <a:latin typeface="Courier New"/>
                <a:ea typeface="Courier New"/>
                <a:cs typeface="Courier New"/>
              </a:rPr>
              <a:t> += </a:t>
            </a:r>
            <a:r>
              <a:rPr sz="2200">
                <a:solidFill>
                  <a:srgbClr val="C5FAEB"/>
                </a:solidFill>
                <a:latin typeface="Courier New"/>
                <a:ea typeface="Courier New"/>
                <a:cs typeface="Courier New"/>
              </a:rPr>
              <a:t>v</a:t>
            </a:r>
            <a:r>
              <a:rPr sz="22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200" b="0" i="0">
                <a:solidFill>
                  <a:srgbClr val="FFFFFF"/>
                </a:solidFill>
                <a:latin typeface="Courier New"/>
                <a:ea typeface="Courier New"/>
                <a:cs typeface="Courier New"/>
              </a:defRPr>
            </a:pPr>
            <a:r>
              <a:rPr sz="22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200" b="0" i="0">
                <a:solidFill>
                  <a:srgbClr val="FFFFFF"/>
                </a:solidFill>
                <a:latin typeface="Courier New"/>
                <a:ea typeface="Courier New"/>
                <a:cs typeface="Courier New"/>
              </a:defRPr>
            </a:pPr>
            <a:r>
              <a:rPr sz="2200">
                <a:solidFill>
                  <a:srgbClr val="FFFFFF"/>
                </a:solidFill>
                <a:latin typeface="Courier New"/>
                <a:ea typeface="Courier New"/>
                <a:cs typeface="Courier New"/>
              </a:rPr>
              <a:t>  </a:t>
            </a:r>
            <a:r>
              <a:rPr sz="2200">
                <a:solidFill>
                  <a:srgbClr val="C586C0"/>
                </a:solidFill>
                <a:latin typeface="Courier New"/>
                <a:ea typeface="Courier New"/>
                <a:cs typeface="Courier New"/>
              </a:rPr>
              <a:t>return</a:t>
            </a:r>
            <a:r>
              <a:rPr sz="2200">
                <a:solidFill>
                  <a:srgbClr val="FFFFFF"/>
                </a:solidFill>
                <a:latin typeface="Courier New"/>
                <a:ea typeface="Courier New"/>
                <a:cs typeface="Courier New"/>
              </a:rPr>
              <a:t> </a:t>
            </a:r>
            <a:r>
              <a:rPr sz="2200">
                <a:solidFill>
                  <a:srgbClr val="C5FAEB"/>
                </a:solidFill>
                <a:latin typeface="Courier New"/>
                <a:ea typeface="Courier New"/>
                <a:cs typeface="Courier New"/>
              </a:rPr>
              <a:t>s</a:t>
            </a:r>
            <a:r>
              <a:rPr sz="22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200" b="0" i="0">
                <a:solidFill>
                  <a:srgbClr val="FFFFFF"/>
                </a:solidFill>
                <a:latin typeface="Courier New"/>
                <a:ea typeface="Courier New"/>
                <a:cs typeface="Courier New"/>
              </a:defRPr>
            </a:pPr>
            <a:r>
              <a:rPr sz="2200">
                <a:solidFill>
                  <a:srgbClr val="FFFFFF"/>
                </a:solidFill>
                <a:latin typeface="Courier New"/>
                <a:ea typeface="Courier New"/>
                <a:cs typeface="Courier New"/>
              </a:rPr>
              <a:t>}</a:t>
            </a:r>
          </a:p>
        </p:txBody>
      </p:sp>
    </p:spTree>
    <p:extLst>
      <p:ext uri="{BB962C8B-B14F-4D97-AF65-F5344CB8AC3E}">
        <p14:creationId xmlns:p14="http://schemas.microsoft.com/office/powerpoint/2010/main" val="20349365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13D60532-7E4B-4F36-ADFB-4B0C2D9C8689}"/>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Variable Arguments: JavaScript</a:t>
            </a:r>
          </a:p>
        </p:txBody>
      </p:sp>
      <p:sp>
        <p:nvSpPr>
          <p:cNvPr id="2" name="slide-number">
            <a:extLst xmlns:a="http://schemas.openxmlformats.org/drawingml/2006/main">
              <a:ext uri="{FF2B5EF4-FFF2-40B4-BE49-F238E27FC236}">
                <a16:creationId xmlns:a16="http://schemas.microsoft.com/office/drawing/2014/main" id="{8F219814-FCAC-4504-9D9D-38852706CC26}"/>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7</a:t>
            </a:r>
          </a:p>
        </p:txBody>
      </p:sp>
      <p:sp>
        <p:nvSpPr>
          <p:cNvPr id="3" name="javascript-rules">
            <a:extLst xmlns:a="http://schemas.openxmlformats.org/drawingml/2006/main">
              <a:ext uri="{FF2B5EF4-FFF2-40B4-BE49-F238E27FC236}">
                <a16:creationId xmlns:a16="http://schemas.microsoft.com/office/drawing/2014/main" id="{538D67C0-0714-429F-876C-69ED48F18406}"/>
              </a:ext>
            </a:extLst>
          </p:cNvPr>
          <p:cNvSpPr>
            <a:spLocks xmlns:a="http://schemas.openxmlformats.org/drawingml/2006/main" noGrp="1"/>
          </p:cNvSpPr>
          <p:nvPr/>
        </p:nvSpPr>
        <p:spPr>
          <a:xfrm xmlns:a="http://schemas.openxmlformats.org/drawingml/2006/main">
            <a:off x="2773594" y="2009775"/>
            <a:ext cx="7796536"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C5FAEB"/>
                </a:solidFill>
                <a:latin typeface="Courier New"/>
                <a:ea typeface="Courier New"/>
                <a:cs typeface="Courier New"/>
              </a:rPr>
              <a:t>...values</a:t>
            </a:r>
            <a:r>
              <a:rPr sz="2400">
                <a:solidFill>
                  <a:srgbClr val="FFFFFF"/>
                </a:solidFill>
                <a:latin typeface="Times New Roman"/>
                <a:ea typeface="Times New Roman"/>
                <a:cs typeface="Times New Roman"/>
              </a:rPr>
              <a:t> is a rest parameter.</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C5FAEB"/>
                </a:solidFill>
                <a:latin typeface="Courier New"/>
                <a:ea typeface="Courier New"/>
                <a:cs typeface="Courier New"/>
              </a:rPr>
              <a:t>values</a:t>
            </a:r>
            <a:r>
              <a:rPr sz="2400">
                <a:solidFill>
                  <a:srgbClr val="FFFFFF"/>
                </a:solidFill>
                <a:latin typeface="Times New Roman"/>
                <a:ea typeface="Times New Roman"/>
                <a:cs typeface="Times New Roman"/>
              </a:rPr>
              <a:t> receives an Array of extra arguments.</a:t>
            </a:r>
          </a:p>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The rest parameter must be last.</a:t>
            </a:r>
          </a:p>
        </p:txBody>
      </p:sp>
      <p:sp>
        <p:nvSpPr>
          <p:cNvPr id="4" name="javascript-sum">
            <a:extLst xmlns:a="http://schemas.openxmlformats.org/drawingml/2006/main">
              <a:ext uri="{FF2B5EF4-FFF2-40B4-BE49-F238E27FC236}">
                <a16:creationId xmlns:a16="http://schemas.microsoft.com/office/drawing/2014/main" id="{7F4F09EC-D599-42D8-A2B6-C286D781D69A}"/>
              </a:ext>
            </a:extLst>
          </p:cNvPr>
          <p:cNvSpPr>
            <a:spLocks xmlns:a="http://schemas.openxmlformats.org/drawingml/2006/main" noGrp="1"/>
          </p:cNvSpPr>
          <p:nvPr/>
        </p:nvSpPr>
        <p:spPr>
          <a:xfrm xmlns:a="http://schemas.openxmlformats.org/drawingml/2006/main">
            <a:off x="2865025" y="4171950"/>
            <a:ext cx="7705106" cy="1257300"/>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200" b="0" i="0">
                <a:solidFill>
                  <a:srgbClr val="FFFFFF"/>
                </a:solidFill>
                <a:latin typeface="Courier New"/>
                <a:ea typeface="Courier New"/>
                <a:cs typeface="Courier New"/>
              </a:defRPr>
            </a:defPPr>
            <a:lvl1pPr algn="l">
              <a:defRPr sz="2200" b="0" i="0">
                <a:solidFill>
                  <a:srgbClr val="FFFFFF"/>
                </a:solidFill>
                <a:latin typeface="Courier New"/>
                <a:ea typeface="Courier New"/>
                <a:cs typeface="Courier New"/>
              </a:defRPr>
            </a:lvl1pPr>
            <a:lvl2pPr algn="l">
              <a:defRPr sz="2200" b="0" i="0">
                <a:solidFill>
                  <a:srgbClr val="FFFFFF"/>
                </a:solidFill>
                <a:latin typeface="Courier New"/>
                <a:ea typeface="Courier New"/>
                <a:cs typeface="Courier New"/>
              </a:defRPr>
            </a:lvl2pPr>
            <a:lvl3pPr algn="l">
              <a:defRPr sz="2200" b="0" i="0">
                <a:solidFill>
                  <a:srgbClr val="FFFFFF"/>
                </a:solidFill>
                <a:latin typeface="Courier New"/>
                <a:ea typeface="Courier New"/>
                <a:cs typeface="Courier New"/>
              </a:defRPr>
            </a:lvl3pPr>
            <a:lvl4pPr algn="l">
              <a:defRPr sz="2200" b="0" i="0">
                <a:solidFill>
                  <a:srgbClr val="FFFFFF"/>
                </a:solidFill>
                <a:latin typeface="Courier New"/>
                <a:ea typeface="Courier New"/>
                <a:cs typeface="Courier New"/>
              </a:defRPr>
            </a:lvl4pPr>
            <a:lvl5pPr algn="l">
              <a:defRPr sz="2200" b="0" i="0">
                <a:solidFill>
                  <a:srgbClr val="FFFFFF"/>
                </a:solidFill>
                <a:latin typeface="Courier New"/>
                <a:ea typeface="Courier New"/>
                <a:cs typeface="Courier New"/>
              </a:defRPr>
            </a:lvl5pPr>
            <a:lvl6pPr algn="l">
              <a:defRPr sz="2200" b="0" i="0">
                <a:solidFill>
                  <a:srgbClr val="FFFFFF"/>
                </a:solidFill>
                <a:latin typeface="Courier New"/>
                <a:ea typeface="Courier New"/>
                <a:cs typeface="Courier New"/>
              </a:defRPr>
            </a:lvl6pPr>
            <a:lvl7pPr algn="l">
              <a:defRPr sz="2200" b="0" i="0">
                <a:solidFill>
                  <a:srgbClr val="FFFFFF"/>
                </a:solidFill>
                <a:latin typeface="Courier New"/>
                <a:ea typeface="Courier New"/>
                <a:cs typeface="Courier New"/>
              </a:defRPr>
            </a:lvl7pPr>
            <a:lvl8pPr algn="l">
              <a:defRPr sz="2200" b="0" i="0">
                <a:solidFill>
                  <a:srgbClr val="FFFFFF"/>
                </a:solidFill>
                <a:latin typeface="Courier New"/>
                <a:ea typeface="Courier New"/>
                <a:cs typeface="Courier New"/>
              </a:defRPr>
            </a:lvl8pPr>
            <a:lvl9pPr algn="l">
              <a:defRPr sz="22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200" b="0" i="0">
                <a:solidFill>
                  <a:srgbClr val="FFFFFF"/>
                </a:solidFill>
                <a:latin typeface="Courier New"/>
                <a:ea typeface="Courier New"/>
                <a:cs typeface="Courier New"/>
              </a:defRPr>
            </a:pPr>
            <a:r>
              <a:rPr sz="2200">
                <a:solidFill>
                  <a:srgbClr val="C586C0"/>
                </a:solidFill>
                <a:latin typeface="Courier New"/>
                <a:ea typeface="Courier New"/>
                <a:cs typeface="Courier New"/>
              </a:rPr>
              <a:t>function</a:t>
            </a:r>
            <a:r>
              <a:rPr sz="2200">
                <a:solidFill>
                  <a:srgbClr val="FFFFFF"/>
                </a:solidFill>
                <a:latin typeface="Courier New"/>
                <a:ea typeface="Courier New"/>
                <a:cs typeface="Courier New"/>
              </a:rPr>
              <a:t> </a:t>
            </a:r>
            <a:r>
              <a:rPr sz="2200">
                <a:solidFill>
                  <a:srgbClr val="DCDCAA"/>
                </a:solidFill>
                <a:latin typeface="Courier New"/>
                <a:ea typeface="Courier New"/>
                <a:cs typeface="Courier New"/>
              </a:rPr>
              <a:t>sum</a:t>
            </a:r>
            <a:r>
              <a:rPr sz="2200">
                <a:solidFill>
                  <a:srgbClr val="FFFFFF"/>
                </a:solidFill>
                <a:latin typeface="Courier New"/>
                <a:ea typeface="Courier New"/>
                <a:cs typeface="Courier New"/>
              </a:rPr>
              <a:t>(</a:t>
            </a:r>
            <a:r>
              <a:rPr sz="2200">
                <a:solidFill>
                  <a:srgbClr val="C586C0"/>
                </a:solidFill>
                <a:latin typeface="Courier New"/>
                <a:ea typeface="Courier New"/>
                <a:cs typeface="Courier New"/>
              </a:rPr>
              <a:t>...</a:t>
            </a:r>
            <a:r>
              <a:rPr sz="2200">
                <a:solidFill>
                  <a:srgbClr val="C5FAEB"/>
                </a:solidFill>
                <a:latin typeface="Courier New"/>
                <a:ea typeface="Courier New"/>
                <a:cs typeface="Courier New"/>
              </a:rPr>
              <a:t>values</a:t>
            </a:r>
            <a:r>
              <a:rPr sz="2200">
                <a:solidFill>
                  <a:srgbClr val="FFFFFF"/>
                </a:solidFill>
                <a:latin typeface="Courier New"/>
                <a:ea typeface="Courier New"/>
                <a:cs typeface="Courier New"/>
              </a:rPr>
              <a:t>) {</a:t>
            </a:r>
          </a:p>
          <a:p xmlns:a="http://schemas.openxmlformats.org/drawingml/2006/main">
            <a:pPr algn="l">
              <a:lnSpc>
                <a:spcPct val="86000"/>
              </a:lnSpc>
              <a:spcBef>
                <a:spcPts val="0"/>
              </a:spcBef>
              <a:spcAft>
                <a:spcPts val="0"/>
              </a:spcAft>
              <a:defRPr sz="2200" b="0" i="0">
                <a:solidFill>
                  <a:srgbClr val="FFFFFF"/>
                </a:solidFill>
                <a:latin typeface="Courier New"/>
                <a:ea typeface="Courier New"/>
                <a:cs typeface="Courier New"/>
              </a:defRPr>
            </a:pPr>
            <a:r>
              <a:rPr sz="2200">
                <a:solidFill>
                  <a:srgbClr val="FFFFFF"/>
                </a:solidFill>
                <a:latin typeface="Courier New"/>
                <a:ea typeface="Courier New"/>
                <a:cs typeface="Courier New"/>
              </a:rPr>
              <a:t>  </a:t>
            </a:r>
            <a:r>
              <a:rPr sz="2200">
                <a:solidFill>
                  <a:srgbClr val="C586C0"/>
                </a:solidFill>
                <a:latin typeface="Courier New"/>
                <a:ea typeface="Courier New"/>
                <a:cs typeface="Courier New"/>
              </a:rPr>
              <a:t>return</a:t>
            </a:r>
            <a:r>
              <a:rPr sz="2200">
                <a:solidFill>
                  <a:srgbClr val="FFFFFF"/>
                </a:solidFill>
                <a:latin typeface="Courier New"/>
                <a:ea typeface="Courier New"/>
                <a:cs typeface="Courier New"/>
              </a:rPr>
              <a:t> </a:t>
            </a:r>
            <a:r>
              <a:rPr sz="2200">
                <a:solidFill>
                  <a:srgbClr val="C5FAEB"/>
                </a:solidFill>
                <a:latin typeface="Courier New"/>
                <a:ea typeface="Courier New"/>
                <a:cs typeface="Courier New"/>
              </a:rPr>
              <a:t>values</a:t>
            </a:r>
            <a:r>
              <a:rPr sz="2200">
                <a:solidFill>
                  <a:srgbClr val="FFFFFF"/>
                </a:solidFill>
                <a:latin typeface="Courier New"/>
                <a:ea typeface="Courier New"/>
                <a:cs typeface="Courier New"/>
              </a:rPr>
              <a:t>.</a:t>
            </a:r>
            <a:r>
              <a:rPr sz="2200">
                <a:solidFill>
                  <a:srgbClr val="DCDCAA"/>
                </a:solidFill>
                <a:latin typeface="Courier New"/>
                <a:ea typeface="Courier New"/>
                <a:cs typeface="Courier New"/>
              </a:rPr>
              <a:t>reduce</a:t>
            </a:r>
            <a:r>
              <a:rPr sz="2200">
                <a:solidFill>
                  <a:srgbClr val="FFFFFF"/>
                </a:solidFill>
                <a:latin typeface="Courier New"/>
                <a:ea typeface="Courier New"/>
                <a:cs typeface="Courier New"/>
              </a:rPr>
              <a:t>((</a:t>
            </a:r>
            <a:r>
              <a:rPr sz="2200">
                <a:solidFill>
                  <a:srgbClr val="C5FAEB"/>
                </a:solidFill>
                <a:latin typeface="Courier New"/>
                <a:ea typeface="Courier New"/>
                <a:cs typeface="Courier New"/>
              </a:rPr>
              <a:t>s</a:t>
            </a:r>
            <a:r>
              <a:rPr sz="2200">
                <a:solidFill>
                  <a:srgbClr val="FFFFFF"/>
                </a:solidFill>
                <a:latin typeface="Courier New"/>
                <a:ea typeface="Courier New"/>
                <a:cs typeface="Courier New"/>
              </a:rPr>
              <a:t>, </a:t>
            </a:r>
            <a:r>
              <a:rPr sz="2200">
                <a:solidFill>
                  <a:srgbClr val="C5FAEB"/>
                </a:solidFill>
                <a:latin typeface="Courier New"/>
                <a:ea typeface="Courier New"/>
                <a:cs typeface="Courier New"/>
              </a:rPr>
              <a:t>v</a:t>
            </a:r>
            <a:r>
              <a:rPr sz="2200">
                <a:solidFill>
                  <a:srgbClr val="FFFFFF"/>
                </a:solidFill>
                <a:latin typeface="Courier New"/>
                <a:ea typeface="Courier New"/>
                <a:cs typeface="Courier New"/>
              </a:rPr>
              <a:t>) =&gt; </a:t>
            </a:r>
            <a:r>
              <a:rPr sz="2200">
                <a:solidFill>
                  <a:srgbClr val="C5FAEB"/>
                </a:solidFill>
                <a:latin typeface="Courier New"/>
                <a:ea typeface="Courier New"/>
                <a:cs typeface="Courier New"/>
              </a:rPr>
              <a:t>s</a:t>
            </a:r>
            <a:r>
              <a:rPr sz="2200">
                <a:solidFill>
                  <a:srgbClr val="FFFFFF"/>
                </a:solidFill>
                <a:latin typeface="Courier New"/>
                <a:ea typeface="Courier New"/>
                <a:cs typeface="Courier New"/>
              </a:rPr>
              <a:t> + </a:t>
            </a:r>
            <a:r>
              <a:rPr sz="2200">
                <a:solidFill>
                  <a:srgbClr val="C5FAEB"/>
                </a:solidFill>
                <a:latin typeface="Courier New"/>
                <a:ea typeface="Courier New"/>
                <a:cs typeface="Courier New"/>
              </a:rPr>
              <a:t>v</a:t>
            </a:r>
            <a:r>
              <a:rPr sz="2200">
                <a:solidFill>
                  <a:srgbClr val="FFFFFF"/>
                </a:solidFill>
                <a:latin typeface="Courier New"/>
                <a:ea typeface="Courier New"/>
                <a:cs typeface="Courier New"/>
              </a:rPr>
              <a:t>, </a:t>
            </a:r>
            <a:r>
              <a:rPr sz="2200">
                <a:solidFill>
                  <a:srgbClr val="D7BA7D"/>
                </a:solidFill>
                <a:latin typeface="Courier New"/>
                <a:ea typeface="Courier New"/>
                <a:cs typeface="Courier New"/>
              </a:rPr>
              <a:t>0</a:t>
            </a:r>
            <a:r>
              <a:rPr sz="22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200" b="0" i="0">
                <a:solidFill>
                  <a:srgbClr val="FFFFFF"/>
                </a:solidFill>
                <a:latin typeface="Courier New"/>
                <a:ea typeface="Courier New"/>
                <a:cs typeface="Courier New"/>
              </a:defRPr>
            </a:pPr>
            <a:r>
              <a:rPr sz="2200">
                <a:solidFill>
                  <a:srgbClr val="FFFFFF"/>
                </a:solidFill>
                <a:latin typeface="Courier New"/>
                <a:ea typeface="Courier New"/>
                <a:cs typeface="Courier New"/>
              </a:rPr>
              <a:t>}</a:t>
            </a:r>
          </a:p>
        </p:txBody>
      </p:sp>
      <p:sp>
        <p:nvSpPr>
          <p:cNvPr id="5" name="javascript-call">
            <a:extLst xmlns:a="http://schemas.openxmlformats.org/drawingml/2006/main">
              <a:ext uri="{FF2B5EF4-FFF2-40B4-BE49-F238E27FC236}">
                <a16:creationId xmlns:a16="http://schemas.microsoft.com/office/drawing/2014/main" id="{DBEABFF4-D69D-4367-BB6B-20C46CED409A}"/>
              </a:ext>
            </a:extLst>
          </p:cNvPr>
          <p:cNvSpPr>
            <a:spLocks xmlns:a="http://schemas.openxmlformats.org/drawingml/2006/main" noGrp="1"/>
          </p:cNvSpPr>
          <p:nvPr/>
        </p:nvSpPr>
        <p:spPr>
          <a:xfrm xmlns:a="http://schemas.openxmlformats.org/drawingml/2006/main">
            <a:off x="2773594" y="5743575"/>
            <a:ext cx="7796536"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defRPr sz="2000" b="0" i="0">
                <a:solidFill>
                  <a:srgbClr val="FFFFFF"/>
                </a:solidFill>
                <a:latin typeface="Times New Roman"/>
                <a:ea typeface="Times New Roman"/>
                <a:cs typeface="Times New Roman"/>
              </a:defRPr>
            </a:pPr>
            <a:r>
              <a:rPr sz="2000">
                <a:solidFill>
                  <a:srgbClr val="C5FAEB"/>
                </a:solidFill>
                <a:latin typeface="Courier New"/>
                <a:ea typeface="Courier New"/>
                <a:cs typeface="Courier New"/>
              </a:rPr>
              <a:t>sum(10, 20, 30)</a:t>
            </a:r>
            <a:r>
              <a:rPr sz="2000">
                <a:solidFill>
                  <a:srgbClr val="FFFFFF"/>
                </a:solidFill>
                <a:latin typeface="Times New Roman"/>
                <a:ea typeface="Times New Roman"/>
                <a:cs typeface="Times New Roman"/>
              </a:rPr>
              <a:t> returns </a:t>
            </a:r>
            <a:r>
              <a:rPr sz="2000">
                <a:solidFill>
                  <a:srgbClr val="C5FAEB"/>
                </a:solidFill>
                <a:latin typeface="Courier New"/>
                <a:ea typeface="Courier New"/>
                <a:cs typeface="Courier New"/>
              </a:rPr>
              <a:t>60</a:t>
            </a:r>
            <a:r>
              <a:rPr sz="2000">
                <a:solidFill>
                  <a:srgbClr val="FFFFFF"/>
                </a:solidFill>
                <a:latin typeface="Times New Roman"/>
                <a:ea typeface="Times New Roman"/>
                <a:cs typeface="Times New Roman"/>
              </a:rPr>
              <a:t>.</a:t>
            </a:r>
          </a:p>
        </p:txBody>
      </p:sp>
    </p:spTree>
    <p:extLst>
      <p:ext uri="{BB962C8B-B14F-4D97-AF65-F5344CB8AC3E}">
        <p14:creationId xmlns:p14="http://schemas.microsoft.com/office/powerpoint/2010/main" val="37142583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A10CC12B-F1C3-4495-A92D-097CEAA8898E}"/>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Variable Arguments: Python/Ruby</a:t>
            </a:r>
          </a:p>
        </p:txBody>
      </p:sp>
      <p:sp>
        <p:nvSpPr>
          <p:cNvPr id="2" name="slide-number">
            <a:extLst xmlns:a="http://schemas.openxmlformats.org/drawingml/2006/main">
              <a:ext uri="{FF2B5EF4-FFF2-40B4-BE49-F238E27FC236}">
                <a16:creationId xmlns:a16="http://schemas.microsoft.com/office/drawing/2014/main" id="{05F6896E-5AC9-4EF4-A299-128166D7D151}"/>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8</a:t>
            </a:r>
          </a:p>
        </p:txBody>
      </p:sp>
      <p:sp>
        <p:nvSpPr>
          <p:cNvPr id="3" name="python-ruby-introduction">
            <a:extLst xmlns:a="http://schemas.openxmlformats.org/drawingml/2006/main">
              <a:ext uri="{FF2B5EF4-FFF2-40B4-BE49-F238E27FC236}">
                <a16:creationId xmlns:a16="http://schemas.microsoft.com/office/drawing/2014/main" id="{6490B3EC-B729-4B68-95E5-9CA4527360D9}"/>
              </a:ext>
            </a:extLst>
          </p:cNvPr>
          <p:cNvSpPr>
            <a:spLocks xmlns:a="http://schemas.openxmlformats.org/drawingml/2006/main" noGrp="1"/>
          </p:cNvSpPr>
          <p:nvPr/>
        </p:nvSpPr>
        <p:spPr>
          <a:xfrm xmlns:a="http://schemas.openxmlformats.org/drawingml/2006/main">
            <a:off x="2773594" y="1895475"/>
            <a:ext cx="7796536"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FFFFFF"/>
                </a:solidFill>
                <a:latin typeface="Times New Roman"/>
                <a:ea typeface="Times New Roman"/>
                <a:cs typeface="Times New Roman"/>
              </a:rPr>
              <a:t>Both languages can collect zero or more extra positional</a:t>
            </a:r>
            <a:br>
              <a:rPr sz="2400">
                <a:solidFill>
                  <a:srgbClr val="FFFFFF"/>
                </a:solidFill>
                <a:latin typeface="Times New Roman"/>
                <a:ea typeface="Times New Roman"/>
                <a:cs typeface="Times New Roman"/>
              </a:rPr>
            </a:br>
            <a:r>
              <a:rPr sz="2400">
                <a:solidFill>
                  <a:srgbClr val="FFFFFF"/>
                </a:solidFill>
                <a:latin typeface="Times New Roman"/>
                <a:ea typeface="Times New Roman"/>
                <a:cs typeface="Times New Roman"/>
              </a:rPr>
              <a:t>and keyword arguments.</a:t>
            </a:r>
          </a:p>
        </p:txBody>
      </p:sp>
      <p:graphicFrame>
        <p:nvGraphicFramePr>
          <p:cNvPr id="4" name="">
            <a:extLst xmlns:a="http://schemas.openxmlformats.org/drawingml/2006/main">
              <a:ext uri="{FF2B5EF4-FFF2-40B4-BE49-F238E27FC236}">
                <a16:creationId xmlns:a16="http://schemas.microsoft.com/office/drawing/2014/main" id="{E270F1C0-9250-4D39-990C-0E187953AABA}"/>
              </a:ext>
            </a:extLst>
          </p:cNvPr>
          <p:cNvGraphicFramePr/>
          <p:nvPr/>
        </p:nvGraphicFramePr>
        <p:xfrm>
          <a:off xmlns:a="http://schemas.openxmlformats.org/drawingml/2006/main" x="2865025" y="3019425"/>
          <a:ext xmlns:a="http://schemas.openxmlformats.org/drawingml/2006/main" cx="7705106" cy="1600200"/>
        </p:xfrm>
        <a:graphic xmlns:a="http://schemas.openxmlformats.org/drawingml/2006/main">
          <a:graphicData uri="http://schemas.openxmlformats.org/drawingml/2006/table">
            <a:tbl>
              <a:tblPr firstRow="0" firstCol="0" bandRow="0"/>
              <a:tblGrid>
                <a:gridCol w="1524000"/>
                <a:gridCol w="2561606"/>
                <a:gridCol w="1809750"/>
                <a:gridCol w="1809750"/>
              </a:tblGrid>
              <a:tr h="457200">
                <a:tc>
                  <a:txBody>
                    <a:bodyPr lIns="95250" tIns="95250" rIns="95250" bIns="95250">
                      <a:noAutofit/>
                    </a:bodyPr>
                    <a:lstStyle/>
                    <a:p>
                      <a:pPr algn="l">
                        <a:lnSpc>
                          <a:spcPct val="100000"/>
                        </a:lnSpc>
                        <a:buNone/>
                      </a:pPr>
                      <a:r>
                        <a:rPr sz="2000" b="1">
                          <a:solidFill>
                            <a:srgbClr val="FFFFFF"/>
                          </a:solidFill>
                          <a:latin typeface="Times New Roman"/>
                          <a:ea typeface="Times New Roman"/>
                          <a:cs typeface="Times New Roman"/>
                        </a:rPr>
                        <a:t>Syntax</a:t>
                      </a:r>
                    </a:p>
                  </a:txBody>
                  <a:tcPr marL="91440" marR="91440" marT="45720" marB="45720" anchor="ctr">
                    <a:lnL w="9525">
                      <a:solidFill>
                        <a:srgbClr val="8EC0C1"/>
                      </a:solidFill>
                      <a:prstDash val="solid"/>
                    </a:lnL>
                    <a:lnR w="9525">
                      <a:solidFill>
                        <a:srgbClr val="8EC0C1"/>
                      </a:solidFill>
                      <a:prstDash val="solid"/>
                    </a:lnR>
                    <a:lnT w="9525">
                      <a:solidFill>
                        <a:srgbClr val="8EC0C1"/>
                      </a:solidFill>
                      <a:prstDash val="solid"/>
                    </a:lnT>
                    <a:lnB w="9525">
                      <a:solidFill>
                        <a:srgbClr val="8EC0C1"/>
                      </a:solidFill>
                      <a:prstDash val="solid"/>
                    </a:lnB>
                    <a:solidFill>
                      <a:srgbClr val="365A55"/>
                    </a:solidFill>
                  </a:tcPr>
                </a:tc>
                <a:tc>
                  <a:txBody>
                    <a:bodyPr lIns="95250" tIns="95250" rIns="95250" bIns="95250">
                      <a:noAutofit/>
                    </a:bodyPr>
                    <a:lstStyle/>
                    <a:p>
                      <a:pPr algn="l">
                        <a:lnSpc>
                          <a:spcPct val="100000"/>
                        </a:lnSpc>
                        <a:buNone/>
                      </a:pPr>
                      <a:r>
                        <a:rPr sz="2000" b="1">
                          <a:solidFill>
                            <a:srgbClr val="FFFFFF"/>
                          </a:solidFill>
                          <a:latin typeface="Times New Roman"/>
                          <a:ea typeface="Times New Roman"/>
                          <a:cs typeface="Times New Roman"/>
                        </a:rPr>
                        <a:t>Collects</a:t>
                      </a:r>
                    </a:p>
                  </a:txBody>
                  <a:tcPr marL="91440" marR="91440" marT="45720" marB="45720" anchor="ctr">
                    <a:lnR w="9525">
                      <a:solidFill>
                        <a:srgbClr val="8EC0C1"/>
                      </a:solidFill>
                      <a:prstDash val="solid"/>
                    </a:lnR>
                    <a:lnT w="9525">
                      <a:solidFill>
                        <a:srgbClr val="8EC0C1"/>
                      </a:solidFill>
                      <a:prstDash val="solid"/>
                    </a:lnT>
                    <a:lnB w="9525">
                      <a:solidFill>
                        <a:srgbClr val="8EC0C1"/>
                      </a:solidFill>
                      <a:prstDash val="solid"/>
                    </a:lnB>
                    <a:solidFill>
                      <a:srgbClr val="365A55"/>
                    </a:solidFill>
                  </a:tcPr>
                </a:tc>
                <a:tc>
                  <a:txBody>
                    <a:bodyPr lIns="95250" tIns="95250" rIns="95250" bIns="95250">
                      <a:noAutofit/>
                    </a:bodyPr>
                    <a:lstStyle/>
                    <a:p>
                      <a:pPr algn="l">
                        <a:lnSpc>
                          <a:spcPct val="100000"/>
                        </a:lnSpc>
                        <a:buNone/>
                      </a:pPr>
                      <a:r>
                        <a:rPr sz="2000" b="1">
                          <a:solidFill>
                            <a:srgbClr val="FFFFFF"/>
                          </a:solidFill>
                          <a:latin typeface="Times New Roman"/>
                          <a:ea typeface="Times New Roman"/>
                          <a:cs typeface="Times New Roman"/>
                        </a:rPr>
                        <a:t>Python</a:t>
                      </a:r>
                    </a:p>
                  </a:txBody>
                  <a:tcPr marL="91440" marR="91440" marT="45720" marB="45720" anchor="ctr">
                    <a:lnR w="9525">
                      <a:solidFill>
                        <a:srgbClr val="8EC0C1"/>
                      </a:solidFill>
                      <a:prstDash val="solid"/>
                    </a:lnR>
                    <a:lnT w="9525">
                      <a:solidFill>
                        <a:srgbClr val="8EC0C1"/>
                      </a:solidFill>
                      <a:prstDash val="solid"/>
                    </a:lnT>
                    <a:lnB w="9525">
                      <a:solidFill>
                        <a:srgbClr val="8EC0C1"/>
                      </a:solidFill>
                      <a:prstDash val="solid"/>
                    </a:lnB>
                    <a:solidFill>
                      <a:srgbClr val="365A55"/>
                    </a:solidFill>
                  </a:tcPr>
                </a:tc>
                <a:tc>
                  <a:txBody>
                    <a:bodyPr lIns="95250" tIns="95250" rIns="95250" bIns="95250">
                      <a:noAutofit/>
                    </a:bodyPr>
                    <a:lstStyle/>
                    <a:p>
                      <a:pPr algn="l">
                        <a:lnSpc>
                          <a:spcPct val="100000"/>
                        </a:lnSpc>
                        <a:buNone/>
                      </a:pPr>
                      <a:r>
                        <a:rPr sz="2000" b="1">
                          <a:solidFill>
                            <a:srgbClr val="FFFFFF"/>
                          </a:solidFill>
                          <a:latin typeface="Times New Roman"/>
                          <a:ea typeface="Times New Roman"/>
                          <a:cs typeface="Times New Roman"/>
                        </a:rPr>
                        <a:t>Ruby</a:t>
                      </a:r>
                    </a:p>
                  </a:txBody>
                  <a:tcPr marL="91440" marR="91440" marT="45720" marB="45720" anchor="ctr">
                    <a:lnR w="9525">
                      <a:solidFill>
                        <a:srgbClr val="8EC0C1"/>
                      </a:solidFill>
                      <a:prstDash val="solid"/>
                    </a:lnR>
                    <a:lnT w="9525">
                      <a:solidFill>
                        <a:srgbClr val="8EC0C1"/>
                      </a:solidFill>
                      <a:prstDash val="solid"/>
                    </a:lnT>
                    <a:lnB w="9525">
                      <a:solidFill>
                        <a:srgbClr val="8EC0C1"/>
                      </a:solidFill>
                      <a:prstDash val="solid"/>
                    </a:lnB>
                    <a:solidFill>
                      <a:srgbClr val="365A55"/>
                    </a:solidFill>
                  </a:tcPr>
                </a:tc>
              </a:tr>
              <a:tr h="571500">
                <a:tc>
                  <a:txBody>
                    <a:bodyPr lIns="95250" tIns="95250" rIns="95250" bIns="95250">
                      <a:noAutofit/>
                    </a:bodyPr>
                    <a:lstStyle/>
                    <a:p>
                      <a:pPr algn="l">
                        <a:lnSpc>
                          <a:spcPct val="100000"/>
                        </a:lnSpc>
                        <a:buNone/>
                      </a:pPr>
                      <a:r>
                        <a:rPr sz="2000" b="0">
                          <a:solidFill>
                            <a:srgbClr val="FFFFFF"/>
                          </a:solidFill>
                          <a:latin typeface="Courier New"/>
                          <a:ea typeface="Courier New"/>
                          <a:cs typeface="Courier New"/>
                        </a:rPr>
                        <a:t>*args</a:t>
                      </a:r>
                    </a:p>
                  </a:txBody>
                  <a:tcPr marL="91440" marR="91440" marT="45720" marB="45720" anchor="ctr">
                    <a:lnL w="9525">
                      <a:solidFill>
                        <a:srgbClr val="8EC0C1"/>
                      </a:solidFill>
                      <a:prstDash val="solid"/>
                    </a:lnL>
                    <a:lnR w="9525">
                      <a:solidFill>
                        <a:srgbClr val="8EC0C1"/>
                      </a:solidFill>
                      <a:prstDash val="solid"/>
                    </a:lnR>
                    <a:lnB w="9525">
                      <a:solidFill>
                        <a:srgbClr val="8EC0C1"/>
                      </a:solidFill>
                      <a:prstDash val="solid"/>
                    </a:lnB>
                    <a:solidFill>
                      <a:srgbClr val="29423B"/>
                    </a:solidFill>
                  </a:tcPr>
                </a:tc>
                <a:tc>
                  <a:txBody>
                    <a:bodyPr lIns="95250" tIns="95250" rIns="95250" bIns="95250">
                      <a:noAutofit/>
                    </a:bodyPr>
                    <a:lstStyle/>
                    <a:p>
                      <a:pPr algn="l">
                        <a:lnSpc>
                          <a:spcPct val="100000"/>
                        </a:lnSpc>
                        <a:buNone/>
                      </a:pPr>
                      <a:r>
                        <a:rPr sz="2000" b="0">
                          <a:solidFill>
                            <a:srgbClr val="FFFFFF"/>
                          </a:solidFill>
                          <a:latin typeface="Times New Roman"/>
                          <a:ea typeface="Times New Roman"/>
                          <a:cs typeface="Times New Roman"/>
                        </a:rPr>
                        <a:t>Extra positional</a:t>
                      </a:r>
                    </a:p>
                  </a:txBody>
                  <a:tcPr marL="91440" marR="91440" marT="45720" marB="45720" anchor="ctr">
                    <a:lnR w="9525">
                      <a:solidFill>
                        <a:srgbClr val="8EC0C1"/>
                      </a:solidFill>
                      <a:prstDash val="solid"/>
                    </a:lnR>
                    <a:lnB w="9525">
                      <a:solidFill>
                        <a:srgbClr val="8EC0C1"/>
                      </a:solidFill>
                      <a:prstDash val="solid"/>
                    </a:lnB>
                    <a:solidFill>
                      <a:srgbClr val="29423B"/>
                    </a:solidFill>
                  </a:tcPr>
                </a:tc>
                <a:tc>
                  <a:txBody>
                    <a:bodyPr lIns="95250" tIns="95250" rIns="95250" bIns="95250">
                      <a:noAutofit/>
                    </a:bodyPr>
                    <a:lstStyle/>
                    <a:p>
                      <a:pPr algn="l">
                        <a:lnSpc>
                          <a:spcPct val="100000"/>
                        </a:lnSpc>
                        <a:buNone/>
                      </a:pPr>
                      <a:r>
                        <a:rPr sz="2000" b="0">
                          <a:solidFill>
                            <a:srgbClr val="FFFFFF"/>
                          </a:solidFill>
                          <a:latin typeface="Times New Roman"/>
                          <a:ea typeface="Times New Roman"/>
                          <a:cs typeface="Times New Roman"/>
                        </a:rPr>
                        <a:t>tuple</a:t>
                      </a:r>
                    </a:p>
                  </a:txBody>
                  <a:tcPr marL="91440" marR="91440" marT="45720" marB="45720" anchor="ctr">
                    <a:lnR w="9525">
                      <a:solidFill>
                        <a:srgbClr val="8EC0C1"/>
                      </a:solidFill>
                      <a:prstDash val="solid"/>
                    </a:lnR>
                    <a:lnB w="9525">
                      <a:solidFill>
                        <a:srgbClr val="8EC0C1"/>
                      </a:solidFill>
                      <a:prstDash val="solid"/>
                    </a:lnB>
                    <a:solidFill>
                      <a:srgbClr val="29423B"/>
                    </a:solidFill>
                  </a:tcPr>
                </a:tc>
                <a:tc>
                  <a:txBody>
                    <a:bodyPr lIns="95250" tIns="95250" rIns="95250" bIns="95250">
                      <a:noAutofit/>
                    </a:bodyPr>
                    <a:lstStyle/>
                    <a:p>
                      <a:pPr algn="l">
                        <a:lnSpc>
                          <a:spcPct val="100000"/>
                        </a:lnSpc>
                        <a:buNone/>
                      </a:pPr>
                      <a:r>
                        <a:rPr sz="2000" b="0">
                          <a:solidFill>
                            <a:srgbClr val="FFFFFF"/>
                          </a:solidFill>
                          <a:latin typeface="Times New Roman"/>
                          <a:ea typeface="Times New Roman"/>
                          <a:cs typeface="Times New Roman"/>
                        </a:rPr>
                        <a:t>Array</a:t>
                      </a:r>
                    </a:p>
                  </a:txBody>
                  <a:tcPr marL="91440" marR="91440" marT="45720" marB="45720" anchor="ctr">
                    <a:lnR w="9525">
                      <a:solidFill>
                        <a:srgbClr val="8EC0C1"/>
                      </a:solidFill>
                      <a:prstDash val="solid"/>
                    </a:lnR>
                    <a:lnB w="9525">
                      <a:solidFill>
                        <a:srgbClr val="8EC0C1"/>
                      </a:solidFill>
                      <a:prstDash val="solid"/>
                    </a:lnB>
                    <a:solidFill>
                      <a:srgbClr val="29423B"/>
                    </a:solidFill>
                  </a:tcPr>
                </a:tc>
              </a:tr>
              <a:tr h="571500">
                <a:tc>
                  <a:txBody>
                    <a:bodyPr lIns="95250" tIns="95250" rIns="95250" bIns="95250">
                      <a:noAutofit/>
                    </a:bodyPr>
                    <a:lstStyle/>
                    <a:p>
                      <a:pPr algn="l">
                        <a:lnSpc>
                          <a:spcPct val="100000"/>
                        </a:lnSpc>
                        <a:buNone/>
                      </a:pPr>
                      <a:r>
                        <a:rPr sz="2000" b="0">
                          <a:solidFill>
                            <a:srgbClr val="FFFFFF"/>
                          </a:solidFill>
                          <a:latin typeface="Courier New"/>
                          <a:ea typeface="Courier New"/>
                          <a:cs typeface="Courier New"/>
                        </a:rPr>
                        <a:t>**kwargs</a:t>
                      </a:r>
                    </a:p>
                  </a:txBody>
                  <a:tcPr marL="91440" marR="91440" marT="45720" marB="45720" anchor="ctr">
                    <a:lnL w="9525">
                      <a:solidFill>
                        <a:srgbClr val="8EC0C1"/>
                      </a:solidFill>
                      <a:prstDash val="solid"/>
                    </a:lnL>
                    <a:lnR w="9525">
                      <a:solidFill>
                        <a:srgbClr val="8EC0C1"/>
                      </a:solidFill>
                      <a:prstDash val="solid"/>
                    </a:lnR>
                    <a:lnB w="9525">
                      <a:solidFill>
                        <a:srgbClr val="8EC0C1"/>
                      </a:solidFill>
                      <a:prstDash val="solid"/>
                    </a:lnB>
                    <a:solidFill>
                      <a:srgbClr val="29423B"/>
                    </a:solidFill>
                  </a:tcPr>
                </a:tc>
                <a:tc>
                  <a:txBody>
                    <a:bodyPr lIns="95250" tIns="95250" rIns="95250" bIns="95250">
                      <a:noAutofit/>
                    </a:bodyPr>
                    <a:lstStyle/>
                    <a:p>
                      <a:pPr algn="l">
                        <a:lnSpc>
                          <a:spcPct val="100000"/>
                        </a:lnSpc>
                        <a:buNone/>
                      </a:pPr>
                      <a:r>
                        <a:rPr sz="2000" b="0">
                          <a:solidFill>
                            <a:srgbClr val="FFFFFF"/>
                          </a:solidFill>
                          <a:latin typeface="Times New Roman"/>
                          <a:ea typeface="Times New Roman"/>
                          <a:cs typeface="Times New Roman"/>
                        </a:rPr>
                        <a:t>Extra keyword</a:t>
                      </a:r>
                    </a:p>
                  </a:txBody>
                  <a:tcPr marL="91440" marR="91440" marT="45720" marB="45720" anchor="ctr">
                    <a:lnR w="9525">
                      <a:solidFill>
                        <a:srgbClr val="8EC0C1"/>
                      </a:solidFill>
                      <a:prstDash val="solid"/>
                    </a:lnR>
                    <a:lnB w="9525">
                      <a:solidFill>
                        <a:srgbClr val="8EC0C1"/>
                      </a:solidFill>
                      <a:prstDash val="solid"/>
                    </a:lnB>
                    <a:solidFill>
                      <a:srgbClr val="29423B"/>
                    </a:solidFill>
                  </a:tcPr>
                </a:tc>
                <a:tc>
                  <a:txBody>
                    <a:bodyPr lIns="95250" tIns="95250" rIns="95250" bIns="95250">
                      <a:noAutofit/>
                    </a:bodyPr>
                    <a:lstStyle/>
                    <a:p>
                      <a:pPr algn="l">
                        <a:lnSpc>
                          <a:spcPct val="100000"/>
                        </a:lnSpc>
                        <a:buNone/>
                      </a:pPr>
                      <a:r>
                        <a:rPr sz="2000" b="0">
                          <a:solidFill>
                            <a:srgbClr val="FFFFFF"/>
                          </a:solidFill>
                          <a:latin typeface="Times New Roman"/>
                          <a:ea typeface="Times New Roman"/>
                          <a:cs typeface="Times New Roman"/>
                        </a:rPr>
                        <a:t>dict</a:t>
                      </a:r>
                    </a:p>
                  </a:txBody>
                  <a:tcPr marL="91440" marR="91440" marT="45720" marB="45720" anchor="ctr">
                    <a:lnR w="9525">
                      <a:solidFill>
                        <a:srgbClr val="8EC0C1"/>
                      </a:solidFill>
                      <a:prstDash val="solid"/>
                    </a:lnR>
                    <a:lnB w="9525">
                      <a:solidFill>
                        <a:srgbClr val="8EC0C1"/>
                      </a:solidFill>
                      <a:prstDash val="solid"/>
                    </a:lnB>
                    <a:solidFill>
                      <a:srgbClr val="29423B"/>
                    </a:solidFill>
                  </a:tcPr>
                </a:tc>
                <a:tc>
                  <a:txBody>
                    <a:bodyPr lIns="95250" tIns="95250" rIns="95250" bIns="95250">
                      <a:noAutofit/>
                    </a:bodyPr>
                    <a:lstStyle/>
                    <a:p>
                      <a:pPr algn="l">
                        <a:lnSpc>
                          <a:spcPct val="100000"/>
                        </a:lnSpc>
                        <a:buNone/>
                      </a:pPr>
                      <a:r>
                        <a:rPr sz="2000" b="0">
                          <a:solidFill>
                            <a:srgbClr val="FFFFFF"/>
                          </a:solidFill>
                          <a:latin typeface="Times New Roman"/>
                          <a:ea typeface="Times New Roman"/>
                          <a:cs typeface="Times New Roman"/>
                        </a:rPr>
                        <a:t>Hash</a:t>
                      </a:r>
                    </a:p>
                  </a:txBody>
                  <a:tcPr marL="91440" marR="91440" marT="45720" marB="45720" anchor="ctr">
                    <a:lnR w="9525">
                      <a:solidFill>
                        <a:srgbClr val="8EC0C1"/>
                      </a:solidFill>
                      <a:prstDash val="solid"/>
                    </a:lnR>
                    <a:lnB w="9525">
                      <a:solidFill>
                        <a:srgbClr val="8EC0C1"/>
                      </a:solidFill>
                      <a:prstDash val="solid"/>
                    </a:lnB>
                    <a:solidFill>
                      <a:srgbClr val="29423B"/>
                    </a:solidFill>
                  </a:tcPr>
                </a:tc>
              </a:tr>
            </a:tbl>
          </a:graphicData>
        </a:graphic>
      </p:graphicFrame>
      <p:sp>
        <p:nvSpPr>
          <p:cNvPr id="5" name="parameter-order-heading">
            <a:extLst xmlns:a="http://schemas.openxmlformats.org/drawingml/2006/main">
              <a:ext uri="{FF2B5EF4-FFF2-40B4-BE49-F238E27FC236}">
                <a16:creationId xmlns:a16="http://schemas.microsoft.com/office/drawing/2014/main" id="{0646023B-7582-4540-BA72-367A0008C3C1}"/>
              </a:ext>
            </a:extLst>
          </p:cNvPr>
          <p:cNvSpPr>
            <a:spLocks xmlns:a="http://schemas.openxmlformats.org/drawingml/2006/main" noGrp="1"/>
          </p:cNvSpPr>
          <p:nvPr/>
        </p:nvSpPr>
        <p:spPr>
          <a:xfrm xmlns:a="http://schemas.openxmlformats.org/drawingml/2006/main">
            <a:off x="2773594" y="4876800"/>
            <a:ext cx="7796536"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8EC0C1"/>
                </a:solidFill>
                <a:latin typeface="Times New Roman"/>
                <a:ea typeface="Times New Roman"/>
                <a:cs typeface="Times New Roman"/>
              </a:defRPr>
            </a:defPPr>
            <a:lvl1pPr algn="l">
              <a:defRPr sz="2000" b="0" i="0">
                <a:solidFill>
                  <a:srgbClr val="8EC0C1"/>
                </a:solidFill>
                <a:latin typeface="Times New Roman"/>
                <a:ea typeface="Times New Roman"/>
                <a:cs typeface="Times New Roman"/>
              </a:defRPr>
            </a:lvl1pPr>
            <a:lvl2pPr algn="l">
              <a:defRPr sz="2000" b="0" i="0">
                <a:solidFill>
                  <a:srgbClr val="8EC0C1"/>
                </a:solidFill>
                <a:latin typeface="Times New Roman"/>
                <a:ea typeface="Times New Roman"/>
                <a:cs typeface="Times New Roman"/>
              </a:defRPr>
            </a:lvl2pPr>
            <a:lvl3pPr algn="l">
              <a:defRPr sz="2000" b="0" i="0">
                <a:solidFill>
                  <a:srgbClr val="8EC0C1"/>
                </a:solidFill>
                <a:latin typeface="Times New Roman"/>
                <a:ea typeface="Times New Roman"/>
                <a:cs typeface="Times New Roman"/>
              </a:defRPr>
            </a:lvl3pPr>
            <a:lvl4pPr algn="l">
              <a:defRPr sz="2000" b="0" i="0">
                <a:solidFill>
                  <a:srgbClr val="8EC0C1"/>
                </a:solidFill>
                <a:latin typeface="Times New Roman"/>
                <a:ea typeface="Times New Roman"/>
                <a:cs typeface="Times New Roman"/>
              </a:defRPr>
            </a:lvl4pPr>
            <a:lvl5pPr algn="l">
              <a:defRPr sz="2000" b="0" i="0">
                <a:solidFill>
                  <a:srgbClr val="8EC0C1"/>
                </a:solidFill>
                <a:latin typeface="Times New Roman"/>
                <a:ea typeface="Times New Roman"/>
                <a:cs typeface="Times New Roman"/>
              </a:defRPr>
            </a:lvl5pPr>
            <a:lvl6pPr algn="l">
              <a:defRPr sz="2000" b="0" i="0">
                <a:solidFill>
                  <a:srgbClr val="8EC0C1"/>
                </a:solidFill>
                <a:latin typeface="Times New Roman"/>
                <a:ea typeface="Times New Roman"/>
                <a:cs typeface="Times New Roman"/>
              </a:defRPr>
            </a:lvl6pPr>
            <a:lvl7pPr algn="l">
              <a:defRPr sz="2000" b="0" i="0">
                <a:solidFill>
                  <a:srgbClr val="8EC0C1"/>
                </a:solidFill>
                <a:latin typeface="Times New Roman"/>
                <a:ea typeface="Times New Roman"/>
                <a:cs typeface="Times New Roman"/>
              </a:defRPr>
            </a:lvl7pPr>
            <a:lvl8pPr algn="l">
              <a:defRPr sz="2000" b="0" i="0">
                <a:solidFill>
                  <a:srgbClr val="8EC0C1"/>
                </a:solidFill>
                <a:latin typeface="Times New Roman"/>
                <a:ea typeface="Times New Roman"/>
                <a:cs typeface="Times New Roman"/>
              </a:defRPr>
            </a:lvl8pPr>
            <a:lvl9pPr algn="l">
              <a:defRPr sz="2000" b="0" i="0">
                <a:solidFill>
                  <a:srgbClr val="8EC0C1"/>
                </a:solidFill>
                <a:latin typeface="Times New Roman"/>
                <a:ea typeface="Times New Roman"/>
                <a:cs typeface="Times New Roman"/>
              </a:defRPr>
            </a:lvl9pPr>
          </a:lstStyle>
          <a:p xmlns:a="http://schemas.openxmlformats.org/drawingml/2006/main">
            <a:pPr algn="l">
              <a:lnSpc>
                <a:spcPct val="120000"/>
              </a:lnSpc>
              <a:buNone/>
              <a:defRPr sz="2000" b="0" i="0">
                <a:solidFill>
                  <a:srgbClr val="8EC0C1"/>
                </a:solidFill>
                <a:latin typeface="Times New Roman"/>
                <a:ea typeface="Times New Roman"/>
                <a:cs typeface="Times New Roman"/>
              </a:defRPr>
            </a:pPr>
            <a:r>
              <a:rPr sz="2000" b="0" i="0">
                <a:solidFill>
                  <a:srgbClr val="8EC0C1"/>
                </a:solidFill>
                <a:latin typeface="Times New Roman"/>
                <a:ea typeface="Times New Roman"/>
                <a:cs typeface="Times New Roman"/>
              </a:rPr>
              <a:t>Common order in simple parameter lists</a:t>
            </a:r>
          </a:p>
        </p:txBody>
      </p:sp>
      <p:sp>
        <p:nvSpPr>
          <p:cNvPr id="6" name="parameter-order">
            <a:extLst xmlns:a="http://schemas.openxmlformats.org/drawingml/2006/main">
              <a:ext uri="{FF2B5EF4-FFF2-40B4-BE49-F238E27FC236}">
                <a16:creationId xmlns:a16="http://schemas.microsoft.com/office/drawing/2014/main" id="{BBD182ED-456E-4DDB-8BE5-F6E4E3270A18}"/>
              </a:ext>
            </a:extLst>
          </p:cNvPr>
          <p:cNvSpPr>
            <a:spLocks xmlns:a="http://schemas.openxmlformats.org/drawingml/2006/main" noGrp="1"/>
          </p:cNvSpPr>
          <p:nvPr/>
        </p:nvSpPr>
        <p:spPr>
          <a:xfrm xmlns:a="http://schemas.openxmlformats.org/drawingml/2006/main">
            <a:off x="2773594" y="5286375"/>
            <a:ext cx="7796536"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defRPr sz="2000" b="0" i="0">
                <a:solidFill>
                  <a:srgbClr val="FFFFFF"/>
                </a:solidFill>
                <a:latin typeface="Times New Roman"/>
                <a:ea typeface="Times New Roman"/>
                <a:cs typeface="Times New Roman"/>
              </a:defRPr>
            </a:pPr>
            <a:r>
              <a:rPr sz="2000">
                <a:solidFill>
                  <a:srgbClr val="FFFFFF"/>
                </a:solidFill>
                <a:latin typeface="Times New Roman"/>
                <a:ea typeface="Times New Roman"/>
                <a:cs typeface="Times New Roman"/>
              </a:rPr>
              <a:t>positional parameters, then </a:t>
            </a:r>
            <a:r>
              <a:rPr sz="2000">
                <a:solidFill>
                  <a:srgbClr val="C5FAEB"/>
                </a:solidFill>
                <a:latin typeface="Courier New"/>
                <a:ea typeface="Courier New"/>
                <a:cs typeface="Courier New"/>
              </a:rPr>
              <a:t>*args</a:t>
            </a:r>
            <a:r>
              <a:rPr sz="2000">
                <a:solidFill>
                  <a:srgbClr val="FFFFFF"/>
                </a:solidFill>
                <a:latin typeface="Times New Roman"/>
                <a:ea typeface="Times New Roman"/>
                <a:cs typeface="Times New Roman"/>
              </a:rPr>
              <a:t>, then </a:t>
            </a:r>
            <a:r>
              <a:rPr sz="2000">
                <a:solidFill>
                  <a:srgbClr val="C5FAEB"/>
                </a:solidFill>
                <a:latin typeface="Courier New"/>
                <a:ea typeface="Courier New"/>
                <a:cs typeface="Courier New"/>
              </a:rPr>
              <a:t>**kwargs</a:t>
            </a:r>
          </a:p>
        </p:txBody>
      </p:sp>
      <p:sp>
        <p:nvSpPr>
          <p:cNvPr id="7" name="parameter-order-qualification">
            <a:extLst xmlns:a="http://schemas.openxmlformats.org/drawingml/2006/main">
              <a:ext uri="{FF2B5EF4-FFF2-40B4-BE49-F238E27FC236}">
                <a16:creationId xmlns:a16="http://schemas.microsoft.com/office/drawing/2014/main" id="{2B1EF458-9566-4216-8E20-AAE6A6714F30}"/>
              </a:ext>
            </a:extLst>
          </p:cNvPr>
          <p:cNvSpPr>
            <a:spLocks xmlns:a="http://schemas.openxmlformats.org/drawingml/2006/main" noGrp="1"/>
          </p:cNvSpPr>
          <p:nvPr/>
        </p:nvSpPr>
        <p:spPr>
          <a:xfrm xmlns:a="http://schemas.openxmlformats.org/drawingml/2006/main">
            <a:off x="2773594" y="5829300"/>
            <a:ext cx="7796536"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lnSpc>
                <a:spcPct val="120000"/>
              </a:lnSpc>
              <a:buNone/>
              <a:defRPr sz="2000" b="0" i="0">
                <a:solidFill>
                  <a:srgbClr val="FFFFFF"/>
                </a:solidFill>
                <a:latin typeface="Times New Roman"/>
                <a:ea typeface="Times New Roman"/>
                <a:cs typeface="Times New Roman"/>
              </a:defRPr>
            </a:pPr>
            <a:r>
              <a:rPr sz="2000" b="0" i="0">
                <a:solidFill>
                  <a:srgbClr val="FFFFFF"/>
                </a:solidFill>
                <a:latin typeface="Times New Roman"/>
                <a:ea typeface="Times New Roman"/>
                <a:cs typeface="Times New Roman"/>
              </a:rPr>
              <a:t>Exact ordering rules differ between Python and Ruby.</a:t>
            </a:r>
          </a:p>
        </p:txBody>
      </p:sp>
    </p:spTree>
    <p:extLst>
      <p:ext uri="{BB962C8B-B14F-4D97-AF65-F5344CB8AC3E}">
        <p14:creationId xmlns:p14="http://schemas.microsoft.com/office/powerpoint/2010/main" val="9929785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671D0D94-0616-4758-8DEC-0817B4D40C35}"/>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Variable Arguments: Python/Ruby</a:t>
            </a:r>
          </a:p>
        </p:txBody>
      </p:sp>
      <p:sp>
        <p:nvSpPr>
          <p:cNvPr id="2" name="slide-number">
            <a:extLst xmlns:a="http://schemas.openxmlformats.org/drawingml/2006/main">
              <a:ext uri="{FF2B5EF4-FFF2-40B4-BE49-F238E27FC236}">
                <a16:creationId xmlns:a16="http://schemas.microsoft.com/office/drawing/2014/main" id="{1C53422C-00CB-4105-A5BA-54BFD7B69B3B}"/>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9</a:t>
            </a:r>
          </a:p>
        </p:txBody>
      </p:sp>
      <p:sp>
        <p:nvSpPr>
          <p:cNvPr id="3" name="positional-collection">
            <a:extLst xmlns:a="http://schemas.openxmlformats.org/drawingml/2006/main">
              <a:ext uri="{FF2B5EF4-FFF2-40B4-BE49-F238E27FC236}">
                <a16:creationId xmlns:a16="http://schemas.microsoft.com/office/drawing/2014/main" id="{0DDF2358-8BD5-4158-B029-703851BE3598}"/>
              </a:ext>
            </a:extLst>
          </p:cNvPr>
          <p:cNvSpPr>
            <a:spLocks xmlns:a="http://schemas.openxmlformats.org/drawingml/2006/main" noGrp="1"/>
          </p:cNvSpPr>
          <p:nvPr/>
        </p:nvSpPr>
        <p:spPr>
          <a:xfrm xmlns:a="http://schemas.openxmlformats.org/drawingml/2006/main">
            <a:off x="2773594" y="2009775"/>
            <a:ext cx="7796536"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C5FAEB"/>
                </a:solidFill>
                <a:latin typeface="Courier New"/>
                <a:ea typeface="Courier New"/>
                <a:cs typeface="Courier New"/>
              </a:rPr>
              <a:t>*nums</a:t>
            </a:r>
            <a:r>
              <a:rPr sz="2400">
                <a:solidFill>
                  <a:srgbClr val="FFFFFF"/>
                </a:solidFill>
                <a:latin typeface="Times New Roman"/>
                <a:ea typeface="Times New Roman"/>
                <a:cs typeface="Times New Roman"/>
              </a:rPr>
              <a:t> collects zero or more positional arguments.</a:t>
            </a:r>
          </a:p>
        </p:txBody>
      </p:sp>
      <p:sp>
        <p:nvSpPr>
          <p:cNvPr id="4" name="python-label">
            <a:extLst xmlns:a="http://schemas.openxmlformats.org/drawingml/2006/main">
              <a:ext uri="{FF2B5EF4-FFF2-40B4-BE49-F238E27FC236}">
                <a16:creationId xmlns:a16="http://schemas.microsoft.com/office/drawing/2014/main" id="{1EBF916C-3C7A-4A8D-A5C1-57BA91AA87EE}"/>
              </a:ext>
            </a:extLst>
          </p:cNvPr>
          <p:cNvSpPr>
            <a:spLocks xmlns:a="http://schemas.openxmlformats.org/drawingml/2006/main" noGrp="1"/>
          </p:cNvSpPr>
          <p:nvPr/>
        </p:nvSpPr>
        <p:spPr>
          <a:xfrm xmlns:a="http://schemas.openxmlformats.org/drawingml/2006/main">
            <a:off x="2965704" y="3009900"/>
            <a:ext cx="371094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8EC0C1"/>
                </a:solidFill>
                <a:latin typeface="Times New Roman"/>
                <a:ea typeface="Times New Roman"/>
                <a:cs typeface="Times New Roman"/>
              </a:defRPr>
            </a:defPPr>
            <a:lvl1pPr algn="l">
              <a:defRPr sz="2000" b="0" i="0">
                <a:solidFill>
                  <a:srgbClr val="8EC0C1"/>
                </a:solidFill>
                <a:latin typeface="Times New Roman"/>
                <a:ea typeface="Times New Roman"/>
                <a:cs typeface="Times New Roman"/>
              </a:defRPr>
            </a:lvl1pPr>
            <a:lvl2pPr algn="l">
              <a:defRPr sz="2000" b="0" i="0">
                <a:solidFill>
                  <a:srgbClr val="8EC0C1"/>
                </a:solidFill>
                <a:latin typeface="Times New Roman"/>
                <a:ea typeface="Times New Roman"/>
                <a:cs typeface="Times New Roman"/>
              </a:defRPr>
            </a:lvl2pPr>
            <a:lvl3pPr algn="l">
              <a:defRPr sz="2000" b="0" i="0">
                <a:solidFill>
                  <a:srgbClr val="8EC0C1"/>
                </a:solidFill>
                <a:latin typeface="Times New Roman"/>
                <a:ea typeface="Times New Roman"/>
                <a:cs typeface="Times New Roman"/>
              </a:defRPr>
            </a:lvl3pPr>
            <a:lvl4pPr algn="l">
              <a:defRPr sz="2000" b="0" i="0">
                <a:solidFill>
                  <a:srgbClr val="8EC0C1"/>
                </a:solidFill>
                <a:latin typeface="Times New Roman"/>
                <a:ea typeface="Times New Roman"/>
                <a:cs typeface="Times New Roman"/>
              </a:defRPr>
            </a:lvl4pPr>
            <a:lvl5pPr algn="l">
              <a:defRPr sz="2000" b="0" i="0">
                <a:solidFill>
                  <a:srgbClr val="8EC0C1"/>
                </a:solidFill>
                <a:latin typeface="Times New Roman"/>
                <a:ea typeface="Times New Roman"/>
                <a:cs typeface="Times New Roman"/>
              </a:defRPr>
            </a:lvl5pPr>
            <a:lvl6pPr algn="l">
              <a:defRPr sz="2000" b="0" i="0">
                <a:solidFill>
                  <a:srgbClr val="8EC0C1"/>
                </a:solidFill>
                <a:latin typeface="Times New Roman"/>
                <a:ea typeface="Times New Roman"/>
                <a:cs typeface="Times New Roman"/>
              </a:defRPr>
            </a:lvl6pPr>
            <a:lvl7pPr algn="l">
              <a:defRPr sz="2000" b="0" i="0">
                <a:solidFill>
                  <a:srgbClr val="8EC0C1"/>
                </a:solidFill>
                <a:latin typeface="Times New Roman"/>
                <a:ea typeface="Times New Roman"/>
                <a:cs typeface="Times New Roman"/>
              </a:defRPr>
            </a:lvl7pPr>
            <a:lvl8pPr algn="l">
              <a:defRPr sz="2000" b="0" i="0">
                <a:solidFill>
                  <a:srgbClr val="8EC0C1"/>
                </a:solidFill>
                <a:latin typeface="Times New Roman"/>
                <a:ea typeface="Times New Roman"/>
                <a:cs typeface="Times New Roman"/>
              </a:defRPr>
            </a:lvl8pPr>
            <a:lvl9pPr algn="l">
              <a:defRPr sz="2000" b="0" i="0">
                <a:solidFill>
                  <a:srgbClr val="8EC0C1"/>
                </a:solidFill>
                <a:latin typeface="Times New Roman"/>
                <a:ea typeface="Times New Roman"/>
                <a:cs typeface="Times New Roman"/>
              </a:defRPr>
            </a:lvl9pPr>
          </a:lstStyle>
          <a:p xmlns:a="http://schemas.openxmlformats.org/drawingml/2006/main">
            <a:pPr algn="l">
              <a:lnSpc>
                <a:spcPct val="120000"/>
              </a:lnSpc>
              <a:buNone/>
              <a:defRPr sz="2000" b="0" i="0">
                <a:solidFill>
                  <a:srgbClr val="8EC0C1"/>
                </a:solidFill>
                <a:latin typeface="Times New Roman"/>
                <a:ea typeface="Times New Roman"/>
                <a:cs typeface="Times New Roman"/>
              </a:defRPr>
            </a:pPr>
            <a:r>
              <a:rPr sz="2000" b="0" i="0">
                <a:solidFill>
                  <a:srgbClr val="8EC0C1"/>
                </a:solidFill>
                <a:latin typeface="Times New Roman"/>
                <a:ea typeface="Times New Roman"/>
                <a:cs typeface="Times New Roman"/>
              </a:rPr>
              <a:t>Python: nums is a tuple</a:t>
            </a:r>
          </a:p>
        </p:txBody>
      </p:sp>
      <p:sp>
        <p:nvSpPr>
          <p:cNvPr id="5" name="ruby-label">
            <a:extLst xmlns:a="http://schemas.openxmlformats.org/drawingml/2006/main">
              <a:ext uri="{FF2B5EF4-FFF2-40B4-BE49-F238E27FC236}">
                <a16:creationId xmlns:a16="http://schemas.microsoft.com/office/drawing/2014/main" id="{DE6B44B0-DE29-4814-9B67-89D83860EE6F}"/>
              </a:ext>
            </a:extLst>
          </p:cNvPr>
          <p:cNvSpPr>
            <a:spLocks xmlns:a="http://schemas.openxmlformats.org/drawingml/2006/main" noGrp="1"/>
          </p:cNvSpPr>
          <p:nvPr/>
        </p:nvSpPr>
        <p:spPr>
          <a:xfrm xmlns:a="http://schemas.openxmlformats.org/drawingml/2006/main">
            <a:off x="6861810" y="3009900"/>
            <a:ext cx="3708321"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8EC0C1"/>
                </a:solidFill>
                <a:latin typeface="Times New Roman"/>
                <a:ea typeface="Times New Roman"/>
                <a:cs typeface="Times New Roman"/>
              </a:defRPr>
            </a:defPPr>
            <a:lvl1pPr algn="l">
              <a:defRPr sz="2000" b="0" i="0">
                <a:solidFill>
                  <a:srgbClr val="8EC0C1"/>
                </a:solidFill>
                <a:latin typeface="Times New Roman"/>
                <a:ea typeface="Times New Roman"/>
                <a:cs typeface="Times New Roman"/>
              </a:defRPr>
            </a:lvl1pPr>
            <a:lvl2pPr algn="l">
              <a:defRPr sz="2000" b="0" i="0">
                <a:solidFill>
                  <a:srgbClr val="8EC0C1"/>
                </a:solidFill>
                <a:latin typeface="Times New Roman"/>
                <a:ea typeface="Times New Roman"/>
                <a:cs typeface="Times New Roman"/>
              </a:defRPr>
            </a:lvl2pPr>
            <a:lvl3pPr algn="l">
              <a:defRPr sz="2000" b="0" i="0">
                <a:solidFill>
                  <a:srgbClr val="8EC0C1"/>
                </a:solidFill>
                <a:latin typeface="Times New Roman"/>
                <a:ea typeface="Times New Roman"/>
                <a:cs typeface="Times New Roman"/>
              </a:defRPr>
            </a:lvl3pPr>
            <a:lvl4pPr algn="l">
              <a:defRPr sz="2000" b="0" i="0">
                <a:solidFill>
                  <a:srgbClr val="8EC0C1"/>
                </a:solidFill>
                <a:latin typeface="Times New Roman"/>
                <a:ea typeface="Times New Roman"/>
                <a:cs typeface="Times New Roman"/>
              </a:defRPr>
            </a:lvl4pPr>
            <a:lvl5pPr algn="l">
              <a:defRPr sz="2000" b="0" i="0">
                <a:solidFill>
                  <a:srgbClr val="8EC0C1"/>
                </a:solidFill>
                <a:latin typeface="Times New Roman"/>
                <a:ea typeface="Times New Roman"/>
                <a:cs typeface="Times New Roman"/>
              </a:defRPr>
            </a:lvl5pPr>
            <a:lvl6pPr algn="l">
              <a:defRPr sz="2000" b="0" i="0">
                <a:solidFill>
                  <a:srgbClr val="8EC0C1"/>
                </a:solidFill>
                <a:latin typeface="Times New Roman"/>
                <a:ea typeface="Times New Roman"/>
                <a:cs typeface="Times New Roman"/>
              </a:defRPr>
            </a:lvl6pPr>
            <a:lvl7pPr algn="l">
              <a:defRPr sz="2000" b="0" i="0">
                <a:solidFill>
                  <a:srgbClr val="8EC0C1"/>
                </a:solidFill>
                <a:latin typeface="Times New Roman"/>
                <a:ea typeface="Times New Roman"/>
                <a:cs typeface="Times New Roman"/>
              </a:defRPr>
            </a:lvl7pPr>
            <a:lvl8pPr algn="l">
              <a:defRPr sz="2000" b="0" i="0">
                <a:solidFill>
                  <a:srgbClr val="8EC0C1"/>
                </a:solidFill>
                <a:latin typeface="Times New Roman"/>
                <a:ea typeface="Times New Roman"/>
                <a:cs typeface="Times New Roman"/>
              </a:defRPr>
            </a:lvl8pPr>
            <a:lvl9pPr algn="l">
              <a:defRPr sz="2000" b="0" i="0">
                <a:solidFill>
                  <a:srgbClr val="8EC0C1"/>
                </a:solidFill>
                <a:latin typeface="Times New Roman"/>
                <a:ea typeface="Times New Roman"/>
                <a:cs typeface="Times New Roman"/>
              </a:defRPr>
            </a:lvl9pPr>
          </a:lstStyle>
          <a:p xmlns:a="http://schemas.openxmlformats.org/drawingml/2006/main">
            <a:pPr algn="l">
              <a:lnSpc>
                <a:spcPct val="120000"/>
              </a:lnSpc>
              <a:buNone/>
              <a:defRPr sz="2000" b="0" i="0">
                <a:solidFill>
                  <a:srgbClr val="8EC0C1"/>
                </a:solidFill>
                <a:latin typeface="Times New Roman"/>
                <a:ea typeface="Times New Roman"/>
                <a:cs typeface="Times New Roman"/>
              </a:defRPr>
            </a:pPr>
            <a:r>
              <a:rPr sz="2000" b="0" i="0">
                <a:solidFill>
                  <a:srgbClr val="8EC0C1"/>
                </a:solidFill>
                <a:latin typeface="Times New Roman"/>
                <a:ea typeface="Times New Roman"/>
                <a:cs typeface="Times New Roman"/>
              </a:rPr>
              <a:t>Ruby: nums is an Array</a:t>
            </a:r>
          </a:p>
        </p:txBody>
      </p:sp>
      <p:sp>
        <p:nvSpPr>
          <p:cNvPr id="6" name="python-sum">
            <a:extLst xmlns:a="http://schemas.openxmlformats.org/drawingml/2006/main">
              <a:ext uri="{FF2B5EF4-FFF2-40B4-BE49-F238E27FC236}">
                <a16:creationId xmlns:a16="http://schemas.microsoft.com/office/drawing/2014/main" id="{D74BDF3C-7B82-4F61-901C-6D8965FEBA3D}"/>
              </a:ext>
            </a:extLst>
          </p:cNvPr>
          <p:cNvSpPr>
            <a:spLocks xmlns:a="http://schemas.openxmlformats.org/drawingml/2006/main" noGrp="1"/>
          </p:cNvSpPr>
          <p:nvPr/>
        </p:nvSpPr>
        <p:spPr>
          <a:xfrm xmlns:a="http://schemas.openxmlformats.org/drawingml/2006/main">
            <a:off x="3057144" y="3495675"/>
            <a:ext cx="3619500" cy="233362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def</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mysum</a:t>
            </a:r>
            <a:r>
              <a:rPr sz="2000">
                <a:solidFill>
                  <a:srgbClr val="FFFFFF"/>
                </a:solidFill>
                <a:latin typeface="Courier New"/>
                <a:ea typeface="Courier New"/>
                <a:cs typeface="Courier New"/>
              </a:rPr>
              <a:t>(*</a:t>
            </a:r>
            <a:r>
              <a:rPr sz="2000">
                <a:solidFill>
                  <a:srgbClr val="C5FAEB"/>
                </a:solidFill>
                <a:latin typeface="Courier New"/>
                <a:ea typeface="Courier New"/>
                <a:cs typeface="Courier New"/>
              </a:rPr>
              <a:t>nums</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s</a:t>
            </a:r>
            <a:r>
              <a:rPr sz="2000">
                <a:solidFill>
                  <a:srgbClr val="FFFFFF"/>
                </a:solidFill>
                <a:latin typeface="Courier New"/>
                <a:ea typeface="Courier New"/>
                <a:cs typeface="Courier New"/>
              </a:rPr>
              <a:t> = </a:t>
            </a:r>
            <a:r>
              <a:rPr sz="2000">
                <a:solidFill>
                  <a:srgbClr val="D7BA7D"/>
                </a:solidFill>
                <a:latin typeface="Courier New"/>
                <a:ea typeface="Courier New"/>
                <a:cs typeface="Courier New"/>
              </a:rPr>
              <a:t>0</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for</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v</a:t>
            </a: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in</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nums</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s</a:t>
            </a:r>
            <a:r>
              <a:rPr sz="2000">
                <a:solidFill>
                  <a:srgbClr val="FFFFFF"/>
                </a:solidFill>
                <a:latin typeface="Courier New"/>
                <a:ea typeface="Courier New"/>
                <a:cs typeface="Courier New"/>
              </a:rPr>
              <a:t> += </a:t>
            </a:r>
            <a:r>
              <a:rPr sz="2000">
                <a:solidFill>
                  <a:srgbClr val="C5FAEB"/>
                </a:solidFill>
                <a:latin typeface="Courier New"/>
                <a:ea typeface="Courier New"/>
                <a:cs typeface="Courier New"/>
              </a:rPr>
              <a:t>v</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return</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s</a:t>
            </a:r>
          </a:p>
        </p:txBody>
      </p:sp>
      <p:sp>
        <p:nvSpPr>
          <p:cNvPr id="7" name="ruby-sum">
            <a:extLst xmlns:a="http://schemas.openxmlformats.org/drawingml/2006/main">
              <a:ext uri="{FF2B5EF4-FFF2-40B4-BE49-F238E27FC236}">
                <a16:creationId xmlns:a16="http://schemas.microsoft.com/office/drawing/2014/main" id="{1EC8B7ED-026C-4170-B055-CF7AFF9D9E84}"/>
              </a:ext>
            </a:extLst>
          </p:cNvPr>
          <p:cNvSpPr>
            <a:spLocks xmlns:a="http://schemas.openxmlformats.org/drawingml/2006/main" noGrp="1"/>
          </p:cNvSpPr>
          <p:nvPr/>
        </p:nvSpPr>
        <p:spPr>
          <a:xfrm xmlns:a="http://schemas.openxmlformats.org/drawingml/2006/main">
            <a:off x="6950631" y="3495675"/>
            <a:ext cx="3619500" cy="2333625"/>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def</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mysum</a:t>
            </a:r>
            <a:r>
              <a:rPr sz="2000">
                <a:solidFill>
                  <a:srgbClr val="FFFFFF"/>
                </a:solidFill>
                <a:latin typeface="Courier New"/>
                <a:ea typeface="Courier New"/>
                <a:cs typeface="Courier New"/>
              </a:rPr>
              <a:t>(*</a:t>
            </a:r>
            <a:r>
              <a:rPr sz="2000">
                <a:solidFill>
                  <a:srgbClr val="C5FAEB"/>
                </a:solidFill>
                <a:latin typeface="Courier New"/>
                <a:ea typeface="Courier New"/>
                <a:cs typeface="Courier New"/>
              </a:rPr>
              <a:t>nums</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s</a:t>
            </a:r>
            <a:r>
              <a:rPr sz="2000">
                <a:solidFill>
                  <a:srgbClr val="FFFFFF"/>
                </a:solidFill>
                <a:latin typeface="Courier New"/>
                <a:ea typeface="Courier New"/>
                <a:cs typeface="Courier New"/>
              </a:rPr>
              <a:t> = </a:t>
            </a:r>
            <a:r>
              <a:rPr sz="2000">
                <a:solidFill>
                  <a:srgbClr val="D7BA7D"/>
                </a:solidFill>
                <a:latin typeface="Courier New"/>
                <a:ea typeface="Courier New"/>
                <a:cs typeface="Courier New"/>
              </a:rPr>
              <a:t>0</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nums</a:t>
            </a:r>
            <a:r>
              <a:rPr sz="2000">
                <a:solidFill>
                  <a:srgbClr val="FFFFFF"/>
                </a:solidFill>
                <a:latin typeface="Courier New"/>
                <a:ea typeface="Courier New"/>
                <a:cs typeface="Courier New"/>
              </a:rPr>
              <a:t>.</a:t>
            </a:r>
            <a:r>
              <a:rPr sz="2000">
                <a:solidFill>
                  <a:srgbClr val="DCDCAA"/>
                </a:solidFill>
                <a:latin typeface="Courier New"/>
                <a:ea typeface="Courier New"/>
                <a:cs typeface="Courier New"/>
              </a:rPr>
              <a:t>each</a:t>
            </a: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do</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v</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s</a:t>
            </a:r>
            <a:r>
              <a:rPr sz="2000">
                <a:solidFill>
                  <a:srgbClr val="FFFFFF"/>
                </a:solidFill>
                <a:latin typeface="Courier New"/>
                <a:ea typeface="Courier New"/>
                <a:cs typeface="Courier New"/>
              </a:rPr>
              <a:t> += </a:t>
            </a:r>
            <a:r>
              <a:rPr sz="2000">
                <a:solidFill>
                  <a:srgbClr val="C5FAEB"/>
                </a:solidFill>
                <a:latin typeface="Courier New"/>
                <a:ea typeface="Courier New"/>
                <a:cs typeface="Courier New"/>
              </a:rPr>
              <a:t>v</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end</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return</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s</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end</a:t>
            </a:r>
          </a:p>
        </p:txBody>
      </p:sp>
      <p:sp>
        <p:nvSpPr>
          <p:cNvPr id="8" name="python-ruby-call">
            <a:extLst xmlns:a="http://schemas.openxmlformats.org/drawingml/2006/main">
              <a:ext uri="{FF2B5EF4-FFF2-40B4-BE49-F238E27FC236}">
                <a16:creationId xmlns:a16="http://schemas.microsoft.com/office/drawing/2014/main" id="{446BA635-9290-4B77-9E10-D7018A711F6E}"/>
              </a:ext>
            </a:extLst>
          </p:cNvPr>
          <p:cNvSpPr>
            <a:spLocks xmlns:a="http://schemas.openxmlformats.org/drawingml/2006/main" noGrp="1"/>
          </p:cNvSpPr>
          <p:nvPr/>
        </p:nvSpPr>
        <p:spPr>
          <a:xfrm xmlns:a="http://schemas.openxmlformats.org/drawingml/2006/main">
            <a:off x="2965704" y="6019800"/>
            <a:ext cx="7604427"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000" b="0" i="0">
                <a:solidFill>
                  <a:srgbClr val="FFFFFF"/>
                </a:solidFill>
                <a:latin typeface="Times New Roman"/>
                <a:ea typeface="Times New Roman"/>
                <a:cs typeface="Times New Roman"/>
              </a:defRPr>
            </a:defPPr>
            <a:lvl1pPr algn="l">
              <a:defRPr sz="2000" b="0" i="0">
                <a:solidFill>
                  <a:srgbClr val="FFFFFF"/>
                </a:solidFill>
                <a:latin typeface="Times New Roman"/>
                <a:ea typeface="Times New Roman"/>
                <a:cs typeface="Times New Roman"/>
              </a:defRPr>
            </a:lvl1pPr>
            <a:lvl2pPr algn="l">
              <a:defRPr sz="2000" b="0" i="0">
                <a:solidFill>
                  <a:srgbClr val="FFFFFF"/>
                </a:solidFill>
                <a:latin typeface="Times New Roman"/>
                <a:ea typeface="Times New Roman"/>
                <a:cs typeface="Times New Roman"/>
              </a:defRPr>
            </a:lvl2pPr>
            <a:lvl3pPr algn="l">
              <a:defRPr sz="2000" b="0" i="0">
                <a:solidFill>
                  <a:srgbClr val="FFFFFF"/>
                </a:solidFill>
                <a:latin typeface="Times New Roman"/>
                <a:ea typeface="Times New Roman"/>
                <a:cs typeface="Times New Roman"/>
              </a:defRPr>
            </a:lvl3pPr>
            <a:lvl4pPr algn="l">
              <a:defRPr sz="2000" b="0" i="0">
                <a:solidFill>
                  <a:srgbClr val="FFFFFF"/>
                </a:solidFill>
                <a:latin typeface="Times New Roman"/>
                <a:ea typeface="Times New Roman"/>
                <a:cs typeface="Times New Roman"/>
              </a:defRPr>
            </a:lvl4pPr>
            <a:lvl5pPr algn="l">
              <a:defRPr sz="2000" b="0" i="0">
                <a:solidFill>
                  <a:srgbClr val="FFFFFF"/>
                </a:solidFill>
                <a:latin typeface="Times New Roman"/>
                <a:ea typeface="Times New Roman"/>
                <a:cs typeface="Times New Roman"/>
              </a:defRPr>
            </a:lvl5pPr>
            <a:lvl6pPr algn="l">
              <a:defRPr sz="2000" b="0" i="0">
                <a:solidFill>
                  <a:srgbClr val="FFFFFF"/>
                </a:solidFill>
                <a:latin typeface="Times New Roman"/>
                <a:ea typeface="Times New Roman"/>
                <a:cs typeface="Times New Roman"/>
              </a:defRPr>
            </a:lvl6pPr>
            <a:lvl7pPr algn="l">
              <a:defRPr sz="2000" b="0" i="0">
                <a:solidFill>
                  <a:srgbClr val="FFFFFF"/>
                </a:solidFill>
                <a:latin typeface="Times New Roman"/>
                <a:ea typeface="Times New Roman"/>
                <a:cs typeface="Times New Roman"/>
              </a:defRPr>
            </a:lvl7pPr>
            <a:lvl8pPr algn="l">
              <a:defRPr sz="2000" b="0" i="0">
                <a:solidFill>
                  <a:srgbClr val="FFFFFF"/>
                </a:solidFill>
                <a:latin typeface="Times New Roman"/>
                <a:ea typeface="Times New Roman"/>
                <a:cs typeface="Times New Roman"/>
              </a:defRPr>
            </a:lvl8pPr>
            <a:lvl9pPr algn="l">
              <a:defRPr sz="2000" b="0" i="0">
                <a:solidFill>
                  <a:srgbClr val="FFFFFF"/>
                </a:solidFill>
                <a:latin typeface="Times New Roman"/>
                <a:ea typeface="Times New Roman"/>
                <a:cs typeface="Times New Roman"/>
              </a:defRPr>
            </a:lvl9pPr>
          </a:lstStyle>
          <a:p xmlns:a="http://schemas.openxmlformats.org/drawingml/2006/main">
            <a:pPr algn="l">
              <a:defRPr sz="2000" b="0" i="0">
                <a:solidFill>
                  <a:srgbClr val="FFFFFF"/>
                </a:solidFill>
                <a:latin typeface="Times New Roman"/>
                <a:ea typeface="Times New Roman"/>
                <a:cs typeface="Times New Roman"/>
              </a:defRPr>
            </a:pPr>
            <a:r>
              <a:rPr sz="2000">
                <a:solidFill>
                  <a:srgbClr val="C5FAEB"/>
                </a:solidFill>
                <a:latin typeface="Courier New"/>
                <a:ea typeface="Courier New"/>
                <a:cs typeface="Courier New"/>
              </a:rPr>
              <a:t>mysum(3, 4, 5)</a:t>
            </a:r>
            <a:r>
              <a:rPr sz="2000">
                <a:solidFill>
                  <a:srgbClr val="FFFFFF"/>
                </a:solidFill>
                <a:latin typeface="Times New Roman"/>
                <a:ea typeface="Times New Roman"/>
                <a:cs typeface="Times New Roman"/>
              </a:rPr>
              <a:t> returns </a:t>
            </a:r>
            <a:r>
              <a:rPr sz="2000">
                <a:solidFill>
                  <a:srgbClr val="C5FAEB"/>
                </a:solidFill>
                <a:latin typeface="Courier New"/>
                <a:ea typeface="Courier New"/>
                <a:cs typeface="Courier New"/>
              </a:rPr>
              <a:t>12</a:t>
            </a:r>
            <a:r>
              <a:rPr sz="2000">
                <a:solidFill>
                  <a:srgbClr val="FFFFFF"/>
                </a:solidFill>
                <a:latin typeface="Times New Roman"/>
                <a:ea typeface="Times New Roman"/>
                <a:cs typeface="Times New Roman"/>
              </a:rPr>
              <a:t> in both languages.</a:t>
            </a:r>
          </a:p>
        </p:txBody>
      </p:sp>
    </p:spTree>
    <p:extLst>
      <p:ext uri="{BB962C8B-B14F-4D97-AF65-F5344CB8AC3E}">
        <p14:creationId xmlns:p14="http://schemas.microsoft.com/office/powerpoint/2010/main" val="12543799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988CED74-74CA-4EB8-8E21-CE880728DE84}"/>
              </a:ext>
            </a:extLst>
          </p:cNvPr>
          <p:cNvSpPr>
            <a:spLocks xmlns:a="http://schemas.openxmlformats.org/drawingml/2006/main" noGrp="1"/>
          </p:cNvSpPr>
          <p:nvPr/>
        </p:nvSpPr>
        <p:spPr>
          <a:xfrm xmlns:a="http://schemas.openxmlformats.org/drawingml/2006/main">
            <a:off x="2611812" y="808053"/>
            <a:ext cx="7958328" cy="107723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r">
              <a:defRPr sz="3400" b="0" i="0">
                <a:solidFill>
                  <a:srgbClr val="FFFFFF"/>
                </a:solidFill>
                <a:latin typeface="Times New Roman"/>
                <a:ea typeface="Times New Roman"/>
                <a:cs typeface="Times New Roman"/>
              </a:defRPr>
            </a:defPPr>
            <a:lvl1pPr algn="r">
              <a:defRPr sz="3400" b="0" i="0">
                <a:solidFill>
                  <a:srgbClr val="FFFFFF"/>
                </a:solidFill>
                <a:latin typeface="Times New Roman"/>
                <a:ea typeface="Times New Roman"/>
                <a:cs typeface="Times New Roman"/>
              </a:defRPr>
            </a:lvl1pPr>
            <a:lvl2pPr algn="r">
              <a:defRPr sz="3400" b="0" i="0">
                <a:solidFill>
                  <a:srgbClr val="FFFFFF"/>
                </a:solidFill>
                <a:latin typeface="Times New Roman"/>
                <a:ea typeface="Times New Roman"/>
                <a:cs typeface="Times New Roman"/>
              </a:defRPr>
            </a:lvl2pPr>
            <a:lvl3pPr algn="r">
              <a:defRPr sz="3400" b="0" i="0">
                <a:solidFill>
                  <a:srgbClr val="FFFFFF"/>
                </a:solidFill>
                <a:latin typeface="Times New Roman"/>
                <a:ea typeface="Times New Roman"/>
                <a:cs typeface="Times New Roman"/>
              </a:defRPr>
            </a:lvl3pPr>
            <a:lvl4pPr algn="r">
              <a:defRPr sz="3400" b="0" i="0">
                <a:solidFill>
                  <a:srgbClr val="FFFFFF"/>
                </a:solidFill>
                <a:latin typeface="Times New Roman"/>
                <a:ea typeface="Times New Roman"/>
                <a:cs typeface="Times New Roman"/>
              </a:defRPr>
            </a:lvl4pPr>
            <a:lvl5pPr algn="r">
              <a:defRPr sz="3400" b="0" i="0">
                <a:solidFill>
                  <a:srgbClr val="FFFFFF"/>
                </a:solidFill>
                <a:latin typeface="Times New Roman"/>
                <a:ea typeface="Times New Roman"/>
                <a:cs typeface="Times New Roman"/>
              </a:defRPr>
            </a:lvl5pPr>
            <a:lvl6pPr algn="r">
              <a:defRPr sz="3400" b="0" i="0">
                <a:solidFill>
                  <a:srgbClr val="FFFFFF"/>
                </a:solidFill>
                <a:latin typeface="Times New Roman"/>
                <a:ea typeface="Times New Roman"/>
                <a:cs typeface="Times New Roman"/>
              </a:defRPr>
            </a:lvl6pPr>
            <a:lvl7pPr algn="r">
              <a:defRPr sz="3400" b="0" i="0">
                <a:solidFill>
                  <a:srgbClr val="FFFFFF"/>
                </a:solidFill>
                <a:latin typeface="Times New Roman"/>
                <a:ea typeface="Times New Roman"/>
                <a:cs typeface="Times New Roman"/>
              </a:defRPr>
            </a:lvl7pPr>
            <a:lvl8pPr algn="r">
              <a:defRPr sz="3400" b="0" i="0">
                <a:solidFill>
                  <a:srgbClr val="FFFFFF"/>
                </a:solidFill>
                <a:latin typeface="Times New Roman"/>
                <a:ea typeface="Times New Roman"/>
                <a:cs typeface="Times New Roman"/>
              </a:defRPr>
            </a:lvl8pPr>
            <a:lvl9pPr algn="r">
              <a:defRPr sz="3400" b="0" i="0">
                <a:solidFill>
                  <a:srgbClr val="FFFFFF"/>
                </a:solidFill>
                <a:latin typeface="Times New Roman"/>
                <a:ea typeface="Times New Roman"/>
                <a:cs typeface="Times New Roman"/>
              </a:defRPr>
            </a:lvl9pPr>
          </a:lstStyle>
          <a:p xmlns:a="http://schemas.openxmlformats.org/drawingml/2006/main">
            <a:pPr algn="r">
              <a:lnSpc>
                <a:spcPct val="100000"/>
              </a:lnSpc>
              <a:buNone/>
              <a:defRPr sz="3400" b="0" i="0">
                <a:solidFill>
                  <a:srgbClr val="FFFFFF"/>
                </a:solidFill>
                <a:latin typeface="Times New Roman"/>
                <a:ea typeface="Times New Roman"/>
                <a:cs typeface="Times New Roman"/>
              </a:defRPr>
            </a:pPr>
            <a:r>
              <a:rPr sz="3400" b="0" i="0">
                <a:solidFill>
                  <a:srgbClr val="FFFFFF"/>
                </a:solidFill>
                <a:latin typeface="Times New Roman"/>
                <a:ea typeface="Times New Roman"/>
                <a:cs typeface="Times New Roman"/>
              </a:rPr>
              <a:t>Variable Arguments: Python</a:t>
            </a:r>
          </a:p>
        </p:txBody>
      </p:sp>
      <p:sp>
        <p:nvSpPr>
          <p:cNvPr id="2" name="slide-number">
            <a:extLst xmlns:a="http://schemas.openxmlformats.org/drawingml/2006/main">
              <a:ext uri="{FF2B5EF4-FFF2-40B4-BE49-F238E27FC236}">
                <a16:creationId xmlns:a16="http://schemas.microsoft.com/office/drawing/2014/main" id="{2BFA43A2-F25A-4C2C-B458-8D68704E79D3}"/>
              </a:ext>
            </a:extLst>
          </p:cNvPr>
          <p:cNvSpPr>
            <a:spLocks xmlns:a="http://schemas.openxmlformats.org/drawingml/2006/main" noGrp="1"/>
          </p:cNvSpPr>
          <p:nvPr/>
        </p:nvSpPr>
        <p:spPr>
          <a:xfrm xmlns:a="http://schemas.openxmlformats.org/drawingml/2006/main">
            <a:off x="1013460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i="0">
                <a:solidFill>
                  <a:srgbClr val="8EC0C1"/>
                </a:solidFill>
                <a:latin typeface="Times New Roman"/>
                <a:ea typeface="Times New Roman"/>
                <a:cs typeface="Times New Roman"/>
              </a:defRPr>
            </a:defPPr>
            <a:lvl1pPr algn="r">
              <a:defRPr sz="1200" b="0" i="0">
                <a:solidFill>
                  <a:srgbClr val="8EC0C1"/>
                </a:solidFill>
                <a:latin typeface="Times New Roman"/>
                <a:ea typeface="Times New Roman"/>
                <a:cs typeface="Times New Roman"/>
              </a:defRPr>
            </a:lvl1pPr>
            <a:lvl2pPr algn="r">
              <a:defRPr sz="1200" b="0" i="0">
                <a:solidFill>
                  <a:srgbClr val="8EC0C1"/>
                </a:solidFill>
                <a:latin typeface="Times New Roman"/>
                <a:ea typeface="Times New Roman"/>
                <a:cs typeface="Times New Roman"/>
              </a:defRPr>
            </a:lvl2pPr>
            <a:lvl3pPr algn="r">
              <a:defRPr sz="1200" b="0" i="0">
                <a:solidFill>
                  <a:srgbClr val="8EC0C1"/>
                </a:solidFill>
                <a:latin typeface="Times New Roman"/>
                <a:ea typeface="Times New Roman"/>
                <a:cs typeface="Times New Roman"/>
              </a:defRPr>
            </a:lvl3pPr>
            <a:lvl4pPr algn="r">
              <a:defRPr sz="1200" b="0" i="0">
                <a:solidFill>
                  <a:srgbClr val="8EC0C1"/>
                </a:solidFill>
                <a:latin typeface="Times New Roman"/>
                <a:ea typeface="Times New Roman"/>
                <a:cs typeface="Times New Roman"/>
              </a:defRPr>
            </a:lvl4pPr>
            <a:lvl5pPr algn="r">
              <a:defRPr sz="1200" b="0" i="0">
                <a:solidFill>
                  <a:srgbClr val="8EC0C1"/>
                </a:solidFill>
                <a:latin typeface="Times New Roman"/>
                <a:ea typeface="Times New Roman"/>
                <a:cs typeface="Times New Roman"/>
              </a:defRPr>
            </a:lvl5pPr>
            <a:lvl6pPr algn="r">
              <a:defRPr sz="1200" b="0" i="0">
                <a:solidFill>
                  <a:srgbClr val="8EC0C1"/>
                </a:solidFill>
                <a:latin typeface="Times New Roman"/>
                <a:ea typeface="Times New Roman"/>
                <a:cs typeface="Times New Roman"/>
              </a:defRPr>
            </a:lvl6pPr>
            <a:lvl7pPr algn="r">
              <a:defRPr sz="1200" b="0" i="0">
                <a:solidFill>
                  <a:srgbClr val="8EC0C1"/>
                </a:solidFill>
                <a:latin typeface="Times New Roman"/>
                <a:ea typeface="Times New Roman"/>
                <a:cs typeface="Times New Roman"/>
              </a:defRPr>
            </a:lvl7pPr>
            <a:lvl8pPr algn="r">
              <a:defRPr sz="1200" b="0" i="0">
                <a:solidFill>
                  <a:srgbClr val="8EC0C1"/>
                </a:solidFill>
                <a:latin typeface="Times New Roman"/>
                <a:ea typeface="Times New Roman"/>
                <a:cs typeface="Times New Roman"/>
              </a:defRPr>
            </a:lvl8pPr>
            <a:lvl9pPr algn="r">
              <a:defRPr sz="1200" b="0" i="0">
                <a:solidFill>
                  <a:srgbClr val="8EC0C1"/>
                </a:solidFill>
                <a:latin typeface="Times New Roman"/>
                <a:ea typeface="Times New Roman"/>
                <a:cs typeface="Times New Roman"/>
              </a:defRPr>
            </a:lvl9pPr>
          </a:lstStyle>
          <a:p xmlns:a="http://schemas.openxmlformats.org/drawingml/2006/main">
            <a:pPr algn="r">
              <a:lnSpc>
                <a:spcPct val="100000"/>
              </a:lnSpc>
              <a:buNone/>
              <a:defRPr sz="1200" b="0" i="0">
                <a:solidFill>
                  <a:srgbClr val="8EC0C1"/>
                </a:solidFill>
                <a:latin typeface="Times New Roman"/>
                <a:ea typeface="Times New Roman"/>
                <a:cs typeface="Times New Roman"/>
              </a:defRPr>
            </a:pPr>
            <a:r>
              <a:rPr sz="1200" b="0" i="0">
                <a:solidFill>
                  <a:srgbClr val="8EC0C1"/>
                </a:solidFill>
                <a:latin typeface="Times New Roman"/>
                <a:ea typeface="Times New Roman"/>
                <a:cs typeface="Times New Roman"/>
              </a:rPr>
              <a:t>10</a:t>
            </a:r>
          </a:p>
        </p:txBody>
      </p:sp>
      <p:sp>
        <p:nvSpPr>
          <p:cNvPr id="3" name="keyword-collection">
            <a:extLst xmlns:a="http://schemas.openxmlformats.org/drawingml/2006/main">
              <a:ext uri="{FF2B5EF4-FFF2-40B4-BE49-F238E27FC236}">
                <a16:creationId xmlns:a16="http://schemas.microsoft.com/office/drawing/2014/main" id="{6A0A5216-2AA7-4BDA-8819-D00B6324A4D3}"/>
              </a:ext>
            </a:extLst>
          </p:cNvPr>
          <p:cNvSpPr>
            <a:spLocks xmlns:a="http://schemas.openxmlformats.org/drawingml/2006/main" noGrp="1"/>
          </p:cNvSpPr>
          <p:nvPr/>
        </p:nvSpPr>
        <p:spPr>
          <a:xfrm xmlns:a="http://schemas.openxmlformats.org/drawingml/2006/main">
            <a:off x="2773594" y="2009775"/>
            <a:ext cx="7796536"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1440" tIns="45720" rIns="91440" bIns="45720" anchor="t">
            <a:noAutofit/>
          </a:bodyPr>
          <a:lstStyle xmlns:a="http://schemas.openxmlformats.org/drawingml/2006/main">
            <a:defPPr algn="l">
              <a:defRPr sz="2400" b="0" i="0">
                <a:solidFill>
                  <a:srgbClr val="FFFFFF"/>
                </a:solidFill>
                <a:latin typeface="Times New Roman"/>
                <a:ea typeface="Times New Roman"/>
                <a:cs typeface="Times New Roman"/>
              </a:defRPr>
            </a:defPPr>
            <a:lvl1pPr algn="l">
              <a:defRPr sz="2400" b="0" i="0">
                <a:solidFill>
                  <a:srgbClr val="FFFFFF"/>
                </a:solidFill>
                <a:latin typeface="Times New Roman"/>
                <a:ea typeface="Times New Roman"/>
                <a:cs typeface="Times New Roman"/>
              </a:defRPr>
            </a:lvl1pPr>
            <a:lvl2pPr algn="l">
              <a:defRPr sz="2400" b="0" i="0">
                <a:solidFill>
                  <a:srgbClr val="FFFFFF"/>
                </a:solidFill>
                <a:latin typeface="Times New Roman"/>
                <a:ea typeface="Times New Roman"/>
                <a:cs typeface="Times New Roman"/>
              </a:defRPr>
            </a:lvl2pPr>
            <a:lvl3pPr algn="l">
              <a:defRPr sz="2400" b="0" i="0">
                <a:solidFill>
                  <a:srgbClr val="FFFFFF"/>
                </a:solidFill>
                <a:latin typeface="Times New Roman"/>
                <a:ea typeface="Times New Roman"/>
                <a:cs typeface="Times New Roman"/>
              </a:defRPr>
            </a:lvl3pPr>
            <a:lvl4pPr algn="l">
              <a:defRPr sz="2400" b="0" i="0">
                <a:solidFill>
                  <a:srgbClr val="FFFFFF"/>
                </a:solidFill>
                <a:latin typeface="Times New Roman"/>
                <a:ea typeface="Times New Roman"/>
                <a:cs typeface="Times New Roman"/>
              </a:defRPr>
            </a:lvl4pPr>
            <a:lvl5pPr algn="l">
              <a:defRPr sz="2400" b="0" i="0">
                <a:solidFill>
                  <a:srgbClr val="FFFFFF"/>
                </a:solidFill>
                <a:latin typeface="Times New Roman"/>
                <a:ea typeface="Times New Roman"/>
                <a:cs typeface="Times New Roman"/>
              </a:defRPr>
            </a:lvl5pPr>
            <a:lvl6pPr algn="l">
              <a:defRPr sz="2400" b="0" i="0">
                <a:solidFill>
                  <a:srgbClr val="FFFFFF"/>
                </a:solidFill>
                <a:latin typeface="Times New Roman"/>
                <a:ea typeface="Times New Roman"/>
                <a:cs typeface="Times New Roman"/>
              </a:defRPr>
            </a:lvl6pPr>
            <a:lvl7pPr algn="l">
              <a:defRPr sz="2400" b="0" i="0">
                <a:solidFill>
                  <a:srgbClr val="FFFFFF"/>
                </a:solidFill>
                <a:latin typeface="Times New Roman"/>
                <a:ea typeface="Times New Roman"/>
                <a:cs typeface="Times New Roman"/>
              </a:defRPr>
            </a:lvl7pPr>
            <a:lvl8pPr algn="l">
              <a:defRPr sz="2400" b="0" i="0">
                <a:solidFill>
                  <a:srgbClr val="FFFFFF"/>
                </a:solidFill>
                <a:latin typeface="Times New Roman"/>
                <a:ea typeface="Times New Roman"/>
                <a:cs typeface="Times New Roman"/>
              </a:defRPr>
            </a:lvl8pPr>
            <a:lvl9pPr algn="l">
              <a:defRPr sz="2400" b="0" i="0">
                <a:solidFill>
                  <a:srgbClr val="FFFFFF"/>
                </a:solidFill>
                <a:latin typeface="Times New Roman"/>
                <a:ea typeface="Times New Roman"/>
                <a:cs typeface="Times New Roman"/>
              </a:defRPr>
            </a:lvl9pPr>
          </a:lstStyle>
          <a:p xmlns:a="http://schemas.openxmlformats.org/drawingml/2006/main">
            <a:pPr marL="344488" indent="-344488" algn="l">
              <a:lnSpc>
                <a:spcPct val="120000"/>
              </a:lnSpc>
              <a:spcBef>
                <a:spcPts val="1000"/>
              </a:spcBef>
              <a:spcAft>
                <a:spcPts val="600"/>
              </a:spcAft>
              <a:buClr>
                <a:srgbClr val="8EC0C1"/>
              </a:buClr>
              <a:buFont typeface="Arial"/>
              <a:buChar char="▪"/>
              <a:defRPr sz="2400" b="0" i="0">
                <a:solidFill>
                  <a:srgbClr val="FFFFFF"/>
                </a:solidFill>
                <a:latin typeface="Times New Roman"/>
                <a:ea typeface="Times New Roman"/>
                <a:cs typeface="Times New Roman"/>
              </a:defRPr>
            </a:pPr>
            <a:r>
              <a:rPr sz="2400">
                <a:solidFill>
                  <a:srgbClr val="C5FAEB"/>
                </a:solidFill>
                <a:latin typeface="Courier New"/>
                <a:ea typeface="Courier New"/>
                <a:cs typeface="Courier New"/>
              </a:rPr>
              <a:t>**args</a:t>
            </a:r>
            <a:r>
              <a:rPr sz="2400">
                <a:solidFill>
                  <a:srgbClr val="FFFFFF"/>
                </a:solidFill>
                <a:latin typeface="Times New Roman"/>
                <a:ea typeface="Times New Roman"/>
                <a:cs typeface="Times New Roman"/>
              </a:rPr>
              <a:t> collects zero or more keyword arguments</a:t>
            </a:r>
            <a:br>
              <a:rPr sz="2400">
                <a:solidFill>
                  <a:srgbClr val="FFFFFF"/>
                </a:solidFill>
                <a:latin typeface="Times New Roman"/>
                <a:ea typeface="Times New Roman"/>
                <a:cs typeface="Times New Roman"/>
              </a:rPr>
            </a:br>
            <a:r>
              <a:rPr sz="2400">
                <a:solidFill>
                  <a:srgbClr val="FFFFFF"/>
                </a:solidFill>
                <a:latin typeface="Times New Roman"/>
                <a:ea typeface="Times New Roman"/>
                <a:cs typeface="Times New Roman"/>
              </a:rPr>
              <a:t>in a dictionary.</a:t>
            </a:r>
          </a:p>
        </p:txBody>
      </p:sp>
      <p:sp>
        <p:nvSpPr>
          <p:cNvPr id="4" name="python-keyword-checker">
            <a:extLst xmlns:a="http://schemas.openxmlformats.org/drawingml/2006/main">
              <a:ext uri="{FF2B5EF4-FFF2-40B4-BE49-F238E27FC236}">
                <a16:creationId xmlns:a16="http://schemas.microsoft.com/office/drawing/2014/main" id="{3AB7AA2C-8EB0-4A77-86DB-F79A8BB4BB24}"/>
              </a:ext>
            </a:extLst>
          </p:cNvPr>
          <p:cNvSpPr>
            <a:spLocks xmlns:a="http://schemas.openxmlformats.org/drawingml/2006/main" noGrp="1"/>
          </p:cNvSpPr>
          <p:nvPr/>
        </p:nvSpPr>
        <p:spPr>
          <a:xfrm xmlns:a="http://schemas.openxmlformats.org/drawingml/2006/main">
            <a:off x="2865025" y="3171825"/>
            <a:ext cx="7705106" cy="3181350"/>
          </a:xfrm>
          <a:prstGeom xmlns:a="http://schemas.openxmlformats.org/drawingml/2006/main" prst="rect">
            <a:avLst/>
          </a:prstGeom>
          <a:solidFill xmlns:a="http://schemas.openxmlformats.org/drawingml/2006/main">
            <a:srgbClr val="1E1E1E"/>
          </a:solidFill>
          <a:ln xmlns:a="http://schemas.openxmlformats.org/drawingml/2006/main" w="0">
            <a:noFill/>
            <a:prstDash val="solid"/>
          </a:ln>
        </p:spPr>
        <p:txBody>
          <a:bodyPr xmlns:a="http://schemas.openxmlformats.org/drawingml/2006/main" wrap="square" lIns="152400" tIns="114300" rIns="152400" bIns="114300" anchor="t">
            <a:noAutofit/>
          </a:bodyPr>
          <a:lstStyle xmlns:a="http://schemas.openxmlformats.org/drawingml/2006/main">
            <a:defPPr algn="l">
              <a:defRPr sz="2000" b="0" i="0">
                <a:solidFill>
                  <a:srgbClr val="FFFFFF"/>
                </a:solidFill>
                <a:latin typeface="Courier New"/>
                <a:ea typeface="Courier New"/>
                <a:cs typeface="Courier New"/>
              </a:defRPr>
            </a:defPPr>
            <a:lvl1pPr algn="l">
              <a:defRPr sz="2000" b="0" i="0">
                <a:solidFill>
                  <a:srgbClr val="FFFFFF"/>
                </a:solidFill>
                <a:latin typeface="Courier New"/>
                <a:ea typeface="Courier New"/>
                <a:cs typeface="Courier New"/>
              </a:defRPr>
            </a:lvl1pPr>
            <a:lvl2pPr algn="l">
              <a:defRPr sz="2000" b="0" i="0">
                <a:solidFill>
                  <a:srgbClr val="FFFFFF"/>
                </a:solidFill>
                <a:latin typeface="Courier New"/>
                <a:ea typeface="Courier New"/>
                <a:cs typeface="Courier New"/>
              </a:defRPr>
            </a:lvl2pPr>
            <a:lvl3pPr algn="l">
              <a:defRPr sz="2000" b="0" i="0">
                <a:solidFill>
                  <a:srgbClr val="FFFFFF"/>
                </a:solidFill>
                <a:latin typeface="Courier New"/>
                <a:ea typeface="Courier New"/>
                <a:cs typeface="Courier New"/>
              </a:defRPr>
            </a:lvl3pPr>
            <a:lvl4pPr algn="l">
              <a:defRPr sz="2000" b="0" i="0">
                <a:solidFill>
                  <a:srgbClr val="FFFFFF"/>
                </a:solidFill>
                <a:latin typeface="Courier New"/>
                <a:ea typeface="Courier New"/>
                <a:cs typeface="Courier New"/>
              </a:defRPr>
            </a:lvl4pPr>
            <a:lvl5pPr algn="l">
              <a:defRPr sz="2000" b="0" i="0">
                <a:solidFill>
                  <a:srgbClr val="FFFFFF"/>
                </a:solidFill>
                <a:latin typeface="Courier New"/>
                <a:ea typeface="Courier New"/>
                <a:cs typeface="Courier New"/>
              </a:defRPr>
            </a:lvl5pPr>
            <a:lvl6pPr algn="l">
              <a:defRPr sz="2000" b="0" i="0">
                <a:solidFill>
                  <a:srgbClr val="FFFFFF"/>
                </a:solidFill>
                <a:latin typeface="Courier New"/>
                <a:ea typeface="Courier New"/>
                <a:cs typeface="Courier New"/>
              </a:defRPr>
            </a:lvl6pPr>
            <a:lvl7pPr algn="l">
              <a:defRPr sz="2000" b="0" i="0">
                <a:solidFill>
                  <a:srgbClr val="FFFFFF"/>
                </a:solidFill>
                <a:latin typeface="Courier New"/>
                <a:ea typeface="Courier New"/>
                <a:cs typeface="Courier New"/>
              </a:defRPr>
            </a:lvl7pPr>
            <a:lvl8pPr algn="l">
              <a:defRPr sz="2000" b="0" i="0">
                <a:solidFill>
                  <a:srgbClr val="FFFFFF"/>
                </a:solidFill>
                <a:latin typeface="Courier New"/>
                <a:ea typeface="Courier New"/>
                <a:cs typeface="Courier New"/>
              </a:defRPr>
            </a:lvl8pPr>
            <a:lvl9pPr algn="l">
              <a:defRPr sz="2000" b="0" i="0">
                <a:solidFill>
                  <a:srgbClr val="FFFFFF"/>
                </a:solidFill>
                <a:latin typeface="Courier New"/>
                <a:ea typeface="Courier New"/>
                <a:cs typeface="Courier New"/>
              </a:defRPr>
            </a:lvl9pPr>
          </a:lstStyle>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C586C0"/>
                </a:solidFill>
                <a:latin typeface="Courier New"/>
                <a:ea typeface="Courier New"/>
                <a:cs typeface="Courier New"/>
              </a:rPr>
              <a:t>def</a:t>
            </a: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my_arg_checker</a:t>
            </a:r>
            <a:r>
              <a:rPr sz="2000">
                <a:solidFill>
                  <a:srgbClr val="FFFFFF"/>
                </a:solidFill>
                <a:latin typeface="Courier New"/>
                <a:ea typeface="Courier New"/>
                <a:cs typeface="Courier New"/>
              </a:rPr>
              <a:t>(**</a:t>
            </a:r>
            <a:r>
              <a:rPr sz="2000">
                <a:solidFill>
                  <a:srgbClr val="C5FAEB"/>
                </a:solidFill>
                <a:latin typeface="Courier New"/>
                <a:ea typeface="Courier New"/>
                <a:cs typeface="Courier New"/>
              </a:rPr>
              <a:t>args</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if</a:t>
            </a:r>
            <a:r>
              <a:rPr sz="2000">
                <a:solidFill>
                  <a:srgbClr val="FFFFFF"/>
                </a:solidFill>
                <a:latin typeface="Courier New"/>
                <a:ea typeface="Courier New"/>
                <a:cs typeface="Courier New"/>
              </a:rPr>
              <a:t> </a:t>
            </a:r>
            <a:r>
              <a:rPr sz="2000">
                <a:solidFill>
                  <a:srgbClr val="D7BA7D"/>
                </a:solidFill>
                <a:latin typeface="Courier New"/>
                <a:ea typeface="Courier New"/>
                <a:cs typeface="Courier New"/>
              </a:rPr>
              <a:t>"magic"</a:t>
            </a: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in</a:t>
            </a:r>
            <a:r>
              <a:rPr sz="2000">
                <a:solidFill>
                  <a:srgbClr val="FFFFFF"/>
                </a:solidFill>
                <a:latin typeface="Courier New"/>
                <a:ea typeface="Courier New"/>
                <a:cs typeface="Courier New"/>
              </a:rPr>
              <a:t> </a:t>
            </a:r>
            <a:r>
              <a:rPr sz="2000">
                <a:solidFill>
                  <a:srgbClr val="C5FAEB"/>
                </a:solidFill>
                <a:latin typeface="Courier New"/>
                <a:ea typeface="Courier New"/>
                <a:cs typeface="Courier New"/>
              </a:rPr>
              <a:t>args</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DCDCAA"/>
                </a:solidFill>
                <a:latin typeface="Courier New"/>
                <a:ea typeface="Courier New"/>
                <a:cs typeface="Courier New"/>
              </a:rPr>
              <a:t>print</a:t>
            </a:r>
            <a:r>
              <a:rPr sz="2000">
                <a:solidFill>
                  <a:srgbClr val="FFFFFF"/>
                </a:solidFill>
                <a:latin typeface="Courier New"/>
                <a:ea typeface="Courier New"/>
                <a:cs typeface="Courier New"/>
              </a:rPr>
              <a:t>(</a:t>
            </a:r>
            <a:r>
              <a:rPr sz="2000">
                <a:solidFill>
                  <a:srgbClr val="D7BA7D"/>
                </a:solidFill>
                <a:latin typeface="Courier New"/>
                <a:ea typeface="Courier New"/>
                <a:cs typeface="Courier New"/>
              </a:rPr>
              <a:t>f'magic={args["magic"]}'</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return</a:t>
            </a: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True</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return</a:t>
            </a:r>
            <a:r>
              <a:rPr sz="2000">
                <a:solidFill>
                  <a:srgbClr val="FFFFFF"/>
                </a:solidFill>
                <a:latin typeface="Courier New"/>
                <a:ea typeface="Courier New"/>
                <a:cs typeface="Courier New"/>
              </a:rPr>
              <a:t> </a:t>
            </a:r>
            <a:r>
              <a:rPr sz="2000">
                <a:solidFill>
                  <a:srgbClr val="C586C0"/>
                </a:solidFill>
                <a:latin typeface="Courier New"/>
                <a:ea typeface="Courier New"/>
                <a:cs typeface="Courier New"/>
              </a:rPr>
              <a:t>False</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FFFFFF"/>
                </a:solidFill>
                <a:latin typeface="Courier New"/>
                <a:ea typeface="Courier New"/>
                <a:cs typeface="Courier New"/>
              </a:rPr>
              <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9DB890"/>
                </a:solidFill>
                <a:latin typeface="Courier New"/>
                <a:ea typeface="Courier New"/>
                <a:cs typeface="Courier New"/>
              </a:rPr>
              <a:t># args = {"a": 4}</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DCDCAA"/>
                </a:solidFill>
                <a:latin typeface="Courier New"/>
                <a:ea typeface="Courier New"/>
                <a:cs typeface="Courier New"/>
              </a:rPr>
              <a:t>my_arg_checker</a:t>
            </a:r>
            <a:r>
              <a:rPr sz="2000">
                <a:solidFill>
                  <a:srgbClr val="FFFFFF"/>
                </a:solidFill>
                <a:latin typeface="Courier New"/>
                <a:ea typeface="Courier New"/>
                <a:cs typeface="Courier New"/>
              </a:rPr>
              <a:t>(a=</a:t>
            </a:r>
            <a:r>
              <a:rPr sz="2000">
                <a:solidFill>
                  <a:srgbClr val="D7BA7D"/>
                </a:solidFill>
                <a:latin typeface="Courier New"/>
                <a:ea typeface="Courier New"/>
                <a:cs typeface="Courier New"/>
              </a:rPr>
              <a:t>4</a:t>
            </a:r>
            <a:r>
              <a:rPr sz="2000">
                <a:solidFill>
                  <a:srgbClr val="FFFFFF"/>
                </a:solidFill>
                <a:latin typeface="Courier New"/>
                <a:ea typeface="Courier New"/>
                <a:cs typeface="Courier New"/>
              </a:rPr>
              <a:t>)</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9DB890"/>
                </a:solidFill>
                <a:latin typeface="Courier New"/>
                <a:ea typeface="Courier New"/>
                <a:cs typeface="Courier New"/>
              </a:rPr>
              <a:t># args = {"b": 3, "magic": 42}</a:t>
            </a:r>
          </a:p>
          <a:p xmlns:a="http://schemas.openxmlformats.org/drawingml/2006/main">
            <a:pPr algn="l">
              <a:lnSpc>
                <a:spcPct val="86000"/>
              </a:lnSpc>
              <a:spcBef>
                <a:spcPts val="0"/>
              </a:spcBef>
              <a:spcAft>
                <a:spcPts val="0"/>
              </a:spcAft>
              <a:defRPr sz="2000" b="0" i="0">
                <a:solidFill>
                  <a:srgbClr val="FFFFFF"/>
                </a:solidFill>
                <a:latin typeface="Courier New"/>
                <a:ea typeface="Courier New"/>
                <a:cs typeface="Courier New"/>
              </a:defRPr>
            </a:pPr>
            <a:r>
              <a:rPr sz="2000">
                <a:solidFill>
                  <a:srgbClr val="DCDCAA"/>
                </a:solidFill>
                <a:latin typeface="Courier New"/>
                <a:ea typeface="Courier New"/>
                <a:cs typeface="Courier New"/>
              </a:rPr>
              <a:t>my_arg_checker</a:t>
            </a:r>
            <a:r>
              <a:rPr sz="2000">
                <a:solidFill>
                  <a:srgbClr val="FFFFFF"/>
                </a:solidFill>
                <a:latin typeface="Courier New"/>
                <a:ea typeface="Courier New"/>
                <a:cs typeface="Courier New"/>
              </a:rPr>
              <a:t>(b=</a:t>
            </a:r>
            <a:r>
              <a:rPr sz="2000">
                <a:solidFill>
                  <a:srgbClr val="D7BA7D"/>
                </a:solidFill>
                <a:latin typeface="Courier New"/>
                <a:ea typeface="Courier New"/>
                <a:cs typeface="Courier New"/>
              </a:rPr>
              <a:t>3</a:t>
            </a:r>
            <a:r>
              <a:rPr sz="2000">
                <a:solidFill>
                  <a:srgbClr val="FFFFFF"/>
                </a:solidFill>
                <a:latin typeface="Courier New"/>
                <a:ea typeface="Courier New"/>
                <a:cs typeface="Courier New"/>
              </a:rPr>
              <a:t>, magic=</a:t>
            </a:r>
            <a:r>
              <a:rPr sz="2000">
                <a:solidFill>
                  <a:srgbClr val="D7BA7D"/>
                </a:solidFill>
                <a:latin typeface="Courier New"/>
                <a:ea typeface="Courier New"/>
                <a:cs typeface="Courier New"/>
              </a:rPr>
              <a:t>42</a:t>
            </a:r>
            <a:r>
              <a:rPr sz="2000">
                <a:solidFill>
                  <a:srgbClr val="FFFFFF"/>
                </a:solidFill>
                <a:latin typeface="Courier New"/>
                <a:ea typeface="Courier New"/>
                <a:cs typeface="Courier New"/>
              </a:rPr>
              <a:t>)</a:t>
            </a:r>
          </a:p>
        </p:txBody>
      </p:sp>
    </p:spTree>
    <p:extLst>
      <p:ext uri="{BB962C8B-B14F-4D97-AF65-F5344CB8AC3E}">
        <p14:creationId xmlns:p14="http://schemas.microsoft.com/office/powerpoint/2010/main" val="961677431"/>
      </p:ext>
    </p:extLst>
  </p:cSld>
</p:sld>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2026-10-26T15:40:08.8380000Z</dcterms:created>
  <dcterms:modified xsi:type="dcterms:W3CDTF">2026-10-26T15:40:08.8390000Z</dcterms:modified>
</coreProperties>
</file>