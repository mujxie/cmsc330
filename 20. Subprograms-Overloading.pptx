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nativeTemplate/slideLayouts/slideLayout10.xml" ContentType="application/vnd.openxmlformats-officedocument.presentationml.slideLayout+xml"/>
  <Override PartName="/ppt/nativeTemplate/slideLayouts/slideLayout7.xml" ContentType="application/vnd.openxmlformats-officedocument.presentationml.slideLayout+xml"/>
  <Override PartName="/ppt/nativeTemplate/slideLayouts/slideLayout11.xml" ContentType="application/vnd.openxmlformats-officedocument.presentationml.slideLayout+xml"/>
  <Override PartName="/ppt/nativeTemplate/slideLayouts/slideLayout2.xml" ContentType="application/vnd.openxmlformats-officedocument.presentationml.slideLayout+xml"/>
  <Override PartName="/ppt/nativeTemplate/theme/theme1.xml" ContentType="application/vnd.openxmlformats-officedocument.theme+xml"/>
  <Override PartName="/ppt/nativeTemplate/slideMasters/slideMaster1.xml" ContentType="application/vnd.openxmlformats-officedocument.presentationml.slideMaster+xml"/>
  <Override PartName="/ppt/nativeTemplate/slideLayouts/slideLayout9.xml" ContentType="application/vnd.openxmlformats-officedocument.presentationml.slideLayout+xml"/>
  <Override PartName="/ppt/nativeTemplate/slideLayouts/slideLayout8.xml" ContentType="application/vnd.openxmlformats-officedocument.presentationml.slideLayout+xml"/>
  <Override PartName="/ppt/nativeTemplate/slideLayouts/slideLayout3.xml" ContentType="application/vnd.openxmlformats-officedocument.presentationml.slideLayout+xml"/>
  <Override PartName="/ppt/nativeTemplate/slideLayouts/slideLayout6.xml" ContentType="application/vnd.openxmlformats-officedocument.presentationml.slideLayout+xml"/>
  <Override PartName="/ppt/nativeTemplate/slideLayouts/slideLayout4.xml" ContentType="application/vnd.openxmlformats-officedocument.presentationml.slideLayout+xml"/>
  <Default Extension="jpeg" ContentType="image/jpeg"/>
  <Override PartName="/ppt/nativeTemplate/slideLayouts/slideLayout5.xml" ContentType="application/vnd.openxmlformats-officedocument.presentationml.slideLayout+xml"/>
  <Override PartName="/ppt/nativeTemplate/slideLayouts/slideLayout1.xml" ContentType="application/vnd.openxmlformats-officedocument.presentationml.slideLayout+xml"/>
</Types>
</file>

<file path=_rels/.rels>&#65279;<?xml version="1.0" encoding="utf-8"?><Relationships xmlns="http://schemas.openxmlformats.org/package/2006/relationships"><Relationship Type="http://schemas.openxmlformats.org/package/2006/relationships/metadata/core-properties" Target="/docProps/core.xml" Id="R9aba0925162e4522" /><Relationship Type="http://schemas.openxmlformats.org/officeDocument/2006/relationships/extended-properties" Target="/docProps/app.xml" Id="Rfbafcd84acd14cb8" /><Relationship Type="http://schemas.openxmlformats.org/officeDocument/2006/relationships/officeDocument" Target="/ppt/presentation.xml" Id="R2f46c4c913514ecb" /></Relationships>
</file>

<file path=ppt/presentation.xml><?xml version="1.0" encoding="utf-8"?>
<p:presentation xmlns:p="http://schemas.openxmlformats.org/presentationml/2006/main">
  <p:sldMasterIdLst>
    <p:sldMasterId xmlns:ns0="http://schemas.openxmlformats.org/officeDocument/2006/relationships" id="2147483648" ns0:id="rIdNativeTemplateMaster"/>
  </p:sldMasterIdLst>
  <p:notesMasterIdLst>
    <p:notesMasterId xmlns:r="http://schemas.openxmlformats.org/officeDocument/2006/relationships" r:id="R1ec59b7a5178403b"/>
  </p:notesMasterIdLst>
  <p:sldIdLst>
    <p:sldId xmlns:r="http://schemas.openxmlformats.org/officeDocument/2006/relationships" id="256" r:id="R97a201d109784eb5"/>
    <p:sldId xmlns:r="http://schemas.openxmlformats.org/officeDocument/2006/relationships" id="257" r:id="R84f2a812f5244027"/>
    <p:sldId xmlns:r="http://schemas.openxmlformats.org/officeDocument/2006/relationships" id="258" r:id="Raaa4dc1324c74d98"/>
    <p:sldId xmlns:r="http://schemas.openxmlformats.org/officeDocument/2006/relationships" id="259" r:id="R0170ef78d10e4d52"/>
    <p:sldId xmlns:r="http://schemas.openxmlformats.org/officeDocument/2006/relationships" id="260" r:id="Rcc3496c7b7524575"/>
    <p:sldId xmlns:r="http://schemas.openxmlformats.org/officeDocument/2006/relationships" id="261" r:id="R15e0018d0cc541e7"/>
    <p:sldId xmlns:r="http://schemas.openxmlformats.org/officeDocument/2006/relationships" id="262" r:id="Rf115e9d212854e07"/>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Type="http://schemas.openxmlformats.org/officeDocument/2006/relationships/notesMaster" Target="/ppt/notesMasters/notesMaster1.xml" Id="R1ec59b7a5178403b"/><Relationship Type="http://schemas.openxmlformats.org/officeDocument/2006/relationships/presProps" Target="/ppt/presProps.xml" Id="R0bfa49a302f44496"/><Relationship Type="http://schemas.openxmlformats.org/officeDocument/2006/relationships/viewProps" Target="/ppt/viewProps.xml" Id="R6fc7a7aef4324c1b"/><Relationship Type="http://schemas.openxmlformats.org/officeDocument/2006/relationships/tableStyles" Target="/ppt/tableStyles.xml" Id="R2bc2f94107ee47fa"/><Relationship Type="http://schemas.openxmlformats.org/officeDocument/2006/relationships/slide" Target="/ppt/slides/slide1.xml" Id="R97a201d109784eb5"/><Relationship Type="http://schemas.openxmlformats.org/officeDocument/2006/relationships/slide" Target="/ppt/slides/slide2.xml" Id="R84f2a812f5244027"/><Relationship Type="http://schemas.openxmlformats.org/officeDocument/2006/relationships/slide" Target="/ppt/slides/slide3.xml" Id="Raaa4dc1324c74d98"/><Relationship Type="http://schemas.openxmlformats.org/officeDocument/2006/relationships/slide" Target="/ppt/slides/slide4.xml" Id="R0170ef78d10e4d52"/><Relationship Type="http://schemas.openxmlformats.org/officeDocument/2006/relationships/slide" Target="/ppt/slides/slide5.xml" Id="Rcc3496c7b7524575"/><Relationship Type="http://schemas.openxmlformats.org/officeDocument/2006/relationships/slide" Target="/ppt/slides/slide6.xml" Id="R15e0018d0cc541e7"/><Relationship Type="http://schemas.openxmlformats.org/officeDocument/2006/relationships/slide" Target="/ppt/slides/slide7.xml" Id="Rf115e9d212854e07"/><Relationship Id="rIdNativeTemplateMaster" Type="http://schemas.openxmlformats.org/officeDocument/2006/relationships/slideMaster" Target="nativeTemplate/slideMasters/slideMaster1.xml"/><Relationship Id="rIdNativeTemplateTheme" Type="http://schemas.openxmlformats.org/officeDocument/2006/relationships/theme" Target="nativeTemplate/theme/theme1.xml"/></Relationships>
</file>

<file path=ppt/nativeTemplate/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Arial"/>
              </a:rPr>
              <a:t>◤</a:t>
            </a:r>
            <a:endParaRPr lang="en-US" sz="24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chor="ct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3/3/26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3/3/26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3/3/26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nativeTemplate/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3/3/26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nativeTemplate/theme/_rels/theme1.xml.rels><?xml version='1.0' encoding='UTF-8' standalone='yes'?>
<Relationships xmlns="http://schemas.openxmlformats.org/package/2006/relationships"><Relationship Id="rId1" Type="http://schemas.openxmlformats.org/officeDocument/2006/relationships/image" Target="../media/image1.jpeg"/></Relationships>
</file>

<file path=ppt/nativeTemplate/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45d7425bf0594b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lumMod val="110000"/>
                <a:satMod val="105000"/>
                <a:alpha val="88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4000"/>
                <a:lumMod val="92000"/>
                <a:satMod val="130000"/>
              </a:schemeClr>
            </a:gs>
            <a:gs pos="100000">
              <a:schemeClr val="phClr">
                <a:shade val="76000"/>
                <a:lumMod val="88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lt2"/>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c8de10997f4877" /><Relationship Type="http://schemas.openxmlformats.org/officeDocument/2006/relationships/notesMaster" Target="/ppt/notesMasters/notesMaster1.xml" Id="R1df87a7d43644e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3b3ff01cd14b46" /><Relationship Type="http://schemas.openxmlformats.org/officeDocument/2006/relationships/notesMaster" Target="/ppt/notesMasters/notesMaster1.xml" Id="R271f01c18d4741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c3a592b3db4e2a" /><Relationship Type="http://schemas.openxmlformats.org/officeDocument/2006/relationships/notesMaster" Target="/ppt/notesMasters/notesMaster1.xml" Id="R2db960ab8e734d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68848d6bef49e0" /><Relationship Type="http://schemas.openxmlformats.org/officeDocument/2006/relationships/notesMaster" Target="/ppt/notesMasters/notesMaster1.xml" Id="Refc03e81c10641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8ca9fb499f4428" /><Relationship Type="http://schemas.openxmlformats.org/officeDocument/2006/relationships/notesMaster" Target="/ppt/notesMasters/notesMaster1.xml" Id="Rca9ea986d33247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8b82b234a4485a" /><Relationship Type="http://schemas.openxmlformats.org/officeDocument/2006/relationships/notesMaster" Target="/ppt/notesMasters/notesMaster1.xml" Id="Rccef77241a294c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e5f6b01a0c4b7c" /><Relationship Type="http://schemas.openxmlformats.org/officeDocument/2006/relationships/notesMaster" Target="/ppt/notesMasters/notesMaster1.xml" Id="R247da3072be940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focus: how several subprograms can share a name and how a compiler selects the appropriate overload. The examples use C++ and Java. Work through the median and area examples, then connect the same idea to overloaded constructors. Leave the first Pros/Cons slide open for class discussion before showing the next slide.</a:t>
            </a:r>
          </a:p>
          <a:p xmlns:a="http://schemas.openxmlformats.org/drawingml/2006/main">
            <a:r>
              <a:t/>
            </a:r>
          </a:p>
          <a:p xmlns:a="http://schemas.openxmlformats.org/drawingml/2006/main">
            <a:r>
              <a:t>Source lecture credit: originally developed by William Killian, modified by Stephanie Schwartz and Gary Zoppetti. Sources include Robert Sebesta's Concepts of Programming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SELECT THE MEDIAN OVERLOAD</a:t>
            </a:r>
          </a:p>
          <a:p xmlns:a="http://schemas.openxmlformats.org/drawingml/2006/main">
            <a:r>
              <a:t/>
            </a:r>
          </a:p>
          <a:p xmlns:a="http://schemas.openxmlformats.org/drawingml/2006/main">
            <a:r>
              <a:t>Ask students which declaration matches each call. Focus first on choosing the function, not on the algorithm that calculates a median. The slide shows declarations, so the functions still need definitions before a complete program can call them.</a:t>
            </a:r>
          </a:p>
          <a:p xmlns:a="http://schemas.openxmlformats.org/drawingml/2006/main">
            <a:r>
              <a:t/>
            </a:r>
          </a:p>
          <a:p xmlns:a="http://schemas.openxmlformats.org/drawingml/2006/main">
            <a:r>
              <a:t>1. median(1, 3, 2): each argument is an int. The first declaration is an exact match. The double version would require three conversions, so the int version is selected.</a:t>
            </a:r>
          </a:p>
          <a:p xmlns:a="http://schemas.openxmlformats.org/drawingml/2006/main">
            <a:r>
              <a:t>2. median(1.0, 3.0, 2.0): each argument is a double. The second declaration matches exactly.</a:t>
            </a:r>
          </a:p>
          <a:p xmlns:a="http://schemas.openxmlformats.org/drawingml/2006/main">
            <a:r>
              <a:t>3. Changing x, y, z to a, b, c would not create an overload. Parameter names do not distinguish these declarations.</a:t>
            </a:r>
          </a:p>
          <a:p xmlns:a="http://schemas.openxmlformats.org/drawingml/2006/main">
            <a:r>
              <a:t/>
            </a:r>
          </a:p>
          <a:p xmlns:a="http://schemas.openxmlformats.org/drawingml/2006/main">
            <a:r>
              <a:t>The different return types shown here are legal because the parameter types also differ. A different return type alone would not be enough.</a:t>
            </a:r>
          </a:p>
          <a:p xmlns:a="http://schemas.openxmlformats.org/drawingml/2006/main">
            <a:r>
              <a:t/>
            </a:r>
          </a:p>
          <a:p xmlns:a="http://schemas.openxmlformats.org/drawingml/2006/main">
            <a:r>
              <a:t>OPTIONAL C++ FOLLOW-UP</a:t>
            </a:r>
          </a:p>
          <a:p xmlns:a="http://schemas.openxmlformats.org/drawingml/2006/main">
            <a:r>
              <a:t>With these two declarations, median(1, 3.0, 2) is ambiguous in C++. The int version matches the first and third arguments exactly but converts the middle argument. The double version matches the middle argument exactly but converts the other two. Neither is a better match for every argument. Write median(1.0, 3.0, 2.0) if the double overload is intended. In Java, the mixed call chooses the double overload because the ints can widen to double and the double argument cannot implicitly narrow to int. Make the language explicit when discussing this difference.</a:t>
            </a:r>
          </a:p>
          <a:p xmlns:a="http://schemas.openxmlformats.org/drawingml/2006/main">
            <a:r>
              <a:t/>
            </a:r>
          </a:p>
          <a:p xmlns:a="http://schemas.openxmlformats.org/drawingml/2006/main">
            <a:r>
              <a:t>References</a:t>
            </a:r>
          </a:p>
          <a:p xmlns:a="http://schemas.openxmlformats.org/drawingml/2006/main">
            <a:r>
              <a:t>https://eel.is/c++draft/over.match</a:t>
            </a:r>
          </a:p>
          <a:p xmlns:a="http://schemas.openxmlformats.org/drawingml/2006/main">
            <a:r>
              <a:t>https://docs.oracle.com/javase/specs/jls/se25/html/jls-15.html#jls-15.12.2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TO APPLY THE RULES</a:t>
            </a:r>
          </a:p>
          <a:p xmlns:a="http://schemas.openxmlformats.org/drawingml/2006/main">
            <a:r>
              <a:t/>
            </a:r>
          </a:p>
          <a:p xmlns:a="http://schemas.openxmlformats.org/drawingml/2006/main">
            <a:r>
              <a:t>First list the functions with the relevant name. Check which functions can accept the argument count. Then compare the argument types with their parameter types, including conversions allowed by the language. A call needs an unambiguous applicable choice.</a:t>
            </a:r>
          </a:p>
          <a:p xmlns:a="http://schemas.openxmlformats.org/drawingml/2006/main">
            <a:r>
              <a:t/>
            </a:r>
          </a:p>
          <a:p xmlns:a="http://schemas.openxmlformats.org/drawingml/2006/main">
            <a:r>
              <a:t>A simple illegal pair in C++ or Java is:</a:t>
            </a:r>
          </a:p>
          <a:p xmlns:a="http://schemas.openxmlformats.org/drawingml/2006/main">
            <a:r>
              <a:t>  int f(int x);</a:t>
            </a:r>
          </a:p>
          <a:p xmlns:a="http://schemas.openxmlformats.org/drawingml/2006/main">
            <a:r>
              <a:t>  double f(int x);</a:t>
            </a:r>
          </a:p>
          <a:p xmlns:a="http://schemas.openxmlformats.org/drawingml/2006/main">
            <a:r>
              <a:t>Both declarations have the same parameter list. The assignment target, such as double result = f(1), does not make this pair legal.</a:t>
            </a:r>
          </a:p>
          <a:p xmlns:a="http://schemas.openxmlformats.org/drawingml/2006/main">
            <a:r>
              <a:t/>
            </a:r>
          </a:p>
          <a:p xmlns:a="http://schemas.openxmlformats.org/drawingml/2006/main">
            <a:r>
              <a:t>Arity means the number of parameters. Parameter order can matter: f(int, double) and f(double, int) have different parameter-type sequences. The ordinary examples in this lecture use parameter count and types. C++ also permits some member-function overloads distinguished by the object's const or reference qualifiers, which are outside this introductory example.</a:t>
            </a:r>
          </a:p>
          <a:p xmlns:a="http://schemas.openxmlformats.org/drawingml/2006/main">
            <a:r>
              <a:t/>
            </a:r>
          </a:p>
          <a:p xmlns:a="http://schemas.openxmlformats.org/drawingml/2006/main">
            <a:r>
              <a:t>OVERLOADING AND OVERRIDING</a:t>
            </a:r>
          </a:p>
          <a:p xmlns:a="http://schemas.openxmlformats.org/drawingml/2006/main">
            <a:r>
              <a:t>Overload selection in these examples occurs at compile time. Runtime dispatch can still choose the implementation of an overridden instance method or virtual function after its signature has been selected. The slide's rule therefore concerns overload selection; it does not mean every aspect of every method call is settled at compile time.</a:t>
            </a:r>
          </a:p>
          <a:p xmlns:a="http://schemas.openxmlformats.org/drawingml/2006/main">
            <a:r>
              <a:t/>
            </a:r>
          </a:p>
          <a:p xmlns:a="http://schemas.openxmlformats.org/drawingml/2006/main">
            <a:r>
              <a:t>References</a:t>
            </a:r>
          </a:p>
          <a:p xmlns:a="http://schemas.openxmlformats.org/drawingml/2006/main">
            <a:r>
              <a:t>https://www.ece.uvic.ca/~frodo/cppbook/cppdraft/n4861/over.load</a:t>
            </a:r>
          </a:p>
          <a:p xmlns:a="http://schemas.openxmlformats.org/drawingml/2006/main">
            <a:r>
              <a:t>https://learn.microsoft.com/en-us/cpp/cpp/function-overloading?view=msvc-170</a:t>
            </a:r>
          </a:p>
          <a:p xmlns:a="http://schemas.openxmlformats.org/drawingml/2006/main">
            <a:r>
              <a:t>https://docs.oracle.com/javase/specs/jls/se25/html/jls-8.html#jls-8.4.9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1: CIRCLE</a:t>
            </a:r>
          </a:p>
          <a:p xmlns:a="http://schemas.openxmlformats.org/drawingml/2006/main">
            <a:r>
              <a:t>Call: area(2.0).</a:t>
            </a:r>
          </a:p>
          <a:p xmlns:a="http://schemas.openxmlformats.org/drawingml/2006/main">
            <a:r>
              <a:t>1. There is one argument, so only area(double r) has the right arity.</a:t>
            </a:r>
          </a:p>
          <a:p xmlns:a="http://schemas.openxmlformats.org/drawingml/2006/main">
            <a:r>
              <a:t>2. Substitute r = 2.0 into 3.1415926535 * r * r.</a:t>
            </a:r>
          </a:p>
          <a:p xmlns:a="http://schemas.openxmlformats.org/drawingml/2006/main">
            <a:r>
              <a:t>3. The result is 12.566370614, approximately 12.5664 square units.</a:t>
            </a:r>
          </a:p>
          <a:p xmlns:a="http://schemas.openxmlformats.org/drawingml/2006/main">
            <a:r>
              <a:t/>
            </a:r>
          </a:p>
          <a:p xmlns:a="http://schemas.openxmlformats.org/drawingml/2006/main">
            <a:r>
              <a:t>WORKED EXAMPLE 2: RECTANGLE</a:t>
            </a:r>
          </a:p>
          <a:p xmlns:a="http://schemas.openxmlformats.org/drawingml/2006/main">
            <a:r>
              <a:t>Call: area(3.0, 4.0).</a:t>
            </a:r>
          </a:p>
          <a:p xmlns:a="http://schemas.openxmlformats.org/drawingml/2006/main">
            <a:r>
              <a:t>1. Two arguments select area(double x, double y).</a:t>
            </a:r>
          </a:p>
          <a:p xmlns:a="http://schemas.openxmlformats.org/drawingml/2006/main">
            <a:r>
              <a:t>2. Substitute x = 3.0 and y = 4.0.</a:t>
            </a:r>
          </a:p>
          <a:p xmlns:a="http://schemas.openxmlformats.org/drawingml/2006/main">
            <a:r>
              <a:t>3. The result is 3 * 4 = 12 square units.</a:t>
            </a:r>
          </a:p>
          <a:p xmlns:a="http://schemas.openxmlformats.org/drawingml/2006/main">
            <a:r>
              <a:t/>
            </a:r>
          </a:p>
          <a:p xmlns:a="http://schemas.openxmlformats.org/drawingml/2006/main">
            <a:r>
              <a:t>WORKED EXAMPLE 3: TRIANGLE</a:t>
            </a:r>
          </a:p>
          <a:p xmlns:a="http://schemas.openxmlformats.org/drawingml/2006/main">
            <a:r>
              <a:t>Call: area(3.0, 4.0, 5.0).</a:t>
            </a:r>
          </a:p>
          <a:p xmlns:a="http://schemas.openxmlformats.org/drawingml/2006/main">
            <a:r>
              <a:t>1. Three arguments select area(double a, double b, double c).</a:t>
            </a:r>
          </a:p>
          <a:p xmlns:a="http://schemas.openxmlformats.org/drawingml/2006/main">
            <a:r>
              <a:t>2. Calculate the semiperimeter: s = (3 + 4 + 5) / 2 = 6.</a:t>
            </a:r>
          </a:p>
          <a:p xmlns:a="http://schemas.openxmlformats.org/drawingml/2006/main">
            <a:r>
              <a:t>3. Calculate the product under the square root: 6 * (6 - 3) * (6 - 4) * (6 - 5) = 6 * 3 * 2 * 1 = 36.</a:t>
            </a:r>
          </a:p>
          <a:p xmlns:a="http://schemas.openxmlformats.org/drawingml/2006/main">
            <a:r>
              <a:t>4. Take the square root: sqrt(36) = 6 square units.</a:t>
            </a:r>
          </a:p>
          <a:p xmlns:a="http://schemas.openxmlformats.org/drawingml/2006/main">
            <a:r>
              <a:t>5. Check geometrically: this is a right triangle with legs 3 and 4, so its area is also (3 * 4) / 2 = 6.</a:t>
            </a:r>
          </a:p>
          <a:p xmlns:a="http://schemas.openxmlformats.org/drawingml/2006/main">
            <a:r>
              <a:t/>
            </a:r>
          </a:p>
          <a:p xmlns:a="http://schemas.openxmlformats.org/drawingml/2006/main">
            <a:r>
              <a:t>DISCUSSION</a:t>
            </a:r>
          </a:p>
          <a:p xmlns:a="http://schemas.openxmlformats.org/drawingml/2006/main">
            <a:r>
              <a:t>All three overloads return double. Argument count alone distinguishes them in this example. The compiler does not infer a shape from the values: area(3.0, 4.0) always calls the rectangle version, even if a programmer intended those numbers to mean a triangle's base and height. That would require a different interface.</a:t>
            </a:r>
          </a:p>
          <a:p xmlns:a="http://schemas.openxmlformats.org/drawingml/2006/main">
            <a:r>
              <a:t/>
            </a:r>
          </a:p>
          <a:p xmlns:a="http://schemas.openxmlformats.org/drawingml/2006/main">
            <a:r>
              <a:t>Assume nonnegative circle/rectangle dimensions and, for a nondegenerate triangle, positive sides satisfying the triangle inequalities. For example, 1, 2, 4 do not form a triangle and can make the square-root expression invalid. A production implementation should check input validity. These short functions focus on overloading.</a:t>
            </a:r>
          </a:p>
          <a:p xmlns:a="http://schemas.openxmlformats.org/drawingml/2006/main">
            <a:r>
              <a:t/>
            </a:r>
          </a:p>
          <a:p xmlns:a="http://schemas.openxmlformats.org/drawingml/2006/main">
            <a:r>
              <a:t>C++ uses #include &lt;cmath&gt; for std::sqrt.</a:t>
            </a:r>
          </a:p>
          <a:p xmlns:a="http://schemas.openxmlformats.org/drawingml/2006/main">
            <a:r>
              <a:t/>
            </a:r>
          </a:p>
          <a:p xmlns:a="http://schemas.openxmlformats.org/drawingml/2006/main">
            <a:r>
              <a:t>References</a:t>
            </a:r>
          </a:p>
          <a:p xmlns:a="http://schemas.openxmlformats.org/drawingml/2006/main">
            <a:r>
              <a:t>https://eel.is/c++draft/c.math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CONSTRUCTOR SELECTION IN C++</a:t>
            </a:r>
          </a:p>
          <a:p xmlns:a="http://schemas.openxmlformats.org/drawingml/2006/main">
            <a:r>
              <a:t>The slide contains declarations. Assuming suitable definitions exist, trace these statements:</a:t>
            </a:r>
          </a:p>
          <a:p xmlns:a="http://schemas.openxmlformats.org/drawingml/2006/main">
            <a:r>
              <a:t/>
            </a:r>
          </a:p>
          <a:p xmlns:a="http://schemas.openxmlformats.org/drawingml/2006/main">
            <a:r>
              <a:t>1. MyAdt a; calls the no-argument constructor. In C++, this is a default constructor.</a:t>
            </a:r>
          </a:p>
          <a:p xmlns:a="http://schemas.openxmlformats.org/drawingml/2006/main">
            <a:r>
              <a:t>2. MyAdt b(10); selects MyAdt(int size). Its body decides what a size of 10 means for this data type.</a:t>
            </a:r>
          </a:p>
          <a:p xmlns:a="http://schemas.openxmlformats.org/drawingml/2006/main">
            <a:r>
              <a:t>3. MyAdt c(b); selects the copy constructor. The named object b is an lvalue, so const MyAdt&amp; can bind to it.</a:t>
            </a:r>
          </a:p>
          <a:p xmlns:a="http://schemas.openxmlformats.org/drawingml/2006/main">
            <a:r>
              <a:t>4. MyAdt d(std::move(b)); can select the declared move constructor. Include &lt;utility&gt; for std::move. That expression enables the rvalue-reference overload; the constructor's implementation performs any resource transfer. Do not assume std::move itself copies or moves the object's data.</a:t>
            </a:r>
          </a:p>
          <a:p xmlns:a="http://schemas.openxmlformats.org/drawingml/2006/main">
            <a:r>
              <a:t/>
            </a:r>
          </a:p>
          <a:p xmlns:a="http://schemas.openxmlformats.org/drawingml/2006/main">
            <a:r>
              <a:t>CONSTRUCTOR SELECTION IN JAVA</a:t>
            </a:r>
          </a:p>
          <a:p xmlns:a="http://schemas.openxmlformats.org/drawingml/2006/main">
            <a:r>
              <a:t>new MyAdt(), new MyAdt(10), and new MyAdt(existing) choose the no-argument, int, and MyAdt-parameter forms, respectively. The Java fragment belongs inside class MyAdt. Its comment marks where the constructor must copy fields. A constructor taking MyAdt can implement copying, but Java gives it no automatic special copy behavior; the programmer defines how state is copied. In particular, assigning a reference field would share its referenced object unless the implementation explicitly copies that object too.</a:t>
            </a:r>
          </a:p>
          <a:p xmlns:a="http://schemas.openxmlformats.org/drawingml/2006/main">
            <a:r>
              <a:t/>
            </a:r>
          </a:p>
          <a:p xmlns:a="http://schemas.openxmlformats.org/drawingml/2006/main">
            <a:r>
              <a:t>TERMINOLOGY</a:t>
            </a:r>
          </a:p>
          <a:p xmlns:a="http://schemas.openxmlformats.org/drawingml/2006/main">
            <a:r>
              <a:t>In Java, an explicitly written MyAdt() is a no-argument constructor. The default constructor is the constructor supplied implicitly when the class declares none. In C++, a constructor callable with no arguments is called a default constructor.</a:t>
            </a:r>
          </a:p>
          <a:p xmlns:a="http://schemas.openxmlformats.org/drawingml/2006/main">
            <a:r>
              <a:t/>
            </a:r>
          </a:p>
          <a:p xmlns:a="http://schemas.openxmlformats.org/drawingml/2006/main">
            <a:r>
              <a:t>LANGUAGE DIFFERENCES</a:t>
            </a:r>
          </a:p>
          <a:p xmlns:a="http://schemas.openxmlformats.org/drawingml/2006/main">
            <a:r>
              <a:t>The Java by-value-looking parameter syntax denotes an object reference value. MyAdt(MyAdt other) is not a legal C++ copy-constructor declaration. C++ requires the corresponding copy form to take a reference, such as const MyAdt&amp;. Conversely, Java has no C++ reference-parameter syntax with &amp; or &amp;&amp;. The C++ class ends with a semicolon and the Java constructors need bodies.</a:t>
            </a:r>
          </a:p>
          <a:p xmlns:a="http://schemas.openxmlformats.org/drawingml/2006/main">
            <a:r>
              <a:t/>
            </a:r>
          </a:p>
          <a:p xmlns:a="http://schemas.openxmlformats.org/drawingml/2006/main">
            <a:r>
              <a:t>COMPLETE JAVA COPY EXAMPLE</a:t>
            </a:r>
          </a:p>
          <a:p xmlns:a="http://schemas.openxmlformats.org/drawingml/2006/main">
            <a:r>
              <a:t>The following small class demonstrates a copy constructor for one integer field. A production class may have more state and validation.</a:t>
            </a:r>
          </a:p>
          <a:p xmlns:a="http://schemas.openxmlformats.org/drawingml/2006/main">
            <a:r>
              <a:t/>
            </a:r>
          </a:p>
          <a:p xmlns:a="http://schemas.openxmlformats.org/drawingml/2006/main">
            <a:r>
              <a:t>class MyAdt {</a:t>
            </a:r>
          </a:p>
          <a:p xmlns:a="http://schemas.openxmlformats.org/drawingml/2006/main">
            <a:r>
              <a:t>    private int size;</a:t>
            </a:r>
          </a:p>
          <a:p xmlns:a="http://schemas.openxmlformats.org/drawingml/2006/main">
            <a:r>
              <a:t>    MyAdt() { this(0); }</a:t>
            </a:r>
          </a:p>
          <a:p xmlns:a="http://schemas.openxmlformats.org/drawingml/2006/main">
            <a:r>
              <a:t>    MyAdt(int size) { this.size = size; }</a:t>
            </a:r>
          </a:p>
          <a:p xmlns:a="http://schemas.openxmlformats.org/drawingml/2006/main">
            <a:r>
              <a:t>    MyAdt(MyAdt other) { this.size = other.size; }</a:t>
            </a:r>
          </a:p>
          <a:p xmlns:a="http://schemas.openxmlformats.org/drawingml/2006/main">
            <a:r>
              <a:t>    int size() { return size; }</a:t>
            </a:r>
          </a:p>
          <a:p xmlns:a="http://schemas.openxmlformats.org/drawingml/2006/main">
            <a:r>
              <a:t>}</a:t>
            </a:r>
          </a:p>
          <a:p xmlns:a="http://schemas.openxmlformats.org/drawingml/2006/main">
            <a:r>
              <a:t/>
            </a:r>
          </a:p>
          <a:p xmlns:a="http://schemas.openxmlformats.org/drawingml/2006/main">
            <a:r>
              <a:t>Trace these statements:</a:t>
            </a:r>
          </a:p>
          <a:p xmlns:a="http://schemas.openxmlformats.org/drawingml/2006/main">
            <a:r>
              <a:t>MyAdt original = new MyAdt(10);</a:t>
            </a:r>
          </a:p>
          <a:p xmlns:a="http://schemas.openxmlformats.org/drawingml/2006/main">
            <a:r>
              <a:t>MyAdt copy = new MyAdt(original);</a:t>
            </a:r>
          </a:p>
          <a:p xmlns:a="http://schemas.openxmlformats.org/drawingml/2006/main">
            <a:r>
              <a:t>System.out.println(copy.size()); // 10</a:t>
            </a:r>
          </a:p>
          <a:p xmlns:a="http://schemas.openxmlformats.org/drawingml/2006/main">
            <a:r>
              <a:t/>
            </a:r>
          </a:p>
          <a:p xmlns:a="http://schemas.openxmlformats.org/drawingml/2006/main">
            <a:r>
              <a:t>The first call chooses the int-parameter constructor and sets original.size to 10. The second call chooses the MyAdt-parameter constructor and copies that integer into a new object. original and copy refer to different objects, each with size 10.</a:t>
            </a:r>
          </a:p>
          <a:p xmlns:a="http://schemas.openxmlformats.org/drawingml/2006/main">
            <a:r>
              <a:t/>
            </a:r>
          </a:p>
          <a:p xmlns:a="http://schemas.openxmlformats.org/drawingml/2006/main">
            <a:r>
              <a:t>References</a:t>
            </a:r>
          </a:p>
          <a:p xmlns:a="http://schemas.openxmlformats.org/drawingml/2006/main">
            <a:r>
              <a:t>https://eel.is/c++draft/class.copy.ctor</a:t>
            </a:r>
          </a:p>
          <a:p xmlns:a="http://schemas.openxmlformats.org/drawingml/2006/main">
            <a:r>
              <a:t>https://eel.is/c++draft/class.default.ctor</a:t>
            </a:r>
          </a:p>
          <a:p xmlns:a="http://schemas.openxmlformats.org/drawingml/2006/main">
            <a:r>
              <a:t>https://docs.oracle.com/javase/specs/jls/se25/html/jls-8.html#jls-8.8.8</a:t>
            </a:r>
          </a:p>
          <a:p xmlns:a="http://schemas.openxmlformats.org/drawingml/2006/main">
            <a:r>
              <a:t>https://docs.oracle.com/javase/specs/jls/se25/html/jls-8.html#jls-8.8.9</a:t>
            </a:r>
          </a:p>
          <a:p xmlns:a="http://schemas.openxmlformats.org/drawingml/2006/main">
            <a:r>
              <a:t>https://eel.is/c++draft/forward</a:t>
            </a:r>
          </a:p>
          <a:p xmlns:a="http://schemas.openxmlformats.org/drawingml/2006/main">
            <a:r>
              <a:t>https://eel.is/c++draft/utility.syn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 DISCUSSION BEFORE THE ANSWER SLIDE</a:t>
            </a:r>
          </a:p>
          <a:p xmlns:a="http://schemas.openxmlformats.org/drawingml/2006/main">
            <a:r>
              <a:t>Give students one minute to list a benefit and a possible problem. Ask them to use the median, area, or constructor examples rather than repeat a definition. Leave this slide's columns open so answers come from the class.</a:t>
            </a:r>
          </a:p>
          <a:p xmlns:a="http://schemas.openxmlformats.org/drawingml/2006/main">
            <a:r>
              <a:t/>
            </a:r>
          </a:p>
          <a:p xmlns:a="http://schemas.openxmlformats.org/drawingml/2006/main">
            <a:r>
              <a:t>Possible prompts:</a:t>
            </a:r>
          </a:p>
          <a:p xmlns:a="http://schemas.openxmlformats.org/drawingml/2006/main">
            <a:r>
              <a:t>- Why might area be easier to remember than areaCircle, areaRectangle, and areaTriangle?</a:t>
            </a:r>
          </a:p>
          <a:p xmlns:a="http://schemas.openxmlformats.org/drawingml/2006/main">
            <a:r>
              <a:t>- What information must a reader know to decide which median call is selected?</a:t>
            </a:r>
          </a:p>
          <a:p xmlns:a="http://schemas.openxmlformats.org/drawingml/2006/main">
            <a:r>
              <a:t>- Can a familiar name hide an unexpected interpretation of an argument?</a:t>
            </a:r>
          </a:p>
          <a:p xmlns:a="http://schemas.openxmlformats.org/drawingml/2006/main">
            <a:r>
              <a:t>- What changes when a library adds an overload for a new type?</a:t>
            </a:r>
          </a:p>
          <a:p xmlns:a="http://schemas.openxmlformats.org/drawingml/2006/main">
            <a:r>
              <a:t/>
            </a:r>
          </a:p>
          <a:p xmlns:a="http://schemas.openxmlformats.org/drawingml/2006/main">
            <a:r>
              <a:t>Answers to develop on the next slide:</a:t>
            </a:r>
          </a:p>
          <a:p xmlns:a="http://schemas.openxmlformats.org/drawingml/2006/main">
            <a:r>
              <a:t>The same meaningful name can express a common operation across types or parameter lists. It also lets an interface support a new class without inventing an unrelated name. But callers may need to inspect types and conversion rules, and a large overload set can be harder to understand.</a:t>
            </a:r>
          </a:p>
          <a:p xmlns:a="http://schemas.openxmlformats.org/drawingml/2006/main">
            <a:r>
              <a:t/>
            </a:r>
          </a:p>
          <a:p xmlns:a="http://schemas.openxmlformats.org/drawingml/2006/main">
            <a:r>
              <a:t>Optional C++ prediction exercise:</a:t>
            </a:r>
          </a:p>
          <a:p xmlns:a="http://schemas.openxmlformats.org/drawingml/2006/main">
            <a:r>
              <a:t>  void report(int);</a:t>
            </a:r>
          </a:p>
          <a:p xmlns:a="http://schemas.openxmlformats.org/drawingml/2006/main">
            <a:r>
              <a:t>  void report(double);</a:t>
            </a:r>
          </a:p>
          <a:p xmlns:a="http://schemas.openxmlformats.org/drawingml/2006/main">
            <a:r>
              <a:t>  report(1.0f);</a:t>
            </a:r>
          </a:p>
          <a:p xmlns:a="http://schemas.openxmlformats.org/drawingml/2006/main">
            <a:r>
              <a:t>Ask which overload is called and why. The literal 1.0f has type float. Conversion to double is a floating-point promotion, while conversion to int is a floating-integral conversion. The double overload wins. This shows why source-level argument types matter even when the value looks like the integer 1. Detailed overload-ranking rules need not be memorized at this point.</a:t>
            </a:r>
          </a:p>
          <a:p xmlns:a="http://schemas.openxmlformats.org/drawingml/2006/main">
            <a:r>
              <a:t/>
            </a:r>
          </a:p>
          <a:p xmlns:a="http://schemas.openxmlformats.org/drawingml/2006/main">
            <a:r>
              <a:t>References</a:t>
            </a:r>
          </a:p>
          <a:p xmlns:a="http://schemas.openxmlformats.org/drawingml/2006/main">
            <a:r>
              <a:t>https://eel.is/c++draft/over.ics.rank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EACH POINT TO AN EXAMPLE</a:t>
            </a:r>
          </a:p>
          <a:p xmlns:a="http://schemas.openxmlformats.org/drawingml/2006/main">
            <a:r>
              <a:t/>
            </a:r>
          </a:p>
          <a:p xmlns:a="http://schemas.openxmlformats.org/drawingml/2006/main">
            <a:r>
              <a:t>Versatile: a caller can use area for a circle, rectangle, or triangle instead of memorizing three unrelated names. The signatures distinguish the intended operation.</a:t>
            </a:r>
          </a:p>
          <a:p xmlns:a="http://schemas.openxmlformats.org/drawingml/2006/main">
            <a:r>
              <a:t/>
            </a:r>
          </a:p>
          <a:p xmlns:a="http://schemas.openxmlformats.org/drawingml/2006/main">
            <a:r>
              <a:t>Customizable: a library might later add an operation for a user-defined shape or numeric type while retaining the familiar operation name. Keep the overloads conceptually consistent so the common name remains useful.</a:t>
            </a:r>
          </a:p>
          <a:p xmlns:a="http://schemas.openxmlformats.org/drawingml/2006/main">
            <a:r>
              <a:t/>
            </a:r>
          </a:p>
          <a:p xmlns:a="http://schemas.openxmlformats.org/drawingml/2006/main">
            <a:r>
              <a:t>Difficult to discern: seeing median(x, y, z) is not enough if the reader does not know the variables' types. The compiler knows those types, but the human reader may have to look up their declarations.</a:t>
            </a:r>
          </a:p>
          <a:p xmlns:a="http://schemas.openxmlformats.org/drawingml/2006/main">
            <a:r>
              <a:t/>
            </a:r>
          </a:p>
          <a:p xmlns:a="http://schemas.openxmlformats.org/drawingml/2006/main">
            <a:r>
              <a:t>Implicit conversions: with report(int) and report(double), report(1.0f) selects double because float-to-double is a promotion and float-to-int is a lower-ranked conversion. The result can surprise someone who reasons from the value 1 rather than its type.</a:t>
            </a:r>
          </a:p>
          <a:p xmlns:a="http://schemas.openxmlformats.org/drawingml/2006/main">
            <a:r>
              <a:t/>
            </a:r>
          </a:p>
          <a:p xmlns:a="http://schemas.openxmlformats.org/drawingml/2006/main">
            <a:r>
              <a:t>WORKED C++ AMBIGUITY EXAMPLE</a:t>
            </a:r>
          </a:p>
          <a:p xmlns:a="http://schemas.openxmlformats.org/drawingml/2006/main">
            <a:r>
              <a:t>Consider these different overloads:</a:t>
            </a:r>
          </a:p>
          <a:p xmlns:a="http://schemas.openxmlformats.org/drawingml/2006/main">
            <a:r>
              <a:t>  void choose(long);</a:t>
            </a:r>
          </a:p>
          <a:p xmlns:a="http://schemas.openxmlformats.org/drawingml/2006/main">
            <a:r>
              <a:t>  void choose(double);</a:t>
            </a:r>
          </a:p>
          <a:p xmlns:a="http://schemas.openxmlformats.org/drawingml/2006/main">
            <a:r>
              <a:t>  choose(1);</a:t>
            </a:r>
          </a:p>
          <a:p xmlns:a="http://schemas.openxmlformats.org/drawingml/2006/main">
            <a:r>
              <a:t>1. The literal 1 has type int.</a:t>
            </a:r>
          </a:p>
          <a:p xmlns:a="http://schemas.openxmlformats.org/drawingml/2006/main">
            <a:r>
              <a:t>2. Neither parameter is an exact match.</a:t>
            </a:r>
          </a:p>
          <a:p xmlns:a="http://schemas.openxmlformats.org/drawingml/2006/main">
            <a:r>
              <a:t>3. Both candidates accept a standard conversion, and neither conversion is better in this case.</a:t>
            </a:r>
          </a:p>
          <a:p xmlns:a="http://schemas.openxmlformats.org/drawingml/2006/main">
            <a:r>
              <a:t>4. The call is ambiguous, so the compiler rejects it.</a:t>
            </a:r>
          </a:p>
          <a:p xmlns:a="http://schemas.openxmlformats.org/drawingml/2006/main">
            <a:r>
              <a:t>5. choose(1L) selects long. choose(1.0) selects double. These calls state the intended type directly.</a:t>
            </a:r>
          </a:p>
          <a:p xmlns:a="http://schemas.openxmlformats.org/drawingml/2006/main">
            <a:r>
              <a:t/>
            </a:r>
          </a:p>
          <a:p xmlns:a="http://schemas.openxmlformats.org/drawingml/2006/main">
            <a:r>
              <a:t>Compilation cost: the compiler may need to examine more candidates and conversions as the overload set grows. This is a possible compile-time cost, not a guarantee that every added overload noticeably slows compilation, and ordinary static overload resolution does not add a runtime search through all overloads.</a:t>
            </a:r>
          </a:p>
          <a:p xmlns:a="http://schemas.openxmlformats.org/drawingml/2006/main">
            <a:r>
              <a:t/>
            </a:r>
          </a:p>
          <a:p xmlns:a="http://schemas.openxmlformats.org/drawingml/2006/main">
            <a:r>
              <a:t>Close by asking students to justify a selected overload using argument count, argument types, and any required conversions.</a:t>
            </a:r>
          </a:p>
          <a:p xmlns:a="http://schemas.openxmlformats.org/drawingml/2006/main">
            <a:r>
              <a:t/>
            </a:r>
          </a:p>
          <a:p xmlns:a="http://schemas.openxmlformats.org/drawingml/2006/main">
            <a:r>
              <a:t>References</a:t>
            </a:r>
          </a:p>
          <a:p xmlns:a="http://schemas.openxmlformats.org/drawingml/2006/main">
            <a:r>
              <a:t>https://eel.is/c++draft/over.match</a:t>
            </a:r>
          </a:p>
          <a:p xmlns:a="http://schemas.openxmlformats.org/drawingml/2006/main">
            <a:r>
              <a:t>https://eel.is/c++draft/over.ics.rank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s/_rels/slide1.xml.rels><?xml version='1.0' encoding='UTF-8' standalone='yes'?>
<Relationships xmlns="http://schemas.openxmlformats.org/package/2006/relationships"><Relationship Type="http://schemas.openxmlformats.org/officeDocument/2006/relationships/slideLayout" Target="../nativeTemplate/slideLayouts/slideLayout1.xml" Id="R2427fa7238ad4abe"/><Relationship Type="http://schemas.openxmlformats.org/officeDocument/2006/relationships/notesSlide" Target="/ppt/notesSlides/notesSlide1.xml" Id="Re9b26204cfb64367"/></Relationships>
</file>

<file path=ppt/slides/_rels/slide2.xml.rels><?xml version='1.0' encoding='UTF-8' standalone='yes'?>
<Relationships xmlns="http://schemas.openxmlformats.org/package/2006/relationships"><Relationship Type="http://schemas.openxmlformats.org/officeDocument/2006/relationships/slideLayout" Target="../nativeTemplate/slideLayouts/slideLayout2.xml" Id="R62ea491bde8a476d"/><Relationship Type="http://schemas.openxmlformats.org/officeDocument/2006/relationships/notesSlide" Target="/ppt/notesSlides/notesSlide2.xml" Id="Rbf552410d9cc4a87"/></Relationships>
</file>

<file path=ppt/slides/_rels/slide3.xml.rels><?xml version='1.0' encoding='UTF-8' standalone='yes'?>
<Relationships xmlns="http://schemas.openxmlformats.org/package/2006/relationships"><Relationship Type="http://schemas.openxmlformats.org/officeDocument/2006/relationships/slideLayout" Target="../nativeTemplate/slideLayouts/slideLayout2.xml" Id="R8197f126fab144ee"/><Relationship Type="http://schemas.openxmlformats.org/officeDocument/2006/relationships/notesSlide" Target="/ppt/notesSlides/notesSlide3.xml" Id="R1da829c488b243d9"/></Relationships>
</file>

<file path=ppt/slides/_rels/slide4.xml.rels><?xml version='1.0' encoding='UTF-8' standalone='yes'?>
<Relationships xmlns="http://schemas.openxmlformats.org/package/2006/relationships"><Relationship Type="http://schemas.openxmlformats.org/officeDocument/2006/relationships/slideLayout" Target="../nativeTemplate/slideLayouts/slideLayout2.xml" Id="Rc10618b732834de3"/><Relationship Type="http://schemas.openxmlformats.org/officeDocument/2006/relationships/notesSlide" Target="/ppt/notesSlides/notesSlide4.xml" Id="R4029cd97dc4c4ccf"/></Relationships>
</file>

<file path=ppt/slides/_rels/slide5.xml.rels><?xml version='1.0' encoding='UTF-8' standalone='yes'?>
<Relationships xmlns="http://schemas.openxmlformats.org/package/2006/relationships"><Relationship Type="http://schemas.openxmlformats.org/officeDocument/2006/relationships/slideLayout" Target="../nativeTemplate/slideLayouts/slideLayout2.xml" Id="Rfc7d8f31d0ea4368"/><Relationship Type="http://schemas.openxmlformats.org/officeDocument/2006/relationships/notesSlide" Target="/ppt/notesSlides/notesSlide5.xml" Id="Ra16f8b394bd54236"/></Relationships>
</file>

<file path=ppt/slides/_rels/slide6.xml.rels><?xml version='1.0' encoding='UTF-8' standalone='yes'?>
<Relationships xmlns="http://schemas.openxmlformats.org/package/2006/relationships"><Relationship Type="http://schemas.openxmlformats.org/officeDocument/2006/relationships/slideLayout" Target="../nativeTemplate/slideLayouts/slideLayout2.xml" Id="Ra6937f70544d4e2d"/><Relationship Type="http://schemas.openxmlformats.org/officeDocument/2006/relationships/notesSlide" Target="/ppt/notesSlides/notesSlide6.xml" Id="Re8a2bd3871f44a19"/></Relationships>
</file>

<file path=ppt/slides/_rels/slide7.xml.rels><?xml version='1.0' encoding='UTF-8' standalone='yes'?>
<Relationships xmlns="http://schemas.openxmlformats.org/package/2006/relationships"><Relationship Type="http://schemas.openxmlformats.org/officeDocument/2006/relationships/slideLayout" Target="../nativeTemplate/slideLayouts/slideLayout2.xml" Id="R0663dfc53d9c4e04"/><Relationship Type="http://schemas.openxmlformats.org/officeDocument/2006/relationships/notesSlide" Target="/ppt/notesSlides/notesSlide7.xml" Id="Rfdddf342cb374b0a"/></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49499EF0-6DE9-4576-B854-ECE7E2E298E3}"/>
              </a:ext>
            </a:extLst>
          </p:cNvPr>
          <p:cNvSpPr>
            <a:spLocks xmlns:a="http://schemas.openxmlformats.org/drawingml/2006/main" noGrp="1"/>
          </p:cNvSpPr>
          <p:nvPr/>
        </p:nvSpPr>
        <p:spPr>
          <a:xfrm xmlns:a="http://schemas.openxmlformats.org/drawingml/2006/main">
            <a:off x="2611812" y="3429000"/>
            <a:ext cx="5518071" cy="2268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6000" b="0" i="0">
                <a:solidFill>
                  <a:srgbClr val="FFFFFF"/>
                </a:solidFill>
                <a:latin typeface="Arial"/>
                <a:ea typeface="Arial"/>
                <a:cs typeface="Arial"/>
              </a:defRPr>
            </a:defPPr>
            <a:lvl1pPr algn="r">
              <a:defRPr sz="6000" b="0" i="0">
                <a:solidFill>
                  <a:srgbClr val="FFFFFF"/>
                </a:solidFill>
                <a:latin typeface="Arial"/>
                <a:ea typeface="Arial"/>
                <a:cs typeface="Arial"/>
              </a:defRPr>
            </a:lvl1pPr>
            <a:lvl2pPr algn="r">
              <a:defRPr sz="6000" b="0" i="0">
                <a:solidFill>
                  <a:srgbClr val="FFFFFF"/>
                </a:solidFill>
                <a:latin typeface="Arial"/>
                <a:ea typeface="Arial"/>
                <a:cs typeface="Arial"/>
              </a:defRPr>
            </a:lvl2pPr>
            <a:lvl3pPr algn="r">
              <a:defRPr sz="6000" b="0" i="0">
                <a:solidFill>
                  <a:srgbClr val="FFFFFF"/>
                </a:solidFill>
                <a:latin typeface="Arial"/>
                <a:ea typeface="Arial"/>
                <a:cs typeface="Arial"/>
              </a:defRPr>
            </a:lvl3pPr>
            <a:lvl4pPr algn="r">
              <a:defRPr sz="6000" b="0" i="0">
                <a:solidFill>
                  <a:srgbClr val="FFFFFF"/>
                </a:solidFill>
                <a:latin typeface="Arial"/>
                <a:ea typeface="Arial"/>
                <a:cs typeface="Arial"/>
              </a:defRPr>
            </a:lvl4pPr>
            <a:lvl5pPr algn="r">
              <a:defRPr sz="6000" b="0" i="0">
                <a:solidFill>
                  <a:srgbClr val="FFFFFF"/>
                </a:solidFill>
                <a:latin typeface="Arial"/>
                <a:ea typeface="Arial"/>
                <a:cs typeface="Arial"/>
              </a:defRPr>
            </a:lvl5pPr>
            <a:lvl6pPr algn="r">
              <a:defRPr sz="6000" b="0" i="0">
                <a:solidFill>
                  <a:srgbClr val="FFFFFF"/>
                </a:solidFill>
                <a:latin typeface="Arial"/>
                <a:ea typeface="Arial"/>
                <a:cs typeface="Arial"/>
              </a:defRPr>
            </a:lvl6pPr>
            <a:lvl7pPr algn="r">
              <a:defRPr sz="6000" b="0" i="0">
                <a:solidFill>
                  <a:srgbClr val="FFFFFF"/>
                </a:solidFill>
                <a:latin typeface="Arial"/>
                <a:ea typeface="Arial"/>
                <a:cs typeface="Arial"/>
              </a:defRPr>
            </a:lvl7pPr>
            <a:lvl8pPr algn="r">
              <a:defRPr sz="6000" b="0" i="0">
                <a:solidFill>
                  <a:srgbClr val="FFFFFF"/>
                </a:solidFill>
                <a:latin typeface="Arial"/>
                <a:ea typeface="Arial"/>
                <a:cs typeface="Arial"/>
              </a:defRPr>
            </a:lvl8pPr>
            <a:lvl9pPr algn="r">
              <a:defRPr sz="6000" b="0" i="0">
                <a:solidFill>
                  <a:srgbClr val="FFFFFF"/>
                </a:solidFill>
                <a:latin typeface="Arial"/>
                <a:ea typeface="Arial"/>
                <a:cs typeface="Arial"/>
              </a:defRPr>
            </a:lvl9pPr>
          </a:lstStyle>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Subprograms:</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Overloading</a:t>
            </a:r>
          </a:p>
        </p:txBody>
      </p:sp>
      <p:sp>
        <p:nvSpPr>
          <p:cNvPr id="2" name="cover-subtitle">
            <a:extLst xmlns:a="http://schemas.openxmlformats.org/drawingml/2006/main">
              <a:ext uri="{FF2B5EF4-FFF2-40B4-BE49-F238E27FC236}">
                <a16:creationId xmlns:a16="http://schemas.microsoft.com/office/drawing/2014/main" id="{E953D129-36F6-4EB2-AF9E-E590673C043B}"/>
              </a:ext>
            </a:extLst>
          </p:cNvPr>
          <p:cNvSpPr>
            <a:spLocks xmlns:a="http://schemas.openxmlformats.org/drawingml/2006/main" noGrp="1"/>
          </p:cNvSpPr>
          <p:nvPr/>
        </p:nvSpPr>
        <p:spPr>
          <a:xfrm xmlns:a="http://schemas.openxmlformats.org/drawingml/2006/main">
            <a:off x="2772270" y="2268788"/>
            <a:ext cx="5357603" cy="116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b">
            <a:noAutofit/>
          </a:bodyPr>
          <a:lstStyle xmlns:a="http://schemas.openxmlformats.org/drawingml/2006/main">
            <a:defPPr algn="r">
              <a:defRPr sz="1800" b="0" i="0">
                <a:solidFill>
                  <a:srgbClr val="FFFFFF"/>
                </a:solidFill>
                <a:latin typeface="Arial"/>
                <a:ea typeface="Arial"/>
                <a:cs typeface="Arial"/>
              </a:defRPr>
            </a:defPPr>
            <a:lvl1pPr algn="r">
              <a:defRPr sz="1800" b="0" i="0">
                <a:solidFill>
                  <a:srgbClr val="FFFFFF"/>
                </a:solidFill>
                <a:latin typeface="Arial"/>
                <a:ea typeface="Arial"/>
                <a:cs typeface="Arial"/>
              </a:defRPr>
            </a:lvl1pPr>
            <a:lvl2pPr algn="r">
              <a:defRPr sz="1800" b="0" i="0">
                <a:solidFill>
                  <a:srgbClr val="FFFFFF"/>
                </a:solidFill>
                <a:latin typeface="Arial"/>
                <a:ea typeface="Arial"/>
                <a:cs typeface="Arial"/>
              </a:defRPr>
            </a:lvl2pPr>
            <a:lvl3pPr algn="r">
              <a:defRPr sz="1800" b="0" i="0">
                <a:solidFill>
                  <a:srgbClr val="FFFFFF"/>
                </a:solidFill>
                <a:latin typeface="Arial"/>
                <a:ea typeface="Arial"/>
                <a:cs typeface="Arial"/>
              </a:defRPr>
            </a:lvl3pPr>
            <a:lvl4pPr algn="r">
              <a:defRPr sz="1800" b="0" i="0">
                <a:solidFill>
                  <a:srgbClr val="FFFFFF"/>
                </a:solidFill>
                <a:latin typeface="Arial"/>
                <a:ea typeface="Arial"/>
                <a:cs typeface="Arial"/>
              </a:defRPr>
            </a:lvl4pPr>
            <a:lvl5pPr algn="r">
              <a:defRPr sz="1800" b="0" i="0">
                <a:solidFill>
                  <a:srgbClr val="FFFFFF"/>
                </a:solidFill>
                <a:latin typeface="Arial"/>
                <a:ea typeface="Arial"/>
                <a:cs typeface="Arial"/>
              </a:defRPr>
            </a:lvl5pPr>
            <a:lvl6pPr algn="r">
              <a:defRPr sz="1800" b="0" i="0">
                <a:solidFill>
                  <a:srgbClr val="FFFFFF"/>
                </a:solidFill>
                <a:latin typeface="Arial"/>
                <a:ea typeface="Arial"/>
                <a:cs typeface="Arial"/>
              </a:defRPr>
            </a:lvl6pPr>
            <a:lvl7pPr algn="r">
              <a:defRPr sz="1800" b="0" i="0">
                <a:solidFill>
                  <a:srgbClr val="FFFFFF"/>
                </a:solidFill>
                <a:latin typeface="Arial"/>
                <a:ea typeface="Arial"/>
                <a:cs typeface="Arial"/>
              </a:defRPr>
            </a:lvl7pPr>
            <a:lvl8pPr algn="r">
              <a:defRPr sz="1800" b="0" i="0">
                <a:solidFill>
                  <a:srgbClr val="FFFFFF"/>
                </a:solidFill>
                <a:latin typeface="Arial"/>
                <a:ea typeface="Arial"/>
                <a:cs typeface="Arial"/>
              </a:defRPr>
            </a:lvl8pPr>
            <a:lvl9pPr algn="r">
              <a:defRPr sz="1800" b="0" i="0">
                <a:solidFill>
                  <a:srgbClr val="FFFFFF"/>
                </a:solidFill>
                <a:latin typeface="Arial"/>
                <a:ea typeface="Arial"/>
                <a:cs typeface="Arial"/>
              </a:defRPr>
            </a:lvl9pPr>
          </a:lstStyle>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CMSC 330: Programming Languages</a:t>
            </a:r>
          </a:p>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Millersville University</a:t>
            </a:r>
          </a:p>
        </p:txBody>
      </p:sp>
    </p:spTree>
    <p:extLst>
      <p:ext uri="{BB962C8B-B14F-4D97-AF65-F5344CB8AC3E}">
        <p14:creationId xmlns:p14="http://schemas.microsoft.com/office/powerpoint/2010/main" val="6015471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A5D7413-F173-43D4-8011-0B8BE54B6919}"/>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Function Overloading</a:t>
            </a:r>
          </a:p>
        </p:txBody>
      </p:sp>
      <p:sp>
        <p:nvSpPr>
          <p:cNvPr id="2" name="slide-number">
            <a:extLst xmlns:a="http://schemas.openxmlformats.org/drawingml/2006/main">
              <a:ext uri="{FF2B5EF4-FFF2-40B4-BE49-F238E27FC236}">
                <a16:creationId xmlns:a16="http://schemas.microsoft.com/office/drawing/2014/main" id="{EACBD31F-B094-44ED-8222-6C89FCA3548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a:t>
            </a:r>
          </a:p>
        </p:txBody>
      </p:sp>
      <p:sp>
        <p:nvSpPr>
          <p:cNvPr id="3" name="definition">
            <a:extLst xmlns:a="http://schemas.openxmlformats.org/drawingml/2006/main">
              <a:ext uri="{FF2B5EF4-FFF2-40B4-BE49-F238E27FC236}">
                <a16:creationId xmlns:a16="http://schemas.microsoft.com/office/drawing/2014/main" id="{A2876849-55A7-4658-8397-D36A067FAC38}"/>
              </a:ext>
            </a:extLst>
          </p:cNvPr>
          <p:cNvSpPr>
            <a:spLocks xmlns:a="http://schemas.openxmlformats.org/drawingml/2006/main" noGrp="1"/>
          </p:cNvSpPr>
          <p:nvPr/>
        </p:nvSpPr>
        <p:spPr>
          <a:xfrm xmlns:a="http://schemas.openxmlformats.org/drawingml/2006/main">
            <a:off x="2773594" y="2000250"/>
            <a:ext cx="7796536"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function is </a:t>
            </a:r>
            <a:r>
              <a:rPr sz="2400" i="1">
                <a:solidFill>
                  <a:srgbClr val="C5FAEB"/>
                </a:solidFill>
                <a:latin typeface="Times New Roman"/>
                <a:ea typeface="Times New Roman"/>
                <a:cs typeface="Times New Roman"/>
              </a:rPr>
              <a:t>overloaded</a:t>
            </a:r>
            <a:r>
              <a:rPr sz="2400">
                <a:solidFill>
                  <a:srgbClr val="FFFFFF"/>
                </a:solidFill>
                <a:latin typeface="Times New Roman"/>
                <a:ea typeface="Times New Roman"/>
                <a:cs typeface="Times New Roman"/>
              </a:rPr>
              <a:t> when the </a:t>
            </a:r>
            <a:r>
              <a:rPr sz="2400" b="1">
                <a:solidFill>
                  <a:srgbClr val="FFFFFF"/>
                </a:solidFill>
                <a:latin typeface="Times New Roman"/>
                <a:ea typeface="Times New Roman"/>
                <a:cs typeface="Times New Roman"/>
              </a:rPr>
              <a:t>same name</a:t>
            </a:r>
            <a:r>
              <a:rPr sz="2400">
                <a:solidFill>
                  <a:srgbClr val="FFFFFF"/>
                </a:solidFill>
                <a:latin typeface="Times New Roman"/>
                <a:ea typeface="Times New Roman"/>
                <a:cs typeface="Times New Roman"/>
              </a:rPr>
              <a:t> has</a:t>
            </a:r>
            <a:br>
              <a:rPr sz="2400">
                <a:solidFill>
                  <a:srgbClr val="FFFFFF"/>
                </a:solidFill>
                <a:latin typeface="Times New Roman"/>
                <a:ea typeface="Times New Roman"/>
                <a:cs typeface="Times New Roman"/>
              </a:rPr>
            </a:br>
            <a:r>
              <a:rPr sz="2400" b="1">
                <a:solidFill>
                  <a:srgbClr val="FFFFFF"/>
                </a:solidFill>
                <a:latin typeface="Times New Roman"/>
                <a:ea typeface="Times New Roman"/>
                <a:cs typeface="Times New Roman"/>
              </a:rPr>
              <a:t>different signatures</a:t>
            </a:r>
            <a:r>
              <a:rPr sz="2400">
                <a:solidFill>
                  <a:srgbClr val="FFFFFF"/>
                </a:solidFill>
                <a:latin typeface="Times New Roman"/>
                <a:ea typeface="Times New Roman"/>
                <a:cs typeface="Times New Roman"/>
              </a:rPr>
              <a:t>.</a:t>
            </a:r>
          </a:p>
        </p:txBody>
      </p:sp>
      <p:sp>
        <p:nvSpPr>
          <p:cNvPr id="4" name="selection">
            <a:extLst xmlns:a="http://schemas.openxmlformats.org/drawingml/2006/main">
              <a:ext uri="{FF2B5EF4-FFF2-40B4-BE49-F238E27FC236}">
                <a16:creationId xmlns:a16="http://schemas.microsoft.com/office/drawing/2014/main" id="{1485DCC2-2668-4274-B842-4E82C7914187}"/>
              </a:ext>
            </a:extLst>
          </p:cNvPr>
          <p:cNvSpPr>
            <a:spLocks xmlns:a="http://schemas.openxmlformats.org/drawingml/2006/main" noGrp="1"/>
          </p:cNvSpPr>
          <p:nvPr/>
        </p:nvSpPr>
        <p:spPr>
          <a:xfrm xmlns:a="http://schemas.openxmlformats.org/drawingml/2006/main">
            <a:off x="2773594" y="3171825"/>
            <a:ext cx="7796536"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compiler selects an overload using the </a:t>
            </a:r>
            <a:r>
              <a:rPr sz="2400" b="1">
                <a:solidFill>
                  <a:srgbClr val="FFFFFF"/>
                </a:solidFill>
                <a:latin typeface="Times New Roman"/>
                <a:ea typeface="Times New Roman"/>
                <a:cs typeface="Times New Roman"/>
              </a:rPr>
              <a:t>number</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and </a:t>
            </a:r>
            <a:r>
              <a:rPr sz="2400" b="1">
                <a:solidFill>
                  <a:srgbClr val="FFFFFF"/>
                </a:solidFill>
                <a:latin typeface="Times New Roman"/>
                <a:ea typeface="Times New Roman"/>
                <a:cs typeface="Times New Roman"/>
              </a:rPr>
              <a:t>types</a:t>
            </a:r>
            <a:r>
              <a:rPr sz="2400">
                <a:solidFill>
                  <a:srgbClr val="FFFFFF"/>
                </a:solidFill>
                <a:latin typeface="Times New Roman"/>
                <a:ea typeface="Times New Roman"/>
                <a:cs typeface="Times New Roman"/>
              </a:rPr>
              <a:t> of the arguments.</a:t>
            </a:r>
          </a:p>
        </p:txBody>
      </p:sp>
      <p:sp>
        <p:nvSpPr>
          <p:cNvPr id="5" name="median-declarations">
            <a:extLst xmlns:a="http://schemas.openxmlformats.org/drawingml/2006/main">
              <a:ext uri="{FF2B5EF4-FFF2-40B4-BE49-F238E27FC236}">
                <a16:creationId xmlns:a16="http://schemas.microsoft.com/office/drawing/2014/main" id="{7BB9E2E0-880B-48A6-A0CF-0B8FEDCBBA17}"/>
              </a:ext>
            </a:extLst>
          </p:cNvPr>
          <p:cNvSpPr>
            <a:spLocks xmlns:a="http://schemas.openxmlformats.org/drawingml/2006/main" noGrp="1"/>
          </p:cNvSpPr>
          <p:nvPr/>
        </p:nvSpPr>
        <p:spPr>
          <a:xfrm xmlns:a="http://schemas.openxmlformats.org/drawingml/2006/main">
            <a:off x="3057144" y="4448175"/>
            <a:ext cx="7512987" cy="18097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int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DCDCAA"/>
                </a:solidFill>
                <a:latin typeface="Courier New"/>
                <a:ea typeface="Courier New"/>
                <a:cs typeface="Courier New"/>
              </a:rPr>
              <a:t>median</a:t>
            </a:r>
            <a:r>
              <a:rPr sz="2400">
                <a:solidFill>
                  <a:srgbClr val="FFFFFF"/>
                </a:solidFill>
                <a:latin typeface="Courier New"/>
                <a:ea typeface="Courier New"/>
                <a:cs typeface="Courier New"/>
              </a:rPr>
              <a:t>(</a:t>
            </a:r>
            <a:r>
              <a:rPr sz="2400">
                <a:solidFill>
                  <a:srgbClr val="C586C0"/>
                </a:solidFill>
                <a:latin typeface="Courier New"/>
                <a:ea typeface="Courier New"/>
                <a:cs typeface="Courier New"/>
              </a:rPr>
              <a:t>int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int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int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z</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double</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DCDCAA"/>
                </a:solidFill>
                <a:latin typeface="Courier New"/>
                <a:ea typeface="Courier New"/>
                <a:cs typeface="Courier New"/>
              </a:rPr>
              <a:t>median</a:t>
            </a:r>
            <a:r>
              <a:rPr sz="2400">
                <a:solidFill>
                  <a:srgbClr val="FFFFFF"/>
                </a:solidFill>
                <a:latin typeface="Courier New"/>
                <a:ea typeface="Courier New"/>
                <a:cs typeface="Courier New"/>
              </a:rPr>
              <a:t>(</a:t>
            </a:r>
            <a:r>
              <a:rPr sz="2400">
                <a:solidFill>
                  <a:srgbClr val="C586C0"/>
                </a:solidFill>
                <a:latin typeface="Courier New"/>
                <a:ea typeface="Courier New"/>
                <a:cs typeface="Courier New"/>
              </a:rPr>
              <a:t>double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double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double</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z</a:t>
            </a:r>
            <a:r>
              <a:rPr sz="2400">
                <a:solidFill>
                  <a:srgbClr val="FFFFFF"/>
                </a:solidFill>
                <a:latin typeface="Courier New"/>
                <a:ea typeface="Courier New"/>
                <a:cs typeface="Courier New"/>
              </a:rPr>
              <a:t>);</a:t>
            </a:r>
          </a:p>
        </p:txBody>
      </p:sp>
    </p:spTree>
    <p:extLst>
      <p:ext uri="{BB962C8B-B14F-4D97-AF65-F5344CB8AC3E}">
        <p14:creationId xmlns:p14="http://schemas.microsoft.com/office/powerpoint/2010/main" val="1362897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60AB9E7-6107-4CCA-9FC0-034F5DE479A6}"/>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Function Overloading Rules</a:t>
            </a:r>
          </a:p>
        </p:txBody>
      </p:sp>
      <p:sp>
        <p:nvSpPr>
          <p:cNvPr id="2" name="slide-number">
            <a:extLst xmlns:a="http://schemas.openxmlformats.org/drawingml/2006/main">
              <a:ext uri="{FF2B5EF4-FFF2-40B4-BE49-F238E27FC236}">
                <a16:creationId xmlns:a16="http://schemas.microsoft.com/office/drawing/2014/main" id="{49A7C811-49D1-49FA-90E6-6BB73F0B69A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a:t>
            </a:r>
          </a:p>
        </p:txBody>
      </p:sp>
      <p:sp>
        <p:nvSpPr>
          <p:cNvPr id="3" name="language-scope">
            <a:extLst xmlns:a="http://schemas.openxmlformats.org/drawingml/2006/main">
              <a:ext uri="{FF2B5EF4-FFF2-40B4-BE49-F238E27FC236}">
                <a16:creationId xmlns:a16="http://schemas.microsoft.com/office/drawing/2014/main" id="{21559C2A-C7BA-47E6-B3CA-A5D527C84997}"/>
              </a:ext>
            </a:extLst>
          </p:cNvPr>
          <p:cNvSpPr>
            <a:spLocks xmlns:a="http://schemas.openxmlformats.org/drawingml/2006/main" noGrp="1"/>
          </p:cNvSpPr>
          <p:nvPr/>
        </p:nvSpPr>
        <p:spPr>
          <a:xfrm xmlns:a="http://schemas.openxmlformats.org/drawingml/2006/main">
            <a:off x="2773594" y="1952625"/>
            <a:ext cx="7796536"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For ordinary overloading in C++ and Java</a:t>
            </a:r>
          </a:p>
        </p:txBody>
      </p:sp>
      <p:sp>
        <p:nvSpPr>
          <p:cNvPr id="4" name="numbered-rules">
            <a:extLst xmlns:a="http://schemas.openxmlformats.org/drawingml/2006/main">
              <a:ext uri="{FF2B5EF4-FFF2-40B4-BE49-F238E27FC236}">
                <a16:creationId xmlns:a16="http://schemas.microsoft.com/office/drawing/2014/main" id="{C4E86F29-7429-46EA-9B71-75B5B6F739DF}"/>
              </a:ext>
            </a:extLst>
          </p:cNvPr>
          <p:cNvSpPr>
            <a:spLocks xmlns:a="http://schemas.openxmlformats.org/drawingml/2006/main" noGrp="1"/>
          </p:cNvSpPr>
          <p:nvPr/>
        </p:nvSpPr>
        <p:spPr>
          <a:xfrm xmlns:a="http://schemas.openxmlformats.org/drawingml/2006/main">
            <a:off x="2773594" y="2400300"/>
            <a:ext cx="7796536"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AutoNum type="arabicPeriod" startAt="1"/>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Use the </a:t>
            </a:r>
            <a:r>
              <a:rPr sz="2400" b="1">
                <a:solidFill>
                  <a:srgbClr val="FFFFFF"/>
                </a:solidFill>
                <a:latin typeface="Times New Roman"/>
                <a:ea typeface="Times New Roman"/>
                <a:cs typeface="Times New Roman"/>
              </a:rPr>
              <a:t>same function name</a:t>
            </a:r>
            <a:r>
              <a:rPr sz="2400">
                <a:solidFill>
                  <a:srgbClr val="FFFFFF"/>
                </a:solidFill>
                <a:latin typeface="Times New Roman"/>
                <a:ea typeface="Times New Roman"/>
                <a:cs typeface="Times New Roman"/>
              </a:rPr>
              <a:t> for several functions.</a:t>
            </a:r>
          </a:p>
          <a:p xmlns:a="http://schemas.openxmlformats.org/drawingml/2006/main">
            <a:pPr marL="344488" indent="-344488" algn="l">
              <a:lnSpc>
                <a:spcPct val="120000"/>
              </a:lnSpc>
              <a:spcBef>
                <a:spcPts val="1000"/>
              </a:spcBef>
              <a:spcAft>
                <a:spcPts val="600"/>
              </a:spcAft>
              <a:buAutoNum type="arabicPeriod" startAt="2"/>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Vary the </a:t>
            </a:r>
            <a:r>
              <a:rPr sz="2400" b="1">
                <a:solidFill>
                  <a:srgbClr val="FFFFFF"/>
                </a:solidFill>
                <a:latin typeface="Times New Roman"/>
                <a:ea typeface="Times New Roman"/>
                <a:cs typeface="Times New Roman"/>
              </a:rPr>
              <a:t>number (arity) or types</a:t>
            </a:r>
            <a:r>
              <a:rPr sz="2400">
                <a:solidFill>
                  <a:srgbClr val="FFFFFF"/>
                </a:solidFill>
                <a:latin typeface="Times New Roman"/>
                <a:ea typeface="Times New Roman"/>
                <a:cs typeface="Times New Roman"/>
              </a:rPr>
              <a:t> of parameters.</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A different </a:t>
            </a:r>
            <a:r>
              <a:rPr sz="2400" b="1">
                <a:solidFill>
                  <a:srgbClr val="FFFFFF"/>
                </a:solidFill>
                <a:latin typeface="Times New Roman"/>
                <a:ea typeface="Times New Roman"/>
                <a:cs typeface="Times New Roman"/>
              </a:rPr>
              <a:t>return type alone</a:t>
            </a:r>
            <a:r>
              <a:rPr sz="2400">
                <a:solidFill>
                  <a:srgbClr val="FFFFFF"/>
                </a:solidFill>
                <a:latin typeface="Times New Roman"/>
                <a:ea typeface="Times New Roman"/>
                <a:cs typeface="Times New Roman"/>
              </a:rPr>
              <a:t> is not enough.</a:t>
            </a:r>
          </a:p>
          <a:p xmlns:a="http://schemas.openxmlformats.org/drawingml/2006/main">
            <a:pPr marL="344488" indent="-344488" algn="l">
              <a:lnSpc>
                <a:spcPct val="120000"/>
              </a:lnSpc>
              <a:spcBef>
                <a:spcPts val="1000"/>
              </a:spcBef>
              <a:spcAft>
                <a:spcPts val="600"/>
              </a:spcAft>
              <a:buAutoNum type="arabicPeriod" startAt="3"/>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Resolve the overload at </a:t>
            </a:r>
            <a:r>
              <a:rPr sz="2400" i="1">
                <a:solidFill>
                  <a:srgbClr val="C5FAEB"/>
                </a:solidFill>
                <a:latin typeface="Times New Roman"/>
                <a:ea typeface="Times New Roman"/>
                <a:cs typeface="Times New Roman"/>
              </a:rPr>
              <a:t>compile time</a:t>
            </a:r>
            <a:r>
              <a:rPr sz="2400">
                <a:solidFill>
                  <a:srgbClr val="FFFFFF"/>
                </a:solidFill>
                <a:latin typeface="Times New Roman"/>
                <a:ea typeface="Times New Roman"/>
                <a:cs typeface="Times New Roman"/>
              </a:rPr>
              <a:t> from the</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arguments' types and permitted conversions.</a:t>
            </a:r>
          </a:p>
        </p:txBody>
      </p:sp>
    </p:spTree>
    <p:extLst>
      <p:ext uri="{BB962C8B-B14F-4D97-AF65-F5344CB8AC3E}">
        <p14:creationId xmlns:p14="http://schemas.microsoft.com/office/powerpoint/2010/main" val="6558072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E3AD036-D256-469E-BF03-658A5796985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Function Overloading</a:t>
            </a:r>
          </a:p>
        </p:txBody>
      </p:sp>
      <p:sp>
        <p:nvSpPr>
          <p:cNvPr id="2" name="slide-number">
            <a:extLst xmlns:a="http://schemas.openxmlformats.org/drawingml/2006/main">
              <a:ext uri="{FF2B5EF4-FFF2-40B4-BE49-F238E27FC236}">
                <a16:creationId xmlns:a16="http://schemas.microsoft.com/office/drawing/2014/main" id="{29A4F4FD-95ED-488A-BCEE-8B8B08C8672E}"/>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4</a:t>
            </a:r>
          </a:p>
        </p:txBody>
      </p:sp>
      <p:sp>
        <p:nvSpPr>
          <p:cNvPr id="3" name="area-overloads">
            <a:extLst xmlns:a="http://schemas.openxmlformats.org/drawingml/2006/main">
              <a:ext uri="{FF2B5EF4-FFF2-40B4-BE49-F238E27FC236}">
                <a16:creationId xmlns:a16="http://schemas.microsoft.com/office/drawing/2014/main" id="{B3E3A5B4-5EF6-47C9-9624-F8CDEB132645}"/>
              </a:ext>
            </a:extLst>
          </p:cNvPr>
          <p:cNvSpPr>
            <a:spLocks xmlns:a="http://schemas.openxmlformats.org/drawingml/2006/main" noGrp="1"/>
          </p:cNvSpPr>
          <p:nvPr/>
        </p:nvSpPr>
        <p:spPr>
          <a:xfrm xmlns:a="http://schemas.openxmlformats.org/drawingml/2006/main">
            <a:off x="2865025" y="2000250"/>
            <a:ext cx="7705106" cy="43434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30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#include</a:t>
            </a: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&lt;cmath&gt;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9DB890"/>
                </a:solidFill>
                <a:latin typeface="Courier New"/>
                <a:ea typeface="Courier New"/>
                <a:cs typeface="Courier New"/>
              </a:rPr>
              <a:t>// circle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area</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3.1415926535</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r</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r</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30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9DB890"/>
                </a:solidFill>
                <a:latin typeface="Courier New"/>
                <a:ea typeface="Courier New"/>
                <a:cs typeface="Courier New"/>
              </a:rPr>
              <a:t>// rectangle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area</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30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9DB890"/>
                </a:solidFill>
                <a:latin typeface="Courier New"/>
                <a:ea typeface="Courier New"/>
                <a:cs typeface="Courier New"/>
              </a:rPr>
              <a:t>// triangle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area</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a</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c</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a</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b</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c</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2.0</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std::</a:t>
            </a:r>
            <a:r>
              <a:rPr sz="2000">
                <a:solidFill>
                  <a:srgbClr val="DCDCAA"/>
                </a:solidFill>
                <a:latin typeface="Courier New"/>
                <a:ea typeface="Courier New"/>
                <a:cs typeface="Courier New"/>
              </a:rPr>
              <a:t>sqrt</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a</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b</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Tree>
    <p:extLst>
      <p:ext uri="{BB962C8B-B14F-4D97-AF65-F5344CB8AC3E}">
        <p14:creationId xmlns:p14="http://schemas.microsoft.com/office/powerpoint/2010/main" val="15111247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4CE9CEA-E552-4E3E-BD09-5E219D30ABEC}"/>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Function Overloading: C++/Java</a:t>
            </a:r>
          </a:p>
        </p:txBody>
      </p:sp>
      <p:sp>
        <p:nvSpPr>
          <p:cNvPr id="2" name="slide-number">
            <a:extLst xmlns:a="http://schemas.openxmlformats.org/drawingml/2006/main">
              <a:ext uri="{FF2B5EF4-FFF2-40B4-BE49-F238E27FC236}">
                <a16:creationId xmlns:a16="http://schemas.microsoft.com/office/drawing/2014/main" id="{90D0862B-A2A5-4646-BEB4-4C3C33569AD5}"/>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5</a:t>
            </a:r>
          </a:p>
        </p:txBody>
      </p:sp>
      <p:sp>
        <p:nvSpPr>
          <p:cNvPr id="3" name="constructor-introduction">
            <a:extLst xmlns:a="http://schemas.openxmlformats.org/drawingml/2006/main">
              <a:ext uri="{FF2B5EF4-FFF2-40B4-BE49-F238E27FC236}">
                <a16:creationId xmlns:a16="http://schemas.microsoft.com/office/drawing/2014/main" id="{CE76DEB8-15DB-4126-8601-E4677F0D6915}"/>
              </a:ext>
            </a:extLst>
          </p:cNvPr>
          <p:cNvSpPr>
            <a:spLocks xmlns:a="http://schemas.openxmlformats.org/drawingml/2006/main" noGrp="1"/>
          </p:cNvSpPr>
          <p:nvPr/>
        </p:nvSpPr>
        <p:spPr>
          <a:xfrm xmlns:a="http://schemas.openxmlformats.org/drawingml/2006/main">
            <a:off x="2773594" y="1809750"/>
            <a:ext cx="7796536"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Constructors can also be overloaded.</a:t>
            </a:r>
          </a:p>
        </p:txBody>
      </p:sp>
      <p:sp>
        <p:nvSpPr>
          <p:cNvPr id="4" name="cpp-label">
            <a:extLst xmlns:a="http://schemas.openxmlformats.org/drawingml/2006/main">
              <a:ext uri="{FF2B5EF4-FFF2-40B4-BE49-F238E27FC236}">
                <a16:creationId xmlns:a16="http://schemas.microsoft.com/office/drawing/2014/main" id="{BC63E6A6-85B8-426B-AE16-1C07D11AC7AD}"/>
              </a:ext>
            </a:extLst>
          </p:cNvPr>
          <p:cNvSpPr>
            <a:spLocks xmlns:a="http://schemas.openxmlformats.org/drawingml/2006/main" noGrp="1"/>
          </p:cNvSpPr>
          <p:nvPr/>
        </p:nvSpPr>
        <p:spPr>
          <a:xfrm xmlns:a="http://schemas.openxmlformats.org/drawingml/2006/main">
            <a:off x="2773594" y="2362200"/>
            <a:ext cx="7796536"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C++ declarations</a:t>
            </a:r>
          </a:p>
        </p:txBody>
      </p:sp>
      <p:sp>
        <p:nvSpPr>
          <p:cNvPr id="5" name="cpp-constructors">
            <a:extLst xmlns:a="http://schemas.openxmlformats.org/drawingml/2006/main">
              <a:ext uri="{FF2B5EF4-FFF2-40B4-BE49-F238E27FC236}">
                <a16:creationId xmlns:a16="http://schemas.microsoft.com/office/drawing/2014/main" id="{618EBCDB-1624-4D7E-A6EE-E9ACB7CBA39D}"/>
              </a:ext>
            </a:extLst>
          </p:cNvPr>
          <p:cNvSpPr>
            <a:spLocks xmlns:a="http://schemas.openxmlformats.org/drawingml/2006/main" noGrp="1"/>
          </p:cNvSpPr>
          <p:nvPr/>
        </p:nvSpPr>
        <p:spPr>
          <a:xfrm xmlns:a="http://schemas.openxmlformats.org/drawingml/2006/main">
            <a:off x="3057144" y="2800350"/>
            <a:ext cx="7512987" cy="20859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default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size</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size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const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other</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copy</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&amp;&amp; </a:t>
            </a:r>
            <a:r>
              <a:rPr sz="2000">
                <a:solidFill>
                  <a:srgbClr val="C5FAEB"/>
                </a:solidFill>
                <a:latin typeface="Courier New"/>
                <a:ea typeface="Courier New"/>
                <a:cs typeface="Courier New"/>
              </a:rPr>
              <a:t>other</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move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6" name="java-label">
            <a:extLst xmlns:a="http://schemas.openxmlformats.org/drawingml/2006/main">
              <a:ext uri="{FF2B5EF4-FFF2-40B4-BE49-F238E27FC236}">
                <a16:creationId xmlns:a16="http://schemas.microsoft.com/office/drawing/2014/main" id="{9A2F259B-2726-4DBB-BD4F-3D99E3EE023B}"/>
              </a:ext>
            </a:extLst>
          </p:cNvPr>
          <p:cNvSpPr>
            <a:spLocks xmlns:a="http://schemas.openxmlformats.org/drawingml/2006/main" noGrp="1"/>
          </p:cNvSpPr>
          <p:nvPr/>
        </p:nvSpPr>
        <p:spPr>
          <a:xfrm xmlns:a="http://schemas.openxmlformats.org/drawingml/2006/main">
            <a:off x="2773594" y="4886325"/>
            <a:ext cx="7796536"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Java copy constructor (inside class MyAdt)</a:t>
            </a:r>
          </a:p>
        </p:txBody>
      </p:sp>
      <p:sp>
        <p:nvSpPr>
          <p:cNvPr id="7" name="java-copy-constructor">
            <a:extLst xmlns:a="http://schemas.openxmlformats.org/drawingml/2006/main">
              <a:ext uri="{FF2B5EF4-FFF2-40B4-BE49-F238E27FC236}">
                <a16:creationId xmlns:a16="http://schemas.microsoft.com/office/drawing/2014/main" id="{97123B97-55A1-4DE9-A089-CF86E594B205}"/>
              </a:ext>
            </a:extLst>
          </p:cNvPr>
          <p:cNvSpPr>
            <a:spLocks xmlns:a="http://schemas.openxmlformats.org/drawingml/2006/main" noGrp="1"/>
          </p:cNvSpPr>
          <p:nvPr/>
        </p:nvSpPr>
        <p:spPr>
          <a:xfrm xmlns:a="http://schemas.openxmlformats.org/drawingml/2006/main">
            <a:off x="3057144" y="5324475"/>
            <a:ext cx="7512987" cy="10572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MyAdt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other</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Copy the fields of other.</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Tree>
    <p:extLst>
      <p:ext uri="{BB962C8B-B14F-4D97-AF65-F5344CB8AC3E}">
        <p14:creationId xmlns:p14="http://schemas.microsoft.com/office/powerpoint/2010/main" val="17460045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C9B8B73-5340-4BDD-A7EE-5F0531D9C0C2}"/>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Function Overloading Issues</a:t>
            </a:r>
          </a:p>
        </p:txBody>
      </p:sp>
      <p:sp>
        <p:nvSpPr>
          <p:cNvPr id="2" name="slide-number">
            <a:extLst xmlns:a="http://schemas.openxmlformats.org/drawingml/2006/main">
              <a:ext uri="{FF2B5EF4-FFF2-40B4-BE49-F238E27FC236}">
                <a16:creationId xmlns:a16="http://schemas.microsoft.com/office/drawing/2014/main" id="{88674C80-2C57-4A9E-A351-18187F9C2D7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6</a:t>
            </a:r>
          </a:p>
        </p:txBody>
      </p:sp>
      <p:sp>
        <p:nvSpPr>
          <p:cNvPr id="3" name="pros-heading">
            <a:extLst xmlns:a="http://schemas.openxmlformats.org/drawingml/2006/main">
              <a:ext uri="{FF2B5EF4-FFF2-40B4-BE49-F238E27FC236}">
                <a16:creationId xmlns:a16="http://schemas.microsoft.com/office/drawing/2014/main" id="{71E834F1-10B8-4222-832B-D249BFC58E60}"/>
              </a:ext>
            </a:extLst>
          </p:cNvPr>
          <p:cNvSpPr>
            <a:spLocks xmlns:a="http://schemas.openxmlformats.org/drawingml/2006/main" noGrp="1"/>
          </p:cNvSpPr>
          <p:nvPr/>
        </p:nvSpPr>
        <p:spPr>
          <a:xfrm xmlns:a="http://schemas.openxmlformats.org/drawingml/2006/main">
            <a:off x="2773594" y="21621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1" i="0">
                <a:solidFill>
                  <a:srgbClr val="8EC0C1"/>
                </a:solidFill>
                <a:latin typeface="Times New Roman"/>
                <a:ea typeface="Times New Roman"/>
                <a:cs typeface="Times New Roman"/>
              </a:defRPr>
            </a:defPPr>
            <a:lvl1pPr algn="l">
              <a:defRPr sz="2400" b="1" i="0">
                <a:solidFill>
                  <a:srgbClr val="8EC0C1"/>
                </a:solidFill>
                <a:latin typeface="Times New Roman"/>
                <a:ea typeface="Times New Roman"/>
                <a:cs typeface="Times New Roman"/>
              </a:defRPr>
            </a:lvl1pPr>
            <a:lvl2pPr algn="l">
              <a:defRPr sz="2400" b="1" i="0">
                <a:solidFill>
                  <a:srgbClr val="8EC0C1"/>
                </a:solidFill>
                <a:latin typeface="Times New Roman"/>
                <a:ea typeface="Times New Roman"/>
                <a:cs typeface="Times New Roman"/>
              </a:defRPr>
            </a:lvl2pPr>
            <a:lvl3pPr algn="l">
              <a:defRPr sz="2400" b="1" i="0">
                <a:solidFill>
                  <a:srgbClr val="8EC0C1"/>
                </a:solidFill>
                <a:latin typeface="Times New Roman"/>
                <a:ea typeface="Times New Roman"/>
                <a:cs typeface="Times New Roman"/>
              </a:defRPr>
            </a:lvl3pPr>
            <a:lvl4pPr algn="l">
              <a:defRPr sz="2400" b="1" i="0">
                <a:solidFill>
                  <a:srgbClr val="8EC0C1"/>
                </a:solidFill>
                <a:latin typeface="Times New Roman"/>
                <a:ea typeface="Times New Roman"/>
                <a:cs typeface="Times New Roman"/>
              </a:defRPr>
            </a:lvl4pPr>
            <a:lvl5pPr algn="l">
              <a:defRPr sz="2400" b="1" i="0">
                <a:solidFill>
                  <a:srgbClr val="8EC0C1"/>
                </a:solidFill>
                <a:latin typeface="Times New Roman"/>
                <a:ea typeface="Times New Roman"/>
                <a:cs typeface="Times New Roman"/>
              </a:defRPr>
            </a:lvl5pPr>
            <a:lvl6pPr algn="l">
              <a:defRPr sz="2400" b="1" i="0">
                <a:solidFill>
                  <a:srgbClr val="8EC0C1"/>
                </a:solidFill>
                <a:latin typeface="Times New Roman"/>
                <a:ea typeface="Times New Roman"/>
                <a:cs typeface="Times New Roman"/>
              </a:defRPr>
            </a:lvl6pPr>
            <a:lvl7pPr algn="l">
              <a:defRPr sz="2400" b="1" i="0">
                <a:solidFill>
                  <a:srgbClr val="8EC0C1"/>
                </a:solidFill>
                <a:latin typeface="Times New Roman"/>
                <a:ea typeface="Times New Roman"/>
                <a:cs typeface="Times New Roman"/>
              </a:defRPr>
            </a:lvl7pPr>
            <a:lvl8pPr algn="l">
              <a:defRPr sz="2400" b="1" i="0">
                <a:solidFill>
                  <a:srgbClr val="8EC0C1"/>
                </a:solidFill>
                <a:latin typeface="Times New Roman"/>
                <a:ea typeface="Times New Roman"/>
                <a:cs typeface="Times New Roman"/>
              </a:defRPr>
            </a:lvl8pPr>
            <a:lvl9pPr algn="l">
              <a:defRPr sz="2400" b="1"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1" i="0">
                <a:solidFill>
                  <a:srgbClr val="8EC0C1"/>
                </a:solidFill>
                <a:latin typeface="Times New Roman"/>
                <a:ea typeface="Times New Roman"/>
                <a:cs typeface="Times New Roman"/>
              </a:defRPr>
            </a:pPr>
            <a:r>
              <a:rPr sz="2400" b="1" i="0">
                <a:solidFill>
                  <a:srgbClr val="8EC0C1"/>
                </a:solidFill>
                <a:latin typeface="Times New Roman"/>
                <a:ea typeface="Times New Roman"/>
                <a:cs typeface="Times New Roman"/>
              </a:rPr>
              <a:t>Pros</a:t>
            </a:r>
          </a:p>
        </p:txBody>
      </p:sp>
      <p:sp>
        <p:nvSpPr>
          <p:cNvPr id="4" name="cons-heading">
            <a:extLst xmlns:a="http://schemas.openxmlformats.org/drawingml/2006/main">
              <a:ext uri="{FF2B5EF4-FFF2-40B4-BE49-F238E27FC236}">
                <a16:creationId xmlns:a16="http://schemas.microsoft.com/office/drawing/2014/main" id="{74C1A3B4-5FAE-4ED2-8B96-D7DB4578ADAE}"/>
              </a:ext>
            </a:extLst>
          </p:cNvPr>
          <p:cNvSpPr>
            <a:spLocks xmlns:a="http://schemas.openxmlformats.org/drawingml/2006/main" noGrp="1"/>
          </p:cNvSpPr>
          <p:nvPr/>
        </p:nvSpPr>
        <p:spPr>
          <a:xfrm xmlns:a="http://schemas.openxmlformats.org/drawingml/2006/main">
            <a:off x="6858000" y="2162175"/>
            <a:ext cx="3712131"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1" i="0">
                <a:solidFill>
                  <a:srgbClr val="8EC0C1"/>
                </a:solidFill>
                <a:latin typeface="Times New Roman"/>
                <a:ea typeface="Times New Roman"/>
                <a:cs typeface="Times New Roman"/>
              </a:defRPr>
            </a:defPPr>
            <a:lvl1pPr algn="l">
              <a:defRPr sz="2400" b="1" i="0">
                <a:solidFill>
                  <a:srgbClr val="8EC0C1"/>
                </a:solidFill>
                <a:latin typeface="Times New Roman"/>
                <a:ea typeface="Times New Roman"/>
                <a:cs typeface="Times New Roman"/>
              </a:defRPr>
            </a:lvl1pPr>
            <a:lvl2pPr algn="l">
              <a:defRPr sz="2400" b="1" i="0">
                <a:solidFill>
                  <a:srgbClr val="8EC0C1"/>
                </a:solidFill>
                <a:latin typeface="Times New Roman"/>
                <a:ea typeface="Times New Roman"/>
                <a:cs typeface="Times New Roman"/>
              </a:defRPr>
            </a:lvl2pPr>
            <a:lvl3pPr algn="l">
              <a:defRPr sz="2400" b="1" i="0">
                <a:solidFill>
                  <a:srgbClr val="8EC0C1"/>
                </a:solidFill>
                <a:latin typeface="Times New Roman"/>
                <a:ea typeface="Times New Roman"/>
                <a:cs typeface="Times New Roman"/>
              </a:defRPr>
            </a:lvl3pPr>
            <a:lvl4pPr algn="l">
              <a:defRPr sz="2400" b="1" i="0">
                <a:solidFill>
                  <a:srgbClr val="8EC0C1"/>
                </a:solidFill>
                <a:latin typeface="Times New Roman"/>
                <a:ea typeface="Times New Roman"/>
                <a:cs typeface="Times New Roman"/>
              </a:defRPr>
            </a:lvl4pPr>
            <a:lvl5pPr algn="l">
              <a:defRPr sz="2400" b="1" i="0">
                <a:solidFill>
                  <a:srgbClr val="8EC0C1"/>
                </a:solidFill>
                <a:latin typeface="Times New Roman"/>
                <a:ea typeface="Times New Roman"/>
                <a:cs typeface="Times New Roman"/>
              </a:defRPr>
            </a:lvl5pPr>
            <a:lvl6pPr algn="l">
              <a:defRPr sz="2400" b="1" i="0">
                <a:solidFill>
                  <a:srgbClr val="8EC0C1"/>
                </a:solidFill>
                <a:latin typeface="Times New Roman"/>
                <a:ea typeface="Times New Roman"/>
                <a:cs typeface="Times New Roman"/>
              </a:defRPr>
            </a:lvl6pPr>
            <a:lvl7pPr algn="l">
              <a:defRPr sz="2400" b="1" i="0">
                <a:solidFill>
                  <a:srgbClr val="8EC0C1"/>
                </a:solidFill>
                <a:latin typeface="Times New Roman"/>
                <a:ea typeface="Times New Roman"/>
                <a:cs typeface="Times New Roman"/>
              </a:defRPr>
            </a:lvl7pPr>
            <a:lvl8pPr algn="l">
              <a:defRPr sz="2400" b="1" i="0">
                <a:solidFill>
                  <a:srgbClr val="8EC0C1"/>
                </a:solidFill>
                <a:latin typeface="Times New Roman"/>
                <a:ea typeface="Times New Roman"/>
                <a:cs typeface="Times New Roman"/>
              </a:defRPr>
            </a:lvl8pPr>
            <a:lvl9pPr algn="l">
              <a:defRPr sz="2400" b="1"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1" i="0">
                <a:solidFill>
                  <a:srgbClr val="8EC0C1"/>
                </a:solidFill>
                <a:latin typeface="Times New Roman"/>
                <a:ea typeface="Times New Roman"/>
                <a:cs typeface="Times New Roman"/>
              </a:defRPr>
            </a:pPr>
            <a:r>
              <a:rPr sz="2400" b="1" i="0">
                <a:solidFill>
                  <a:srgbClr val="8EC0C1"/>
                </a:solidFill>
                <a:latin typeface="Times New Roman"/>
                <a:ea typeface="Times New Roman"/>
                <a:cs typeface="Times New Roman"/>
              </a:rPr>
              <a:t>Cons</a:t>
            </a:r>
          </a:p>
        </p:txBody>
      </p:sp>
    </p:spTree>
    <p:extLst>
      <p:ext uri="{BB962C8B-B14F-4D97-AF65-F5344CB8AC3E}">
        <p14:creationId xmlns:p14="http://schemas.microsoft.com/office/powerpoint/2010/main" val="21346407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228E27D-7483-4299-935C-B6699BDC0424}"/>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Function Overloading Issues</a:t>
            </a:r>
          </a:p>
        </p:txBody>
      </p:sp>
      <p:sp>
        <p:nvSpPr>
          <p:cNvPr id="2" name="slide-number">
            <a:extLst xmlns:a="http://schemas.openxmlformats.org/drawingml/2006/main">
              <a:ext uri="{FF2B5EF4-FFF2-40B4-BE49-F238E27FC236}">
                <a16:creationId xmlns:a16="http://schemas.microsoft.com/office/drawing/2014/main" id="{B290E85C-5CB5-4B3F-9266-66B80B050E0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7</a:t>
            </a:r>
          </a:p>
        </p:txBody>
      </p:sp>
      <p:sp>
        <p:nvSpPr>
          <p:cNvPr id="3" name="pros-heading">
            <a:extLst xmlns:a="http://schemas.openxmlformats.org/drawingml/2006/main">
              <a:ext uri="{FF2B5EF4-FFF2-40B4-BE49-F238E27FC236}">
                <a16:creationId xmlns:a16="http://schemas.microsoft.com/office/drawing/2014/main" id="{1A52138C-3752-4928-9087-80B776373BF3}"/>
              </a:ext>
            </a:extLst>
          </p:cNvPr>
          <p:cNvSpPr>
            <a:spLocks xmlns:a="http://schemas.openxmlformats.org/drawingml/2006/main" noGrp="1"/>
          </p:cNvSpPr>
          <p:nvPr/>
        </p:nvSpPr>
        <p:spPr>
          <a:xfrm xmlns:a="http://schemas.openxmlformats.org/drawingml/2006/main">
            <a:off x="2773594" y="21621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1" i="0">
                <a:solidFill>
                  <a:srgbClr val="8EC0C1"/>
                </a:solidFill>
                <a:latin typeface="Times New Roman"/>
                <a:ea typeface="Times New Roman"/>
                <a:cs typeface="Times New Roman"/>
              </a:defRPr>
            </a:defPPr>
            <a:lvl1pPr algn="l">
              <a:defRPr sz="2400" b="1" i="0">
                <a:solidFill>
                  <a:srgbClr val="8EC0C1"/>
                </a:solidFill>
                <a:latin typeface="Times New Roman"/>
                <a:ea typeface="Times New Roman"/>
                <a:cs typeface="Times New Roman"/>
              </a:defRPr>
            </a:lvl1pPr>
            <a:lvl2pPr algn="l">
              <a:defRPr sz="2400" b="1" i="0">
                <a:solidFill>
                  <a:srgbClr val="8EC0C1"/>
                </a:solidFill>
                <a:latin typeface="Times New Roman"/>
                <a:ea typeface="Times New Roman"/>
                <a:cs typeface="Times New Roman"/>
              </a:defRPr>
            </a:lvl2pPr>
            <a:lvl3pPr algn="l">
              <a:defRPr sz="2400" b="1" i="0">
                <a:solidFill>
                  <a:srgbClr val="8EC0C1"/>
                </a:solidFill>
                <a:latin typeface="Times New Roman"/>
                <a:ea typeface="Times New Roman"/>
                <a:cs typeface="Times New Roman"/>
              </a:defRPr>
            </a:lvl3pPr>
            <a:lvl4pPr algn="l">
              <a:defRPr sz="2400" b="1" i="0">
                <a:solidFill>
                  <a:srgbClr val="8EC0C1"/>
                </a:solidFill>
                <a:latin typeface="Times New Roman"/>
                <a:ea typeface="Times New Roman"/>
                <a:cs typeface="Times New Roman"/>
              </a:defRPr>
            </a:lvl4pPr>
            <a:lvl5pPr algn="l">
              <a:defRPr sz="2400" b="1" i="0">
                <a:solidFill>
                  <a:srgbClr val="8EC0C1"/>
                </a:solidFill>
                <a:latin typeface="Times New Roman"/>
                <a:ea typeface="Times New Roman"/>
                <a:cs typeface="Times New Roman"/>
              </a:defRPr>
            </a:lvl5pPr>
            <a:lvl6pPr algn="l">
              <a:defRPr sz="2400" b="1" i="0">
                <a:solidFill>
                  <a:srgbClr val="8EC0C1"/>
                </a:solidFill>
                <a:latin typeface="Times New Roman"/>
                <a:ea typeface="Times New Roman"/>
                <a:cs typeface="Times New Roman"/>
              </a:defRPr>
            </a:lvl6pPr>
            <a:lvl7pPr algn="l">
              <a:defRPr sz="2400" b="1" i="0">
                <a:solidFill>
                  <a:srgbClr val="8EC0C1"/>
                </a:solidFill>
                <a:latin typeface="Times New Roman"/>
                <a:ea typeface="Times New Roman"/>
                <a:cs typeface="Times New Roman"/>
              </a:defRPr>
            </a:lvl7pPr>
            <a:lvl8pPr algn="l">
              <a:defRPr sz="2400" b="1" i="0">
                <a:solidFill>
                  <a:srgbClr val="8EC0C1"/>
                </a:solidFill>
                <a:latin typeface="Times New Roman"/>
                <a:ea typeface="Times New Roman"/>
                <a:cs typeface="Times New Roman"/>
              </a:defRPr>
            </a:lvl8pPr>
            <a:lvl9pPr algn="l">
              <a:defRPr sz="2400" b="1"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1" i="0">
                <a:solidFill>
                  <a:srgbClr val="8EC0C1"/>
                </a:solidFill>
                <a:latin typeface="Times New Roman"/>
                <a:ea typeface="Times New Roman"/>
                <a:cs typeface="Times New Roman"/>
              </a:defRPr>
            </a:pPr>
            <a:r>
              <a:rPr sz="2400" b="1" i="0">
                <a:solidFill>
                  <a:srgbClr val="8EC0C1"/>
                </a:solidFill>
                <a:latin typeface="Times New Roman"/>
                <a:ea typeface="Times New Roman"/>
                <a:cs typeface="Times New Roman"/>
              </a:rPr>
              <a:t>Pros</a:t>
            </a:r>
          </a:p>
        </p:txBody>
      </p:sp>
      <p:sp>
        <p:nvSpPr>
          <p:cNvPr id="4" name="cons-heading">
            <a:extLst xmlns:a="http://schemas.openxmlformats.org/drawingml/2006/main">
              <a:ext uri="{FF2B5EF4-FFF2-40B4-BE49-F238E27FC236}">
                <a16:creationId xmlns:a16="http://schemas.microsoft.com/office/drawing/2014/main" id="{6C1E8F22-552E-436E-A01A-AE3E50EB20E1}"/>
              </a:ext>
            </a:extLst>
          </p:cNvPr>
          <p:cNvSpPr>
            <a:spLocks xmlns:a="http://schemas.openxmlformats.org/drawingml/2006/main" noGrp="1"/>
          </p:cNvSpPr>
          <p:nvPr/>
        </p:nvSpPr>
        <p:spPr>
          <a:xfrm xmlns:a="http://schemas.openxmlformats.org/drawingml/2006/main">
            <a:off x="6858000" y="2162175"/>
            <a:ext cx="3712131"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1" i="0">
                <a:solidFill>
                  <a:srgbClr val="8EC0C1"/>
                </a:solidFill>
                <a:latin typeface="Times New Roman"/>
                <a:ea typeface="Times New Roman"/>
                <a:cs typeface="Times New Roman"/>
              </a:defRPr>
            </a:defPPr>
            <a:lvl1pPr algn="l">
              <a:defRPr sz="2400" b="1" i="0">
                <a:solidFill>
                  <a:srgbClr val="8EC0C1"/>
                </a:solidFill>
                <a:latin typeface="Times New Roman"/>
                <a:ea typeface="Times New Roman"/>
                <a:cs typeface="Times New Roman"/>
              </a:defRPr>
            </a:lvl1pPr>
            <a:lvl2pPr algn="l">
              <a:defRPr sz="2400" b="1" i="0">
                <a:solidFill>
                  <a:srgbClr val="8EC0C1"/>
                </a:solidFill>
                <a:latin typeface="Times New Roman"/>
                <a:ea typeface="Times New Roman"/>
                <a:cs typeface="Times New Roman"/>
              </a:defRPr>
            </a:lvl2pPr>
            <a:lvl3pPr algn="l">
              <a:defRPr sz="2400" b="1" i="0">
                <a:solidFill>
                  <a:srgbClr val="8EC0C1"/>
                </a:solidFill>
                <a:latin typeface="Times New Roman"/>
                <a:ea typeface="Times New Roman"/>
                <a:cs typeface="Times New Roman"/>
              </a:defRPr>
            </a:lvl3pPr>
            <a:lvl4pPr algn="l">
              <a:defRPr sz="2400" b="1" i="0">
                <a:solidFill>
                  <a:srgbClr val="8EC0C1"/>
                </a:solidFill>
                <a:latin typeface="Times New Roman"/>
                <a:ea typeface="Times New Roman"/>
                <a:cs typeface="Times New Roman"/>
              </a:defRPr>
            </a:lvl4pPr>
            <a:lvl5pPr algn="l">
              <a:defRPr sz="2400" b="1" i="0">
                <a:solidFill>
                  <a:srgbClr val="8EC0C1"/>
                </a:solidFill>
                <a:latin typeface="Times New Roman"/>
                <a:ea typeface="Times New Roman"/>
                <a:cs typeface="Times New Roman"/>
              </a:defRPr>
            </a:lvl5pPr>
            <a:lvl6pPr algn="l">
              <a:defRPr sz="2400" b="1" i="0">
                <a:solidFill>
                  <a:srgbClr val="8EC0C1"/>
                </a:solidFill>
                <a:latin typeface="Times New Roman"/>
                <a:ea typeface="Times New Roman"/>
                <a:cs typeface="Times New Roman"/>
              </a:defRPr>
            </a:lvl6pPr>
            <a:lvl7pPr algn="l">
              <a:defRPr sz="2400" b="1" i="0">
                <a:solidFill>
                  <a:srgbClr val="8EC0C1"/>
                </a:solidFill>
                <a:latin typeface="Times New Roman"/>
                <a:ea typeface="Times New Roman"/>
                <a:cs typeface="Times New Roman"/>
              </a:defRPr>
            </a:lvl7pPr>
            <a:lvl8pPr algn="l">
              <a:defRPr sz="2400" b="1" i="0">
                <a:solidFill>
                  <a:srgbClr val="8EC0C1"/>
                </a:solidFill>
                <a:latin typeface="Times New Roman"/>
                <a:ea typeface="Times New Roman"/>
                <a:cs typeface="Times New Roman"/>
              </a:defRPr>
            </a:lvl8pPr>
            <a:lvl9pPr algn="l">
              <a:defRPr sz="2400" b="1"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1" i="0">
                <a:solidFill>
                  <a:srgbClr val="8EC0C1"/>
                </a:solidFill>
                <a:latin typeface="Times New Roman"/>
                <a:ea typeface="Times New Roman"/>
                <a:cs typeface="Times New Roman"/>
              </a:defRPr>
            </a:pPr>
            <a:r>
              <a:rPr sz="2400" b="1" i="0">
                <a:solidFill>
                  <a:srgbClr val="8EC0C1"/>
                </a:solidFill>
                <a:latin typeface="Times New Roman"/>
                <a:ea typeface="Times New Roman"/>
                <a:cs typeface="Times New Roman"/>
              </a:rPr>
              <a:t>Cons</a:t>
            </a:r>
          </a:p>
        </p:txBody>
      </p:sp>
      <p:sp>
        <p:nvSpPr>
          <p:cNvPr id="5" name="pros">
            <a:extLst xmlns:a="http://schemas.openxmlformats.org/drawingml/2006/main">
              <a:ext uri="{FF2B5EF4-FFF2-40B4-BE49-F238E27FC236}">
                <a16:creationId xmlns:a16="http://schemas.microsoft.com/office/drawing/2014/main" id="{4395A6ED-BFA1-41A7-85F2-515593AC2ED4}"/>
              </a:ext>
            </a:extLst>
          </p:cNvPr>
          <p:cNvSpPr>
            <a:spLocks xmlns:a="http://schemas.openxmlformats.org/drawingml/2006/main" noGrp="1"/>
          </p:cNvSpPr>
          <p:nvPr/>
        </p:nvSpPr>
        <p:spPr>
          <a:xfrm xmlns:a="http://schemas.openxmlformats.org/drawingml/2006/main">
            <a:off x="2773594" y="2628900"/>
            <a:ext cx="3714750" cy="3686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b="1">
                <a:solidFill>
                  <a:srgbClr val="FFFFFF"/>
                </a:solidFill>
                <a:latin typeface="Times New Roman"/>
                <a:ea typeface="Times New Roman"/>
                <a:cs typeface="Times New Roman"/>
              </a:rPr>
              <a:t>Versatile:</a:t>
            </a:r>
            <a:r>
              <a:rPr sz="2400">
                <a:solidFill>
                  <a:srgbClr val="FFFFFF"/>
                </a:solidFill>
                <a:latin typeface="Times New Roman"/>
                <a:ea typeface="Times New Roman"/>
                <a:cs typeface="Times New Roman"/>
              </a:rPr>
              <a:t> use clear,</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familiar names for</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related operations.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b="1">
                <a:solidFill>
                  <a:srgbClr val="FFFFFF"/>
                </a:solidFill>
                <a:latin typeface="Times New Roman"/>
                <a:ea typeface="Times New Roman"/>
                <a:cs typeface="Times New Roman"/>
              </a:rPr>
              <a:t>Customizable:</a:t>
            </a:r>
            <a:r>
              <a:rPr sz="2400">
                <a:solidFill>
                  <a:srgbClr val="FFFFFF"/>
                </a:solidFill>
                <a:latin typeface="Times New Roman"/>
                <a:ea typeface="Times New Roman"/>
                <a:cs typeface="Times New Roman"/>
              </a:rPr>
              <a:t> support</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the same operation for</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new classes or data types.</a:t>
            </a:r>
          </a:p>
        </p:txBody>
      </p:sp>
      <p:sp>
        <p:nvSpPr>
          <p:cNvPr id="6" name="cons">
            <a:extLst xmlns:a="http://schemas.openxmlformats.org/drawingml/2006/main">
              <a:ext uri="{FF2B5EF4-FFF2-40B4-BE49-F238E27FC236}">
                <a16:creationId xmlns:a16="http://schemas.microsoft.com/office/drawing/2014/main" id="{9F39152D-EE90-4188-9C0D-02906A1A8952}"/>
              </a:ext>
            </a:extLst>
          </p:cNvPr>
          <p:cNvSpPr>
            <a:spLocks xmlns:a="http://schemas.openxmlformats.org/drawingml/2006/main" noGrp="1"/>
          </p:cNvSpPr>
          <p:nvPr/>
        </p:nvSpPr>
        <p:spPr>
          <a:xfrm xmlns:a="http://schemas.openxmlformats.org/drawingml/2006/main">
            <a:off x="6858000" y="2628900"/>
            <a:ext cx="3712131" cy="3686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Hard to identify which</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overload a call selects.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Type coercion may select</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an unintended overload.</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Large overload sets may</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increase compilation /</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resolution time.</a:t>
            </a:r>
          </a:p>
        </p:txBody>
      </p:sp>
    </p:spTree>
    <p:extLst>
      <p:ext uri="{BB962C8B-B14F-4D97-AF65-F5344CB8AC3E}">
        <p14:creationId xmlns:p14="http://schemas.microsoft.com/office/powerpoint/2010/main" val="697932413"/>
      </p:ext>
    </p:extLst>
  </p:cSld>
</p:sld>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2026-10-26T15:17:24.4320000Z</dcterms:created>
  <dcterms:modified xsi:type="dcterms:W3CDTF">2026-10-26T15:17:24.4320000Z</dcterms:modified>
</coreProperties>
</file>