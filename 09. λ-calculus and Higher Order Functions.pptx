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73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05AD4C-1A61-D84A-9265-26A92FE332B0}" v="2" dt="2026-10-16T18:55:22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973" autoAdjust="0"/>
  </p:normalViewPr>
  <p:slideViewPr>
    <p:cSldViewPr snapToGrid="0">
      <p:cViewPr varScale="1">
        <p:scale>
          <a:sx n="106" d="100"/>
          <a:sy n="106" d="100"/>
        </p:scale>
        <p:origin x="13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nan Xie" userId="5c2f28a1-79a3-4aeb-a5f1-26f53b743562" providerId="ADAL" clId="{99442E2A-D9CC-5B17-AA62-8A182CB6386A}"/>
    <pc:docChg chg="undo custSel addSld delSld modSld sldOrd modMainMaster">
      <pc:chgData name="Jingnan Xie" userId="5c2f28a1-79a3-4aeb-a5f1-26f53b743562" providerId="ADAL" clId="{99442E2A-D9CC-5B17-AA62-8A182CB6386A}" dt="2026-10-16T18:55:59.192" v="2378" actId="20577"/>
      <pc:docMkLst>
        <pc:docMk/>
      </pc:docMkLst>
      <pc:sldChg chg="addSp delSp modSp new mod modNotesTx">
        <pc:chgData name="Jingnan Xie" userId="5c2f28a1-79a3-4aeb-a5f1-26f53b743562" providerId="ADAL" clId="{99442E2A-D9CC-5B17-AA62-8A182CB6386A}" dt="2026-10-16T18:55:59.192" v="2378" actId="20577"/>
        <pc:sldMkLst>
          <pc:docMk/>
          <pc:sldMk cId="2762398165" sldId="279"/>
        </pc:sldMkLst>
        <pc:spChg chg="add mod">
          <ac:chgData name="Jingnan Xie" userId="5c2f28a1-79a3-4aeb-a5f1-26f53b743562" providerId="ADAL" clId="{99442E2A-D9CC-5B17-AA62-8A182CB6386A}" dt="2026-10-16T18:54:27.046" v="2345" actId="20577"/>
          <ac:spMkLst>
            <pc:docMk/>
            <pc:sldMk cId="2762398165" sldId="279"/>
            <ac:spMk id="7" creationId="{BE6CA220-980C-BDD2-CDF7-01C5F9A6A2D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6A250-A0CB-994A-B5CB-211E49312B6A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3604B-6E98-0948-A14E-DCFDC96CD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0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 can be </a:t>
            </a:r>
            <a:r>
              <a:rPr lang="en-US" b="1" dirty="0"/>
              <a:t>passed, returned, assigned, stored</a:t>
            </a:r>
            <a:r>
              <a:rPr lang="en-US" dirty="0"/>
              <a:t> like any other value</a:t>
            </a:r>
            <a:br>
              <a:rPr lang="en-US" dirty="0"/>
            </a:br>
            <a:r>
              <a:rPr lang="en-US" dirty="0"/>
              <a:t>So all functions in </a:t>
            </a:r>
            <a:r>
              <a:rPr lang="en-US" dirty="0" err="1"/>
              <a:t>OCaml</a:t>
            </a:r>
            <a:r>
              <a:rPr lang="en-US" dirty="0"/>
              <a:t> are first-class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3604B-6E98-0948-A14E-DCFDC96CDD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85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Empty, </a:t>
            </a:r>
          </a:p>
          <a:p>
            <a:r>
              <a:rPr lang="en-US" dirty="0"/>
              <a:t>{x} (why), </a:t>
            </a:r>
          </a:p>
          <a:p>
            <a:r>
              <a:rPr lang="en-US" dirty="0"/>
              <a:t>empty (why? {z} – {x} – {z})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3604B-6E98-0948-A14E-DCFDC96CDD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78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K</a:t>
                </a:r>
                <a:r>
                  <a:rPr lang="en-US" dirty="0"/>
                  <a:t> ignores its second argument</a:t>
                </a:r>
              </a:p>
              <a:p>
                <a:r>
                  <a:rPr lang="en-US" b="1" dirty="0"/>
                  <a:t>I</a:t>
                </a:r>
                <a:r>
                  <a:rPr lang="en-US" dirty="0"/>
                  <a:t> returns its argument unchanged</a:t>
                </a:r>
              </a:p>
              <a:p>
                <a:r>
                  <a:rPr lang="en-US" b="1" dirty="0"/>
                  <a:t>S</a:t>
                </a:r>
                <a:r>
                  <a:rPr lang="en-US" dirty="0"/>
                  <a:t> distributes the argument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lang="en-US" dirty="0"/>
                  <a:t>to both functions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K</a:t>
                </a:r>
                <a:r>
                  <a:rPr lang="en-US" dirty="0"/>
                  <a:t> ignores its second argument</a:t>
                </a:r>
              </a:p>
              <a:p>
                <a:r>
                  <a:rPr lang="en-US" b="1" dirty="0"/>
                  <a:t>I</a:t>
                </a:r>
                <a:r>
                  <a:rPr lang="en-US" dirty="0"/>
                  <a:t> returns its argument unchanged</a:t>
                </a:r>
              </a:p>
              <a:p>
                <a:r>
                  <a:rPr lang="en-US" b="1" dirty="0"/>
                  <a:t>S</a:t>
                </a:r>
                <a:r>
                  <a:rPr lang="en-US" dirty="0"/>
                  <a:t> distributes the argument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en-US" dirty="0"/>
                  <a:t>to both functions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3604B-6E98-0948-A14E-DCFDC96CDDC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71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most </a:t>
            </a:r>
            <a:r>
              <a:rPr lang="en-US" b="1" dirty="0"/>
              <a:t>pure functional languages</a:t>
            </a:r>
            <a:r>
              <a:rPr lang="en-US" dirty="0"/>
              <a:t> (</a:t>
            </a:r>
            <a:r>
              <a:rPr lang="en-US" dirty="0" err="1"/>
              <a:t>OCaml</a:t>
            </a:r>
            <a:r>
              <a:rPr lang="en-US" dirty="0"/>
              <a:t>, Haskell, Scheme, etc.), </a:t>
            </a:r>
            <a:r>
              <a:rPr lang="en-US" b="1" dirty="0"/>
              <a:t>all functions are conceptually lambdas</a:t>
            </a:r>
            <a:r>
              <a:rPr lang="en-US" dirty="0"/>
              <a:t>.</a:t>
            </a:r>
          </a:p>
          <a:p>
            <a:r>
              <a:rPr lang="en-US" dirty="0"/>
              <a:t>The compiler treats let add x y = x + y as let add = fun x y -&gt; x + y</a:t>
            </a:r>
          </a:p>
          <a:p>
            <a:endParaRPr lang="en-US" dirty="0"/>
          </a:p>
          <a:p>
            <a:r>
              <a:rPr lang="en-US" dirty="0"/>
              <a:t>add is a HOF, when it is partially applied, e.g., add 2 returns a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3604B-6E98-0948-A14E-DCFDC96CDDC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28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Return a new list by applying a given function f to each element of a list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3604B-6E98-0948-A14E-DCFDC96CDDC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89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float_of_int</a:t>
            </a:r>
            <a:r>
              <a:rPr lang="en-US" dirty="0"/>
              <a:t>: int -&gt; float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3604B-6E98-0948-A14E-DCFDC96CDDC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66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 a list (data) from int to float, then convert float list to string list</a:t>
            </a:r>
          </a:p>
          <a:p>
            <a:r>
              <a:rPr lang="en-US" dirty="0"/>
              <a:t>HOFs can be used in multiple ways: </a:t>
            </a:r>
          </a:p>
          <a:p>
            <a:r>
              <a:rPr lang="en-US" dirty="0"/>
              <a:t>either chain multiple calls (stepwise): must call map twice</a:t>
            </a:r>
          </a:p>
          <a:p>
            <a:r>
              <a:rPr lang="en-US" dirty="0"/>
              <a:t>or pass a composed function (single traversal), call map once, with a function that takes a function as 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3604B-6E98-0948-A14E-DCFDC96CDDC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37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dirty="0"/>
              <a:t>λ</a:t>
            </a:r>
            <a:r>
              <a:rPr lang="en-US" dirty="0"/>
              <a:t>x. ((</a:t>
            </a:r>
            <a:r>
              <a:rPr lang="el-GR" dirty="0"/>
              <a:t>λ</a:t>
            </a:r>
            <a:r>
              <a:rPr lang="en-US" dirty="0"/>
              <a:t>y. x + y) (x * 2)) 5. </a:t>
            </a:r>
            <a:r>
              <a:rPr lang="en-US" dirty="0">
                <a:sym typeface="Wingdings" pitchFamily="2" charset="2"/>
              </a:rPr>
              <a:t></a:t>
            </a:r>
            <a:br>
              <a:rPr lang="en-US" dirty="0">
                <a:sym typeface="Wingdings" pitchFamily="2" charset="2"/>
              </a:rPr>
            </a:br>
            <a:endParaRPr lang="en-US" dirty="0"/>
          </a:p>
          <a:p>
            <a:r>
              <a:rPr lang="el-GR" dirty="0"/>
              <a:t>λ</a:t>
            </a:r>
            <a:r>
              <a:rPr lang="en-US" dirty="0"/>
              <a:t>x. </a:t>
            </a:r>
            <a:r>
              <a:rPr lang="en-US"/>
              <a:t>( </a:t>
            </a:r>
            <a:r>
              <a:rPr lang="en-US" dirty="0"/>
              <a:t>x </a:t>
            </a:r>
            <a:r>
              <a:rPr lang="en-US"/>
              <a:t>+ x </a:t>
            </a:r>
            <a:r>
              <a:rPr lang="en-US" dirty="0"/>
              <a:t>* </a:t>
            </a:r>
            <a:r>
              <a:rPr lang="en-US"/>
              <a:t>2) 5 </a:t>
            </a:r>
            <a:r>
              <a:rPr lang="en-US">
                <a:sym typeface="Wingdings" pitchFamily="2" charset="2"/>
              </a:rPr>
              <a:t></a:t>
            </a:r>
            <a:br>
              <a:rPr lang="en-US">
                <a:sym typeface="Wingdings" pitchFamily="2" charset="2"/>
              </a:rPr>
            </a:br>
            <a:r>
              <a:rPr lang="en-US">
                <a:sym typeface="Wingdings" pitchFamily="2" charset="2"/>
              </a:rPr>
              <a:t>5 + 5*2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3604B-6E98-0948-A14E-DCFDC96CDDC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12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10/16/26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10/16/26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10/16/26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10/16/26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10/16/26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10/16/26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D847D-FD5A-849B-EF26-58973DB6AC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l-GR" dirty="0"/>
              <a:t>λ-</a:t>
            </a:r>
            <a:r>
              <a:rPr lang="en-US" dirty="0"/>
              <a:t>Calculus and Higher Order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12B7DA-91CC-8B07-CAD3-C6C2D1F64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CMSC 330: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2721820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9B38E-D71B-7C83-6EEC-A3D945AEB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</a:t>
            </a:r>
            <a:r>
              <a:rPr lang="el-GR" dirty="0"/>
              <a:t>λ-</a:t>
            </a:r>
            <a:r>
              <a:rPr lang="en-US" dirty="0"/>
              <a:t>Calculus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87C74-871D-1FDC-094A-B3E61D5DA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l-GR" dirty="0"/>
              <a:t>λ-</a:t>
            </a:r>
            <a:r>
              <a:rPr lang="en-US" dirty="0"/>
              <a:t>Calculus?</a:t>
            </a:r>
          </a:p>
          <a:p>
            <a:pPr lvl="1"/>
            <a:r>
              <a:rPr lang="en-US" dirty="0"/>
              <a:t>A mathematical model of computation based entirely on functions, introduced by Alonzo Church in the 1930s</a:t>
            </a:r>
          </a:p>
          <a:p>
            <a:pPr lvl="1"/>
            <a:r>
              <a:rPr lang="en-US" dirty="0"/>
              <a:t>Every computation is expressed by </a:t>
            </a:r>
            <a:r>
              <a:rPr lang="en-US" b="1" dirty="0"/>
              <a:t>function definition and application</a:t>
            </a:r>
          </a:p>
          <a:p>
            <a:pPr lvl="1"/>
            <a:r>
              <a:rPr lang="en-US" dirty="0"/>
              <a:t>Focuses on </a:t>
            </a:r>
            <a:r>
              <a:rPr lang="en-US" b="1" dirty="0"/>
              <a:t>language semantics</a:t>
            </a:r>
            <a:r>
              <a:rPr lang="en-US" dirty="0"/>
              <a:t> (what programs </a:t>
            </a:r>
            <a:r>
              <a:rPr lang="en-US" i="1" dirty="0"/>
              <a:t>mean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Forms the </a:t>
            </a:r>
            <a:r>
              <a:rPr lang="en-US" b="1" dirty="0"/>
              <a:t>theoretical foundation of functional programming languages</a:t>
            </a:r>
            <a:r>
              <a:rPr lang="en-US" dirty="0"/>
              <a:t> like </a:t>
            </a:r>
            <a:r>
              <a:rPr lang="en-US" dirty="0" err="1"/>
              <a:t>OCaml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66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E0358-717D-51E1-E735-1DF304A3C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l-GR" dirty="0"/>
              <a:t>λ-</a:t>
            </a:r>
            <a:r>
              <a:rPr lang="en-US" dirty="0"/>
              <a:t>Calculus Matters?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03B31-5642-40DE-8A39-CA2F816FE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l-GR" dirty="0"/>
              <a:t>λ-</a:t>
            </a:r>
            <a:r>
              <a:rPr lang="en-US" dirty="0"/>
              <a:t>calculus is the theoretical foundation of functional languages</a:t>
            </a:r>
          </a:p>
          <a:p>
            <a:r>
              <a:rPr lang="en-US" dirty="0"/>
              <a:t>Helps understand </a:t>
            </a:r>
            <a:r>
              <a:rPr lang="en-US" b="1" dirty="0"/>
              <a:t>first-class functions</a:t>
            </a:r>
            <a:r>
              <a:rPr lang="en-US" dirty="0"/>
              <a:t> in </a:t>
            </a:r>
            <a:r>
              <a:rPr lang="en-US" dirty="0" err="1"/>
              <a:t>OCaml</a:t>
            </a:r>
            <a:endParaRPr lang="en-US" dirty="0"/>
          </a:p>
          <a:p>
            <a:r>
              <a:rPr lang="en-US" dirty="0"/>
              <a:t>Explains </a:t>
            </a:r>
            <a:r>
              <a:rPr lang="en-US" b="1" dirty="0"/>
              <a:t>higher-order functions, anonymous functions, and function application</a:t>
            </a:r>
          </a:p>
          <a:p>
            <a:r>
              <a:rPr lang="en-US" dirty="0"/>
              <a:t>Provides a </a:t>
            </a:r>
            <a:r>
              <a:rPr lang="en-US" b="1" dirty="0"/>
              <a:t>formal model for language semantics</a:t>
            </a:r>
            <a:r>
              <a:rPr lang="en-US" dirty="0"/>
              <a:t> — specifically, </a:t>
            </a:r>
            <a:r>
              <a:rPr lang="en-US" b="1" dirty="0"/>
              <a:t>operational semantics</a:t>
            </a:r>
            <a:r>
              <a:rPr lang="en-US" dirty="0"/>
              <a:t> can describe </a:t>
            </a:r>
            <a:r>
              <a:rPr lang="el-GR" dirty="0"/>
              <a:t>λ-</a:t>
            </a:r>
            <a:r>
              <a:rPr lang="en-US" dirty="0"/>
              <a:t>calculus behavior</a:t>
            </a:r>
          </a:p>
        </p:txBody>
      </p:sp>
    </p:spTree>
    <p:extLst>
      <p:ext uri="{BB962C8B-B14F-4D97-AF65-F5344CB8AC3E}">
        <p14:creationId xmlns:p14="http://schemas.microsoft.com/office/powerpoint/2010/main" val="3272839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3559-4D27-E1B9-6E5D-D560B76C9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λ-</a:t>
            </a:r>
            <a:r>
              <a:rPr lang="en-US" dirty="0"/>
              <a:t>Calculus: </a:t>
            </a:r>
            <a:r>
              <a:rPr lang="el-GR" dirty="0"/>
              <a:t>λ-</a:t>
            </a:r>
            <a:r>
              <a:rPr lang="en-US" dirty="0"/>
              <a:t>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1303C-8C1B-1470-5BE8-4F9A53E69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5"/>
            <a:ext cx="8146038" cy="416793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Variables</a:t>
            </a:r>
          </a:p>
          <a:p>
            <a:pPr marL="908050" lvl="1" indent="-457200"/>
            <a:r>
              <a:rPr lang="en-US" dirty="0"/>
              <a:t>Every variable is a </a:t>
            </a:r>
            <a:r>
              <a:rPr lang="el-GR" dirty="0"/>
              <a:t>λ-</a:t>
            </a:r>
            <a:r>
              <a:rPr lang="en-US" dirty="0"/>
              <a:t>expression, e.g., x, y, z ∈ V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λ-</a:t>
            </a:r>
            <a:r>
              <a:rPr lang="en-US" dirty="0"/>
              <a:t>Abstraction (Function Definition)</a:t>
            </a:r>
          </a:p>
          <a:p>
            <a:pPr marL="908050" lvl="1" indent="-457200"/>
            <a:r>
              <a:rPr lang="en-US" dirty="0"/>
              <a:t>If v ∈ V and E is a </a:t>
            </a:r>
            <a:r>
              <a:rPr lang="el-GR" dirty="0"/>
              <a:t>λ-</a:t>
            </a:r>
            <a:r>
              <a:rPr lang="en-US" dirty="0"/>
              <a:t>expression, then </a:t>
            </a:r>
            <a:r>
              <a:rPr lang="el-GR" dirty="0"/>
              <a:t>λ</a:t>
            </a:r>
            <a:r>
              <a:rPr lang="en-US" dirty="0" err="1"/>
              <a:t>v.E</a:t>
            </a:r>
            <a:r>
              <a:rPr lang="en-US" dirty="0"/>
              <a:t> is a </a:t>
            </a:r>
            <a:r>
              <a:rPr lang="el-GR" dirty="0"/>
              <a:t>λ-</a:t>
            </a:r>
            <a:r>
              <a:rPr lang="en-US" dirty="0"/>
              <a:t>expression</a:t>
            </a:r>
          </a:p>
          <a:p>
            <a:pPr marL="908050" lvl="1" indent="-457200"/>
            <a:r>
              <a:rPr lang="en-US" dirty="0"/>
              <a:t>v is the function </a:t>
            </a:r>
            <a:r>
              <a:rPr lang="en-US" b="1" dirty="0"/>
              <a:t>parameter</a:t>
            </a:r>
            <a:r>
              <a:rPr lang="en-US" dirty="0"/>
              <a:t>, E is the function </a:t>
            </a:r>
            <a:r>
              <a:rPr lang="en-US" b="1" dirty="0"/>
              <a:t>body</a:t>
            </a:r>
          </a:p>
          <a:p>
            <a:pPr marL="908050" lvl="1" indent="-457200"/>
            <a:endParaRPr lang="en-US" dirty="0"/>
          </a:p>
        </p:txBody>
      </p:sp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EC33F076-DA60-095D-F710-DA1F9207E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99" y="5402244"/>
            <a:ext cx="5752757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308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F315A-3137-3DCC-2362-D0F4A296F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λ-</a:t>
            </a:r>
            <a:r>
              <a:rPr lang="en-US" dirty="0"/>
              <a:t>Calculus: </a:t>
            </a:r>
            <a:r>
              <a:rPr lang="el-GR" dirty="0"/>
              <a:t>λ-</a:t>
            </a:r>
            <a:r>
              <a:rPr lang="en-US" dirty="0"/>
              <a:t>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F2943-158E-6A1D-AAF2-14377B71A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556951"/>
            <a:ext cx="7796540" cy="449299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/>
              <a:t>Function Application</a:t>
            </a:r>
          </a:p>
          <a:p>
            <a:pPr lvl="1"/>
            <a:r>
              <a:rPr lang="en-US" dirty="0"/>
              <a:t>If E1 and E2 are </a:t>
            </a:r>
            <a:r>
              <a:rPr lang="el-GR" dirty="0"/>
              <a:t>λ-</a:t>
            </a:r>
            <a:r>
              <a:rPr lang="en-US" dirty="0"/>
              <a:t>expressions, (E1 E2) is a </a:t>
            </a:r>
            <a:r>
              <a:rPr lang="el-GR" dirty="0"/>
              <a:t>λ-</a:t>
            </a:r>
            <a:r>
              <a:rPr lang="en-US" dirty="0"/>
              <a:t>expression</a:t>
            </a:r>
          </a:p>
          <a:p>
            <a:pPr lvl="1"/>
            <a:r>
              <a:rPr lang="en-US" dirty="0"/>
              <a:t>Represents </a:t>
            </a:r>
            <a:r>
              <a:rPr lang="en-US" b="1" dirty="0"/>
              <a:t>applying function E1 to argument E2</a:t>
            </a:r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marL="457200" lvl="1" indent="0">
              <a:buNone/>
            </a:pPr>
            <a:endParaRPr lang="en-US" b="1" dirty="0"/>
          </a:p>
          <a:p>
            <a:pPr lvl="1"/>
            <a:r>
              <a:rPr lang="en-US" dirty="0"/>
              <a:t>Chaining applications of nested functions implements </a:t>
            </a:r>
            <a:r>
              <a:rPr lang="en-US" b="1" dirty="0"/>
              <a:t>currying</a:t>
            </a:r>
            <a:r>
              <a:rPr lang="en-US" dirty="0"/>
              <a:t>. (What is the data type of the following function?)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</p:txBody>
      </p:sp>
      <p:pic>
        <p:nvPicPr>
          <p:cNvPr id="5" name="Picture 4" descr="A number and symbols on a white background&#10;&#10;AI-generated content may be incorrect.">
            <a:extLst>
              <a:ext uri="{FF2B5EF4-FFF2-40B4-BE49-F238E27FC236}">
                <a16:creationId xmlns:a16="http://schemas.microsoft.com/office/drawing/2014/main" id="{061F6F35-E5F1-4796-C9A3-967233DC4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322" y="2935066"/>
            <a:ext cx="6756229" cy="1571772"/>
          </a:xfrm>
          <a:prstGeom prst="rect">
            <a:avLst/>
          </a:prstGeom>
        </p:spPr>
      </p:pic>
      <p:pic>
        <p:nvPicPr>
          <p:cNvPr id="6" name="Picture 5" descr="A black background with pink and blue letters&#10;&#10;AI-generated content may be incorrect.">
            <a:extLst>
              <a:ext uri="{FF2B5EF4-FFF2-40B4-BE49-F238E27FC236}">
                <a16:creationId xmlns:a16="http://schemas.microsoft.com/office/drawing/2014/main" id="{9F9497BE-FAE4-071C-057F-8A8A8196F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322" y="5408338"/>
            <a:ext cx="4128872" cy="787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7DF99F-7CAD-5D8C-0785-E89294B92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321" y="6214639"/>
            <a:ext cx="6756229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2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3469-7875-9DDB-1AFA-B2300C1B7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(Untyped) </a:t>
            </a:r>
            <a:r>
              <a:rPr lang="el-GR" dirty="0"/>
              <a:t>λ-</a:t>
            </a:r>
            <a:r>
              <a:rPr lang="en-US" dirty="0"/>
              <a:t>Calculus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B0C0-7533-07BF-B219-788C88F40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l-GR" dirty="0"/>
              <a:t>λ-</a:t>
            </a:r>
            <a:r>
              <a:rPr lang="en-US" dirty="0"/>
              <a:t>Expressions</a:t>
            </a:r>
          </a:p>
          <a:p>
            <a:pPr marL="908050" lvl="1" indent="-457200"/>
            <a:r>
              <a:rPr lang="en-US" dirty="0"/>
              <a:t>Are these </a:t>
            </a:r>
            <a:r>
              <a:rPr lang="el-GR" dirty="0"/>
              <a:t>λ-</a:t>
            </a:r>
            <a:r>
              <a:rPr lang="en-US" dirty="0"/>
              <a:t>expressions?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α-</a:t>
            </a:r>
            <a:r>
              <a:rPr lang="en-US" dirty="0"/>
              <a:t>Conversion (Renaming Bound Variables)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β-</a:t>
            </a:r>
            <a:r>
              <a:rPr lang="en-US" dirty="0"/>
              <a:t>Reduction (Function Application)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ED1286D-0786-AD6F-4355-34FDF8807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656" y="1344199"/>
            <a:ext cx="2044700" cy="1701800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F042837-3438-9DAC-FB25-6EB26E47C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101" y="3395905"/>
            <a:ext cx="5822555" cy="1310249"/>
          </a:xfrm>
          <a:prstGeom prst="rect">
            <a:avLst/>
          </a:prstGeom>
        </p:spPr>
      </p:pic>
      <p:pic>
        <p:nvPicPr>
          <p:cNvPr id="9" name="Picture 8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1D6246C8-3692-C4A7-2E73-2983330FA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101" y="5394818"/>
            <a:ext cx="5822555" cy="131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358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15D8D-456B-981C-B01B-4FA233E0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λ-</a:t>
            </a:r>
            <a:r>
              <a:rPr lang="en-US" dirty="0"/>
              <a:t>Calculus: Free and Bound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914BB2-AB9A-1E1E-BEF1-37FA9B8AFD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73599" y="2052116"/>
                <a:ext cx="7796540" cy="457196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bound</a:t>
                </a:r>
                <a:r>
                  <a:rPr lang="en-US" dirty="0"/>
                  <a:t>, all other variables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are </a:t>
                </a:r>
                <a:r>
                  <a:rPr lang="en-US" b="1" dirty="0"/>
                  <a:t>free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denote the set of free variables of a </a:t>
                </a:r>
                <a:r>
                  <a:rPr lang="el-GR" dirty="0"/>
                  <a:t>λ-</a:t>
                </a:r>
                <a:r>
                  <a:rPr lang="en-US" dirty="0"/>
                  <a:t>expression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FV(m n) = FV(m) U FV(n)</a:t>
                </a:r>
              </a:p>
              <a:p>
                <a:pPr lvl="1"/>
                <a:r>
                  <a:rPr lang="en-US" dirty="0"/>
                  <a:t>FV(</a:t>
                </a:r>
                <a:r>
                  <a:rPr lang="el-GR" dirty="0"/>
                  <a:t>λ</a:t>
                </a:r>
                <a:r>
                  <a:rPr lang="en-US" dirty="0" err="1"/>
                  <a:t>x.E</a:t>
                </a:r>
                <a:r>
                  <a:rPr lang="en-US" dirty="0"/>
                  <a:t>) = FV(E) – {x}</a:t>
                </a:r>
              </a:p>
              <a:p>
                <a:pPr marL="349250" indent="-342900"/>
                <a:r>
                  <a:rPr lang="en-US" dirty="0"/>
                  <a:t>Try:</a:t>
                </a:r>
              </a:p>
              <a:p>
                <a:pPr marL="800100" lvl="1" indent="-342900"/>
                <a:r>
                  <a:rPr lang="en-US" dirty="0"/>
                  <a:t>FV(</a:t>
                </a:r>
                <a:r>
                  <a:rPr lang="el-GR" dirty="0"/>
                  <a:t>λ</a:t>
                </a:r>
                <a:r>
                  <a:rPr lang="en-US" dirty="0" err="1"/>
                  <a:t>x.x</a:t>
                </a:r>
                <a:r>
                  <a:rPr lang="en-US" dirty="0"/>
                  <a:t>)</a:t>
                </a:r>
              </a:p>
              <a:p>
                <a:pPr marL="800100" lvl="1" indent="-342900"/>
                <a:r>
                  <a:rPr lang="en-US" dirty="0"/>
                  <a:t>FV(x </a:t>
                </a:r>
                <a:r>
                  <a:rPr lang="el-GR" dirty="0"/>
                  <a:t>λ</a:t>
                </a:r>
                <a:r>
                  <a:rPr lang="en-US" dirty="0" err="1"/>
                  <a:t>x.x</a:t>
                </a:r>
                <a:r>
                  <a:rPr lang="en-US" dirty="0"/>
                  <a:t>)</a:t>
                </a:r>
              </a:p>
              <a:p>
                <a:pPr marL="800100" lvl="1" indent="-342900"/>
                <a:r>
                  <a:rPr lang="en-US" dirty="0"/>
                  <a:t>FV(</a:t>
                </a:r>
                <a:r>
                  <a:rPr lang="el-GR" dirty="0"/>
                  <a:t>λ</a:t>
                </a:r>
                <a:r>
                  <a:rPr lang="en-US" dirty="0"/>
                  <a:t>z.(</a:t>
                </a:r>
                <a:r>
                  <a:rPr lang="el-GR" dirty="0"/>
                  <a:t>λ</a:t>
                </a:r>
                <a:r>
                  <a:rPr lang="en-US" dirty="0" err="1"/>
                  <a:t>x.z</a:t>
                </a:r>
                <a:r>
                  <a:rPr lang="en-US" dirty="0"/>
                  <a:t>))</a:t>
                </a:r>
              </a:p>
              <a:p>
                <a:pPr marL="635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914BB2-AB9A-1E1E-BEF1-37FA9B8AFD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73599" y="2052116"/>
                <a:ext cx="7796540" cy="4571968"/>
              </a:xfrm>
              <a:blipFill>
                <a:blip r:embed="rId3"/>
                <a:stretch>
                  <a:fillRect l="-704" t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858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7FF93-C14E-7538-FF27-1F5EBC3DD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λ-</a:t>
            </a:r>
            <a:r>
              <a:rPr lang="en-US" dirty="0"/>
              <a:t>Calculus: Formal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ED438-9CCC-DFDF-D04F-72BB3F8C1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α-</a:t>
            </a:r>
            <a:r>
              <a:rPr lang="en-US" dirty="0"/>
              <a:t>Conversion (Renaming Bound Variables)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l-GR" dirty="0"/>
              <a:t>β-</a:t>
            </a:r>
            <a:r>
              <a:rPr lang="en-US" dirty="0"/>
              <a:t>Reduction (Function Application)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909ED958-63F0-67BF-C2CA-A13B1413B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808" y="2248931"/>
            <a:ext cx="5878384" cy="1777212"/>
          </a:xfrm>
          <a:prstGeom prst="rect">
            <a:avLst/>
          </a:prstGeom>
        </p:spPr>
      </p:pic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CC83ED9-2FDD-554A-0C96-47AFE6320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570" y="4703692"/>
            <a:ext cx="5878384" cy="163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58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6CC9-7548-C387-B548-BE3A040B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λ-</a:t>
            </a:r>
            <a:r>
              <a:rPr lang="en-US" dirty="0"/>
              <a:t>Calculus: Examples</a:t>
            </a:r>
          </a:p>
        </p:txBody>
      </p:sp>
      <p:pic>
        <p:nvPicPr>
          <p:cNvPr id="5" name="Content Placeholder 4" descr="A group of math equations&#10;&#10;AI-generated content may be incorrect.">
            <a:extLst>
              <a:ext uri="{FF2B5EF4-FFF2-40B4-BE49-F238E27FC236}">
                <a16:creationId xmlns:a16="http://schemas.microsoft.com/office/drawing/2014/main" id="{76268D97-820F-F556-6DA7-2528FD287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5686" y="2199503"/>
            <a:ext cx="6759146" cy="3694670"/>
          </a:xfrm>
        </p:spPr>
      </p:pic>
    </p:spTree>
    <p:extLst>
      <p:ext uri="{BB962C8B-B14F-4D97-AF65-F5344CB8AC3E}">
        <p14:creationId xmlns:p14="http://schemas.microsoft.com/office/powerpoint/2010/main" val="172993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0CBFB-3993-A17F-2BFA-B66312A45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λ-</a:t>
            </a:r>
            <a:r>
              <a:rPr lang="en-US" dirty="0"/>
              <a:t>Calculus: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3154FA-394F-695E-9443-6C14200CE0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73599" y="1792705"/>
                <a:ext cx="7796540" cy="478856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following </a:t>
                </a:r>
                <a:r>
                  <a:rPr lang="el-GR" dirty="0"/>
                  <a:t>λ-</a:t>
                </a:r>
                <a:r>
                  <a:rPr lang="en-US" dirty="0"/>
                  <a:t>expressions are called </a:t>
                </a:r>
                <a:r>
                  <a:rPr lang="en-US" b="1" dirty="0"/>
                  <a:t>combinators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b="0" dirty="0"/>
                  <a:t>S =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K =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  =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ar-AE" b="0" dirty="0"/>
              </a:p>
              <a:p>
                <a:r>
                  <a:rPr lang="en-US" b="1" dirty="0"/>
                  <a:t>Key properties:</a:t>
                </a:r>
                <a:endParaRPr lang="en-US" dirty="0"/>
              </a:p>
              <a:p>
                <a:pPr lvl="1"/>
                <a:r>
                  <a:rPr lang="en-US" dirty="0"/>
                  <a:t>They have </a:t>
                </a:r>
                <a:r>
                  <a:rPr lang="en-US" b="1" dirty="0"/>
                  <a:t>no free variables</a:t>
                </a:r>
                <a:endParaRPr lang="en-US" dirty="0"/>
              </a:p>
              <a:p>
                <a:pPr lvl="1"/>
                <a:r>
                  <a:rPr lang="en-US" dirty="0"/>
                  <a:t>They form the </a:t>
                </a:r>
                <a:r>
                  <a:rPr lang="en-US" b="1" dirty="0"/>
                  <a:t>basis of combinatory logic</a:t>
                </a:r>
                <a:endParaRPr lang="en-US" dirty="0"/>
              </a:p>
              <a:p>
                <a:pPr lvl="1"/>
                <a:r>
                  <a:rPr lang="en-US" dirty="0"/>
                  <a:t>Any </a:t>
                </a:r>
                <a:r>
                  <a:rPr lang="el-GR" dirty="0"/>
                  <a:t>λ-</a:t>
                </a:r>
                <a:r>
                  <a:rPr lang="en-US" dirty="0"/>
                  <a:t>expression can be expressed using only </a:t>
                </a:r>
                <a:r>
                  <a:rPr lang="en-US" b="1" dirty="0"/>
                  <a:t>S, K, and I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3154FA-394F-695E-9443-6C14200CE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73599" y="1792705"/>
                <a:ext cx="7796540" cy="4788569"/>
              </a:xfrm>
              <a:blipFill>
                <a:blip r:embed="rId2"/>
                <a:stretch>
                  <a:fillRect l="-813" t="-2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453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CF946-6F3B-7F8C-2671-766673F55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λ-</a:t>
            </a:r>
            <a:r>
              <a:rPr lang="en-US" dirty="0"/>
              <a:t>Calculus: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37240B-7518-594A-8CF5-51F40D80F4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73599" y="1696453"/>
                <a:ext cx="7796540" cy="492091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Try:</a:t>
                </a:r>
              </a:p>
              <a:p>
                <a:pPr lvl="1"/>
                <a:r>
                  <a:rPr lang="en-US" dirty="0"/>
                  <a:t>K a b</a:t>
                </a:r>
              </a:p>
              <a:p>
                <a:pPr lvl="1"/>
                <a:r>
                  <a:rPr lang="en-US" dirty="0"/>
                  <a:t>I a</a:t>
                </a:r>
              </a:p>
              <a:p>
                <a:pPr lvl="1"/>
                <a:r>
                  <a:rPr lang="en-US" dirty="0"/>
                  <a:t>S a b c</a:t>
                </a:r>
              </a:p>
              <a:p>
                <a:r>
                  <a:rPr lang="en-US" dirty="0"/>
                  <a:t>Natural numbers can be represented using </a:t>
                </a:r>
                <a:r>
                  <a:rPr lang="el-GR" dirty="0"/>
                  <a:t>λ-</a:t>
                </a:r>
                <a:r>
                  <a:rPr lang="en-US" dirty="0"/>
                  <a:t>expressions (Church numerals):</a:t>
                </a:r>
              </a:p>
              <a:p>
                <a:pPr lvl="1"/>
                <a:r>
                  <a:rPr lang="en-US" dirty="0"/>
                  <a:t>0 =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1 =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2 = </a:t>
                </a:r>
                <a14:m>
                  <m:oMath xmlns:m="http://schemas.openxmlformats.org/officeDocument/2006/math">
                    <m:r>
                      <a:rPr lang="ar-AE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𝑓𝑥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3 =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)))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37240B-7518-594A-8CF5-51F40D80F4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73599" y="1696453"/>
                <a:ext cx="7796540" cy="4920915"/>
              </a:xfrm>
              <a:blipFill>
                <a:blip r:embed="rId3"/>
                <a:stretch>
                  <a:fillRect l="-650" b="-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632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60A43-8DAA-DA38-2DF0-AA477805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λ-</a:t>
            </a:r>
            <a:r>
              <a:rPr lang="en-US" dirty="0"/>
              <a:t>Calculus: 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DC91B4-86C8-5DCC-7AEE-8E06238745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Addition is defined as:</a:t>
                </a:r>
              </a:p>
              <a:p>
                <a:pPr lvl="1"/>
                <a:r>
                  <a:rPr lang="en-US" dirty="0"/>
                  <a:t>add =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.((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What is add 1 2?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DC91B4-86C8-5DCC-7AEE-8E06238745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750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1EBE4-FB8A-44A9-C84D-8C672F650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Order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769A0-5540-8C62-20F6-E74CE050E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660358"/>
            <a:ext cx="7796540" cy="475247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higher-order function</a:t>
            </a:r>
            <a:r>
              <a:rPr lang="en-US" dirty="0"/>
              <a:t> is a function that </a:t>
            </a:r>
            <a:r>
              <a:rPr lang="en-US" b="1" dirty="0"/>
              <a:t>takes one or more functions as arguments</a:t>
            </a:r>
            <a:r>
              <a:rPr lang="en-US" dirty="0"/>
              <a:t> or </a:t>
            </a:r>
            <a:r>
              <a:rPr lang="en-US" b="1" dirty="0"/>
              <a:t>returns a function as a result</a:t>
            </a:r>
            <a:r>
              <a:rPr lang="en-US" dirty="0"/>
              <a:t>.</a:t>
            </a:r>
          </a:p>
          <a:p>
            <a:r>
              <a:rPr lang="en-US" dirty="0"/>
              <a:t>Why Use HOFs?</a:t>
            </a:r>
          </a:p>
          <a:p>
            <a:pPr lvl="1"/>
            <a:r>
              <a:rPr lang="en-US" b="1" dirty="0"/>
              <a:t>Expressiveness:</a:t>
            </a:r>
            <a:r>
              <a:rPr lang="en-US" dirty="0"/>
              <a:t> Functions become first-class values, enabling elegant composition.</a:t>
            </a:r>
          </a:p>
          <a:p>
            <a:pPr lvl="1"/>
            <a:r>
              <a:rPr lang="en-US" b="1" dirty="0"/>
              <a:t>Code reuse:</a:t>
            </a:r>
            <a:r>
              <a:rPr lang="en-US" dirty="0"/>
              <a:t> Apply the same logic to different functions without rewriting recursion.</a:t>
            </a:r>
          </a:p>
          <a:p>
            <a:pPr lvl="1"/>
            <a:r>
              <a:rPr lang="en-US" b="1" dirty="0"/>
              <a:t>Functional style:</a:t>
            </a:r>
            <a:r>
              <a:rPr lang="en-US" dirty="0"/>
              <a:t> Core tool for pure FP, replacing loops and mutable state.</a:t>
            </a:r>
          </a:p>
        </p:txBody>
      </p:sp>
    </p:spTree>
    <p:extLst>
      <p:ext uri="{BB962C8B-B14F-4D97-AF65-F5344CB8AC3E}">
        <p14:creationId xmlns:p14="http://schemas.microsoft.com/office/powerpoint/2010/main" val="1804970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DD8F7-B18F-2799-D1F2-5F4CE0020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– Anonymous Function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BA24CF-9FBE-4252-BA93-5131243D7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43968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fun</a:t>
            </a:r>
            <a:r>
              <a:rPr lang="en-US" dirty="0"/>
              <a:t> is used to indicate that we have a function</a:t>
            </a:r>
          </a:p>
          <a:p>
            <a:pPr lvl="1"/>
            <a:r>
              <a:rPr lang="en-US" dirty="0"/>
              <a:t>This function has no name</a:t>
            </a:r>
          </a:p>
          <a:p>
            <a:pPr lvl="1"/>
            <a:r>
              <a:rPr lang="en-US" dirty="0"/>
              <a:t>This is called an anonymous (or lambda) function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Is add a HOF?</a:t>
            </a:r>
          </a:p>
          <a:p>
            <a:endParaRPr lang="en-US" dirty="0"/>
          </a:p>
        </p:txBody>
      </p:sp>
      <p:pic>
        <p:nvPicPr>
          <p:cNvPr id="11" name="Picture 10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95373575-618A-3E98-0EE7-45B426BBB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665" y="3597442"/>
            <a:ext cx="7394408" cy="185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33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A128A-24E3-CEB6-D9E5-3119F7B98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map</a:t>
            </a:r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3011EFF-9DC7-17E0-1A60-5769BF74E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34281" y="2052638"/>
            <a:ext cx="7958331" cy="4632367"/>
          </a:xfrm>
        </p:spPr>
      </p:pic>
    </p:spTree>
    <p:extLst>
      <p:ext uri="{BB962C8B-B14F-4D97-AF65-F5344CB8AC3E}">
        <p14:creationId xmlns:p14="http://schemas.microsoft.com/office/powerpoint/2010/main" val="3125840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30103-7AC8-F176-D243-171B2E1C4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map</a:t>
            </a:r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7EA8B1F-0D89-A779-D2E0-1015FF587F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70096" y="1643449"/>
            <a:ext cx="7958331" cy="4856205"/>
          </a:xfrm>
        </p:spPr>
      </p:pic>
    </p:spTree>
    <p:extLst>
      <p:ext uri="{BB962C8B-B14F-4D97-AF65-F5344CB8AC3E}">
        <p14:creationId xmlns:p14="http://schemas.microsoft.com/office/powerpoint/2010/main" val="4064376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79967-92CD-DBCB-F13A-47F95474B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map</a:t>
            </a:r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2E830AB-5B58-8C32-5A9E-A8A6FFDB7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7843" y="1885285"/>
            <a:ext cx="7958330" cy="4775007"/>
          </a:xfrm>
        </p:spPr>
      </p:pic>
    </p:spTree>
    <p:extLst>
      <p:ext uri="{BB962C8B-B14F-4D97-AF65-F5344CB8AC3E}">
        <p14:creationId xmlns:p14="http://schemas.microsoft.com/office/powerpoint/2010/main" val="1779530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3DA9-168E-2EF6-EF01-D52AA7AD4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Complex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27663-1A5B-EB12-88E2-D66D0E6C6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5"/>
            <a:ext cx="7796540" cy="44351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What are we doing here: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float_of_int</a:t>
            </a:r>
            <a:r>
              <a:rPr lang="en-US" dirty="0"/>
              <a:t>: convert int to float</a:t>
            </a:r>
          </a:p>
          <a:p>
            <a:r>
              <a:rPr lang="en-US" dirty="0" err="1"/>
              <a:t>string_of_float</a:t>
            </a:r>
            <a:r>
              <a:rPr lang="en-US" dirty="0"/>
              <a:t>: convert float to string</a:t>
            </a:r>
          </a:p>
          <a:p>
            <a:endParaRPr lang="en-US" dirty="0"/>
          </a:p>
        </p:txBody>
      </p:sp>
      <p:pic>
        <p:nvPicPr>
          <p:cNvPr id="5" name="Picture 4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C6BA556D-25D1-26D5-DAD5-0948DBF22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409" y="2481984"/>
            <a:ext cx="7565730" cy="236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34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AE55-D797-7CEF-678F-2B7F3C33D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Pipeline Operator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|&gt;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6083F-8AA0-6570-BAF4-860CDC175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428852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Super short definition: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( |&gt; ) a f = f a</a:t>
            </a:r>
          </a:p>
          <a:p>
            <a:r>
              <a:rPr lang="en-US" dirty="0"/>
              <a:t>Moves the “data” to the front, before the function — a </a:t>
            </a:r>
            <a:r>
              <a:rPr lang="en-US" b="1" dirty="0"/>
              <a:t>data-first</a:t>
            </a:r>
            <a:r>
              <a:rPr lang="en-US" dirty="0"/>
              <a:t> style</a:t>
            </a:r>
          </a:p>
          <a:p>
            <a:r>
              <a:rPr lang="en-US" dirty="0"/>
              <a:t>The left-hand value becomes the argument of the right-hand function</a:t>
            </a:r>
          </a:p>
          <a:p>
            <a:r>
              <a:rPr lang="en-US" dirty="0"/>
              <a:t>Evaluation flows naturally </a:t>
            </a:r>
            <a:r>
              <a:rPr lang="en-US" b="1" dirty="0"/>
              <a:t>left-to-right</a:t>
            </a:r>
          </a:p>
          <a:p>
            <a:r>
              <a:rPr lang="en-US" b="1" dirty="0"/>
              <a:t>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|&gt; f |&gt; g </a:t>
            </a:r>
            <a:r>
              <a:rPr lang="en-US" dirty="0"/>
              <a:t>is equivalent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 (f x)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491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AF8EC-E79E-D015-E36E-5F666FA3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 the Complex Example</a:t>
            </a:r>
          </a:p>
        </p:txBody>
      </p:sp>
      <p:pic>
        <p:nvPicPr>
          <p:cNvPr id="5" name="Content Placeholder 4" descr="A screenshot of a white background with black text&#10;&#10;AI-generated content may be incorrect.">
            <a:extLst>
              <a:ext uri="{FF2B5EF4-FFF2-40B4-BE49-F238E27FC236}">
                <a16:creationId xmlns:a16="http://schemas.microsoft.com/office/drawing/2014/main" id="{284D981E-6DC7-3E5A-EC53-F469A4E27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1808" y="2052638"/>
            <a:ext cx="7661567" cy="4348162"/>
          </a:xfrm>
        </p:spPr>
      </p:pic>
    </p:spTree>
    <p:extLst>
      <p:ext uri="{BB962C8B-B14F-4D97-AF65-F5344CB8AC3E}">
        <p14:creationId xmlns:p14="http://schemas.microsoft.com/office/powerpoint/2010/main" val="3147198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A4244-86A4-AAA8-CC9A-714AF434C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Pipeline Operator in Use</a:t>
            </a:r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E3D6375-7BB1-38CE-C7AB-B152E5F0E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1923" y="2052638"/>
            <a:ext cx="8148215" cy="4607654"/>
          </a:xfrm>
        </p:spPr>
      </p:pic>
    </p:spTree>
    <p:extLst>
      <p:ext uri="{BB962C8B-B14F-4D97-AF65-F5344CB8AC3E}">
        <p14:creationId xmlns:p14="http://schemas.microsoft.com/office/powerpoint/2010/main" val="4071260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BA50-6B20-AD0A-75D1-4DF372E62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Pipeline Operator NOT in Use</a:t>
            </a:r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092F9FA-3913-F437-229E-4BB078C3B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4281" y="2052638"/>
            <a:ext cx="7958331" cy="4607654"/>
          </a:xfrm>
        </p:spPr>
      </p:pic>
    </p:spTree>
    <p:extLst>
      <p:ext uri="{BB962C8B-B14F-4D97-AF65-F5344CB8AC3E}">
        <p14:creationId xmlns:p14="http://schemas.microsoft.com/office/powerpoint/2010/main" val="1335598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67A07-A97E-675B-958D-E324EC841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Revisiting Local Bindings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DF25C-8BCE-5612-C18A-D57A2499B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binding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is exactly the function application in </a:t>
            </a:r>
            <a:r>
              <a:rPr lang="el-GR" dirty="0"/>
              <a:t>λ-</a:t>
            </a:r>
            <a:r>
              <a:rPr lang="en-US" dirty="0"/>
              <a:t>calculus</a:t>
            </a:r>
          </a:p>
        </p:txBody>
      </p:sp>
      <p:pic>
        <p:nvPicPr>
          <p:cNvPr id="5" name="Picture 4" descr="A close-up of a math equation&#10;&#10;AI-generated content may be incorrect.">
            <a:extLst>
              <a:ext uri="{FF2B5EF4-FFF2-40B4-BE49-F238E27FC236}">
                <a16:creationId xmlns:a16="http://schemas.microsoft.com/office/drawing/2014/main" id="{2F64F47E-9516-128D-3090-70B0FD2C5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638" y="3161944"/>
            <a:ext cx="4861182" cy="177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26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4002-ED63-5A86-1589-9E1995247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Binding Example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6CA220-980C-BDD2-CDF7-01C5F9A6A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454639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corresponding </a:t>
            </a:r>
            <a:r>
              <a:rPr lang="el-GR" dirty="0"/>
              <a:t>λ-</a:t>
            </a:r>
            <a:r>
              <a:rPr lang="en-US" dirty="0"/>
              <a:t>expression is</a:t>
            </a:r>
          </a:p>
          <a:p>
            <a:pPr lvl="1"/>
            <a:r>
              <a:rPr lang="el-GR" dirty="0"/>
              <a:t>λ</a:t>
            </a:r>
            <a:r>
              <a:rPr lang="en-US" dirty="0"/>
              <a:t>x. ((</a:t>
            </a:r>
            <a:r>
              <a:rPr lang="el-GR" dirty="0"/>
              <a:t>λ</a:t>
            </a:r>
            <a:r>
              <a:rPr lang="en-US" dirty="0"/>
              <a:t>y. x + y) (x * 2)) 5</a:t>
            </a:r>
          </a:p>
        </p:txBody>
      </p:sp>
      <p:pic>
        <p:nvPicPr>
          <p:cNvPr id="9" name="Picture 8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BED28885-62C2-C3D4-A54C-8AFB2EEE3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835" y="1581665"/>
            <a:ext cx="7527543" cy="308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981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8dde695-4535-408a-8dbf-d6791aad1a12}" enabled="1" method="Standard" siteId="{92ec3794-b8f0-4f93-b733-7a30a8a2b5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292</TotalTime>
  <Words>1061</Words>
  <Application>Microsoft Macintosh PowerPoint</Application>
  <PresentationFormat>Widescreen</PresentationFormat>
  <Paragraphs>149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MS Shell Dlg 2</vt:lpstr>
      <vt:lpstr>Aptos</vt:lpstr>
      <vt:lpstr>Arial</vt:lpstr>
      <vt:lpstr>Cambria Math</vt:lpstr>
      <vt:lpstr>Courier New</vt:lpstr>
      <vt:lpstr>Times New Roman</vt:lpstr>
      <vt:lpstr>Wingdings</vt:lpstr>
      <vt:lpstr>Wingdings 3</vt:lpstr>
      <vt:lpstr>Madison</vt:lpstr>
      <vt:lpstr>λ-Calculus and Higher Order Functions</vt:lpstr>
      <vt:lpstr>Introduction to λ-Calculus</vt:lpstr>
      <vt:lpstr>Why λ-Calculus Matters?</vt:lpstr>
      <vt:lpstr>λ-Calculus: λ-Expressions</vt:lpstr>
      <vt:lpstr>λ-Calculus: λ-Expressions</vt:lpstr>
      <vt:lpstr>Pure (Untyped) λ-Calculus</vt:lpstr>
      <vt:lpstr>λ-Calculus: Free and Bound Variables</vt:lpstr>
      <vt:lpstr>λ-Calculus: Formal Definition</vt:lpstr>
      <vt:lpstr>λ-Calculus: Examples</vt:lpstr>
      <vt:lpstr>λ-Calculus: Examples</vt:lpstr>
      <vt:lpstr>λ-Calculus: Examples</vt:lpstr>
      <vt:lpstr>λ-Calculus: Exercise</vt:lpstr>
      <vt:lpstr>Higher Order Functions</vt:lpstr>
      <vt:lpstr>fun – Anonymous Function</vt:lpstr>
      <vt:lpstr>Example: map</vt:lpstr>
      <vt:lpstr>Without map</vt:lpstr>
      <vt:lpstr>With map</vt:lpstr>
      <vt:lpstr>A More Complex Example</vt:lpstr>
      <vt:lpstr>The Pipeline Operator |&gt;</vt:lpstr>
      <vt:lpstr>Revisit the Complex Example</vt:lpstr>
      <vt:lpstr>The Pipeline Operator in Use</vt:lpstr>
      <vt:lpstr>The Pipeline Operator NOT in Use</vt:lpstr>
      <vt:lpstr>Revisiting Local Bindings</vt:lpstr>
      <vt:lpstr>Local Binding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Jingnan Xie</dc:creator>
  <cp:lastModifiedBy>Jingnan Xie</cp:lastModifiedBy>
  <cp:revision>1</cp:revision>
  <dcterms:created xsi:type="dcterms:W3CDTF">2025-11-25T19:23:33Z</dcterms:created>
  <dcterms:modified xsi:type="dcterms:W3CDTF">2026-10-16T18:56:01Z</dcterms:modified>
</cp:coreProperties>
</file>